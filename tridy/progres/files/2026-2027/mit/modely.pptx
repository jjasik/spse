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34"/>
  </p:notesMasterIdLst>
  <p:handoutMasterIdLst>
    <p:handoutMasterId r:id="rId35"/>
  </p:handoutMasterIdLst>
  <p:sldIdLst>
    <p:sldId id="382" r:id="rId2"/>
    <p:sldId id="418" r:id="rId3"/>
    <p:sldId id="402" r:id="rId4"/>
    <p:sldId id="403" r:id="rId5"/>
    <p:sldId id="404" r:id="rId6"/>
    <p:sldId id="417" r:id="rId7"/>
    <p:sldId id="365" r:id="rId8"/>
    <p:sldId id="393" r:id="rId9"/>
    <p:sldId id="368" r:id="rId10"/>
    <p:sldId id="356" r:id="rId11"/>
    <p:sldId id="397" r:id="rId12"/>
    <p:sldId id="398" r:id="rId13"/>
    <p:sldId id="366" r:id="rId14"/>
    <p:sldId id="369" r:id="rId15"/>
    <p:sldId id="370" r:id="rId16"/>
    <p:sldId id="360" r:id="rId17"/>
    <p:sldId id="386" r:id="rId18"/>
    <p:sldId id="367" r:id="rId19"/>
    <p:sldId id="387" r:id="rId20"/>
    <p:sldId id="372" r:id="rId21"/>
    <p:sldId id="378" r:id="rId22"/>
    <p:sldId id="377" r:id="rId23"/>
    <p:sldId id="491" r:id="rId24"/>
    <p:sldId id="492" r:id="rId25"/>
    <p:sldId id="405" r:id="rId26"/>
    <p:sldId id="406" r:id="rId27"/>
    <p:sldId id="407" r:id="rId28"/>
    <p:sldId id="359" r:id="rId29"/>
    <p:sldId id="376" r:id="rId30"/>
    <p:sldId id="392" r:id="rId31"/>
    <p:sldId id="362" r:id="rId32"/>
    <p:sldId id="363" r:id="rId33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ddíl bez názvu" id="{C5184B90-59D8-4BBD-918D-3D3E5B06508E}">
          <p14:sldIdLst/>
        </p14:section>
        <p14:section name="Základní pojmy" id="{86507493-1F77-4B28-B925-CB18B8A38B94}">
          <p14:sldIdLst>
            <p14:sldId id="382"/>
            <p14:sldId id="418"/>
            <p14:sldId id="402"/>
            <p14:sldId id="403"/>
            <p14:sldId id="404"/>
            <p14:sldId id="417"/>
          </p14:sldIdLst>
        </p14:section>
        <p14:section name="Architektura VN" id="{4377151D-5E11-45CC-A0BD-117BCF3EA026}">
          <p14:sldIdLst>
            <p14:sldId id="365"/>
            <p14:sldId id="393"/>
          </p14:sldIdLst>
        </p14:section>
        <p14:section name="Harvardská" id="{B7E9DBE7-1DD6-46F7-AC20-8D1107B1F10F}">
          <p14:sldIdLst>
            <p14:sldId id="368"/>
            <p14:sldId id="356"/>
          </p14:sldIdLst>
        </p14:section>
        <p14:section name="RISC a CISC" id="{F6038444-FD61-4BF3-B60F-4F322486132F}">
          <p14:sldIdLst>
            <p14:sldId id="397"/>
            <p14:sldId id="398"/>
          </p14:sldIdLst>
        </p14:section>
        <p14:section name="Princip činnosti počítače" id="{D3824108-31EC-4211-886A-35E78E9C80A8}">
          <p14:sldIdLst>
            <p14:sldId id="366"/>
            <p14:sldId id="369"/>
            <p14:sldId id="370"/>
            <p14:sldId id="360"/>
            <p14:sldId id="386"/>
            <p14:sldId id="367"/>
            <p14:sldId id="387"/>
          </p14:sldIdLst>
        </p14:section>
        <p14:section name="Jak se vykonává program" id="{DC0CEEB9-10BF-464F-89F8-9682779D5ABF}">
          <p14:sldIdLst>
            <p14:sldId id="372"/>
            <p14:sldId id="378"/>
            <p14:sldId id="377"/>
            <p14:sldId id="491"/>
            <p14:sldId id="492"/>
          </p14:sldIdLst>
        </p14:section>
        <p14:section name="Vykonávání programu" id="{31D96DA1-5802-406A-BD32-946C08ECBD33}">
          <p14:sldIdLst>
            <p14:sldId id="405"/>
            <p14:sldId id="406"/>
            <p14:sldId id="407"/>
            <p14:sldId id="359"/>
            <p14:sldId id="376"/>
            <p14:sldId id="392"/>
            <p14:sldId id="362"/>
            <p14:sldId id="363"/>
          </p14:sldIdLst>
        </p14:section>
        <p14:section name="Oddíl bez názvu" id="{E662E1E1-CF7C-4D98-9FEB-FEDE9BAD2A0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07" autoAdjust="0"/>
    <p:restoredTop sz="80523" autoAdjust="0"/>
  </p:normalViewPr>
  <p:slideViewPr>
    <p:cSldViewPr>
      <p:cViewPr varScale="1">
        <p:scale>
          <a:sx n="77" d="100"/>
          <a:sy n="77" d="100"/>
        </p:scale>
        <p:origin x="19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235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646" y="-9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762" cy="5120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6" tIns="47718" rIns="95436" bIns="47718" numCol="1" anchor="t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cs-CZ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302" y="1"/>
            <a:ext cx="3078761" cy="5120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6" tIns="47718" rIns="95436" bIns="47718" numCol="1" anchor="t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endParaRPr lang="cs-CZ" dirty="0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554"/>
            <a:ext cx="3078762" cy="5120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6" tIns="47718" rIns="95436" bIns="47718" numCol="1" anchor="b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cs-CZ" dirty="0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302" y="9722554"/>
            <a:ext cx="3078761" cy="5120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36" tIns="47718" rIns="95436" bIns="47718" numCol="1" anchor="b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fld id="{B789FC14-9522-4CF0-9A65-5F024E367975}" type="slidenum">
              <a:rPr lang="cs-CZ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004928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762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6" tIns="47718" rIns="95436" bIns="47718" numCol="1" anchor="t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cs-CZ" dirty="0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629" y="1"/>
            <a:ext cx="3078762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6" tIns="47718" rIns="95436" bIns="47718" numCol="1" anchor="t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endParaRPr lang="cs-CZ" dirty="0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9687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742" y="4862101"/>
            <a:ext cx="568258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6" tIns="47718" rIns="95436" bIns="47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907"/>
            <a:ext cx="3078762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6" tIns="47718" rIns="95436" bIns="47718" numCol="1" anchor="b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cs-CZ" dirty="0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629" y="9720907"/>
            <a:ext cx="3078762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36" tIns="47718" rIns="95436" bIns="47718" numCol="1" anchor="b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fld id="{5F85057A-F1F2-483B-BD27-BE54DAB18A85}" type="slidenum">
              <a:rPr lang="cs-CZ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495546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1</a:t>
            </a:fld>
            <a:endParaRPr lang="cs-CZ" dirty="0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2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29780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3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25657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4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6272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5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6074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B16F3A-C189-4627-B22C-D2BF8EA48516}" type="slidenum">
              <a:rPr lang="cs-CZ"/>
              <a:pPr/>
              <a:t>6</a:t>
            </a:fld>
            <a:endParaRPr lang="cs-CZ" dirty="0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44957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108BCE-90E3-4C23-827C-DDB07E4EB8EC}" type="slidenum">
              <a:rPr lang="cs-CZ"/>
              <a:pPr/>
              <a:t>7</a:t>
            </a:fld>
            <a:endParaRPr lang="cs-CZ" dirty="0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6572CA-A721-42F5-8B93-CD50FBF3D0F0}" type="slidenum">
              <a:rPr lang="cs-CZ"/>
              <a:pPr/>
              <a:t>8</a:t>
            </a:fld>
            <a:endParaRPr lang="cs-CZ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108BCE-90E3-4C23-827C-DDB07E4EB8EC}" type="slidenum">
              <a:rPr lang="cs-CZ"/>
              <a:pPr/>
              <a:t>9</a:t>
            </a:fld>
            <a:endParaRPr lang="cs-CZ" dirty="0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82514A-9716-4061-BFD0-56EA92316A17}" type="slidenum">
              <a:rPr lang="cs-CZ"/>
              <a:pPr/>
              <a:t>10</a:t>
            </a:fld>
            <a:endParaRPr lang="cs-CZ" dirty="0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11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12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B310D8-C984-4310-8D60-E03B1BD7E252}" type="slidenum">
              <a:rPr lang="cs-CZ"/>
              <a:pPr/>
              <a:t>13</a:t>
            </a:fld>
            <a:endParaRPr lang="cs-CZ" dirty="0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9C4C2-077E-4AE0-8AF7-02FEE51A0767}" type="slidenum">
              <a:rPr lang="cs-CZ"/>
              <a:pPr/>
              <a:t>14</a:t>
            </a:fld>
            <a:endParaRPr lang="cs-CZ" dirty="0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9C4C2-077E-4AE0-8AF7-02FEE51A0767}" type="slidenum">
              <a:rPr lang="cs-CZ"/>
              <a:pPr/>
              <a:t>15</a:t>
            </a:fld>
            <a:endParaRPr lang="cs-CZ" dirty="0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9C4C2-077E-4AE0-8AF7-02FEE51A0767}" type="slidenum">
              <a:rPr lang="cs-CZ"/>
              <a:pPr/>
              <a:t>16</a:t>
            </a:fld>
            <a:endParaRPr lang="cs-CZ" dirty="0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9C4C2-077E-4AE0-8AF7-02FEE51A0767}" type="slidenum">
              <a:rPr lang="cs-CZ"/>
              <a:pPr/>
              <a:t>17</a:t>
            </a:fld>
            <a:endParaRPr lang="cs-CZ" dirty="0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9C4C2-077E-4AE0-8AF7-02FEE51A0767}" type="slidenum">
              <a:rPr lang="cs-CZ"/>
              <a:pPr/>
              <a:t>18</a:t>
            </a:fld>
            <a:endParaRPr lang="cs-CZ" dirty="0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9C4C2-077E-4AE0-8AF7-02FEE51A0767}" type="slidenum">
              <a:rPr lang="cs-CZ"/>
              <a:pPr/>
              <a:t>19</a:t>
            </a:fld>
            <a:endParaRPr lang="cs-CZ" dirty="0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20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Nakreslit na tabuli příklad ADD A,</a:t>
            </a:r>
            <a:r>
              <a:rPr lang="en-US" dirty="0"/>
              <a:t>#33</a:t>
            </a:r>
            <a:r>
              <a:rPr lang="en-US" baseline="0" dirty="0"/>
              <a:t> </a:t>
            </a:r>
            <a:endParaRPr lang="cs-CZ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21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22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23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56377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24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398484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25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Nakreslit na tabuli příklad ADD A,</a:t>
            </a:r>
            <a:r>
              <a:rPr lang="en-US" dirty="0"/>
              <a:t>#33</a:t>
            </a:r>
            <a:r>
              <a:rPr lang="en-US" baseline="0" dirty="0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986889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26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Nakreslit na tabuli příklad ADD A,</a:t>
            </a:r>
            <a:r>
              <a:rPr lang="en-US" dirty="0"/>
              <a:t>#33</a:t>
            </a:r>
            <a:r>
              <a:rPr lang="en-US" baseline="0" dirty="0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597604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27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636715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B310D8-C984-4310-8D60-E03B1BD7E252}" type="slidenum">
              <a:rPr lang="cs-CZ"/>
              <a:pPr/>
              <a:t>28</a:t>
            </a:fld>
            <a:endParaRPr lang="cs-CZ" dirty="0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B310D8-C984-4310-8D60-E03B1BD7E252}" type="slidenum">
              <a:rPr lang="cs-CZ"/>
              <a:pPr/>
              <a:t>29</a:t>
            </a:fld>
            <a:endParaRPr lang="cs-CZ" dirty="0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B310D8-C984-4310-8D60-E03B1BD7E252}" type="slidenum">
              <a:rPr lang="cs-CZ"/>
              <a:pPr/>
              <a:t>30</a:t>
            </a:fld>
            <a:endParaRPr lang="cs-CZ" dirty="0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31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AFDC3B-9763-498C-B8AB-84156A3A3F62}" type="slidenum">
              <a:rPr lang="cs-CZ"/>
              <a:pPr/>
              <a:t>32</a:t>
            </a:fld>
            <a:endParaRPr lang="cs-CZ" dirty="0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A347E44-1AAC-420B-AB32-12DDDBCDE88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C8C8903D-23E7-46FD-A74A-6DF06809A117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6A0C1FC-A554-491D-A23A-A703A9D524E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D00DF35-2688-4F44-9F8C-2107F806ADC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145DC76-6872-4DF4-9E14-3C9F149DB05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6387A52-E705-490A-838D-8B1C5ED7F7CC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3CCA7D36-5D0B-46DA-8B86-93CC4534874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27CE658-0EE9-48FF-B2F3-346B209313CA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C0A10C-74C9-4EDA-8B18-281A1C85680F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9F259AA-69C5-45ED-B1EF-90BAC46572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A972A3D-E40E-44AE-8599-5054B70DFC1D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1D2316D-E476-4C1C-97C5-38113797E089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B126D77-9135-4E47-A5DC-34E5006577A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7E249D1-C02F-4E77-A829-446A2E49D6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C81E695-55B3-4878-8A1B-BFF729C1E31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4D96806B-82A5-4237-952D-C352BA9CEF6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5C5BDBD8-354C-4C33-8509-9899503E8362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669EF09-CD29-477D-ABCE-FD6C28D0507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7743F0B-D3BD-4B64-87E9-5E7926EE0CE3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B60F7D18-8356-410F-86CC-C0A59AA6E5C2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FF29617-F229-4AA3-AF63-629A34F9D0C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4ACD1D1-1FD1-4BD2-B5AA-BAAE11F8E4F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D5EE032-125E-4EF1-897C-C6C132F4C07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2F054CC-169B-405A-8EFC-341DCDFEA7DC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1FCE2D9-6AD3-4231-B397-0257783385A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kern="120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fld id="{EC377670-D1B4-4464-8ADD-7E5B3403F0F4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88714"/>
            <a:ext cx="9144000" cy="3046988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9600" dirty="0">
                <a:latin typeface="Arial Black" pitchFamily="34" charset="0"/>
              </a:rPr>
              <a:t>Modely počítačů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720000" y="72000"/>
            <a:ext cx="2776392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Nová kapitola </a:t>
            </a:r>
          </a:p>
        </p:txBody>
      </p:sp>
    </p:spTree>
    <p:extLst>
      <p:ext uri="{BB962C8B-B14F-4D97-AF65-F5344CB8AC3E}">
        <p14:creationId xmlns:p14="http://schemas.microsoft.com/office/powerpoint/2010/main" val="1380762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Základní pojmy</a:t>
            </a: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2462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Hardware</a:t>
            </a:r>
          </a:p>
          <a:p>
            <a:pPr marL="504000" lvl="1">
              <a:spcAft>
                <a:spcPts val="1800"/>
              </a:spcAft>
              <a:buClr>
                <a:schemeClr val="folHlink"/>
              </a:buClr>
            </a:pPr>
            <a:r>
              <a:rPr lang="cs-CZ" b="0" dirty="0">
                <a:latin typeface="Verdana" pitchFamily="34" charset="0"/>
              </a:rPr>
              <a:t>Technické (hmotné) vybavení počítače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dirty="0">
                <a:latin typeface="Verdana" pitchFamily="34" charset="0"/>
              </a:rPr>
              <a:t>Software</a:t>
            </a:r>
          </a:p>
          <a:p>
            <a:pPr marL="504000" lvl="1">
              <a:spcAft>
                <a:spcPts val="1200"/>
              </a:spcAft>
              <a:buClr>
                <a:schemeClr val="folHlink"/>
              </a:buClr>
            </a:pPr>
            <a:r>
              <a:rPr lang="cs-CZ" b="0" dirty="0">
                <a:latin typeface="Verdana" pitchFamily="34" charset="0"/>
              </a:rPr>
              <a:t>Programové (nehmotné) vybavení počítače</a:t>
            </a:r>
            <a:endParaRPr lang="cs-CZ" dirty="0">
              <a:latin typeface="Verdana" pitchFamily="34" charset="0"/>
            </a:endParaRP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0010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15696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Program</a:t>
            </a:r>
          </a:p>
          <a:p>
            <a:pPr marL="504000" lvl="1">
              <a:spcAft>
                <a:spcPts val="1200"/>
              </a:spcAft>
              <a:buClr>
                <a:schemeClr val="folHlink"/>
              </a:buClr>
            </a:pPr>
            <a:r>
              <a:rPr lang="cs-CZ" b="0" dirty="0">
                <a:latin typeface="Verdana" pitchFamily="34" charset="0"/>
              </a:rPr>
              <a:t>Je </a:t>
            </a:r>
            <a:r>
              <a:rPr lang="cs-CZ" dirty="0">
                <a:latin typeface="Verdana" pitchFamily="34" charset="0"/>
              </a:rPr>
              <a:t>sled</a:t>
            </a:r>
            <a:r>
              <a:rPr lang="cs-CZ" b="0" dirty="0">
                <a:latin typeface="Verdana" pitchFamily="34" charset="0"/>
              </a:rPr>
              <a:t> instrukcí, které vykonávají </a:t>
            </a:r>
            <a:r>
              <a:rPr lang="cs-CZ" dirty="0">
                <a:latin typeface="Verdana" pitchFamily="34" charset="0"/>
              </a:rPr>
              <a:t>zadaný algoritmus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AB76D4-0ADE-12FD-CBD8-B4F17A429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Základní pojmy</a:t>
            </a:r>
          </a:p>
        </p:txBody>
      </p:sp>
    </p:spTree>
    <p:extLst>
      <p:ext uri="{BB962C8B-B14F-4D97-AF65-F5344CB8AC3E}">
        <p14:creationId xmlns:p14="http://schemas.microsoft.com/office/powerpoint/2010/main" val="12264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230832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Instrukce</a:t>
            </a:r>
          </a:p>
          <a:p>
            <a:pPr marL="504000" lvl="1">
              <a:spcAft>
                <a:spcPts val="1200"/>
              </a:spcAft>
              <a:buClr>
                <a:schemeClr val="folHlink"/>
              </a:buClr>
              <a:buSzPct val="75000"/>
            </a:pPr>
            <a:r>
              <a:rPr lang="cs-CZ" b="0" dirty="0">
                <a:latin typeface="Verdana" pitchFamily="34" charset="0"/>
              </a:rPr>
              <a:t>Je </a:t>
            </a:r>
            <a:r>
              <a:rPr lang="cs-CZ" dirty="0">
                <a:latin typeface="Verdana" pitchFamily="34" charset="0"/>
              </a:rPr>
              <a:t>předpis</a:t>
            </a:r>
            <a:r>
              <a:rPr lang="cs-CZ" b="0" dirty="0">
                <a:latin typeface="Verdana" pitchFamily="34" charset="0"/>
              </a:rPr>
              <a:t> k provedení nějaké </a:t>
            </a:r>
            <a:r>
              <a:rPr lang="cs-CZ" b="0" dirty="0">
                <a:highlight>
                  <a:srgbClr val="FFFF00"/>
                </a:highlight>
                <a:latin typeface="Verdana" pitchFamily="34" charset="0"/>
              </a:rPr>
              <a:t>elementární činnosti</a:t>
            </a:r>
            <a:r>
              <a:rPr lang="cs-CZ" b="0" dirty="0">
                <a:latin typeface="Verdana" pitchFamily="34" charset="0"/>
              </a:rPr>
              <a:t> realizovatelný přímo technickým vybavením počítače </a:t>
            </a:r>
            <a:r>
              <a:rPr lang="cs-CZ" sz="2000" b="0" dirty="0">
                <a:latin typeface="Verdana" pitchFamily="34" charset="0"/>
              </a:rPr>
              <a:t>(např. přičtení jedničky, uložení hodnoty do paměti apod.)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Základní pojmy</a:t>
            </a:r>
          </a:p>
        </p:txBody>
      </p:sp>
    </p:spTree>
    <p:extLst>
      <p:ext uri="{BB962C8B-B14F-4D97-AF65-F5344CB8AC3E}">
        <p14:creationId xmlns:p14="http://schemas.microsoft.com/office/powerpoint/2010/main" val="251686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15696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Instrukční sada</a:t>
            </a:r>
          </a:p>
          <a:p>
            <a:pPr marL="504000" lvl="1">
              <a:spcAft>
                <a:spcPts val="1200"/>
              </a:spcAft>
              <a:buClr>
                <a:schemeClr val="folHlink"/>
              </a:buClr>
              <a:buSzPct val="75000"/>
            </a:pPr>
            <a:r>
              <a:rPr lang="cs-CZ" b="0" dirty="0">
                <a:latin typeface="Verdana" pitchFamily="34" charset="0"/>
              </a:rPr>
              <a:t>Je </a:t>
            </a:r>
            <a:r>
              <a:rPr lang="cs-CZ" b="0" dirty="0">
                <a:highlight>
                  <a:srgbClr val="FFFF00"/>
                </a:highlight>
                <a:latin typeface="Verdana" pitchFamily="34" charset="0"/>
              </a:rPr>
              <a:t>množina instrukcí</a:t>
            </a:r>
            <a:r>
              <a:rPr lang="cs-CZ" b="0" dirty="0">
                <a:latin typeface="Verdana" pitchFamily="34" charset="0"/>
              </a:rPr>
              <a:t>, které umí vykonávat konkrétní procesor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Základní pojmy</a:t>
            </a:r>
          </a:p>
        </p:txBody>
      </p:sp>
    </p:spTree>
    <p:extLst>
      <p:ext uri="{BB962C8B-B14F-4D97-AF65-F5344CB8AC3E}">
        <p14:creationId xmlns:p14="http://schemas.microsoft.com/office/powerpoint/2010/main" val="317250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462213"/>
          </a:xfrm>
          <a:noFill/>
          <a:ln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Sběrnice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Je svazek </a:t>
            </a:r>
            <a:r>
              <a:rPr lang="cs-CZ" sz="2400" b="1" kern="1200" dirty="0">
                <a:latin typeface="Verdana" pitchFamily="34" charset="0"/>
              </a:rPr>
              <a:t>adresových</a:t>
            </a:r>
            <a:r>
              <a:rPr lang="cs-CZ" sz="2400" kern="1200" dirty="0">
                <a:latin typeface="Verdana" pitchFamily="34" charset="0"/>
              </a:rPr>
              <a:t>, </a:t>
            </a:r>
            <a:r>
              <a:rPr lang="cs-CZ" sz="2400" b="1" kern="1200" dirty="0">
                <a:latin typeface="Verdana" pitchFamily="34" charset="0"/>
              </a:rPr>
              <a:t>datový</a:t>
            </a:r>
            <a:r>
              <a:rPr lang="cs-CZ" sz="2400" kern="1200" dirty="0">
                <a:latin typeface="Verdana" pitchFamily="34" charset="0"/>
              </a:rPr>
              <a:t>, </a:t>
            </a:r>
            <a:r>
              <a:rPr lang="cs-CZ" sz="2400" b="1" kern="1200" dirty="0">
                <a:latin typeface="Verdana" pitchFamily="34" charset="0"/>
              </a:rPr>
              <a:t>řídících a stavových</a:t>
            </a:r>
            <a:r>
              <a:rPr lang="cs-CZ" sz="2400" kern="1200" dirty="0">
                <a:latin typeface="Verdana" pitchFamily="34" charset="0"/>
              </a:rPr>
              <a:t> vodičů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b="1" kern="1200" dirty="0">
                <a:latin typeface="Verdana" pitchFamily="34" charset="0"/>
              </a:rPr>
              <a:t>Adresa</a:t>
            </a:r>
            <a:r>
              <a:rPr lang="cs-CZ" sz="2400" kern="1200" dirty="0">
                <a:latin typeface="Verdana" pitchFamily="34" charset="0"/>
              </a:rPr>
              <a:t> určuje </a:t>
            </a:r>
            <a:r>
              <a:rPr lang="cs-CZ" sz="2400" kern="1200" dirty="0">
                <a:highlight>
                  <a:srgbClr val="FFFF00"/>
                </a:highlight>
                <a:latin typeface="Verdana" pitchFamily="34" charset="0"/>
              </a:rPr>
              <a:t>komu</a:t>
            </a:r>
            <a:r>
              <a:rPr lang="cs-CZ" sz="2400" kern="1200" dirty="0">
                <a:latin typeface="Verdana" pitchFamily="34" charset="0"/>
              </a:rPr>
              <a:t>, </a:t>
            </a:r>
            <a:r>
              <a:rPr lang="cs-CZ" sz="2400" b="1" kern="1200" dirty="0">
                <a:latin typeface="Verdana" pitchFamily="34" charset="0"/>
              </a:rPr>
              <a:t>data</a:t>
            </a:r>
            <a:r>
              <a:rPr lang="cs-CZ" sz="2400" kern="1200" dirty="0">
                <a:latin typeface="Verdana" pitchFamily="34" charset="0"/>
              </a:rPr>
              <a:t> určuje </a:t>
            </a:r>
            <a:r>
              <a:rPr lang="cs-CZ" sz="2400" kern="1200" dirty="0">
                <a:highlight>
                  <a:srgbClr val="FFFF00"/>
                </a:highlight>
                <a:latin typeface="Verdana" pitchFamily="34" charset="0"/>
              </a:rPr>
              <a:t>co</a:t>
            </a:r>
            <a:r>
              <a:rPr lang="cs-CZ" sz="2400" kern="1200" dirty="0">
                <a:latin typeface="Verdana" pitchFamily="34" charset="0"/>
              </a:rPr>
              <a:t>, </a:t>
            </a:r>
            <a:r>
              <a:rPr lang="cs-CZ" sz="2400" b="1" kern="1200" dirty="0">
                <a:latin typeface="Verdana" pitchFamily="34" charset="0"/>
              </a:rPr>
              <a:t>řídící</a:t>
            </a:r>
            <a:r>
              <a:rPr lang="cs-CZ" sz="2400" kern="1200" dirty="0">
                <a:latin typeface="Verdana" pitchFamily="34" charset="0"/>
              </a:rPr>
              <a:t> vodiče např. </a:t>
            </a:r>
            <a:r>
              <a:rPr lang="cs-CZ" sz="2400" kern="1200" dirty="0">
                <a:highlight>
                  <a:srgbClr val="FFFF00"/>
                </a:highlight>
                <a:latin typeface="Verdana" pitchFamily="34" charset="0"/>
              </a:rPr>
              <a:t>směr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Základní pojmy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24871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délník 22"/>
          <p:cNvSpPr/>
          <p:nvPr/>
        </p:nvSpPr>
        <p:spPr>
          <a:xfrm>
            <a:off x="3571868" y="857232"/>
            <a:ext cx="1857388" cy="1214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 dirty="0">
                <a:solidFill>
                  <a:schemeClr val="tx1"/>
                </a:solidFill>
              </a:rPr>
              <a:t>Hlavní </a:t>
            </a:r>
          </a:p>
          <a:p>
            <a:pPr algn="ctr"/>
            <a:r>
              <a:rPr lang="cs-CZ" sz="2800" dirty="0">
                <a:solidFill>
                  <a:schemeClr val="tx1"/>
                </a:solidFill>
              </a:rPr>
              <a:t>paměť</a:t>
            </a:r>
          </a:p>
        </p:txBody>
      </p:sp>
      <p:sp>
        <p:nvSpPr>
          <p:cNvPr id="24" name="Obdélník 23"/>
          <p:cNvSpPr/>
          <p:nvPr/>
        </p:nvSpPr>
        <p:spPr>
          <a:xfrm>
            <a:off x="6286512" y="857232"/>
            <a:ext cx="2071702" cy="1214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 dirty="0">
                <a:solidFill>
                  <a:schemeClr val="tx1"/>
                </a:solidFill>
              </a:rPr>
              <a:t>Výstupní jednotka</a:t>
            </a:r>
          </a:p>
        </p:txBody>
      </p:sp>
      <p:sp>
        <p:nvSpPr>
          <p:cNvPr id="25" name="Obdélník 24"/>
          <p:cNvSpPr/>
          <p:nvPr/>
        </p:nvSpPr>
        <p:spPr>
          <a:xfrm>
            <a:off x="642910" y="857232"/>
            <a:ext cx="2073600" cy="1214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 dirty="0">
                <a:solidFill>
                  <a:schemeClr val="tx1"/>
                </a:solidFill>
              </a:rPr>
              <a:t>Vstupní jednotka</a:t>
            </a:r>
          </a:p>
        </p:txBody>
      </p:sp>
      <p:sp>
        <p:nvSpPr>
          <p:cNvPr id="26" name="Obdélník 25"/>
          <p:cNvSpPr/>
          <p:nvPr/>
        </p:nvSpPr>
        <p:spPr>
          <a:xfrm>
            <a:off x="3571868" y="5357826"/>
            <a:ext cx="1857388" cy="1214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4000" dirty="0">
                <a:solidFill>
                  <a:schemeClr val="tx1"/>
                </a:solidFill>
              </a:rPr>
              <a:t>Řadič</a:t>
            </a:r>
          </a:p>
        </p:txBody>
      </p:sp>
      <p:sp>
        <p:nvSpPr>
          <p:cNvPr id="27" name="Obdélník 26"/>
          <p:cNvSpPr/>
          <p:nvPr/>
        </p:nvSpPr>
        <p:spPr>
          <a:xfrm>
            <a:off x="3571868" y="3214686"/>
            <a:ext cx="1000132" cy="1214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 dirty="0">
                <a:solidFill>
                  <a:schemeClr val="tx1"/>
                </a:solidFill>
              </a:rPr>
              <a:t>ALU</a:t>
            </a:r>
          </a:p>
        </p:txBody>
      </p:sp>
      <p:sp>
        <p:nvSpPr>
          <p:cNvPr id="28" name="Šipka doprava 27"/>
          <p:cNvSpPr/>
          <p:nvPr/>
        </p:nvSpPr>
        <p:spPr>
          <a:xfrm>
            <a:off x="2714612" y="1000108"/>
            <a:ext cx="857256" cy="92869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9" name="Šipka doprava 28"/>
          <p:cNvSpPr/>
          <p:nvPr/>
        </p:nvSpPr>
        <p:spPr>
          <a:xfrm>
            <a:off x="5429256" y="1000108"/>
            <a:ext cx="857256" cy="92869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1" name="Obousměrná svislá šipka 30"/>
          <p:cNvSpPr/>
          <p:nvPr/>
        </p:nvSpPr>
        <p:spPr>
          <a:xfrm>
            <a:off x="3643306" y="2071678"/>
            <a:ext cx="857256" cy="1143008"/>
          </a:xfrm>
          <a:prstGeom prst="up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32" name="Tvar 17"/>
          <p:cNvCxnSpPr>
            <a:stCxn id="25" idx="2"/>
            <a:endCxn id="26" idx="1"/>
          </p:cNvCxnSpPr>
          <p:nvPr/>
        </p:nvCxnSpPr>
        <p:spPr>
          <a:xfrm rot="16200000" flipH="1">
            <a:off x="679104" y="3072284"/>
            <a:ext cx="3893371" cy="1892158"/>
          </a:xfrm>
          <a:prstGeom prst="bentConnector2">
            <a:avLst/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ravoúhlá spojovací čára 19"/>
          <p:cNvCxnSpPr>
            <a:stCxn id="26" idx="3"/>
            <a:endCxn id="24" idx="2"/>
          </p:cNvCxnSpPr>
          <p:nvPr/>
        </p:nvCxnSpPr>
        <p:spPr>
          <a:xfrm flipV="1">
            <a:off x="5429256" y="2071678"/>
            <a:ext cx="1893107" cy="3893371"/>
          </a:xfrm>
          <a:prstGeom prst="bentConnector2">
            <a:avLst/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ravoúhlá spojovací čára 34"/>
          <p:cNvCxnSpPr>
            <a:stCxn id="27" idx="2"/>
          </p:cNvCxnSpPr>
          <p:nvPr/>
        </p:nvCxnSpPr>
        <p:spPr>
          <a:xfrm rot="5400000">
            <a:off x="3607587" y="4893479"/>
            <a:ext cx="928694" cy="1588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římá spojovací šipka 40"/>
          <p:cNvCxnSpPr/>
          <p:nvPr/>
        </p:nvCxnSpPr>
        <p:spPr>
          <a:xfrm flipV="1">
            <a:off x="8358214" y="1428736"/>
            <a:ext cx="571504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římá spojovací šipka 44"/>
          <p:cNvCxnSpPr/>
          <p:nvPr/>
        </p:nvCxnSpPr>
        <p:spPr>
          <a:xfrm flipV="1">
            <a:off x="71406" y="1428736"/>
            <a:ext cx="571504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Pravoúhlá spojovací čára 46"/>
          <p:cNvCxnSpPr/>
          <p:nvPr/>
        </p:nvCxnSpPr>
        <p:spPr>
          <a:xfrm rot="5400000">
            <a:off x="3625449" y="3732611"/>
            <a:ext cx="3321863" cy="1588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bdélník 38"/>
          <p:cNvSpPr/>
          <p:nvPr/>
        </p:nvSpPr>
        <p:spPr>
          <a:xfrm>
            <a:off x="2285984" y="3000372"/>
            <a:ext cx="1143008" cy="285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Procesor</a:t>
            </a:r>
          </a:p>
        </p:txBody>
      </p:sp>
      <p:sp>
        <p:nvSpPr>
          <p:cNvPr id="40" name="Obdélník 39"/>
          <p:cNvSpPr/>
          <p:nvPr/>
        </p:nvSpPr>
        <p:spPr>
          <a:xfrm>
            <a:off x="285720" y="4643446"/>
            <a:ext cx="1143008" cy="357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sběrnice</a:t>
            </a:r>
          </a:p>
        </p:txBody>
      </p:sp>
      <p:sp>
        <p:nvSpPr>
          <p:cNvPr id="42" name="Obousměrná svislá šipka 41"/>
          <p:cNvSpPr/>
          <p:nvPr/>
        </p:nvSpPr>
        <p:spPr>
          <a:xfrm rot="16200000">
            <a:off x="714348" y="3964801"/>
            <a:ext cx="285752" cy="642910"/>
          </a:xfrm>
          <a:prstGeom prst="up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43" name="Pravoúhlá spojovací čára 21"/>
          <p:cNvCxnSpPr/>
          <p:nvPr/>
        </p:nvCxnSpPr>
        <p:spPr>
          <a:xfrm>
            <a:off x="464315" y="5357826"/>
            <a:ext cx="785818" cy="1588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bdélník 43"/>
          <p:cNvSpPr/>
          <p:nvPr/>
        </p:nvSpPr>
        <p:spPr>
          <a:xfrm>
            <a:off x="285720" y="5643578"/>
            <a:ext cx="1143008" cy="357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Řídící signály</a:t>
            </a:r>
          </a:p>
        </p:txBody>
      </p:sp>
      <p:sp>
        <p:nvSpPr>
          <p:cNvPr id="46" name="Obdélník 45"/>
          <p:cNvSpPr/>
          <p:nvPr/>
        </p:nvSpPr>
        <p:spPr>
          <a:xfrm>
            <a:off x="3347864" y="3143248"/>
            <a:ext cx="2304256" cy="35258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0" name="Tlačítko akce: Vlastní 4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1" name="Tlačítko akce: Vlastní 5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2" name="Tlačítko akce: Vlastní 5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" name="TextovéPole 1"/>
          <p:cNvSpPr txBox="1"/>
          <p:nvPr/>
        </p:nvSpPr>
        <p:spPr bwMode="auto">
          <a:xfrm>
            <a:off x="4771681" y="1745379"/>
            <a:ext cx="6302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+mn-cs"/>
              </a:rPr>
              <a:t>RWM</a:t>
            </a:r>
          </a:p>
        </p:txBody>
      </p:sp>
      <p:sp>
        <p:nvSpPr>
          <p:cNvPr id="30" name="Šipka doprava 29"/>
          <p:cNvSpPr/>
          <p:nvPr/>
        </p:nvSpPr>
        <p:spPr>
          <a:xfrm rot="5400000">
            <a:off x="3178959" y="3393281"/>
            <a:ext cx="3286148" cy="642942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E6EB4BB-6AA5-D6F0-12DC-E61B41DC7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000" y="144115"/>
            <a:ext cx="8286808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Architektura počítače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9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49" grpId="0"/>
      <p:bldP spid="2" grpId="0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831544"/>
          </a:xfrm>
          <a:noFill/>
          <a:ln/>
        </p:spPr>
        <p:txBody>
          <a:bodyPr>
            <a:spAutoFit/>
          </a:bodyPr>
          <a:lstStyle/>
          <a:p>
            <a:pPr marL="514350" indent="-514350">
              <a:spcBef>
                <a:spcPts val="0"/>
              </a:spcBef>
              <a:spcAft>
                <a:spcPts val="2400"/>
              </a:spcAft>
              <a:buSzPct val="100000"/>
              <a:buFont typeface="+mj-lt"/>
              <a:buAutoNum type="arabicPeriod"/>
            </a:pPr>
            <a:r>
              <a:rPr lang="cs-CZ" sz="2800" b="1" kern="1200" dirty="0">
                <a:latin typeface="Verdana" pitchFamily="34" charset="0"/>
              </a:rPr>
              <a:t>Struktura počítače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cs-CZ" sz="2000" b="1" kern="1200" dirty="0">
                <a:solidFill>
                  <a:srgbClr val="FF0000"/>
                </a:solidFill>
                <a:latin typeface="Verdana" pitchFamily="34" charset="0"/>
              </a:rPr>
              <a:t>Řadič</a:t>
            </a:r>
            <a:r>
              <a:rPr lang="cs-CZ" sz="2000" b="1" i="1" kern="1200" dirty="0">
                <a:solidFill>
                  <a:srgbClr val="FF0000"/>
                </a:solidFill>
                <a:latin typeface="Verdana" pitchFamily="34" charset="0"/>
              </a:rPr>
              <a:t> </a:t>
            </a:r>
            <a:r>
              <a:rPr lang="cs-CZ" sz="2000" i="1" kern="1200" dirty="0">
                <a:latin typeface="Verdana" pitchFamily="34" charset="0"/>
              </a:rPr>
              <a:t>– </a:t>
            </a:r>
            <a:r>
              <a:rPr lang="cs-CZ" sz="2000" kern="1200" dirty="0">
                <a:latin typeface="Verdana" pitchFamily="34" charset="0"/>
              </a:rPr>
              <a:t>dekóduje instrukce a je zdrojem řídících signálů (CPU)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cs-CZ" sz="2000" b="1" kern="1200" dirty="0">
                <a:solidFill>
                  <a:srgbClr val="FF0000"/>
                </a:solidFill>
                <a:latin typeface="Verdana" pitchFamily="34" charset="0"/>
              </a:rPr>
              <a:t>Aritmeticko-logická jednotka </a:t>
            </a:r>
            <a:r>
              <a:rPr lang="cs-CZ" sz="2000" kern="1200" dirty="0">
                <a:latin typeface="Verdana" pitchFamily="34" charset="0"/>
              </a:rPr>
              <a:t>– vykonává výpočty (CPU)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cs-CZ" sz="2000" b="1" kern="1200" dirty="0">
                <a:solidFill>
                  <a:srgbClr val="FF0000"/>
                </a:solidFill>
                <a:latin typeface="Verdana" pitchFamily="34" charset="0"/>
              </a:rPr>
              <a:t>Paměť </a:t>
            </a:r>
            <a:r>
              <a:rPr lang="cs-CZ" sz="2000" kern="1200" dirty="0">
                <a:latin typeface="Verdana" pitchFamily="34" charset="0"/>
              </a:rPr>
              <a:t>– obsahuje program a data 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cs-CZ" sz="2000" b="1" kern="1200" dirty="0">
                <a:solidFill>
                  <a:srgbClr val="FF0000"/>
                </a:solidFill>
                <a:latin typeface="Verdana" pitchFamily="34" charset="0"/>
              </a:rPr>
              <a:t>Vstupní a výstupní jednotky</a:t>
            </a:r>
            <a:r>
              <a:rPr lang="cs-CZ" sz="2000" kern="1200" dirty="0">
                <a:latin typeface="Verdana" pitchFamily="34" charset="0"/>
              </a:rPr>
              <a:t> – umožňují komunikovat s okolím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Von Neumannova architektura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49117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1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17745"/>
            <a:ext cx="8675687" cy="400110"/>
          </a:xfrm>
          <a:noFill/>
          <a:ln/>
        </p:spPr>
        <p:txBody>
          <a:bodyPr>
            <a:spAutoFit/>
          </a:bodyPr>
          <a:lstStyle/>
          <a:p>
            <a:pPr algn="r">
              <a:defRPr/>
            </a:pPr>
            <a:r>
              <a:rPr lang="cs-CZ" sz="2000" b="1" dirty="0"/>
              <a:t>Hardvardská architektura</a:t>
            </a:r>
            <a:endParaRPr lang="cs-CZ" sz="2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4" name="Pravoúhlá spojovací čára 19"/>
          <p:cNvCxnSpPr>
            <a:endCxn id="26" idx="2"/>
          </p:cNvCxnSpPr>
          <p:nvPr/>
        </p:nvCxnSpPr>
        <p:spPr>
          <a:xfrm rot="5400000" flipH="1" flipV="1">
            <a:off x="4697016" y="3375422"/>
            <a:ext cx="3929090" cy="1321603"/>
          </a:xfrm>
          <a:prstGeom prst="bentConnector3">
            <a:avLst>
              <a:gd name="adj1" fmla="val 130"/>
            </a:avLst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délník 24"/>
          <p:cNvSpPr/>
          <p:nvPr/>
        </p:nvSpPr>
        <p:spPr>
          <a:xfrm>
            <a:off x="3571868" y="857232"/>
            <a:ext cx="1928826" cy="1214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dirty="0">
                <a:solidFill>
                  <a:schemeClr val="tx1"/>
                </a:solidFill>
              </a:rPr>
              <a:t>Paměť dat</a:t>
            </a:r>
          </a:p>
        </p:txBody>
      </p:sp>
      <p:sp>
        <p:nvSpPr>
          <p:cNvPr id="26" name="Obdélník 25"/>
          <p:cNvSpPr/>
          <p:nvPr/>
        </p:nvSpPr>
        <p:spPr>
          <a:xfrm>
            <a:off x="6286512" y="857232"/>
            <a:ext cx="2071702" cy="1214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dirty="0">
                <a:solidFill>
                  <a:schemeClr val="tx1"/>
                </a:solidFill>
              </a:rPr>
              <a:t>Výstupní jednotka</a:t>
            </a:r>
          </a:p>
        </p:txBody>
      </p:sp>
      <p:sp>
        <p:nvSpPr>
          <p:cNvPr id="27" name="Obdélník 26"/>
          <p:cNvSpPr/>
          <p:nvPr/>
        </p:nvSpPr>
        <p:spPr>
          <a:xfrm>
            <a:off x="642910" y="857232"/>
            <a:ext cx="2073600" cy="1214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dirty="0">
                <a:solidFill>
                  <a:schemeClr val="tx1"/>
                </a:solidFill>
              </a:rPr>
              <a:t>Vstupní jednotka</a:t>
            </a:r>
          </a:p>
        </p:txBody>
      </p:sp>
      <p:sp>
        <p:nvSpPr>
          <p:cNvPr id="28" name="Obdélník 27"/>
          <p:cNvSpPr/>
          <p:nvPr/>
        </p:nvSpPr>
        <p:spPr>
          <a:xfrm>
            <a:off x="3571868" y="5357826"/>
            <a:ext cx="2500330" cy="1214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4000" dirty="0">
                <a:solidFill>
                  <a:schemeClr val="tx1"/>
                </a:solidFill>
              </a:rPr>
              <a:t>Řadič</a:t>
            </a:r>
          </a:p>
        </p:txBody>
      </p:sp>
      <p:sp>
        <p:nvSpPr>
          <p:cNvPr id="29" name="Obdélník 28"/>
          <p:cNvSpPr/>
          <p:nvPr/>
        </p:nvSpPr>
        <p:spPr>
          <a:xfrm>
            <a:off x="3571868" y="3214686"/>
            <a:ext cx="1000132" cy="12144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 dirty="0">
                <a:solidFill>
                  <a:schemeClr val="tx1"/>
                </a:solidFill>
              </a:rPr>
              <a:t>ALU</a:t>
            </a:r>
          </a:p>
        </p:txBody>
      </p:sp>
      <p:sp>
        <p:nvSpPr>
          <p:cNvPr id="31" name="Šipka doprava 30"/>
          <p:cNvSpPr/>
          <p:nvPr/>
        </p:nvSpPr>
        <p:spPr>
          <a:xfrm>
            <a:off x="2714612" y="1000108"/>
            <a:ext cx="857256" cy="92869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2" name="Šipka doprava 31"/>
          <p:cNvSpPr/>
          <p:nvPr/>
        </p:nvSpPr>
        <p:spPr>
          <a:xfrm>
            <a:off x="5500694" y="1000108"/>
            <a:ext cx="785818" cy="92869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3" name="Šipka doprava 32"/>
          <p:cNvSpPr/>
          <p:nvPr/>
        </p:nvSpPr>
        <p:spPr>
          <a:xfrm rot="5400000">
            <a:off x="4179091" y="3821909"/>
            <a:ext cx="2428892" cy="642942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4" name="Obousměrná svislá šipka 33"/>
          <p:cNvSpPr/>
          <p:nvPr/>
        </p:nvSpPr>
        <p:spPr>
          <a:xfrm>
            <a:off x="3643306" y="2071678"/>
            <a:ext cx="857256" cy="1143008"/>
          </a:xfrm>
          <a:prstGeom prst="up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cs-CZ" dirty="0"/>
          </a:p>
        </p:txBody>
      </p:sp>
      <p:cxnSp>
        <p:nvCxnSpPr>
          <p:cNvPr id="36" name="Tvar 17"/>
          <p:cNvCxnSpPr>
            <a:stCxn id="27" idx="2"/>
            <a:endCxn id="28" idx="1"/>
          </p:cNvCxnSpPr>
          <p:nvPr/>
        </p:nvCxnSpPr>
        <p:spPr>
          <a:xfrm rot="16200000" flipH="1">
            <a:off x="679104" y="3072284"/>
            <a:ext cx="3893371" cy="1892158"/>
          </a:xfrm>
          <a:prstGeom prst="bentConnector2">
            <a:avLst/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ravoúhlá spojovací čára 34"/>
          <p:cNvCxnSpPr>
            <a:stCxn id="29" idx="2"/>
          </p:cNvCxnSpPr>
          <p:nvPr/>
        </p:nvCxnSpPr>
        <p:spPr>
          <a:xfrm rot="5400000">
            <a:off x="3607587" y="4893479"/>
            <a:ext cx="928694" cy="1588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Přímá spojovací šipka 40"/>
          <p:cNvCxnSpPr/>
          <p:nvPr/>
        </p:nvCxnSpPr>
        <p:spPr>
          <a:xfrm flipV="1">
            <a:off x="8358214" y="1428736"/>
            <a:ext cx="571504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římá spojovací šipka 44"/>
          <p:cNvCxnSpPr/>
          <p:nvPr/>
        </p:nvCxnSpPr>
        <p:spPr>
          <a:xfrm flipV="1">
            <a:off x="71406" y="1428736"/>
            <a:ext cx="571504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Pravoúhlá spojovací čára 46"/>
          <p:cNvCxnSpPr/>
          <p:nvPr/>
        </p:nvCxnSpPr>
        <p:spPr>
          <a:xfrm rot="5400000">
            <a:off x="4589860" y="4125520"/>
            <a:ext cx="2536839" cy="792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bdélník 41"/>
          <p:cNvSpPr/>
          <p:nvPr/>
        </p:nvSpPr>
        <p:spPr>
          <a:xfrm>
            <a:off x="2285984" y="3000372"/>
            <a:ext cx="1143008" cy="285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Procesor</a:t>
            </a:r>
          </a:p>
        </p:txBody>
      </p:sp>
      <p:sp>
        <p:nvSpPr>
          <p:cNvPr id="43" name="Obdélník 42"/>
          <p:cNvSpPr/>
          <p:nvPr/>
        </p:nvSpPr>
        <p:spPr>
          <a:xfrm>
            <a:off x="285720" y="4643446"/>
            <a:ext cx="1143008" cy="357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sběrnice</a:t>
            </a:r>
          </a:p>
        </p:txBody>
      </p:sp>
      <p:sp>
        <p:nvSpPr>
          <p:cNvPr id="44" name="Obousměrná svislá šipka 43"/>
          <p:cNvSpPr/>
          <p:nvPr/>
        </p:nvSpPr>
        <p:spPr>
          <a:xfrm rot="16200000">
            <a:off x="714348" y="3964801"/>
            <a:ext cx="285752" cy="642910"/>
          </a:xfrm>
          <a:prstGeom prst="up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46" name="Pravoúhlá spojovací čára 21"/>
          <p:cNvCxnSpPr/>
          <p:nvPr/>
        </p:nvCxnSpPr>
        <p:spPr>
          <a:xfrm>
            <a:off x="464315" y="5357826"/>
            <a:ext cx="785818" cy="1588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bdélník 47"/>
          <p:cNvSpPr/>
          <p:nvPr/>
        </p:nvSpPr>
        <p:spPr>
          <a:xfrm>
            <a:off x="285720" y="5643578"/>
            <a:ext cx="1143008" cy="357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Řídící signály</a:t>
            </a:r>
          </a:p>
        </p:txBody>
      </p:sp>
      <p:sp>
        <p:nvSpPr>
          <p:cNvPr id="49" name="Obdélník 48"/>
          <p:cNvSpPr/>
          <p:nvPr/>
        </p:nvSpPr>
        <p:spPr>
          <a:xfrm>
            <a:off x="4929190" y="2214554"/>
            <a:ext cx="1285884" cy="7143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200" dirty="0">
                <a:solidFill>
                  <a:schemeClr val="tx1"/>
                </a:solidFill>
              </a:rPr>
              <a:t>Paměť  programu</a:t>
            </a:r>
          </a:p>
        </p:txBody>
      </p:sp>
      <p:cxnSp>
        <p:nvCxnSpPr>
          <p:cNvPr id="50" name="Pravoúhlá spojovací čára 29"/>
          <p:cNvCxnSpPr/>
          <p:nvPr/>
        </p:nvCxnSpPr>
        <p:spPr>
          <a:xfrm rot="5400000">
            <a:off x="3088475" y="3697289"/>
            <a:ext cx="3252010" cy="793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bdélník 50"/>
          <p:cNvSpPr/>
          <p:nvPr/>
        </p:nvSpPr>
        <p:spPr>
          <a:xfrm>
            <a:off x="3347864" y="3143248"/>
            <a:ext cx="2938648" cy="35258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4" name="Tlačítko akce: Vlastní 5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5" name="Tlačítko akce: Vlastní 5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6" name="Tlačítko akce: Vlastní 5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588074" y="1716158"/>
            <a:ext cx="6939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+mn-cs"/>
              </a:rPr>
              <a:t>RWM</a:t>
            </a:r>
          </a:p>
        </p:txBody>
      </p:sp>
      <p:sp>
        <p:nvSpPr>
          <p:cNvPr id="41" name="TextovéPole 40"/>
          <p:cNvSpPr txBox="1"/>
          <p:nvPr/>
        </p:nvSpPr>
        <p:spPr bwMode="auto">
          <a:xfrm>
            <a:off x="5572989" y="2222113"/>
            <a:ext cx="66396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+mn-ea"/>
                <a:cs typeface="+mn-cs"/>
              </a:rPr>
              <a:t>ROM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42" grpId="0" animBg="1"/>
      <p:bldP spid="43" grpId="0" animBg="1"/>
      <p:bldP spid="44" grpId="0" animBg="1"/>
      <p:bldP spid="48" grpId="0" animBg="1"/>
      <p:bldP spid="49" grpId="0" animBg="1"/>
      <p:bldP spid="51" grpId="0" animBg="1"/>
      <p:bldP spid="52" grpId="0" animBg="1"/>
      <p:bldP spid="53" grpId="0"/>
      <p:bldP spid="35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447098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Funkce modelu 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cs-CZ" sz="2000" b="1" kern="1200" dirty="0">
                <a:solidFill>
                  <a:srgbClr val="FF0000"/>
                </a:solidFill>
                <a:latin typeface="Verdana" pitchFamily="34" charset="0"/>
              </a:rPr>
              <a:t>Rozdíl </a:t>
            </a:r>
            <a:r>
              <a:rPr lang="cs-CZ" sz="2000" kern="1200" dirty="0">
                <a:latin typeface="Verdana" pitchFamily="34" charset="0"/>
              </a:rPr>
              <a:t>- </a:t>
            </a:r>
            <a:r>
              <a:rPr lang="pl-PL" sz="2000" kern="1200" dirty="0">
                <a:latin typeface="Verdana" pitchFamily="34" charset="0"/>
              </a:rPr>
              <a:t>paměť je rozdělena na </a:t>
            </a:r>
            <a:r>
              <a:rPr lang="pl-PL" sz="2000" b="1" kern="1200" dirty="0">
                <a:latin typeface="Verdana" pitchFamily="34" charset="0"/>
              </a:rPr>
              <a:t>paměť dat</a:t>
            </a:r>
            <a:r>
              <a:rPr lang="pl-PL" sz="2000" kern="1200" dirty="0">
                <a:latin typeface="Verdana" pitchFamily="34" charset="0"/>
              </a:rPr>
              <a:t> a </a:t>
            </a:r>
            <a:r>
              <a:rPr lang="pl-PL" sz="2000" b="1" kern="1200" dirty="0">
                <a:latin typeface="Verdana" pitchFamily="34" charset="0"/>
              </a:rPr>
              <a:t>paměť programu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pl-PL" sz="2000" b="1" kern="1200" dirty="0">
                <a:solidFill>
                  <a:srgbClr val="FF0000"/>
                </a:solidFill>
                <a:latin typeface="Verdana" pitchFamily="34" charset="0"/>
              </a:rPr>
              <a:t>Výhody</a:t>
            </a:r>
            <a:r>
              <a:rPr lang="pl-PL" sz="2000" b="1" kern="1200" dirty="0">
                <a:latin typeface="Verdana" pitchFamily="34" charset="0"/>
              </a:rPr>
              <a:t> </a:t>
            </a:r>
            <a:r>
              <a:rPr lang="pl-PL" sz="2000" kern="1200" dirty="0">
                <a:latin typeface="Verdana" pitchFamily="34" charset="0"/>
              </a:rPr>
              <a:t>– paměti mohou být </a:t>
            </a:r>
            <a:r>
              <a:rPr lang="pl-PL" sz="2000" b="1" kern="1200" dirty="0">
                <a:latin typeface="Verdana" pitchFamily="34" charset="0"/>
              </a:rPr>
              <a:t>různého typu</a:t>
            </a:r>
            <a:r>
              <a:rPr lang="pl-PL" sz="2000" kern="1200" dirty="0">
                <a:latin typeface="Verdana" pitchFamily="34" charset="0"/>
              </a:rPr>
              <a:t> (RWM-data a ROM-program) nebo jiné organizace (např. data x8 a program x16)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pl-PL" sz="2000" b="1" kern="1200" dirty="0">
                <a:solidFill>
                  <a:srgbClr val="FF0000"/>
                </a:solidFill>
                <a:latin typeface="Verdana" pitchFamily="34" charset="0"/>
              </a:rPr>
              <a:t>Funkce</a:t>
            </a:r>
            <a:r>
              <a:rPr lang="pl-PL" sz="2000" kern="1200" dirty="0">
                <a:latin typeface="Verdana" pitchFamily="34" charset="0"/>
              </a:rPr>
              <a:t> – stejná jako von Ne</a:t>
            </a:r>
            <a:r>
              <a:rPr lang="en-US" sz="2000" kern="1200" dirty="0">
                <a:latin typeface="Verdana" pitchFamily="34" charset="0"/>
              </a:rPr>
              <a:t>u</a:t>
            </a:r>
            <a:r>
              <a:rPr lang="pl-PL" sz="2000" kern="1200" dirty="0">
                <a:latin typeface="Verdana" pitchFamily="34" charset="0"/>
              </a:rPr>
              <a:t>mannův model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pl-PL" sz="2000" b="1" kern="1200" dirty="0">
                <a:solidFill>
                  <a:srgbClr val="FF0000"/>
                </a:solidFill>
                <a:latin typeface="Verdana" pitchFamily="34" charset="0"/>
              </a:rPr>
              <a:t>Použití</a:t>
            </a:r>
            <a:r>
              <a:rPr lang="pl-PL" sz="2000" kern="1200" dirty="0">
                <a:latin typeface="Verdana" pitchFamily="34" charset="0"/>
              </a:rPr>
              <a:t> – mikrokontrolér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Harvardská architektura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3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3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3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3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18497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Architektura CISC a RISC</a:t>
            </a:r>
          </a:p>
        </p:txBody>
      </p:sp>
      <p:sp>
        <p:nvSpPr>
          <p:cNvPr id="235532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139321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CISC</a:t>
            </a:r>
            <a:endParaRPr lang="en-US" sz="2800" b="1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b="1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</a:t>
            </a:r>
            <a:r>
              <a:rPr lang="cs-CZ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omplex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cs-CZ" sz="2400" b="1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nstruction </a:t>
            </a:r>
            <a:r>
              <a:rPr lang="cs-CZ" sz="2400" b="1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et </a:t>
            </a:r>
            <a:r>
              <a:rPr lang="cs-CZ" sz="2400" b="1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</a:t>
            </a:r>
            <a:r>
              <a:rPr lang="cs-CZ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omputer</a:t>
            </a:r>
            <a:endParaRPr lang="cs-CZ" sz="24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Instrukční sada obsahuje velmi </a:t>
            </a:r>
            <a:r>
              <a:rPr lang="cs-CZ" sz="2400" b="1" kern="1200" dirty="0">
                <a:latin typeface="Verdana" pitchFamily="34" charset="0"/>
              </a:rPr>
              <a:t>široký okruh </a:t>
            </a:r>
            <a:r>
              <a:rPr lang="cs-CZ" sz="2400" kern="1200" dirty="0">
                <a:latin typeface="Verdana" pitchFamily="34" charset="0"/>
              </a:rPr>
              <a:t>instrukcí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Instrukce mají </a:t>
            </a:r>
            <a:r>
              <a:rPr lang="cs-CZ" sz="2400" b="1" kern="1200" dirty="0">
                <a:latin typeface="Verdana" pitchFamily="34" charset="0"/>
              </a:rPr>
              <a:t>proměnlivou délku </a:t>
            </a:r>
            <a:r>
              <a:rPr lang="cs-CZ" sz="2400" kern="1200" dirty="0">
                <a:latin typeface="Verdana" pitchFamily="34" charset="0"/>
              </a:rPr>
              <a:t>slova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b="1" kern="1200" dirty="0">
                <a:latin typeface="Verdana" pitchFamily="34" charset="0"/>
              </a:rPr>
              <a:t>Vykonávání</a:t>
            </a:r>
            <a:r>
              <a:rPr lang="cs-CZ" sz="2400" kern="1200" dirty="0">
                <a:latin typeface="Verdana" pitchFamily="34" charset="0"/>
              </a:rPr>
              <a:t> různých instrukcí trvá </a:t>
            </a:r>
            <a:r>
              <a:rPr lang="cs-CZ" sz="2400" b="1" kern="1200" dirty="0">
                <a:latin typeface="Verdana" pitchFamily="34" charset="0"/>
              </a:rPr>
              <a:t>různou dobu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50404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2" grpId="0" build="p"/>
      <p:bldP spid="4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2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662541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RISC</a:t>
            </a:r>
            <a:endParaRPr lang="en-US" sz="2800" b="1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b="1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</a:t>
            </a:r>
            <a:r>
              <a:rPr lang="cs-CZ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educed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cs-CZ" sz="2400" b="1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nstruction </a:t>
            </a:r>
            <a:r>
              <a:rPr lang="cs-CZ" sz="2400" b="1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et </a:t>
            </a:r>
            <a:r>
              <a:rPr lang="cs-CZ" sz="2400" b="1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</a:t>
            </a:r>
            <a:r>
              <a:rPr lang="cs-CZ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omputer</a:t>
            </a:r>
            <a:endParaRPr lang="cs-CZ" sz="24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Instrukční sada je </a:t>
            </a:r>
            <a:r>
              <a:rPr lang="cs-CZ" sz="2400" b="1" kern="1200" dirty="0">
                <a:latin typeface="Verdana" pitchFamily="34" charset="0"/>
              </a:rPr>
              <a:t>zúžena</a:t>
            </a:r>
            <a:r>
              <a:rPr lang="cs-CZ" sz="2400" kern="1200" dirty="0">
                <a:latin typeface="Verdana" pitchFamily="34" charset="0"/>
              </a:rPr>
              <a:t>; chybějící instrukce se vykonávají </a:t>
            </a:r>
            <a:r>
              <a:rPr lang="cs-CZ" sz="2400" b="1" kern="1200" dirty="0">
                <a:latin typeface="Verdana" pitchFamily="34" charset="0"/>
              </a:rPr>
              <a:t>programově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Instrukce mají </a:t>
            </a:r>
            <a:r>
              <a:rPr lang="cs-CZ" sz="2400" b="1" kern="1200" dirty="0">
                <a:latin typeface="Verdana" pitchFamily="34" charset="0"/>
              </a:rPr>
              <a:t>konstantní délku </a:t>
            </a:r>
            <a:r>
              <a:rPr lang="cs-CZ" sz="2400" kern="1200" dirty="0">
                <a:latin typeface="Verdana" pitchFamily="34" charset="0"/>
              </a:rPr>
              <a:t>slova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b="1" kern="1200" dirty="0">
                <a:latin typeface="Verdana" pitchFamily="34" charset="0"/>
              </a:rPr>
              <a:t>Vykonávání</a:t>
            </a:r>
            <a:r>
              <a:rPr lang="cs-CZ" sz="2400" kern="1200" dirty="0">
                <a:latin typeface="Verdana" pitchFamily="34" charset="0"/>
              </a:rPr>
              <a:t> různých instrukcí trvá </a:t>
            </a:r>
            <a:r>
              <a:rPr lang="cs-CZ" sz="2400" b="1" kern="1200" dirty="0">
                <a:latin typeface="Verdana" pitchFamily="34" charset="0"/>
              </a:rPr>
              <a:t>stejnou dobu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b="1" kern="1200" dirty="0">
                <a:latin typeface="Verdana" pitchFamily="34" charset="0"/>
              </a:rPr>
              <a:t>Registry</a:t>
            </a:r>
            <a:r>
              <a:rPr lang="cs-CZ" sz="2400" kern="1200" dirty="0">
                <a:latin typeface="Verdana" pitchFamily="34" charset="0"/>
              </a:rPr>
              <a:t> jsou univerzální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20000" y="69945"/>
            <a:ext cx="7772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Procesory CISC a RISC</a:t>
            </a:r>
          </a:p>
        </p:txBody>
      </p:sp>
    </p:spTree>
    <p:extLst>
      <p:ext uri="{BB962C8B-B14F-4D97-AF65-F5344CB8AC3E}">
        <p14:creationId xmlns:p14="http://schemas.microsoft.com/office/powerpoint/2010/main" val="81841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2" grpId="0" uiExpand="1" build="p"/>
      <p:bldP spid="4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9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032745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Princip činnosti počítače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468000" y="2340000"/>
            <a:ext cx="252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  <a:p>
            <a:pPr algn="ctr"/>
            <a:endParaRPr lang="cs-CZ" dirty="0"/>
          </a:p>
          <a:p>
            <a:pPr algn="ctr"/>
            <a:endParaRPr lang="cs-CZ" dirty="0"/>
          </a:p>
          <a:p>
            <a:pPr algn="ctr"/>
            <a:endParaRPr lang="cs-CZ" dirty="0"/>
          </a:p>
          <a:p>
            <a:pPr algn="ctr"/>
            <a:endParaRPr lang="cs-CZ" dirty="0"/>
          </a:p>
          <a:p>
            <a:pPr algn="ctr"/>
            <a:endParaRPr lang="cs-CZ" dirty="0"/>
          </a:p>
          <a:p>
            <a:pPr algn="ctr"/>
            <a:endParaRPr lang="cs-CZ" dirty="0"/>
          </a:p>
          <a:p>
            <a:pPr algn="ctr"/>
            <a:endParaRPr lang="cs-CZ" dirty="0"/>
          </a:p>
          <a:p>
            <a:pPr algn="ctr"/>
            <a:r>
              <a:rPr lang="cs-CZ" dirty="0">
                <a:solidFill>
                  <a:schemeClr val="tx1"/>
                </a:solidFill>
              </a:rPr>
              <a:t>Procesor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3491880" y="2340000"/>
            <a:ext cx="2160000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600" dirty="0">
                <a:solidFill>
                  <a:schemeClr val="tx1"/>
                </a:solidFill>
              </a:rPr>
              <a:t>Paměť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6372200" y="2340000"/>
            <a:ext cx="2160000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dirty="0">
                <a:solidFill>
                  <a:schemeClr val="tx1"/>
                </a:solidFill>
              </a:rPr>
              <a:t>Vstup výstup</a:t>
            </a:r>
          </a:p>
        </p:txBody>
      </p:sp>
      <p:sp>
        <p:nvSpPr>
          <p:cNvPr id="15" name="Obdélník 14"/>
          <p:cNvSpPr/>
          <p:nvPr/>
        </p:nvSpPr>
        <p:spPr>
          <a:xfrm>
            <a:off x="360000" y="1080000"/>
            <a:ext cx="8280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7" name="Obousměrná svislá šipka 16"/>
          <p:cNvSpPr/>
          <p:nvPr/>
        </p:nvSpPr>
        <p:spPr>
          <a:xfrm>
            <a:off x="1458000" y="1440000"/>
            <a:ext cx="540000" cy="900000"/>
          </a:xfrm>
          <a:prstGeom prst="up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8" name="Obousměrná svislá šipka 17"/>
          <p:cNvSpPr/>
          <p:nvPr/>
        </p:nvSpPr>
        <p:spPr>
          <a:xfrm>
            <a:off x="4301880" y="1440000"/>
            <a:ext cx="540000" cy="900000"/>
          </a:xfrm>
          <a:prstGeom prst="up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9" name="Obousměrná svislá šipka 18"/>
          <p:cNvSpPr/>
          <p:nvPr/>
        </p:nvSpPr>
        <p:spPr>
          <a:xfrm>
            <a:off x="7182200" y="1440000"/>
            <a:ext cx="540000" cy="900000"/>
          </a:xfrm>
          <a:prstGeom prst="up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0" name="Obdélník 19"/>
          <p:cNvSpPr/>
          <p:nvPr/>
        </p:nvSpPr>
        <p:spPr>
          <a:xfrm>
            <a:off x="870744" y="2571744"/>
            <a:ext cx="1714512" cy="5000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Čítač programu</a:t>
            </a:r>
          </a:p>
        </p:txBody>
      </p:sp>
      <p:sp>
        <p:nvSpPr>
          <p:cNvPr id="21" name="Obdélník 20"/>
          <p:cNvSpPr/>
          <p:nvPr/>
        </p:nvSpPr>
        <p:spPr>
          <a:xfrm>
            <a:off x="870744" y="3214686"/>
            <a:ext cx="1714512" cy="5000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Registr instrukce</a:t>
            </a:r>
          </a:p>
        </p:txBody>
      </p:sp>
      <p:sp>
        <p:nvSpPr>
          <p:cNvPr id="23" name="Obdélník 22"/>
          <p:cNvSpPr/>
          <p:nvPr/>
        </p:nvSpPr>
        <p:spPr>
          <a:xfrm>
            <a:off x="1800000" y="3960000"/>
            <a:ext cx="1080000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Dekóder instrukcí</a:t>
            </a:r>
          </a:p>
        </p:txBody>
      </p:sp>
      <p:sp>
        <p:nvSpPr>
          <p:cNvPr id="24" name="Obdélník 23"/>
          <p:cNvSpPr/>
          <p:nvPr/>
        </p:nvSpPr>
        <p:spPr>
          <a:xfrm>
            <a:off x="1800000" y="4608000"/>
            <a:ext cx="1080000" cy="54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ALU</a:t>
            </a:r>
          </a:p>
        </p:txBody>
      </p:sp>
      <p:sp>
        <p:nvSpPr>
          <p:cNvPr id="16" name="Obdélník 15"/>
          <p:cNvSpPr/>
          <p:nvPr/>
        </p:nvSpPr>
        <p:spPr>
          <a:xfrm>
            <a:off x="612000" y="3960000"/>
            <a:ext cx="1080000" cy="118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Registry</a:t>
            </a:r>
          </a:p>
        </p:txBody>
      </p:sp>
      <p:sp>
        <p:nvSpPr>
          <p:cNvPr id="2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7" name="Tlačítko akce: Vlastní 2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8" name="Tlačítko akce: Vlastní 2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9" name="Tlačítko akce: Vlastní 2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16" grpId="0" animBg="1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246769"/>
          </a:xfrm>
          <a:noFill/>
          <a:ln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Základní části počítače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Procesor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Paměť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Vstupně výstupní jednotky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Princip činnosti počítače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293209"/>
          </a:xfrm>
          <a:noFill/>
          <a:ln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Procesor obsahuje tyto části</a:t>
            </a:r>
            <a:endParaRPr lang="cs-CZ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Čítač programu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Registr instrukce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Registry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Dekodér instrukce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Aritmeticko-logickou jednotku</a:t>
            </a:r>
            <a:endParaRPr lang="cs-CZ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Princip činnosti počítače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14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985433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Čítač programu 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b="1" kern="1200" dirty="0">
                <a:latin typeface="Verdana" pitchFamily="34" charset="0"/>
              </a:rPr>
              <a:t>PC</a:t>
            </a:r>
            <a:r>
              <a:rPr lang="cs-CZ" sz="2400" kern="1200" dirty="0">
                <a:latin typeface="Verdana" pitchFamily="34" charset="0"/>
              </a:rPr>
              <a:t> - 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program counter</a:t>
            </a:r>
          </a:p>
          <a:p>
            <a:pPr marL="504000" lvl="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Je registr, v kterém je uložena </a:t>
            </a:r>
            <a:r>
              <a:rPr lang="cs-CZ" sz="2400" b="1" kern="1200" dirty="0">
                <a:latin typeface="Verdana" pitchFamily="34" charset="0"/>
              </a:rPr>
              <a:t>adresa</a:t>
            </a:r>
            <a:r>
              <a:rPr lang="cs-CZ" sz="2400" kern="1200" dirty="0">
                <a:latin typeface="Verdana" pitchFamily="34" charset="0"/>
              </a:rPr>
              <a:t> do paměti, kde se nachází </a:t>
            </a:r>
            <a:r>
              <a:rPr lang="cs-CZ" sz="2400" b="1" kern="1200" dirty="0">
                <a:latin typeface="Verdana" pitchFamily="34" charset="0"/>
              </a:rPr>
              <a:t>aktuálně vykonávaná instrukce</a:t>
            </a:r>
          </a:p>
          <a:p>
            <a:pPr marL="504000" lvl="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b="1" kern="1200" dirty="0">
                <a:latin typeface="Verdana" pitchFamily="34" charset="0"/>
              </a:rPr>
              <a:t>Počet bitů </a:t>
            </a:r>
            <a:r>
              <a:rPr lang="cs-CZ" sz="2400" kern="1200" dirty="0">
                <a:latin typeface="Verdana" pitchFamily="34" charset="0"/>
              </a:rPr>
              <a:t>registru závisí na rozsahu </a:t>
            </a:r>
            <a:r>
              <a:rPr lang="cs-CZ" sz="2400" b="1" kern="1200" dirty="0">
                <a:latin typeface="Verdana" pitchFamily="34" charset="0"/>
              </a:rPr>
              <a:t>adresovatelné paměti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Princip činnosti počítače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1569660"/>
          </a:xfrm>
          <a:noFill/>
          <a:ln/>
        </p:spPr>
        <p:txBody>
          <a:bodyPr>
            <a:spAutoFit/>
          </a:bodyPr>
          <a:lstStyle/>
          <a:p>
            <a:pPr marL="504000" lvl="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Registr instrukce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Je registr, v kterém je uložen kód </a:t>
            </a:r>
            <a:r>
              <a:rPr lang="cs-CZ" sz="2400" b="1" kern="1200" dirty="0">
                <a:latin typeface="Verdana" pitchFamily="34" charset="0"/>
              </a:rPr>
              <a:t>aktuálně vykonávané instrukce 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Princip činnosti počítače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36287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616101"/>
          </a:xfrm>
          <a:noFill/>
          <a:ln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Dekodér instrukce</a:t>
            </a:r>
            <a:r>
              <a:rPr lang="cs-CZ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Funkční blok, který </a:t>
            </a:r>
            <a:r>
              <a:rPr lang="cs-CZ" sz="2400" b="1" kern="1200" dirty="0">
                <a:latin typeface="Verdana" pitchFamily="34" charset="0"/>
              </a:rPr>
              <a:t>dekóduje</a:t>
            </a:r>
            <a:r>
              <a:rPr lang="cs-CZ" sz="2400" kern="1200" dirty="0">
                <a:latin typeface="Verdana" pitchFamily="34" charset="0"/>
              </a:rPr>
              <a:t> </a:t>
            </a:r>
            <a:r>
              <a:rPr lang="cs-CZ" sz="2400" b="1" kern="1200" dirty="0">
                <a:latin typeface="Verdana" pitchFamily="34" charset="0"/>
              </a:rPr>
              <a:t>instrukci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Je zdrojem </a:t>
            </a:r>
            <a:r>
              <a:rPr lang="cs-CZ" sz="2400" b="1" kern="1200" dirty="0">
                <a:latin typeface="Verdana" pitchFamily="34" charset="0"/>
              </a:rPr>
              <a:t>řídících signálů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b="1" kern="1200" dirty="0">
                <a:latin typeface="Verdana" pitchFamily="34" charset="0"/>
              </a:rPr>
              <a:t>Složitost dekodéru </a:t>
            </a:r>
            <a:r>
              <a:rPr lang="cs-CZ" sz="2400" kern="1200" dirty="0">
                <a:latin typeface="Verdana" pitchFamily="34" charset="0"/>
              </a:rPr>
              <a:t>je úměrná velikosti </a:t>
            </a:r>
            <a:r>
              <a:rPr lang="cs-CZ" sz="2400" b="1" kern="1200" dirty="0">
                <a:latin typeface="Verdana" pitchFamily="34" charset="0"/>
              </a:rPr>
              <a:t>instrukční sady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Princip činnosti počítače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1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1569660"/>
          </a:xfrm>
          <a:noFill/>
          <a:ln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Aritmeticko-logická jednotka</a:t>
            </a:r>
            <a:r>
              <a:rPr lang="cs-CZ" sz="2800" kern="1200" dirty="0">
                <a:latin typeface="Verdana" pitchFamily="34" charset="0"/>
              </a:rPr>
              <a:t> (ALU)</a:t>
            </a:r>
            <a:endParaRPr lang="cs-CZ" sz="2800" b="1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Provádí </a:t>
            </a:r>
            <a:r>
              <a:rPr lang="cs-CZ" sz="2400" b="1" kern="1200" dirty="0">
                <a:latin typeface="Verdana" pitchFamily="34" charset="0"/>
              </a:rPr>
              <a:t>aritmetické</a:t>
            </a:r>
            <a:r>
              <a:rPr lang="cs-CZ" sz="2400" kern="1200" dirty="0">
                <a:latin typeface="Verdana" pitchFamily="34" charset="0"/>
              </a:rPr>
              <a:t> a </a:t>
            </a:r>
            <a:r>
              <a:rPr lang="cs-CZ" sz="2400" b="1" kern="1200" dirty="0">
                <a:latin typeface="Verdana" pitchFamily="34" charset="0"/>
              </a:rPr>
              <a:t>logické</a:t>
            </a:r>
            <a:r>
              <a:rPr lang="cs-CZ" sz="2400" kern="1200" dirty="0">
                <a:latin typeface="Verdana" pitchFamily="34" charset="0"/>
              </a:rPr>
              <a:t> operace s daty uloženými v registrech nebo v operační paměti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Princip činnosti počítače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90822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18497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Instrukce</a:t>
            </a:r>
          </a:p>
        </p:txBody>
      </p:sp>
      <p:sp>
        <p:nvSpPr>
          <p:cNvPr id="235532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693319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Instrukce </a:t>
            </a:r>
            <a:r>
              <a:rPr lang="cs-CZ" sz="2800" kern="1200" dirty="0">
                <a:latin typeface="Verdana" pitchFamily="34" charset="0"/>
              </a:rPr>
              <a:t>má </a:t>
            </a:r>
          </a:p>
          <a:p>
            <a:pPr marL="540000" indent="0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sz="2800" b="1" kern="1200" dirty="0">
                <a:latin typeface="Verdana" pitchFamily="34" charset="0"/>
              </a:rPr>
              <a:t>symbolickou </a:t>
            </a:r>
            <a:r>
              <a:rPr lang="cs-CZ" sz="2800" kern="1200" dirty="0">
                <a:latin typeface="Verdana" pitchFamily="34" charset="0"/>
              </a:rPr>
              <a:t>podobu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None/>
            </a:pPr>
            <a:r>
              <a:rPr lang="cs-CZ" sz="2800" kern="1200" dirty="0">
                <a:latin typeface="Verdana" pitchFamily="34" charset="0"/>
              </a:rPr>
              <a:t>	</a:t>
            </a:r>
            <a:r>
              <a:rPr lang="cs-CZ" sz="48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LDI R16,0xFF</a:t>
            </a:r>
            <a:endParaRPr lang="en-US" sz="48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None/>
            </a:pPr>
            <a:r>
              <a:rPr lang="cs-CZ" sz="2800" kern="1200" dirty="0">
                <a:latin typeface="Verdana" pitchFamily="34" charset="0"/>
              </a:rPr>
              <a:t>	a</a:t>
            </a:r>
            <a:r>
              <a:rPr lang="en-US" sz="2800" kern="1200" dirty="0">
                <a:latin typeface="Verdana" pitchFamily="34" charset="0"/>
              </a:rPr>
              <a:t> </a:t>
            </a:r>
            <a:r>
              <a:rPr lang="cs-CZ" sz="2800" b="1" kern="1200" dirty="0">
                <a:latin typeface="Verdana" pitchFamily="34" charset="0"/>
              </a:rPr>
              <a:t>kódovou</a:t>
            </a:r>
            <a:r>
              <a:rPr lang="cs-CZ" sz="2800" kern="1200" dirty="0">
                <a:latin typeface="Verdana" pitchFamily="34" charset="0"/>
              </a:rPr>
              <a:t> podobu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None/>
            </a:pPr>
            <a:r>
              <a:rPr lang="cs-CZ" sz="4800" kern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48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0xEF0F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2" grpId="0" uiExpand="1" build="p"/>
      <p:bldP spid="4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ovéPole 13"/>
          <p:cNvSpPr txBox="1"/>
          <p:nvPr/>
        </p:nvSpPr>
        <p:spPr bwMode="auto">
          <a:xfrm>
            <a:off x="0" y="1918573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cs-CZ" sz="6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LDI R16,0xFF</a:t>
            </a:r>
            <a:endParaRPr lang="cs-CZ" sz="60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611560" y="3286725"/>
            <a:ext cx="316835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3600" b="1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Operační kód</a:t>
            </a: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2843808" y="4294837"/>
            <a:ext cx="26642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3600" b="1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1.operand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5076056" y="4942909"/>
            <a:ext cx="26642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3600" b="1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2.operand</a:t>
            </a:r>
          </a:p>
        </p:txBody>
      </p:sp>
      <p:cxnSp>
        <p:nvCxnSpPr>
          <p:cNvPr id="20" name="Přímá spojovací čára 19"/>
          <p:cNvCxnSpPr>
            <a:stCxn id="16" idx="0"/>
          </p:cNvCxnSpPr>
          <p:nvPr/>
        </p:nvCxnSpPr>
        <p:spPr>
          <a:xfrm rot="5400000" flipH="1" flipV="1">
            <a:off x="2159732" y="2818673"/>
            <a:ext cx="504056" cy="432048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římá spojovací čára 20"/>
          <p:cNvCxnSpPr>
            <a:stCxn id="17" idx="0"/>
          </p:cNvCxnSpPr>
          <p:nvPr/>
        </p:nvCxnSpPr>
        <p:spPr>
          <a:xfrm rot="16200000" flipV="1">
            <a:off x="3401870" y="3520751"/>
            <a:ext cx="1440160" cy="108012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římá spojovací čára 23"/>
          <p:cNvCxnSpPr>
            <a:stCxn id="18" idx="0"/>
          </p:cNvCxnSpPr>
          <p:nvPr/>
        </p:nvCxnSpPr>
        <p:spPr>
          <a:xfrm rot="16200000" flipV="1">
            <a:off x="5058054" y="3592759"/>
            <a:ext cx="2160240" cy="540060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délník 26"/>
          <p:cNvSpPr/>
          <p:nvPr/>
        </p:nvSpPr>
        <p:spPr>
          <a:xfrm>
            <a:off x="0" y="980728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cs-CZ" sz="2800" b="0" dirty="0">
                <a:latin typeface="Verdana" pitchFamily="34" charset="0"/>
              </a:rPr>
              <a:t>Instrukce se skládá z </a:t>
            </a:r>
            <a:r>
              <a:rPr lang="cs-CZ" sz="2800" dirty="0">
                <a:latin typeface="Verdana" pitchFamily="34" charset="0"/>
              </a:rPr>
              <a:t>operačního kódu </a:t>
            </a:r>
            <a:r>
              <a:rPr lang="cs-CZ" sz="2800" b="0" dirty="0">
                <a:latin typeface="Verdana" pitchFamily="34" charset="0"/>
              </a:rPr>
              <a:t>a </a:t>
            </a:r>
            <a:r>
              <a:rPr lang="cs-CZ" sz="2800" dirty="0">
                <a:latin typeface="Verdana" pitchFamily="34" charset="0"/>
              </a:rPr>
              <a:t>operandů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Instrukce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9" name="Tlačítko akce: Vlastní 1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12" grpId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185214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400" b="1" u="sng" kern="1200" dirty="0">
                <a:latin typeface="Verdana" pitchFamily="34" charset="0"/>
              </a:rPr>
              <a:t>Operační kód</a:t>
            </a:r>
            <a:r>
              <a:rPr lang="cs-CZ" sz="2400" kern="1200" dirty="0">
                <a:latin typeface="Verdana" pitchFamily="34" charset="0"/>
              </a:rPr>
              <a:t>, určuje </a:t>
            </a:r>
            <a:r>
              <a:rPr lang="cs-CZ" sz="2400" b="1" kern="1200" dirty="0">
                <a:latin typeface="Verdana" pitchFamily="34" charset="0"/>
              </a:rPr>
              <a:t>typ operace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400" b="1" u="sng" kern="1200" dirty="0">
                <a:latin typeface="Verdana" pitchFamily="34" charset="0"/>
              </a:rPr>
              <a:t>Operandy</a:t>
            </a:r>
            <a:r>
              <a:rPr lang="cs-CZ" sz="2400" kern="1200" dirty="0">
                <a:latin typeface="Verdana" pitchFamily="34" charset="0"/>
              </a:rPr>
              <a:t>, určují </a:t>
            </a:r>
            <a:r>
              <a:rPr lang="cs-CZ" sz="2400" b="1" kern="1200" dirty="0">
                <a:latin typeface="Verdana" pitchFamily="34" charset="0"/>
              </a:rPr>
              <a:t>s jakými daty </a:t>
            </a:r>
            <a:r>
              <a:rPr lang="cs-CZ" sz="2400" kern="1200" dirty="0">
                <a:latin typeface="Verdana" pitchFamily="34" charset="0"/>
              </a:rPr>
              <a:t>se má provést daná operace, může být jeden, dva nebo žádný 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400" b="1" u="sng" kern="1200" dirty="0">
                <a:latin typeface="Verdana" pitchFamily="34" charset="0"/>
              </a:rPr>
              <a:t>Adresace</a:t>
            </a:r>
            <a:r>
              <a:rPr lang="cs-CZ" sz="2400" kern="1200" dirty="0">
                <a:latin typeface="Verdana" pitchFamily="34" charset="0"/>
              </a:rPr>
              <a:t> určuje, jak jsou operandy </a:t>
            </a:r>
            <a:r>
              <a:rPr lang="cs-CZ" sz="2400" b="1" kern="1200" dirty="0">
                <a:latin typeface="Verdana" pitchFamily="34" charset="0"/>
              </a:rPr>
              <a:t>dosažitelné</a:t>
            </a:r>
            <a:endParaRPr lang="en-US" sz="2400" kern="1200" dirty="0">
              <a:latin typeface="Verdana" pitchFamily="34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Instrukce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400657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400" b="1" kern="1200" dirty="0">
                <a:latin typeface="Verdana" pitchFamily="34" charset="0"/>
              </a:rPr>
              <a:t>Mění instrukce čítač programu (PC)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cs-CZ" sz="2400" b="1" kern="1200" dirty="0">
                <a:solidFill>
                  <a:srgbClr val="FF0000"/>
                </a:solidFill>
                <a:latin typeface="Verdana" pitchFamily="34" charset="0"/>
              </a:rPr>
              <a:t>Ano</a:t>
            </a:r>
            <a:r>
              <a:rPr lang="cs-CZ" sz="2400" b="1" i="1" kern="1200" dirty="0">
                <a:solidFill>
                  <a:srgbClr val="FF0000"/>
                </a:solidFill>
                <a:latin typeface="Verdana" pitchFamily="34" charset="0"/>
              </a:rPr>
              <a:t> </a:t>
            </a:r>
            <a:r>
              <a:rPr lang="cs-CZ" sz="2400" i="1" kern="1200" dirty="0">
                <a:latin typeface="Verdana" pitchFamily="34" charset="0"/>
              </a:rPr>
              <a:t>– </a:t>
            </a:r>
            <a:r>
              <a:rPr lang="cs-CZ" sz="2400" kern="1200" dirty="0">
                <a:latin typeface="Verdana" pitchFamily="34" charset="0"/>
              </a:rPr>
              <a:t>instrukce modifikuje PC (instrukce skoku, volání podprogramu) PC=hodnota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cs-CZ" sz="2400" b="1" kern="1200" dirty="0">
                <a:solidFill>
                  <a:srgbClr val="FF0000"/>
                </a:solidFill>
                <a:latin typeface="Verdana" pitchFamily="34" charset="0"/>
              </a:rPr>
              <a:t>Ne</a:t>
            </a:r>
            <a:r>
              <a:rPr lang="cs-CZ" sz="2400" b="1" i="1" kern="1200" dirty="0">
                <a:solidFill>
                  <a:srgbClr val="FF0000"/>
                </a:solidFill>
                <a:latin typeface="Verdana" pitchFamily="34" charset="0"/>
              </a:rPr>
              <a:t> </a:t>
            </a:r>
            <a:r>
              <a:rPr lang="cs-CZ" sz="2400" i="1" kern="1200" dirty="0">
                <a:latin typeface="Verdana" pitchFamily="34" charset="0"/>
              </a:rPr>
              <a:t>–  </a:t>
            </a:r>
            <a:r>
              <a:rPr lang="cs-CZ" sz="2400" kern="1200" dirty="0">
                <a:latin typeface="Verdana" pitchFamily="34" charset="0"/>
              </a:rPr>
              <a:t>instrukce nemění PC (všechny ostatní </a:t>
            </a:r>
            <a:r>
              <a:rPr lang="cs-CZ" sz="2400" kern="1200">
                <a:latin typeface="Verdana" pitchFamily="34" charset="0"/>
              </a:rPr>
              <a:t>instrukce) PC</a:t>
            </a:r>
            <a:r>
              <a:rPr lang="cs-CZ" sz="2400" kern="1200" dirty="0">
                <a:latin typeface="Verdana" pitchFamily="34" charset="0"/>
              </a:rPr>
              <a:t>=PC</a:t>
            </a:r>
            <a:r>
              <a:rPr lang="cs-CZ" sz="2400" kern="1200">
                <a:latin typeface="Verdana" pitchFamily="34" charset="0"/>
              </a:rPr>
              <a:t>+1</a:t>
            </a:r>
            <a:endParaRPr lang="cs-CZ" sz="2400" kern="1200" dirty="0">
              <a:latin typeface="Verdana" pitchFamily="34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Instrukce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19807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031325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400" b="1" kern="1200" dirty="0">
                <a:latin typeface="Verdana" pitchFamily="34" charset="0"/>
              </a:rPr>
              <a:t>Návěští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cs-CZ" sz="2400" kern="1200" dirty="0">
                <a:latin typeface="Verdana" pitchFamily="34" charset="0"/>
              </a:rPr>
              <a:t>Je </a:t>
            </a:r>
            <a:r>
              <a:rPr lang="cs-CZ" sz="2400" kern="1200" dirty="0">
                <a:highlight>
                  <a:srgbClr val="FFFF00"/>
                </a:highlight>
                <a:latin typeface="Verdana" pitchFamily="34" charset="0"/>
              </a:rPr>
              <a:t>symbolické</a:t>
            </a:r>
            <a:r>
              <a:rPr lang="cs-CZ" sz="2400" kern="1200" dirty="0">
                <a:latin typeface="Verdana" pitchFamily="34" charset="0"/>
              </a:rPr>
              <a:t> označení </a:t>
            </a:r>
            <a:r>
              <a:rPr lang="cs-CZ" sz="2400" kern="1200" dirty="0">
                <a:highlight>
                  <a:srgbClr val="FFFF00"/>
                </a:highlight>
                <a:latin typeface="Verdana" pitchFamily="34" charset="0"/>
              </a:rPr>
              <a:t>místa v programu</a:t>
            </a:r>
            <a:r>
              <a:rPr lang="cs-CZ" sz="2400" kern="1200" dirty="0">
                <a:latin typeface="Verdana" pitchFamily="34" charset="0"/>
              </a:rPr>
              <a:t> (adresa)</a:t>
            </a:r>
          </a:p>
          <a:p>
            <a:pPr marL="504000" indent="-504000" eaLnBrk="0" hangingPunct="0">
              <a:spcBef>
                <a:spcPts val="0"/>
              </a:spcBef>
              <a:spcAft>
                <a:spcPts val="1200"/>
              </a:spcAft>
              <a:buClr>
                <a:srgbClr val="0000C9"/>
              </a:buClr>
              <a:buFont typeface="Wingdings" panose="05000000000000000000" pitchFamily="2" charset="2"/>
              <a:buChar char="§"/>
            </a:pPr>
            <a:r>
              <a:rPr lang="cs-CZ" sz="2400" kern="1200" dirty="0">
                <a:latin typeface="Verdana" pitchFamily="34" charset="0"/>
              </a:rPr>
              <a:t>Při překladu kompilátorem se symboly nahradí číselnou adresou, která se vypočítá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Instrukce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1217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18497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Jak se vytváří aplikace</a:t>
            </a:r>
          </a:p>
        </p:txBody>
      </p:sp>
      <p:sp>
        <p:nvSpPr>
          <p:cNvPr id="235532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354765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Vyšší programovací jazyk (C)</a:t>
            </a:r>
            <a:endParaRPr lang="cs-CZ" sz="2800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Používají se základní struktury (sekvence, větvení a cyklus)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Program je abstrahován od procesoru, na kterém je kód vykonáván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Vývoj programu je rychlý +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Strojový kód nemusí být optimální – 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60513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2" grpId="0" uiExpand="1" build="p"/>
      <p:bldP spid="4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2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923877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Nižší programovací jazyk (ASM)</a:t>
            </a:r>
            <a:endParaRPr lang="cs-CZ" sz="2800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800" kern="1200" dirty="0">
                <a:latin typeface="Verdana" pitchFamily="34" charset="0"/>
              </a:rPr>
              <a:t>Používají se instrukce konkrétního procesoru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800" kern="1200" dirty="0">
                <a:latin typeface="Verdana" pitchFamily="34" charset="0"/>
              </a:rPr>
              <a:t>Vývoj programu je pomalý -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800" kern="1200" dirty="0">
                <a:latin typeface="Verdana" pitchFamily="34" charset="0"/>
              </a:rPr>
              <a:t>Strojový kód může být optimalizován +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800" kern="1200" dirty="0">
                <a:latin typeface="Verdana" pitchFamily="34" charset="0"/>
              </a:rPr>
              <a:t>Náročné na znalosti programátora -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Jak se vytváří aplikace</a:t>
            </a:r>
          </a:p>
        </p:txBody>
      </p:sp>
    </p:spTree>
    <p:extLst>
      <p:ext uri="{BB962C8B-B14F-4D97-AF65-F5344CB8AC3E}">
        <p14:creationId xmlns:p14="http://schemas.microsoft.com/office/powerpoint/2010/main" val="368801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2" grpId="0" uiExpand="1" build="p"/>
      <p:bldP spid="4" grpId="0" animBg="1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18497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Jak se vykonává program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1415772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Příklad</a:t>
            </a:r>
            <a:endParaRPr lang="cs-CZ" sz="2800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Program bude vykonávat cyklus a po provedení </a:t>
            </a:r>
            <a:r>
              <a:rPr lang="en-US" sz="2400" kern="1200" dirty="0">
                <a:latin typeface="Verdana" pitchFamily="34" charset="0"/>
              </a:rPr>
              <a:t>s</a:t>
            </a:r>
            <a:r>
              <a:rPr lang="cs-CZ" sz="2400" kern="1200" dirty="0">
                <a:latin typeface="Verdana" pitchFamily="34" charset="0"/>
              </a:rPr>
              <a:t>e bude opakovat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008072" y="2880806"/>
            <a:ext cx="3131880" cy="270843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  <a:r>
              <a:rPr lang="cs-CZ" sz="2000" b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hile</a:t>
            </a:r>
            <a:r>
              <a:rPr lang="cs-CZ" sz="2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(1)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=2	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for(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=2;i&gt;0;i--)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cs-CZ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355975" y="2865958"/>
            <a:ext cx="4320481" cy="198515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800" dirty="0">
                <a:latin typeface="Verdana" pitchFamily="34" charset="0"/>
              </a:rPr>
              <a:t>Použité instrukce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600" dirty="0">
                <a:latin typeface="Consolas" panose="020B0609020204030204" pitchFamily="49" charset="0"/>
              </a:rPr>
              <a:t>LDI</a:t>
            </a:r>
            <a:r>
              <a:rPr lang="cs-CZ" sz="1600" b="0" dirty="0">
                <a:latin typeface="Verdana" pitchFamily="34" charset="0"/>
              </a:rPr>
              <a:t>  	naplň registr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600" dirty="0">
                <a:latin typeface="Consolas" panose="020B0609020204030204" pitchFamily="49" charset="0"/>
              </a:rPr>
              <a:t>DEC</a:t>
            </a:r>
            <a:r>
              <a:rPr lang="cs-CZ" sz="1600" b="0" dirty="0">
                <a:latin typeface="Verdana" pitchFamily="34" charset="0"/>
              </a:rPr>
              <a:t>  	odečti jedničku z registru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600" dirty="0">
                <a:latin typeface="Consolas" panose="020B0609020204030204" pitchFamily="49" charset="0"/>
              </a:rPr>
              <a:t>CPI</a:t>
            </a:r>
            <a:r>
              <a:rPr lang="cs-CZ" sz="1600" b="0" dirty="0">
                <a:latin typeface="Verdana" pitchFamily="34" charset="0"/>
              </a:rPr>
              <a:t>  	porovnej obsah registru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600" dirty="0">
                <a:latin typeface="Consolas" panose="020B0609020204030204" pitchFamily="49" charset="0"/>
              </a:rPr>
              <a:t>BRNE</a:t>
            </a:r>
            <a:r>
              <a:rPr lang="cs-CZ" sz="1600" b="0" dirty="0">
                <a:latin typeface="Verdana" pitchFamily="34" charset="0"/>
              </a:rPr>
              <a:t> 	skoč, když se nerovná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600" dirty="0">
                <a:latin typeface="Consolas" panose="020B0609020204030204" pitchFamily="49" charset="0"/>
              </a:rPr>
              <a:t>RJMP</a:t>
            </a:r>
            <a:r>
              <a:rPr lang="cs-CZ" sz="1600" b="0" dirty="0">
                <a:latin typeface="Verdana" pitchFamily="34" charset="0"/>
              </a:rPr>
              <a:t> 	pokračuj v programu na adrese</a:t>
            </a:r>
          </a:p>
        </p:txBody>
      </p:sp>
    </p:spTree>
    <p:extLst>
      <p:ext uri="{BB962C8B-B14F-4D97-AF65-F5344CB8AC3E}">
        <p14:creationId xmlns:p14="http://schemas.microsoft.com/office/powerpoint/2010/main" val="397010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 uiExpand="1" build="p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785652"/>
          </a:xfrm>
          <a:noFill/>
          <a:ln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N2:		LDI</a:t>
            </a: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R16,2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N1:		DEC		R16</a:t>
            </a:r>
            <a:endParaRPr 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CPI</a:t>
            </a: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R16</a:t>
            </a: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BRNE</a:t>
            </a: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N1</a:t>
            </a:r>
            <a:endParaRPr lang="cs-CZ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4000" b="1" kern="12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RJMP	N2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18497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Zdrojový kód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487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387471"/>
              </p:ext>
            </p:extLst>
          </p:nvPr>
        </p:nvGraphicFramePr>
        <p:xfrm>
          <a:off x="1080000" y="1080000"/>
          <a:ext cx="6054568" cy="4561265"/>
        </p:xfrm>
        <a:graphic>
          <a:graphicData uri="http://schemas.openxmlformats.org/drawingml/2006/table">
            <a:tbl>
              <a:tblPr/>
              <a:tblGrid>
                <a:gridCol w="121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adresa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kód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mnemonický kód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délka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E002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LDI R16,2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950A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DEC R16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CPI R16,0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F7E9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BRNE</a:t>
                      </a:r>
                      <a:r>
                        <a:rPr lang="cs-CZ" sz="3200" b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0001</a:t>
                      </a:r>
                      <a:endParaRPr lang="cs-CZ" sz="32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940C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RJMP 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lang="cs-CZ" sz="32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2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NOP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318497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Strojový kód v paměti programu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487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718122"/>
              </p:ext>
            </p:extLst>
          </p:nvPr>
        </p:nvGraphicFramePr>
        <p:xfrm>
          <a:off x="1080000" y="1080000"/>
          <a:ext cx="6072232" cy="4530785"/>
        </p:xfrm>
        <a:graphic>
          <a:graphicData uri="http://schemas.openxmlformats.org/drawingml/2006/table">
            <a:tbl>
              <a:tblPr/>
              <a:tblGrid>
                <a:gridCol w="121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PC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instrukce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word</a:t>
                      </a:r>
                      <a:endParaRPr kumimoji="0" lang="cs-CZ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LDI R16,2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DEC R16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CPI R16,0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BRNE 0001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PC=1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DEC R16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CPI R16,0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BRNE 0001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PC=1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JMP 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PC=0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LDI R16,2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DEC R16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PC=1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lang="cs-CZ" sz="18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318497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Sled vykonávaných instrukcí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26917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2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769989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Po </a:t>
            </a:r>
            <a:r>
              <a:rPr lang="cs-CZ" sz="2400" b="1" kern="1200" dirty="0">
                <a:latin typeface="Verdana" pitchFamily="34" charset="0"/>
              </a:rPr>
              <a:t>startu počítače </a:t>
            </a:r>
            <a:r>
              <a:rPr lang="cs-CZ" sz="2400" kern="1200" dirty="0">
                <a:latin typeface="Verdana" pitchFamily="34" charset="0"/>
              </a:rPr>
              <a:t>se nastaví</a:t>
            </a:r>
            <a:r>
              <a:rPr lang="cs-CZ" sz="2400" b="1" kern="1200" dirty="0">
                <a:latin typeface="Verdana" pitchFamily="34" charset="0"/>
              </a:rPr>
              <a:t> čítač programu (PC) </a:t>
            </a:r>
            <a:r>
              <a:rPr lang="cs-CZ" sz="2400" kern="1200" dirty="0">
                <a:latin typeface="Verdana" pitchFamily="34" charset="0"/>
              </a:rPr>
              <a:t>na </a:t>
            </a:r>
            <a:r>
              <a:rPr lang="cs-CZ" sz="2400" b="1" kern="1200" dirty="0">
                <a:latin typeface="Verdana" pitchFamily="34" charset="0"/>
              </a:rPr>
              <a:t>hodnotu </a:t>
            </a:r>
            <a:r>
              <a:rPr lang="cs-CZ" sz="24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pl-PL" sz="2400" kern="1200" dirty="0">
                <a:latin typeface="Verdana" pitchFamily="34" charset="0"/>
              </a:rPr>
              <a:t>Procesor </a:t>
            </a:r>
            <a:r>
              <a:rPr lang="pl-PL" sz="2400" b="1" kern="1200" dirty="0">
                <a:latin typeface="Verdana" pitchFamily="34" charset="0"/>
              </a:rPr>
              <a:t>čte instrukci na adrese</a:t>
            </a:r>
            <a:r>
              <a:rPr lang="pl-PL" sz="2400" kern="1200" dirty="0">
                <a:latin typeface="Verdana" pitchFamily="34" charset="0"/>
              </a:rPr>
              <a:t>, která je </a:t>
            </a:r>
            <a:r>
              <a:rPr lang="pl-PL" sz="2400" b="1" kern="1200" dirty="0">
                <a:latin typeface="Verdana" pitchFamily="34" charset="0"/>
              </a:rPr>
              <a:t>uložena</a:t>
            </a:r>
            <a:r>
              <a:rPr lang="pl-PL" sz="2400" kern="1200" dirty="0">
                <a:latin typeface="Verdana" pitchFamily="34" charset="0"/>
              </a:rPr>
              <a:t> v </a:t>
            </a:r>
            <a:r>
              <a:rPr lang="pl-PL" sz="2400" b="1" kern="1200" dirty="0">
                <a:latin typeface="Verdana" pitchFamily="34" charset="0"/>
              </a:rPr>
              <a:t>registru PC</a:t>
            </a:r>
            <a:endParaRPr lang="en-US" sz="2400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pt-BR" sz="2400" b="1" kern="1200" dirty="0">
                <a:latin typeface="Verdana" pitchFamily="34" charset="0"/>
              </a:rPr>
              <a:t>Paměť dodá data</a:t>
            </a:r>
            <a:r>
              <a:rPr lang="pt-BR" sz="2400" kern="1200" dirty="0">
                <a:latin typeface="Verdana" pitchFamily="34" charset="0"/>
              </a:rPr>
              <a:t>, která se přesunou do </a:t>
            </a:r>
            <a:r>
              <a:rPr lang="pt-BR" sz="2400" b="1" kern="1200" dirty="0">
                <a:latin typeface="Verdana" pitchFamily="34" charset="0"/>
              </a:rPr>
              <a:t>registru instrukce</a:t>
            </a:r>
            <a:endParaRPr lang="cs-CZ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318497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Postup vykonávání programu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2" grpId="0" uiExpand="1" build="p"/>
      <p:bldP spid="4" grpId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508653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cs-CZ" sz="2400" b="1" kern="1200" dirty="0">
                <a:latin typeface="Verdana" pitchFamily="34" charset="0"/>
              </a:rPr>
              <a:t>Dekodér dekóduje instrukci</a:t>
            </a:r>
            <a:r>
              <a:rPr lang="cs-CZ" sz="2400" kern="1200" dirty="0">
                <a:latin typeface="Verdana" pitchFamily="34" charset="0"/>
              </a:rPr>
              <a:t>. Pokud má instrukce </a:t>
            </a:r>
            <a:r>
              <a:rPr lang="cs-CZ" sz="2400" b="1" kern="1200" dirty="0">
                <a:latin typeface="Verdana" pitchFamily="34" charset="0"/>
              </a:rPr>
              <a:t>operand</a:t>
            </a:r>
            <a:r>
              <a:rPr lang="cs-CZ" sz="2400" kern="1200" dirty="0">
                <a:latin typeface="Verdana" pitchFamily="34" charset="0"/>
              </a:rPr>
              <a:t>, </a:t>
            </a:r>
            <a:r>
              <a:rPr lang="cs-CZ" sz="2400" b="1" kern="1200" dirty="0">
                <a:latin typeface="Verdana" pitchFamily="34" charset="0"/>
              </a:rPr>
              <a:t>čte</a:t>
            </a:r>
            <a:r>
              <a:rPr lang="cs-CZ" sz="2400" kern="1200" dirty="0">
                <a:latin typeface="Verdana" pitchFamily="34" charset="0"/>
              </a:rPr>
              <a:t> další </a:t>
            </a:r>
            <a:r>
              <a:rPr lang="cs-CZ" sz="2400" b="1" kern="1200" dirty="0">
                <a:latin typeface="Verdana" pitchFamily="34" charset="0"/>
              </a:rPr>
              <a:t>data z paměti </a:t>
            </a:r>
            <a:r>
              <a:rPr lang="cs-CZ" sz="2400" kern="1200" dirty="0">
                <a:latin typeface="Verdana" pitchFamily="34" charset="0"/>
              </a:rPr>
              <a:t>nebo ze vstupu a výstupu. Jinak řídí </a:t>
            </a:r>
            <a:r>
              <a:rPr lang="cs-CZ" sz="2400" b="1" kern="1200" dirty="0">
                <a:latin typeface="Verdana" pitchFamily="34" charset="0"/>
              </a:rPr>
              <a:t>přesuny</a:t>
            </a:r>
            <a:r>
              <a:rPr lang="cs-CZ" sz="2400" kern="1200" dirty="0">
                <a:latin typeface="Verdana" pitchFamily="34" charset="0"/>
              </a:rPr>
              <a:t> dat mezi registry a </a:t>
            </a:r>
            <a:r>
              <a:rPr lang="cs-CZ" sz="2400" b="1" kern="1200" dirty="0">
                <a:latin typeface="Verdana" pitchFamily="34" charset="0"/>
              </a:rPr>
              <a:t>používání ALU</a:t>
            </a:r>
            <a:endParaRPr lang="cs-CZ" sz="2400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Po vykonání se </a:t>
            </a:r>
            <a:r>
              <a:rPr lang="cs-CZ" sz="2400" b="1" kern="1200" dirty="0">
                <a:latin typeface="Verdana" pitchFamily="34" charset="0"/>
              </a:rPr>
              <a:t>inkrementuje</a:t>
            </a:r>
            <a:r>
              <a:rPr lang="cs-CZ" sz="2400" kern="1200" dirty="0">
                <a:latin typeface="Verdana" pitchFamily="34" charset="0"/>
              </a:rPr>
              <a:t> adresa v 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PC</a:t>
            </a:r>
            <a:r>
              <a:rPr lang="cs-CZ" sz="2400" kern="1200" dirty="0">
                <a:latin typeface="Verdana" pitchFamily="34" charset="0"/>
              </a:rPr>
              <a:t>, podle </a:t>
            </a:r>
            <a:r>
              <a:rPr lang="cs-CZ" sz="2400" b="1" kern="1200" dirty="0">
                <a:latin typeface="Verdana" pitchFamily="34" charset="0"/>
              </a:rPr>
              <a:t>délky</a:t>
            </a:r>
            <a:r>
              <a:rPr lang="cs-CZ" sz="2400" kern="1200" dirty="0">
                <a:latin typeface="Verdana" pitchFamily="34" charset="0"/>
              </a:rPr>
              <a:t> instrukce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V případě </a:t>
            </a:r>
            <a:r>
              <a:rPr lang="cs-CZ" sz="2400" b="1" kern="1200" dirty="0">
                <a:latin typeface="Verdana" pitchFamily="34" charset="0"/>
              </a:rPr>
              <a:t>skokové instrukce </a:t>
            </a:r>
            <a:r>
              <a:rPr lang="cs-CZ" sz="2400" kern="1200" dirty="0">
                <a:latin typeface="Verdana" pitchFamily="34" charset="0"/>
              </a:rPr>
              <a:t>se naplní 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PC</a:t>
            </a:r>
            <a:r>
              <a:rPr lang="cs-CZ" sz="2400" kern="1200" dirty="0">
                <a:latin typeface="Verdana" pitchFamily="34" charset="0"/>
              </a:rPr>
              <a:t> </a:t>
            </a:r>
            <a:r>
              <a:rPr lang="cs-CZ" sz="2400" b="1" kern="1200" dirty="0">
                <a:latin typeface="Verdana" pitchFamily="34" charset="0"/>
              </a:rPr>
              <a:t>adresou</a:t>
            </a:r>
            <a:r>
              <a:rPr lang="cs-CZ" sz="2400" kern="1200" dirty="0">
                <a:latin typeface="Verdana" pitchFamily="34" charset="0"/>
              </a:rPr>
              <a:t>, na které bude program </a:t>
            </a:r>
            <a:r>
              <a:rPr lang="cs-CZ" sz="2400" b="1" kern="1200" dirty="0">
                <a:latin typeface="Verdana" pitchFamily="34" charset="0"/>
              </a:rPr>
              <a:t>pokračovat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Postup vykonávání programu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theme/theme1.xml><?xml version="1.0" encoding="utf-8"?>
<a:theme xmlns:a="http://schemas.openxmlformats.org/drawingml/2006/main" name="Pixel">
  <a:themeElements>
    <a:clrScheme name="MI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666699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algn="r" rtl="0" fontAlgn="base">
          <a:spcBef>
            <a:spcPct val="0"/>
          </a:spcBef>
          <a:spcAft>
            <a:spcPct val="0"/>
          </a:spcAft>
          <a:defRPr sz="2400" b="1" dirty="0">
            <a:solidFill>
              <a:srgbClr val="000000"/>
            </a:solidFill>
            <a:latin typeface="Arial"/>
            <a:ea typeface="+mn-ea"/>
            <a:cs typeface="+mn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26312</TotalTime>
  <Words>1131</Words>
  <Application>Microsoft Office PowerPoint</Application>
  <PresentationFormat>Předvádění na obrazovce (4:3)</PresentationFormat>
  <Paragraphs>417</Paragraphs>
  <Slides>32</Slides>
  <Notes>32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32</vt:i4>
      </vt:variant>
    </vt:vector>
  </HeadingPairs>
  <TitlesOfParts>
    <vt:vector size="40" baseType="lpstr">
      <vt:lpstr>Arial</vt:lpstr>
      <vt:lpstr>Arial Black</vt:lpstr>
      <vt:lpstr>Consolas</vt:lpstr>
      <vt:lpstr>Monotype Sorts</vt:lpstr>
      <vt:lpstr>Times New Roman</vt:lpstr>
      <vt:lpstr>Verdana</vt:lpstr>
      <vt:lpstr>Wingdings</vt:lpstr>
      <vt:lpstr>Pixel</vt:lpstr>
      <vt:lpstr>Modely počítačů</vt:lpstr>
      <vt:lpstr>Základní pojmy</vt:lpstr>
      <vt:lpstr>Základní pojmy</vt:lpstr>
      <vt:lpstr>Základní pojmy</vt:lpstr>
      <vt:lpstr>Základní pojmy</vt:lpstr>
      <vt:lpstr>Základní pojmy</vt:lpstr>
      <vt:lpstr>Prezentace aplikace PowerPoint</vt:lpstr>
      <vt:lpstr>Von Neumannova architektura</vt:lpstr>
      <vt:lpstr>Hardvardská architektura</vt:lpstr>
      <vt:lpstr>Harvardská architektura</vt:lpstr>
      <vt:lpstr>Architektura CISC a RISC</vt:lpstr>
      <vt:lpstr>Prezentace aplikace PowerPoint</vt:lpstr>
      <vt:lpstr>Princip činnosti počítače</vt:lpstr>
      <vt:lpstr>Princip činnosti počítače</vt:lpstr>
      <vt:lpstr>Princip činnosti počítače</vt:lpstr>
      <vt:lpstr>Princip činnosti počítače</vt:lpstr>
      <vt:lpstr>Princip činnosti počítače</vt:lpstr>
      <vt:lpstr>Princip činnosti počítače</vt:lpstr>
      <vt:lpstr>Princip činnosti počítače</vt:lpstr>
      <vt:lpstr>Instrukce</vt:lpstr>
      <vt:lpstr>Instrukce</vt:lpstr>
      <vt:lpstr>Instrukce</vt:lpstr>
      <vt:lpstr>Instrukce</vt:lpstr>
      <vt:lpstr>Instrukce</vt:lpstr>
      <vt:lpstr>Jak se vytváří aplikace</vt:lpstr>
      <vt:lpstr>Jak se vytváří aplikace</vt:lpstr>
      <vt:lpstr>Jak se vykonává program</vt:lpstr>
      <vt:lpstr>Zdrojový kód</vt:lpstr>
      <vt:lpstr>Prezentace aplikace PowerPoint</vt:lpstr>
      <vt:lpstr>Prezentace aplikace PowerPoint</vt:lpstr>
      <vt:lpstr>Prezentace aplikace PowerPoint</vt:lpstr>
      <vt:lpstr>Postup vykonávání programu</vt:lpstr>
    </vt:vector>
  </TitlesOfParts>
  <Company>SPŠEI Frenštát p.R.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Modely počítačů</dc:title>
  <dc:subject>MIT</dc:subject>
  <dc:creator/>
  <dc:description>Koncepce, řadič, paměť, dekodér, vykonávání programu</dc:description>
  <cp:lastModifiedBy>Jaromír Jašík</cp:lastModifiedBy>
  <cp:revision>587</cp:revision>
  <cp:lastPrinted>2023-12-08T11:15:46Z</cp:lastPrinted>
  <dcterms:created xsi:type="dcterms:W3CDTF">2001-09-22T14:04:06Z</dcterms:created>
  <dcterms:modified xsi:type="dcterms:W3CDTF">2026-10-19T16:44:51Z</dcterms:modified>
</cp:coreProperties>
</file>