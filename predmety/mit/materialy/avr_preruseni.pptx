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</p:sldMasterIdLst>
  <p:notesMasterIdLst>
    <p:notesMasterId r:id="rId31"/>
  </p:notesMasterIdLst>
  <p:handoutMasterIdLst>
    <p:handoutMasterId r:id="rId32"/>
  </p:handoutMasterIdLst>
  <p:sldIdLst>
    <p:sldId id="364" r:id="rId2"/>
    <p:sldId id="379" r:id="rId3"/>
    <p:sldId id="390" r:id="rId4"/>
    <p:sldId id="381" r:id="rId5"/>
    <p:sldId id="532" r:id="rId6"/>
    <p:sldId id="544" r:id="rId7"/>
    <p:sldId id="546" r:id="rId8"/>
    <p:sldId id="533" r:id="rId9"/>
    <p:sldId id="547" r:id="rId10"/>
    <p:sldId id="534" r:id="rId11"/>
    <p:sldId id="548" r:id="rId12"/>
    <p:sldId id="550" r:id="rId13"/>
    <p:sldId id="551" r:id="rId14"/>
    <p:sldId id="554" r:id="rId15"/>
    <p:sldId id="540" r:id="rId16"/>
    <p:sldId id="541" r:id="rId17"/>
    <p:sldId id="563" r:id="rId18"/>
    <p:sldId id="549" r:id="rId19"/>
    <p:sldId id="552" r:id="rId20"/>
    <p:sldId id="542" r:id="rId21"/>
    <p:sldId id="553" r:id="rId22"/>
    <p:sldId id="560" r:id="rId23"/>
    <p:sldId id="561" r:id="rId24"/>
    <p:sldId id="557" r:id="rId25"/>
    <p:sldId id="558" r:id="rId26"/>
    <p:sldId id="559" r:id="rId27"/>
    <p:sldId id="562" r:id="rId28"/>
    <p:sldId id="556" r:id="rId29"/>
    <p:sldId id="537" r:id="rId30"/>
  </p:sldIdLst>
  <p:sldSz cx="9144000" cy="6858000" type="screen4x3"/>
  <p:notesSz cx="8013700" cy="111379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B3F6CC22-5D26-4F9E-8A9F-E1888E082886}">
          <p14:sldIdLst>
            <p14:sldId id="364"/>
            <p14:sldId id="379"/>
            <p14:sldId id="390"/>
            <p14:sldId id="381"/>
          </p14:sldIdLst>
        </p14:section>
        <p14:section name="Přerušení" id="{0998BE22-0A0C-4F5D-AD0B-BEC8CAAF2985}">
          <p14:sldIdLst>
            <p14:sldId id="532"/>
          </p14:sldIdLst>
        </p14:section>
        <p14:section name="Reset" id="{560E1936-EE36-47DB-A7AC-CD94E1504A39}">
          <p14:sldIdLst>
            <p14:sldId id="544"/>
            <p14:sldId id="546"/>
          </p14:sldIdLst>
        </p14:section>
        <p14:section name="Přerušení" id="{05CC3C59-42E7-46D1-8448-C08941C41C66}">
          <p14:sldIdLst>
            <p14:sldId id="533"/>
            <p14:sldId id="547"/>
            <p14:sldId id="534"/>
            <p14:sldId id="548"/>
            <p14:sldId id="550"/>
            <p14:sldId id="551"/>
          </p14:sldIdLst>
        </p14:section>
        <p14:section name="Přerušení v jazyce C" id="{E934C8CC-3003-4017-AEE6-1C54F084C689}">
          <p14:sldIdLst>
            <p14:sldId id="554"/>
            <p14:sldId id="540"/>
            <p14:sldId id="541"/>
          </p14:sldIdLst>
        </p14:section>
        <p14:section name="Přerušení v jazyce ASM" id="{FEBECA17-E60F-4A38-BDF3-E239335AEF97}">
          <p14:sldIdLst>
            <p14:sldId id="563"/>
            <p14:sldId id="549"/>
            <p14:sldId id="552"/>
            <p14:sldId id="542"/>
            <p14:sldId id="553"/>
          </p14:sldIdLst>
        </p14:section>
        <p14:section name="Příklad vnější přerušení" id="{AFFD9AC9-EE0A-40D6-84E2-857CD874AD46}">
          <p14:sldIdLst>
            <p14:sldId id="560"/>
            <p14:sldId id="561"/>
            <p14:sldId id="557"/>
            <p14:sldId id="558"/>
            <p14:sldId id="559"/>
            <p14:sldId id="562"/>
          </p14:sldIdLst>
        </p14:section>
        <p14:section name="Konec" id="{DFD75B61-7413-4A03-8884-27EA384D71C5}">
          <p14:sldIdLst>
            <p14:sldId id="556"/>
          </p14:sldIdLst>
        </p14:section>
        <p14:section name="Příloha" id="{402E65FB-0319-4AC1-BAC3-D34820E23580}">
          <p14:sldIdLst>
            <p14:sldId id="5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8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508" userDrawn="1">
          <p15:clr>
            <a:srgbClr val="A4A3A4"/>
          </p15:clr>
        </p15:guide>
        <p15:guide id="2" pos="252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99"/>
    <a:srgbClr val="000066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9265" autoAdjust="0"/>
    <p:restoredTop sz="86347" autoAdjust="0"/>
  </p:normalViewPr>
  <p:slideViewPr>
    <p:cSldViewPr>
      <p:cViewPr varScale="1">
        <p:scale>
          <a:sx n="111" d="100"/>
          <a:sy n="111" d="100"/>
        </p:scale>
        <p:origin x="1404" y="96"/>
      </p:cViewPr>
      <p:guideLst>
        <p:guide orient="horz" pos="482"/>
        <p:guide pos="2880"/>
      </p:guideLst>
    </p:cSldViewPr>
  </p:slideViewPr>
  <p:outlineViewPr>
    <p:cViewPr>
      <p:scale>
        <a:sx n="33" d="100"/>
        <a:sy n="33" d="100"/>
      </p:scale>
      <p:origin x="0" y="-169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6906"/>
    </p:cViewPr>
  </p:sorterViewPr>
  <p:notesViewPr>
    <p:cSldViewPr>
      <p:cViewPr varScale="1">
        <p:scale>
          <a:sx n="53" d="100"/>
          <a:sy n="53" d="100"/>
        </p:scale>
        <p:origin x="-2922" y="-84"/>
      </p:cViewPr>
      <p:guideLst>
        <p:guide orient="horz" pos="3508"/>
        <p:guide pos="25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472981" cy="5572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05421" tIns="52711" rIns="105421" bIns="52711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540721" y="1"/>
            <a:ext cx="3472980" cy="5572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05421" tIns="52711" rIns="105421" bIns="52711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0580647"/>
            <a:ext cx="3472981" cy="55725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05421" tIns="52711" rIns="105421" bIns="52711" numCol="1" anchor="b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540721" y="10580647"/>
            <a:ext cx="3472980" cy="55725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105421" tIns="52711" rIns="105421" bIns="52711" numCol="1" anchor="b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B789FC14-9522-4CF0-9A65-5F024E36797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04928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472981" cy="557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421" tIns="52711" rIns="105421" bIns="52711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cs-CZ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538833" y="1"/>
            <a:ext cx="3472981" cy="557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421" tIns="52711" rIns="105421" bIns="52711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endParaRPr lang="cs-CZ"/>
          </a:p>
        </p:txBody>
      </p:sp>
      <p:sp>
        <p:nvSpPr>
          <p:cNvPr id="135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22375" y="835025"/>
            <a:ext cx="5568950" cy="41767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01749" y="5291220"/>
            <a:ext cx="6410205" cy="5011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421" tIns="52711" rIns="105421" bIns="527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0578855"/>
            <a:ext cx="3472981" cy="557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421" tIns="52711" rIns="105421" bIns="52711" numCol="1" anchor="b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cs-CZ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538833" y="10578855"/>
            <a:ext cx="3472981" cy="5572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5421" tIns="52711" rIns="105421" bIns="52711" numCol="1" anchor="b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fld id="{5F85057A-F1F2-483B-BD27-BE54DAB18A8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95546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1222375" y="835025"/>
            <a:ext cx="5568950" cy="4176713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95EEAFF5-42F6-48E8-8B2A-FBA7A2EC0999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cs-CZ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47E2342-14F7-425B-93D2-D06753AC8677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0F6ACE72-45B9-46EB-9812-BE6DEFC3F096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F345F-C42D-4BFB-832D-7718F492B793}" type="slidenum">
              <a:rPr lang="cs-CZ"/>
              <a:pPr/>
              <a:t>4</a:t>
            </a:fld>
            <a:endParaRPr lang="cs-CZ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5</a:t>
            </a:fld>
            <a:endParaRPr lang="cs-CZ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6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11596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7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1195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2473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11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58008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91331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13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13189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14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676018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15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48C89-D471-EE89-FE5D-70BF230BBF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251318E5-EF8E-F139-8275-A8162C5DBF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17</a:t>
            </a:fld>
            <a:endParaRPr lang="cs-CZ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56120216-420F-A32D-7AAE-C44F379C1D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F5BB25E1-2E6F-C3E1-949B-FFBD417428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097969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18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725879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19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944731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20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7" name="Zástupný symbol pro poznámky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spcBef>
                <a:spcPct val="0"/>
              </a:spcBef>
            </a:pPr>
            <a:endParaRPr lang="cs-CZ"/>
          </a:p>
        </p:txBody>
      </p:sp>
      <p:sp>
        <p:nvSpPr>
          <p:cNvPr id="11268" name="Zástupný symbol pro číslo snímku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742174-B384-44E9-ACF8-E1BBF6547551}" type="slidenum">
              <a:rPr lang="cs-CZ">
                <a:solidFill>
                  <a:srgbClr val="000000"/>
                </a:solidFill>
                <a:latin typeface="Arial" charset="0"/>
              </a:rPr>
              <a:pPr/>
              <a:t>21</a:t>
            </a:fld>
            <a:endParaRPr lang="cs-CZ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3077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22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3900" y="509588"/>
            <a:ext cx="3400425" cy="254952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4094397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23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3900" y="509588"/>
            <a:ext cx="3400425" cy="2549525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607566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24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3900" y="509588"/>
            <a:ext cx="3400425" cy="254952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20618">
              <a:defRPr/>
            </a:pPr>
            <a:r>
              <a:rPr lang="cs-CZ" sz="1000" dirty="0"/>
              <a:t>Do pracovního listu</a:t>
            </a:r>
            <a:endParaRPr lang="cs-CZ" sz="1000" b="1" dirty="0"/>
          </a:p>
          <a:p>
            <a:r>
              <a:rPr lang="cs-CZ" sz="1000" b="1" dirty="0"/>
              <a:t>TCCR0A,B</a:t>
            </a:r>
            <a:r>
              <a:rPr lang="cs-CZ" sz="1000" dirty="0"/>
              <a:t> – </a:t>
            </a:r>
            <a:r>
              <a:rPr lang="cs-CZ" sz="1000" b="1" dirty="0"/>
              <a:t>T</a:t>
            </a:r>
            <a:r>
              <a:rPr lang="cs-CZ" sz="1000" dirty="0"/>
              <a:t>imer/</a:t>
            </a:r>
            <a:r>
              <a:rPr lang="cs-CZ" sz="1000" b="1" dirty="0"/>
              <a:t>C</a:t>
            </a:r>
            <a:r>
              <a:rPr lang="cs-CZ" sz="1000" dirty="0"/>
              <a:t>ounter </a:t>
            </a:r>
            <a:r>
              <a:rPr lang="cs-CZ" sz="1000" b="1" dirty="0" err="1"/>
              <a:t>C</a:t>
            </a:r>
            <a:r>
              <a:rPr lang="cs-CZ" sz="1000" dirty="0" err="1"/>
              <a:t>ontrol</a:t>
            </a:r>
            <a:r>
              <a:rPr lang="cs-CZ" sz="1000" dirty="0"/>
              <a:t> </a:t>
            </a:r>
            <a:r>
              <a:rPr lang="cs-CZ" sz="1000" b="1" dirty="0"/>
              <a:t>R</a:t>
            </a:r>
            <a:r>
              <a:rPr lang="cs-CZ" sz="1000" dirty="0"/>
              <a:t>egister A,B</a:t>
            </a:r>
          </a:p>
          <a:p>
            <a:r>
              <a:rPr lang="cs-CZ" sz="1000" b="1" dirty="0"/>
              <a:t>WGM0</a:t>
            </a:r>
            <a:r>
              <a:rPr lang="cs-CZ" sz="1000" dirty="0"/>
              <a:t> - </a:t>
            </a:r>
            <a:r>
              <a:rPr lang="cs-CZ" sz="1000" b="1" dirty="0" err="1"/>
              <a:t>W</a:t>
            </a:r>
            <a:r>
              <a:rPr lang="cs-CZ" sz="1000" dirty="0" err="1"/>
              <a:t>aveform</a:t>
            </a:r>
            <a:r>
              <a:rPr lang="cs-CZ" sz="1000" dirty="0"/>
              <a:t> </a:t>
            </a:r>
            <a:r>
              <a:rPr lang="cs-CZ" sz="1000" b="1" dirty="0" err="1"/>
              <a:t>G</a:t>
            </a:r>
            <a:r>
              <a:rPr lang="cs-CZ" sz="1000" dirty="0" err="1"/>
              <a:t>eneration</a:t>
            </a:r>
            <a:r>
              <a:rPr lang="cs-CZ" sz="1000" dirty="0"/>
              <a:t> </a:t>
            </a:r>
            <a:r>
              <a:rPr lang="cs-CZ" sz="1000" b="1" dirty="0"/>
              <a:t>M</a:t>
            </a:r>
            <a:r>
              <a:rPr lang="cs-CZ" sz="1000" dirty="0"/>
              <a:t>ode</a:t>
            </a:r>
          </a:p>
          <a:p>
            <a:r>
              <a:rPr lang="cs-CZ" sz="1000" b="1" dirty="0"/>
              <a:t>COM0A,B</a:t>
            </a:r>
            <a:r>
              <a:rPr lang="cs-CZ" sz="1000" dirty="0"/>
              <a:t> - </a:t>
            </a:r>
            <a:r>
              <a:rPr lang="cs-CZ" sz="1000" b="1" dirty="0"/>
              <a:t>Co</a:t>
            </a:r>
            <a:r>
              <a:rPr lang="cs-CZ" sz="1000" dirty="0"/>
              <a:t>mpare </a:t>
            </a:r>
            <a:r>
              <a:rPr lang="cs-CZ" sz="1000" b="1" dirty="0" err="1"/>
              <a:t>M</a:t>
            </a:r>
            <a:r>
              <a:rPr lang="cs-CZ" sz="1000" dirty="0" err="1"/>
              <a:t>atch</a:t>
            </a:r>
            <a:r>
              <a:rPr lang="cs-CZ" sz="1000" dirty="0"/>
              <a:t> Output Mode</a:t>
            </a:r>
          </a:p>
          <a:p>
            <a:r>
              <a:rPr lang="cs-CZ" sz="1000" b="1" dirty="0"/>
              <a:t>CS0 </a:t>
            </a:r>
            <a:r>
              <a:rPr lang="cs-CZ" sz="1000" dirty="0"/>
              <a:t>- </a:t>
            </a:r>
            <a:r>
              <a:rPr lang="cs-CZ" sz="1000" b="1" dirty="0" err="1"/>
              <a:t>C</a:t>
            </a:r>
            <a:r>
              <a:rPr lang="cs-CZ" sz="1000" dirty="0" err="1"/>
              <a:t>lock</a:t>
            </a:r>
            <a:r>
              <a:rPr lang="cs-CZ" sz="1000" dirty="0"/>
              <a:t> </a:t>
            </a:r>
            <a:r>
              <a:rPr lang="cs-CZ" sz="1000" b="1" dirty="0"/>
              <a:t>S</a:t>
            </a:r>
            <a:r>
              <a:rPr lang="cs-CZ" sz="1000" dirty="0"/>
              <a:t>elect</a:t>
            </a:r>
          </a:p>
          <a:p>
            <a:r>
              <a:rPr lang="cs-CZ" sz="1000" b="1" dirty="0"/>
              <a:t>FOC</a:t>
            </a:r>
            <a:r>
              <a:rPr lang="cs-CZ" sz="1000" dirty="0"/>
              <a:t> - </a:t>
            </a:r>
            <a:r>
              <a:rPr lang="cs-CZ" sz="1000" b="1" dirty="0" err="1"/>
              <a:t>F</a:t>
            </a:r>
            <a:r>
              <a:rPr lang="cs-CZ" sz="1000" dirty="0" err="1"/>
              <a:t>orce</a:t>
            </a:r>
            <a:r>
              <a:rPr lang="cs-CZ" sz="1000" dirty="0"/>
              <a:t> </a:t>
            </a:r>
            <a:r>
              <a:rPr lang="cs-CZ" sz="1000" b="1" dirty="0"/>
              <a:t>O</a:t>
            </a:r>
            <a:r>
              <a:rPr lang="cs-CZ" sz="1000" dirty="0"/>
              <a:t>utput </a:t>
            </a:r>
            <a:r>
              <a:rPr lang="cs-CZ" sz="1000" b="1" dirty="0"/>
              <a:t>Co</a:t>
            </a:r>
            <a:r>
              <a:rPr lang="cs-CZ" sz="1000" dirty="0"/>
              <a:t>mpare</a:t>
            </a:r>
          </a:p>
          <a:p>
            <a:r>
              <a:rPr lang="cs-CZ" sz="1000" b="1" dirty="0"/>
              <a:t>OCR0A,B</a:t>
            </a:r>
            <a:r>
              <a:rPr lang="cs-CZ" sz="1000" dirty="0"/>
              <a:t> - </a:t>
            </a:r>
            <a:r>
              <a:rPr lang="cs-CZ" sz="1000" b="1" dirty="0"/>
              <a:t>O</a:t>
            </a:r>
            <a:r>
              <a:rPr lang="cs-CZ" sz="1000" dirty="0"/>
              <a:t>utput </a:t>
            </a:r>
            <a:r>
              <a:rPr lang="cs-CZ" sz="1000" b="1" dirty="0"/>
              <a:t>C</a:t>
            </a:r>
            <a:r>
              <a:rPr lang="cs-CZ" sz="1000" dirty="0"/>
              <a:t>ompare </a:t>
            </a:r>
            <a:r>
              <a:rPr lang="cs-CZ" sz="1000" b="1" dirty="0"/>
              <a:t>R</a:t>
            </a:r>
            <a:r>
              <a:rPr lang="cs-CZ" sz="1000" dirty="0"/>
              <a:t>egister</a:t>
            </a:r>
          </a:p>
        </p:txBody>
      </p:sp>
    </p:spTree>
    <p:extLst>
      <p:ext uri="{BB962C8B-B14F-4D97-AF65-F5344CB8AC3E}">
        <p14:creationId xmlns:p14="http://schemas.microsoft.com/office/powerpoint/2010/main" val="22337717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25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3900" y="509588"/>
            <a:ext cx="3400425" cy="254952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20618">
              <a:defRPr/>
            </a:pPr>
            <a:r>
              <a:rPr lang="cs-CZ" sz="1000" dirty="0"/>
              <a:t>Do pracovního listu</a:t>
            </a:r>
          </a:p>
          <a:p>
            <a:r>
              <a:rPr lang="cs-CZ" sz="1000" b="1" dirty="0"/>
              <a:t>TIFR0 – Timer/Counter 0 </a:t>
            </a:r>
            <a:r>
              <a:rPr lang="cs-CZ" sz="1000" b="1" dirty="0" err="1"/>
              <a:t>Interrupt</a:t>
            </a:r>
            <a:r>
              <a:rPr lang="cs-CZ" sz="1000" b="1" dirty="0"/>
              <a:t> Flag Register</a:t>
            </a:r>
          </a:p>
          <a:p>
            <a:r>
              <a:rPr lang="en-US" sz="1000" b="1" dirty="0"/>
              <a:t>OCF0A: Timer/Counter 0 Output Compare A Match Flag</a:t>
            </a:r>
            <a:endParaRPr lang="cs-CZ" sz="1000" b="1" dirty="0"/>
          </a:p>
          <a:p>
            <a:r>
              <a:rPr lang="en-US" sz="1000" b="1" dirty="0"/>
              <a:t>OCF0</a:t>
            </a:r>
            <a:r>
              <a:rPr lang="cs-CZ" sz="1000" b="1" dirty="0"/>
              <a:t>B</a:t>
            </a:r>
            <a:r>
              <a:rPr lang="en-US" sz="1000" b="1" dirty="0"/>
              <a:t>: Timer/Counter 0 Output Compare </a:t>
            </a:r>
            <a:r>
              <a:rPr lang="cs-CZ" sz="1000" b="1" dirty="0"/>
              <a:t>B</a:t>
            </a:r>
            <a:r>
              <a:rPr lang="en-US" sz="1000" b="1" dirty="0"/>
              <a:t> Match Flag</a:t>
            </a:r>
            <a:endParaRPr lang="cs-CZ" sz="1000" b="1" dirty="0"/>
          </a:p>
          <a:p>
            <a:r>
              <a:rPr lang="cs-CZ" sz="1000" b="1" dirty="0"/>
              <a:t>Bit 0 – TOV0: Timer/Counter0 </a:t>
            </a:r>
            <a:r>
              <a:rPr lang="cs-CZ" sz="1000" b="1" dirty="0" err="1"/>
              <a:t>Overflow</a:t>
            </a:r>
            <a:r>
              <a:rPr lang="cs-CZ" sz="1000" b="1" dirty="0"/>
              <a:t> Flag</a:t>
            </a:r>
          </a:p>
        </p:txBody>
      </p:sp>
    </p:spTree>
    <p:extLst>
      <p:ext uri="{BB962C8B-B14F-4D97-AF65-F5344CB8AC3E}">
        <p14:creationId xmlns:p14="http://schemas.microsoft.com/office/powerpoint/2010/main" val="10571830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26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3900" y="509588"/>
            <a:ext cx="3400425" cy="254952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20618">
              <a:defRPr/>
            </a:pPr>
            <a:r>
              <a:rPr lang="cs-CZ" sz="1000" dirty="0"/>
              <a:t>Do pracovního listu</a:t>
            </a:r>
          </a:p>
          <a:p>
            <a:pPr defTabSz="920618">
              <a:defRPr/>
            </a:pPr>
            <a:r>
              <a:rPr lang="cs-CZ" sz="1000" dirty="0"/>
              <a:t>Do pracovního listu</a:t>
            </a:r>
          </a:p>
          <a:p>
            <a:endParaRPr lang="cs-CZ" sz="1000" b="1" dirty="0"/>
          </a:p>
          <a:p>
            <a:r>
              <a:rPr lang="cs-CZ" sz="1000" b="1" dirty="0"/>
              <a:t>TIMSK0 – Timer/Counter </a:t>
            </a:r>
            <a:r>
              <a:rPr lang="cs-CZ" sz="1000" b="1" dirty="0" err="1"/>
              <a:t>Interrupt</a:t>
            </a:r>
            <a:r>
              <a:rPr lang="cs-CZ" sz="1000" b="1" dirty="0"/>
              <a:t> </a:t>
            </a:r>
            <a:r>
              <a:rPr lang="cs-CZ" sz="1000" b="1" dirty="0" err="1"/>
              <a:t>Mask</a:t>
            </a:r>
            <a:r>
              <a:rPr lang="cs-CZ" sz="1000" b="1" dirty="0"/>
              <a:t> Register</a:t>
            </a:r>
          </a:p>
          <a:p>
            <a:r>
              <a:rPr lang="en-US" sz="1000" b="1" dirty="0"/>
              <a:t>OCIE0B: Timer/Counter Output Compare Match B Interrupt Enable</a:t>
            </a:r>
            <a:endParaRPr lang="cs-CZ" sz="1000" b="1" dirty="0"/>
          </a:p>
          <a:p>
            <a:r>
              <a:rPr lang="en-US" sz="1000" b="1" dirty="0"/>
              <a:t>OCIE0A: Timer/Counter0 Output Compare Match A Interrupt Enable</a:t>
            </a:r>
            <a:endParaRPr lang="cs-CZ" sz="1000" b="1" dirty="0"/>
          </a:p>
          <a:p>
            <a:r>
              <a:rPr lang="en-US" sz="1000" b="1" dirty="0"/>
              <a:t>TOIE0: Timer/Counter0 Overflow Interrupt Enable</a:t>
            </a:r>
            <a:endParaRPr lang="cs-CZ" sz="1000" b="1" dirty="0"/>
          </a:p>
        </p:txBody>
      </p:sp>
    </p:spTree>
    <p:extLst>
      <p:ext uri="{BB962C8B-B14F-4D97-AF65-F5344CB8AC3E}">
        <p14:creationId xmlns:p14="http://schemas.microsoft.com/office/powerpoint/2010/main" val="8068482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A9383F7-2EE9-4D4C-A25D-890BE40E0459}" type="slidenum">
              <a:rPr lang="cs-CZ"/>
              <a:pPr/>
              <a:t>27</a:t>
            </a:fld>
            <a:endParaRPr lang="cs-CZ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3900" y="509588"/>
            <a:ext cx="3400425" cy="2549525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920618">
              <a:defRPr/>
            </a:pPr>
            <a:r>
              <a:rPr lang="cs-CZ" sz="1000" dirty="0"/>
              <a:t>Do pracovního listu</a:t>
            </a:r>
            <a:endParaRPr lang="cs-CZ" sz="1000" b="1" dirty="0"/>
          </a:p>
          <a:p>
            <a:r>
              <a:rPr lang="cs-CZ" sz="1000" b="1" dirty="0"/>
              <a:t>TCCR0A,B</a:t>
            </a:r>
            <a:r>
              <a:rPr lang="cs-CZ" sz="1000" dirty="0"/>
              <a:t> – </a:t>
            </a:r>
            <a:r>
              <a:rPr lang="cs-CZ" sz="1000" b="1" dirty="0"/>
              <a:t>T</a:t>
            </a:r>
            <a:r>
              <a:rPr lang="cs-CZ" sz="1000" dirty="0"/>
              <a:t>imer/</a:t>
            </a:r>
            <a:r>
              <a:rPr lang="cs-CZ" sz="1000" b="1" dirty="0"/>
              <a:t>C</a:t>
            </a:r>
            <a:r>
              <a:rPr lang="cs-CZ" sz="1000" dirty="0"/>
              <a:t>ounter </a:t>
            </a:r>
            <a:r>
              <a:rPr lang="cs-CZ" sz="1000" b="1" dirty="0" err="1"/>
              <a:t>C</a:t>
            </a:r>
            <a:r>
              <a:rPr lang="cs-CZ" sz="1000" dirty="0" err="1"/>
              <a:t>ontrol</a:t>
            </a:r>
            <a:r>
              <a:rPr lang="cs-CZ" sz="1000" dirty="0"/>
              <a:t> </a:t>
            </a:r>
            <a:r>
              <a:rPr lang="cs-CZ" sz="1000" b="1" dirty="0"/>
              <a:t>R</a:t>
            </a:r>
            <a:r>
              <a:rPr lang="cs-CZ" sz="1000" dirty="0"/>
              <a:t>egister A,B</a:t>
            </a:r>
          </a:p>
          <a:p>
            <a:r>
              <a:rPr lang="cs-CZ" sz="1000" b="1" dirty="0"/>
              <a:t>WGM0</a:t>
            </a:r>
            <a:r>
              <a:rPr lang="cs-CZ" sz="1000" dirty="0"/>
              <a:t> - </a:t>
            </a:r>
            <a:r>
              <a:rPr lang="cs-CZ" sz="1000" b="1" dirty="0" err="1"/>
              <a:t>W</a:t>
            </a:r>
            <a:r>
              <a:rPr lang="cs-CZ" sz="1000" dirty="0" err="1"/>
              <a:t>aveform</a:t>
            </a:r>
            <a:r>
              <a:rPr lang="cs-CZ" sz="1000" dirty="0"/>
              <a:t> </a:t>
            </a:r>
            <a:r>
              <a:rPr lang="cs-CZ" sz="1000" b="1" dirty="0" err="1"/>
              <a:t>G</a:t>
            </a:r>
            <a:r>
              <a:rPr lang="cs-CZ" sz="1000" dirty="0" err="1"/>
              <a:t>eneration</a:t>
            </a:r>
            <a:r>
              <a:rPr lang="cs-CZ" sz="1000" dirty="0"/>
              <a:t> </a:t>
            </a:r>
            <a:r>
              <a:rPr lang="cs-CZ" sz="1000" b="1" dirty="0"/>
              <a:t>M</a:t>
            </a:r>
            <a:r>
              <a:rPr lang="cs-CZ" sz="1000" dirty="0"/>
              <a:t>ode</a:t>
            </a:r>
          </a:p>
          <a:p>
            <a:r>
              <a:rPr lang="cs-CZ" sz="1000" b="1" dirty="0"/>
              <a:t>COM0A,B</a:t>
            </a:r>
            <a:r>
              <a:rPr lang="cs-CZ" sz="1000" dirty="0"/>
              <a:t> - </a:t>
            </a:r>
            <a:r>
              <a:rPr lang="cs-CZ" sz="1000" b="1" dirty="0"/>
              <a:t>Co</a:t>
            </a:r>
            <a:r>
              <a:rPr lang="cs-CZ" sz="1000" dirty="0"/>
              <a:t>mpare </a:t>
            </a:r>
            <a:r>
              <a:rPr lang="cs-CZ" sz="1000" b="1" dirty="0" err="1"/>
              <a:t>M</a:t>
            </a:r>
            <a:r>
              <a:rPr lang="cs-CZ" sz="1000" dirty="0" err="1"/>
              <a:t>atch</a:t>
            </a:r>
            <a:r>
              <a:rPr lang="cs-CZ" sz="1000" dirty="0"/>
              <a:t> Output Mode</a:t>
            </a:r>
          </a:p>
          <a:p>
            <a:r>
              <a:rPr lang="cs-CZ" sz="1000" b="1" dirty="0"/>
              <a:t>CS0 </a:t>
            </a:r>
            <a:r>
              <a:rPr lang="cs-CZ" sz="1000" dirty="0"/>
              <a:t>- </a:t>
            </a:r>
            <a:r>
              <a:rPr lang="cs-CZ" sz="1000" b="1" dirty="0" err="1"/>
              <a:t>C</a:t>
            </a:r>
            <a:r>
              <a:rPr lang="cs-CZ" sz="1000" dirty="0" err="1"/>
              <a:t>lock</a:t>
            </a:r>
            <a:r>
              <a:rPr lang="cs-CZ" sz="1000" dirty="0"/>
              <a:t> </a:t>
            </a:r>
            <a:r>
              <a:rPr lang="cs-CZ" sz="1000" b="1" dirty="0"/>
              <a:t>S</a:t>
            </a:r>
            <a:r>
              <a:rPr lang="cs-CZ" sz="1000" dirty="0"/>
              <a:t>elect</a:t>
            </a:r>
          </a:p>
          <a:p>
            <a:r>
              <a:rPr lang="cs-CZ" sz="1000" b="1" dirty="0"/>
              <a:t>FOC</a:t>
            </a:r>
            <a:r>
              <a:rPr lang="cs-CZ" sz="1000" dirty="0"/>
              <a:t> - </a:t>
            </a:r>
            <a:r>
              <a:rPr lang="cs-CZ" sz="1000" b="1" dirty="0" err="1"/>
              <a:t>F</a:t>
            </a:r>
            <a:r>
              <a:rPr lang="cs-CZ" sz="1000" dirty="0" err="1"/>
              <a:t>orce</a:t>
            </a:r>
            <a:r>
              <a:rPr lang="cs-CZ" sz="1000" dirty="0"/>
              <a:t> </a:t>
            </a:r>
            <a:r>
              <a:rPr lang="cs-CZ" sz="1000" b="1" dirty="0"/>
              <a:t>O</a:t>
            </a:r>
            <a:r>
              <a:rPr lang="cs-CZ" sz="1000" dirty="0"/>
              <a:t>utput </a:t>
            </a:r>
            <a:r>
              <a:rPr lang="cs-CZ" sz="1000" b="1" dirty="0"/>
              <a:t>Co</a:t>
            </a:r>
            <a:r>
              <a:rPr lang="cs-CZ" sz="1000" dirty="0"/>
              <a:t>mpare</a:t>
            </a:r>
          </a:p>
          <a:p>
            <a:r>
              <a:rPr lang="cs-CZ" sz="1000" b="1" dirty="0"/>
              <a:t>OCR0A,B</a:t>
            </a:r>
            <a:r>
              <a:rPr lang="cs-CZ" sz="1000" dirty="0"/>
              <a:t> - </a:t>
            </a:r>
            <a:r>
              <a:rPr lang="cs-CZ" sz="1000" b="1" dirty="0"/>
              <a:t>O</a:t>
            </a:r>
            <a:r>
              <a:rPr lang="cs-CZ" sz="1000" dirty="0"/>
              <a:t>utput </a:t>
            </a:r>
            <a:r>
              <a:rPr lang="cs-CZ" sz="1000" b="1" dirty="0"/>
              <a:t>C</a:t>
            </a:r>
            <a:r>
              <a:rPr lang="cs-CZ" sz="1000" dirty="0"/>
              <a:t>ompare </a:t>
            </a:r>
            <a:r>
              <a:rPr lang="cs-CZ" sz="1000" b="1" dirty="0"/>
              <a:t>R</a:t>
            </a:r>
            <a:r>
              <a:rPr lang="cs-CZ" sz="1000" dirty="0"/>
              <a:t>egister</a:t>
            </a:r>
          </a:p>
        </p:txBody>
      </p:sp>
    </p:spTree>
    <p:extLst>
      <p:ext uri="{BB962C8B-B14F-4D97-AF65-F5344CB8AC3E}">
        <p14:creationId xmlns:p14="http://schemas.microsoft.com/office/powerpoint/2010/main" val="9270241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EDA8AC-1440-49B2-AD36-01897CABF61C}" type="slidenum">
              <a:rPr lang="cs-CZ"/>
              <a:pPr/>
              <a:t>28</a:t>
            </a:fld>
            <a:endParaRPr lang="cs-CZ"/>
          </a:p>
        </p:txBody>
      </p:sp>
      <p:sp>
        <p:nvSpPr>
          <p:cNvPr id="264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7952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8F9DF9-5EF2-474E-8FA6-3A8B73747D6A}" type="slidenum">
              <a:rPr lang="cs-CZ"/>
              <a:pPr/>
              <a:t>29</a:t>
            </a:fld>
            <a:endParaRPr lang="cs-CZ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22375" y="835025"/>
            <a:ext cx="5568950" cy="4176713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" y="4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1" y="1828806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1" y="4267205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A347E44-1AAC-420B-AB32-12DDDBCDE885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C8C8903D-23E7-46FD-A74A-6DF06809A117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6A0C1FC-A554-491D-A23A-A703A9D524E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8" y="440691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8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D00DF35-2688-4F44-9F8C-2107F806ADC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9145DC76-6872-4DF4-9E14-3C9F149DB05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4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5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6387A52-E705-490A-838D-8B1C5ED7F7CC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3CCA7D36-5D0B-46DA-8B86-93CC4534874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9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30" y="153511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30" y="2174879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27CE658-0EE9-48FF-B2F3-346B209313CA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FC0A10C-74C9-4EDA-8B18-281A1C85680F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9F259AA-69C5-45ED-B1EF-90BAC46572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A972A3D-E40E-44AE-8599-5054B70DFC1D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1D2316D-E476-4C1C-97C5-38113797E089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B126D77-9135-4E47-A5DC-34E5006577A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12" y="27305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61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12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7E249D1-C02F-4E77-A829-446A2E49D6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C81E695-55B3-4878-8A1B-BFF729C1E31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9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44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4D96806B-82A5-4237-952D-C352BA9CEF6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5C5BDBD8-354C-4C33-8509-9899503E8362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2669EF09-CD29-477D-ABCE-FD6C28D0507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7743F0B-D3BD-4B64-87E9-5E7926EE0CE3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4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B60F7D18-8356-410F-86CC-C0A59AA6E5C2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FF29617-F229-4AA3-AF63-629A34F9D0C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6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4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4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5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6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4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5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4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5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4ACD1D1-1FD1-4BD2-B5AA-BAAE11F8E4F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D5EE032-125E-4EF1-897C-C6C132F4C07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6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4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5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5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5" y="55575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93" y="1412887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87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4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72F054CC-169B-405A-8EFC-341DCDFEA7DC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5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4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1FCE2D9-6AD3-4231-B397-0257783385A2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5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6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3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kern="1200" dirty="0">
                <a:solidFill>
                  <a:srgbClr val="000000"/>
                </a:solidFill>
                <a:ea typeface="+mn-ea"/>
                <a:cs typeface="+mn-cs"/>
              </a:rPr>
              <a:t> </a:t>
            </a:r>
            <a:fld id="{EC377670-D1B4-4464-8ADD-7E5B3403F0F4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62" y="692160"/>
            <a:ext cx="792163" cy="4616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cs-CZ" sz="2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slide" Target="slide15.xml"/><Relationship Id="rId5" Type="http://schemas.openxmlformats.org/officeDocument/2006/relationships/slide" Target="slide20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s.wikipedia.org/wiki/AVR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/>
          <p:cNvSpPr>
            <a:spLocks noGrp="1"/>
          </p:cNvSpPr>
          <p:nvPr>
            <p:ph type="ctrTitle"/>
          </p:nvPr>
        </p:nvSpPr>
        <p:spPr>
          <a:xfrm>
            <a:off x="2880001" y="1692000"/>
            <a:ext cx="6264000" cy="2154436"/>
          </a:xfrm>
        </p:spPr>
        <p:txBody>
          <a:bodyPr>
            <a:spAutoFit/>
          </a:bodyPr>
          <a:lstStyle/>
          <a:p>
            <a:r>
              <a:rPr lang="cs-CZ" sz="8800" b="1" dirty="0"/>
              <a:t>MIT</a:t>
            </a:r>
            <a:br>
              <a:rPr lang="cs-CZ" dirty="0"/>
            </a:br>
            <a:r>
              <a:rPr lang="cs-CZ" sz="4600" b="1" dirty="0"/>
              <a:t>AVR přerušení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80001" y="4320012"/>
            <a:ext cx="6264000" cy="1323439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cs-CZ" sz="8000" b="1" dirty="0">
                <a:solidFill>
                  <a:schemeClr val="accent5">
                    <a:lumMod val="25000"/>
                  </a:schemeClr>
                </a:solidFill>
              </a:rPr>
              <a:t>Díl Vb</a:t>
            </a:r>
          </a:p>
        </p:txBody>
      </p:sp>
      <p:pic>
        <p:nvPicPr>
          <p:cNvPr id="5" name="Picture 7" descr="D:\lj\prezentace\MIT\obr\logo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0" y="2160012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360004" y="1440013"/>
            <a:ext cx="8784000" cy="2862322"/>
          </a:xfrm>
          <a:noFill/>
          <a:ln/>
        </p:spPr>
        <p:txBody>
          <a:bodyPr>
            <a:spAutoFit/>
          </a:bodyPr>
          <a:lstStyle/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>
                <a:latin typeface="Arial" charset="0"/>
              </a:rPr>
              <a:t>Téma	</a:t>
            </a:r>
            <a:r>
              <a:rPr lang="cs-CZ" b="1" dirty="0"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AVR přerušení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Předmět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MIT</a:t>
            </a:r>
            <a:endParaRPr lang="cs-CZ" b="1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Ročník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3</a:t>
            </a:r>
            <a:endParaRPr lang="cs-CZ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60000" lvl="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Autor	</a:t>
            </a:r>
            <a:r>
              <a:rPr lang="nl-NL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Ing. Leoš Juránek </a:t>
            </a:r>
          </a:p>
          <a:p>
            <a:pPr marL="360000" lvl="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nl-NL" sz="2400" dirty="0"/>
              <a:t>Datum</a:t>
            </a:r>
            <a:r>
              <a:rPr lang="nl-NL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	leden 2020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4" y="288006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Mikroprocesorová technika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BD9C2272-5F85-1E22-655E-79C9AEA67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57890"/>
            <a:ext cx="257176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eaLnBrk="1" hangingPunct="1">
              <a:buClr>
                <a:srgbClr val="006600"/>
              </a:buClr>
              <a:buFont typeface="Wingdings" pitchFamily="2" charset="2"/>
              <a:buNone/>
            </a:pPr>
            <a:r>
              <a:rPr lang="cs-CZ" sz="200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1.2.2024</a:t>
            </a:r>
          </a:p>
        </p:txBody>
      </p:sp>
    </p:spTree>
    <p:extLst>
      <p:ext uri="{BB962C8B-B14F-4D97-AF65-F5344CB8AC3E}">
        <p14:creationId xmlns:p14="http://schemas.microsoft.com/office/powerpoint/2010/main" val="395025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7" y="288006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</a:t>
            </a: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" name="Obdélník 2">
            <a:hlinkClick r:id="rId3" action="ppaction://hlinksldjump"/>
          </p:cNvPr>
          <p:cNvSpPr/>
          <p:nvPr/>
        </p:nvSpPr>
        <p:spPr>
          <a:xfrm>
            <a:off x="540001" y="144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lvl="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Reset</a:t>
            </a:r>
          </a:p>
        </p:txBody>
      </p:sp>
      <p:sp>
        <p:nvSpPr>
          <p:cNvPr id="11" name="Obdélník 10">
            <a:hlinkClick r:id="rId4" action="ppaction://hlinksldjump"/>
          </p:cNvPr>
          <p:cNvSpPr/>
          <p:nvPr/>
        </p:nvSpPr>
        <p:spPr>
          <a:xfrm>
            <a:off x="540001" y="180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Přerušení</a:t>
            </a:r>
          </a:p>
        </p:txBody>
      </p:sp>
      <p:sp>
        <p:nvSpPr>
          <p:cNvPr id="13" name="Obdélník 12">
            <a:hlinkClick r:id="rId5" action="ppaction://hlinksldjump"/>
          </p:cNvPr>
          <p:cNvSpPr/>
          <p:nvPr/>
        </p:nvSpPr>
        <p:spPr>
          <a:xfrm>
            <a:off x="540001" y="216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Příklad programu v ASM</a:t>
            </a:r>
          </a:p>
        </p:txBody>
      </p:sp>
      <p:sp>
        <p:nvSpPr>
          <p:cNvPr id="14" name="Obdélník 13">
            <a:hlinkClick r:id="rId6" action="ppaction://hlinksldjump"/>
          </p:cNvPr>
          <p:cNvSpPr/>
          <p:nvPr/>
        </p:nvSpPr>
        <p:spPr>
          <a:xfrm>
            <a:off x="540001" y="252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Příklad programu v C</a:t>
            </a: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9C3D15EB-1A1D-4F48-AC67-31184214CCDF}"/>
              </a:ext>
            </a:extLst>
          </p:cNvPr>
          <p:cNvSpPr/>
          <p:nvPr/>
        </p:nvSpPr>
        <p:spPr>
          <a:xfrm>
            <a:off x="540001" y="1078783"/>
            <a:ext cx="8280000" cy="36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noAutofit/>
          </a:bodyPr>
          <a:lstStyle/>
          <a:p>
            <a:pPr lvl="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</a:pPr>
            <a:r>
              <a:rPr lang="cs-CZ" sz="2000" b="0" kern="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Přerušení</a:t>
            </a:r>
          </a:p>
        </p:txBody>
      </p:sp>
    </p:spTree>
    <p:extLst>
      <p:ext uri="{BB962C8B-B14F-4D97-AF65-F5344CB8AC3E}">
        <p14:creationId xmlns:p14="http://schemas.microsoft.com/office/powerpoint/2010/main" val="188332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Zdroje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Obdélník 13">
            <a:hlinkClick r:id="rId4"/>
          </p:cNvPr>
          <p:cNvSpPr/>
          <p:nvPr/>
        </p:nvSpPr>
        <p:spPr>
          <a:xfrm>
            <a:off x="540005" y="1080004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AVR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WIKI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Obdélník 14"/>
          <p:cNvSpPr/>
          <p:nvPr/>
        </p:nvSpPr>
        <p:spPr>
          <a:xfrm>
            <a:off x="539555" y="1440006"/>
            <a:ext cx="8280000" cy="7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Práce s mikrokontroléry ATMEL ATmega16 4.díl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</a:t>
            </a:r>
            <a:b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David Matoušek, BEN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77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5" y="2034948"/>
            <a:ext cx="9144000" cy="2554545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8000" dirty="0">
                <a:latin typeface="Arial Black" pitchFamily="34" charset="0"/>
              </a:rPr>
              <a:t>AVR</a:t>
            </a:r>
            <a:br>
              <a:rPr lang="cs-CZ" sz="8000" dirty="0">
                <a:latin typeface="Arial Black" pitchFamily="34" charset="0"/>
              </a:rPr>
            </a:br>
            <a:r>
              <a:rPr lang="cs-CZ" sz="8000" dirty="0">
                <a:latin typeface="Arial Black" pitchFamily="34" charset="0"/>
              </a:rPr>
              <a:t>Přerušení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720000" y="72000"/>
            <a:ext cx="2776392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Nová kapitola </a:t>
            </a:r>
          </a:p>
        </p:txBody>
      </p:sp>
    </p:spTree>
    <p:extLst>
      <p:ext uri="{BB962C8B-B14F-4D97-AF65-F5344CB8AC3E}">
        <p14:creationId xmlns:p14="http://schemas.microsoft.com/office/powerpoint/2010/main" val="4127135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11"/>
            <a:ext cx="87840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Reset</a:t>
            </a:r>
            <a:r>
              <a:rPr lang="cs-CZ" sz="2800" b="0" dirty="0">
                <a:latin typeface="Verdana" pitchFamily="34" charset="0"/>
              </a:rPr>
              <a:t> slouží k rozběhu – </a:t>
            </a:r>
            <a:r>
              <a:rPr lang="cs-CZ" sz="2800" dirty="0">
                <a:latin typeface="Verdana" pitchFamily="34" charset="0"/>
              </a:rPr>
              <a:t>inicializaci</a:t>
            </a:r>
            <a:r>
              <a:rPr lang="cs-CZ" sz="2800" b="0" dirty="0">
                <a:latin typeface="Verdana" pitchFamily="34" charset="0"/>
              </a:rPr>
              <a:t> MCU</a:t>
            </a:r>
          </a:p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b="0" dirty="0">
                <a:latin typeface="Verdana" pitchFamily="34" charset="0"/>
              </a:rPr>
              <a:t>Program začne běžet od adresy </a:t>
            </a:r>
            <a:r>
              <a:rPr lang="cs-CZ" sz="2800" dirty="0">
                <a:latin typeface="Consolas" panose="020B0609020204030204" pitchFamily="49" charset="0"/>
              </a:rPr>
              <a:t>0x0000</a:t>
            </a:r>
          </a:p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b="0" dirty="0">
                <a:latin typeface="Verdana" pitchFamily="34" charset="0"/>
              </a:rPr>
              <a:t>Registr </a:t>
            </a:r>
            <a:r>
              <a:rPr lang="cs-CZ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PC</a:t>
            </a:r>
            <a:r>
              <a:rPr lang="cs-CZ" sz="2800" b="0" dirty="0">
                <a:latin typeface="Verdana" pitchFamily="34" charset="0"/>
              </a:rPr>
              <a:t> (čítač programu) se tedy nastaví na </a:t>
            </a:r>
            <a:r>
              <a:rPr lang="cs-CZ" sz="2800" dirty="0">
                <a:latin typeface="Consolas" panose="020B0609020204030204" pitchFamily="49" charset="0"/>
              </a:rPr>
              <a:t>0x0000</a:t>
            </a:r>
          </a:p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b="0" dirty="0">
                <a:latin typeface="Verdana" pitchFamily="34" charset="0"/>
              </a:rPr>
              <a:t>Začne se vykonávat </a:t>
            </a:r>
            <a:r>
              <a:rPr lang="cs-CZ" sz="2800" dirty="0">
                <a:latin typeface="Consolas" panose="020B0609020204030204" pitchFamily="49" charset="0"/>
              </a:rPr>
              <a:t>„HLAVNÍ PROGRAM“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Reset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5588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3"/>
            <a:ext cx="8784000" cy="52322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Reset po připojení napájení </a:t>
            </a:r>
            <a:r>
              <a:rPr lang="cs-CZ" sz="2000" dirty="0">
                <a:latin typeface="Consolas" panose="020B0609020204030204" pitchFamily="49" charset="0"/>
              </a:rPr>
              <a:t>(</a:t>
            </a:r>
            <a:r>
              <a:rPr lang="cs-CZ" sz="2000" cap="small" dirty="0">
                <a:latin typeface="Consolas" panose="020B0609020204030204" pitchFamily="49" charset="0"/>
              </a:rPr>
              <a:t>Power-on Reset</a:t>
            </a:r>
            <a:r>
              <a:rPr lang="cs-CZ" sz="2000" dirty="0">
                <a:latin typeface="Consolas" panose="020B0609020204030204" pitchFamily="49" charset="0"/>
              </a:rPr>
              <a:t>)</a:t>
            </a:r>
            <a:r>
              <a:rPr lang="cs-CZ" dirty="0">
                <a:latin typeface="Consolas" panose="020B0609020204030204" pitchFamily="49" charset="0"/>
              </a:rPr>
              <a:t> </a:t>
            </a:r>
          </a:p>
          <a:p>
            <a:pPr marL="540000"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napájecí napětí musí překročit hodnotu</a:t>
            </a:r>
            <a:br>
              <a:rPr lang="cs-CZ" b="0" dirty="0">
                <a:latin typeface="Verdana" pitchFamily="34" charset="0"/>
              </a:rPr>
            </a:br>
            <a:r>
              <a:rPr lang="cs-CZ" dirty="0">
                <a:latin typeface="Consolas" panose="020B0609020204030204" pitchFamily="49" charset="0"/>
              </a:rPr>
              <a:t>1,3 – 1,5V</a:t>
            </a:r>
          </a:p>
          <a:p>
            <a:pPr marL="504000" indent="-504000"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Vnější reset</a:t>
            </a:r>
          </a:p>
          <a:p>
            <a:pPr marL="540000"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je aktivován vnějším vývodem </a:t>
            </a:r>
            <a:r>
              <a:rPr lang="cs-CZ" dirty="0">
                <a:latin typeface="Consolas" panose="020B0609020204030204" pitchFamily="49" charset="0"/>
              </a:rPr>
              <a:t>/RESET</a:t>
            </a:r>
            <a:r>
              <a:rPr lang="cs-CZ" b="0" dirty="0">
                <a:latin typeface="Verdana" pitchFamily="34" charset="0"/>
              </a:rPr>
              <a:t>, na kterém je hodnota </a:t>
            </a:r>
            <a:r>
              <a:rPr lang="cs-CZ" dirty="0">
                <a:latin typeface="Consolas" panose="020B0609020204030204" pitchFamily="49" charset="0"/>
              </a:rPr>
              <a:t>log. 0 </a:t>
            </a:r>
            <a:r>
              <a:rPr lang="cs-CZ" b="0" dirty="0">
                <a:latin typeface="Verdana" pitchFamily="34" charset="0"/>
              </a:rPr>
              <a:t>po určitou minimální dobu</a:t>
            </a:r>
          </a:p>
          <a:p>
            <a:pPr marL="504000" indent="-504000">
              <a:spcAft>
                <a:spcPts val="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Watchdog reset</a:t>
            </a:r>
          </a:p>
          <a:p>
            <a:pPr marL="540000">
              <a:spcAft>
                <a:spcPts val="12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nastane vypršením periody obvodu </a:t>
            </a:r>
            <a:r>
              <a:rPr lang="cs-CZ" cap="small" dirty="0">
                <a:latin typeface="Consolas" panose="020B0609020204030204" pitchFamily="49" charset="0"/>
              </a:rPr>
              <a:t>Watchdog </a:t>
            </a:r>
            <a:r>
              <a:rPr lang="cs-CZ" sz="2000" dirty="0">
                <a:latin typeface="Consolas" panose="020B0609020204030204" pitchFamily="49" charset="0"/>
              </a:rPr>
              <a:t>(</a:t>
            </a:r>
            <a:r>
              <a:rPr lang="cs-CZ" sz="2000" cap="small" dirty="0">
                <a:latin typeface="Consolas" panose="020B0609020204030204" pitchFamily="49" charset="0"/>
              </a:rPr>
              <a:t>WDT</a:t>
            </a:r>
            <a:r>
              <a:rPr lang="cs-CZ" sz="2000" dirty="0">
                <a:latin typeface="Consolas" panose="020B0609020204030204" pitchFamily="49" charset="0"/>
              </a:rPr>
              <a:t>)</a:t>
            </a:r>
            <a:r>
              <a:rPr lang="cs-CZ" b="0" dirty="0">
                <a:latin typeface="Verdana" pitchFamily="34" charset="0"/>
              </a:rPr>
              <a:t>, je-li aktivován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Reset při poklesu napájení </a:t>
            </a:r>
            <a:r>
              <a:rPr lang="cs-CZ" sz="2000" dirty="0">
                <a:latin typeface="Consolas" panose="020B0609020204030204" pitchFamily="49" charset="0"/>
              </a:rPr>
              <a:t>(</a:t>
            </a:r>
            <a:r>
              <a:rPr lang="cs-CZ" sz="2000" cap="small" dirty="0">
                <a:latin typeface="Consolas" panose="020B0609020204030204" pitchFamily="49" charset="0"/>
              </a:rPr>
              <a:t>Brown-out Reset</a:t>
            </a:r>
            <a:r>
              <a:rPr lang="cs-CZ" sz="2000" dirty="0">
                <a:latin typeface="Consolas" panose="020B0609020204030204" pitchFamily="49" charset="0"/>
              </a:rPr>
              <a:t>) </a:t>
            </a:r>
            <a:r>
              <a:rPr lang="cs-CZ" b="0" dirty="0">
                <a:latin typeface="Verdana" pitchFamily="34" charset="0"/>
              </a:rPr>
              <a:t>nastane poklesem napětí pod určitou hodnotu, kterou lze nastavit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Zdroje resetu</a:t>
            </a:r>
          </a:p>
        </p:txBody>
      </p:sp>
    </p:spTree>
    <p:extLst>
      <p:ext uri="{BB962C8B-B14F-4D97-AF65-F5344CB8AC3E}">
        <p14:creationId xmlns:p14="http://schemas.microsoft.com/office/powerpoint/2010/main" val="153551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8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11"/>
            <a:ext cx="8784000" cy="3939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b="0" dirty="0">
                <a:latin typeface="Verdana" pitchFamily="34" charset="0"/>
              </a:rPr>
              <a:t>Je reakcí </a:t>
            </a:r>
            <a:r>
              <a:rPr lang="cs-CZ" sz="2800" dirty="0">
                <a:latin typeface="Verdana" pitchFamily="34" charset="0"/>
              </a:rPr>
              <a:t>procesoru</a:t>
            </a:r>
            <a:r>
              <a:rPr lang="cs-CZ" sz="2800" b="0" dirty="0">
                <a:latin typeface="Verdana" pitchFamily="34" charset="0"/>
              </a:rPr>
              <a:t> na nějakou </a:t>
            </a:r>
            <a:r>
              <a:rPr lang="cs-CZ" sz="2800" dirty="0">
                <a:latin typeface="Consolas" panose="020B0609020204030204" pitchFamily="49" charset="0"/>
              </a:rPr>
              <a:t>„UDÁLOST“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Consolas" panose="020B0609020204030204" pitchFamily="49" charset="0"/>
              </a:rPr>
              <a:t>„UDÁLOSTÍ“ </a:t>
            </a:r>
            <a:r>
              <a:rPr lang="cs-CZ" sz="2800" b="0" dirty="0">
                <a:latin typeface="Verdana" pitchFamily="34" charset="0"/>
              </a:rPr>
              <a:t>se rozumí </a:t>
            </a:r>
            <a:r>
              <a:rPr lang="cs-CZ" sz="2800" dirty="0">
                <a:latin typeface="Verdana" pitchFamily="34" charset="0"/>
              </a:rPr>
              <a:t>změna</a:t>
            </a:r>
            <a:r>
              <a:rPr lang="cs-CZ" sz="2800" b="0" dirty="0">
                <a:latin typeface="Verdana" pitchFamily="34" charset="0"/>
              </a:rPr>
              <a:t> stavu zařízení</a:t>
            </a:r>
            <a:endParaRPr lang="cs-CZ" sz="2800" dirty="0">
              <a:latin typeface="Verdana" pitchFamily="34" charset="0"/>
            </a:endParaRPr>
          </a:p>
          <a:p>
            <a:pPr marL="504000" indent="-504000">
              <a:spcAft>
                <a:spcPts val="12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b="0" dirty="0">
                <a:latin typeface="Verdana" pitchFamily="34" charset="0"/>
              </a:rPr>
              <a:t>Příklady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dirty="0">
                <a:latin typeface="Verdana" pitchFamily="34" charset="0"/>
              </a:rPr>
              <a:t>Změna hodnoty </a:t>
            </a:r>
            <a:r>
              <a:rPr lang="cs-CZ" b="0" dirty="0">
                <a:latin typeface="Verdana" pitchFamily="34" charset="0"/>
              </a:rPr>
              <a:t>na vstupu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dirty="0">
                <a:latin typeface="Verdana" pitchFamily="34" charset="0"/>
              </a:rPr>
              <a:t>Dokončení činnosti </a:t>
            </a:r>
            <a:r>
              <a:rPr lang="cs-CZ" b="0" dirty="0">
                <a:latin typeface="Verdana" pitchFamily="34" charset="0"/>
              </a:rPr>
              <a:t>(příjem znaku - </a:t>
            </a:r>
            <a:r>
              <a:rPr lang="cs-CZ" dirty="0">
                <a:latin typeface="Consolas" panose="020B0609020204030204" pitchFamily="49" charset="0"/>
              </a:rPr>
              <a:t>USART0</a:t>
            </a:r>
            <a:r>
              <a:rPr lang="cs-CZ" b="0" dirty="0">
                <a:latin typeface="Verdana" pitchFamily="34" charset="0"/>
              </a:rPr>
              <a:t>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anose="05000000000000000000" pitchFamily="2" charset="2"/>
              <a:buChar char="ü"/>
              <a:defRPr/>
            </a:pPr>
            <a:r>
              <a:rPr lang="cs-CZ" dirty="0">
                <a:latin typeface="Verdana" pitchFamily="34" charset="0"/>
              </a:rPr>
              <a:t>Dosažení mezního stavu </a:t>
            </a:r>
            <a:r>
              <a:rPr lang="cs-CZ" b="0" dirty="0">
                <a:latin typeface="Verdana" pitchFamily="34" charset="0"/>
              </a:rPr>
              <a:t>(přetečení časovače – </a:t>
            </a:r>
            <a:r>
              <a:rPr lang="cs-CZ" dirty="0">
                <a:latin typeface="Consolas" panose="020B0609020204030204" pitchFamily="49" charset="0"/>
              </a:rPr>
              <a:t>TIMER0</a:t>
            </a:r>
            <a:r>
              <a:rPr lang="cs-CZ" b="0" dirty="0">
                <a:latin typeface="Verdana" pitchFamily="34" charset="0"/>
              </a:rPr>
              <a:t>)</a:t>
            </a:r>
            <a:endParaRPr lang="cs-CZ" dirty="0">
              <a:latin typeface="Verdana" pitchFamily="34" charset="0"/>
            </a:endParaRP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Přerušení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818668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11"/>
            <a:ext cx="8784000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Procesor příjme </a:t>
            </a:r>
            <a:r>
              <a:rPr lang="cs-CZ" dirty="0">
                <a:latin typeface="Consolas" panose="020B0609020204030204" pitchFamily="49" charset="0"/>
              </a:rPr>
              <a:t>„PŘERUŠENÍ“</a:t>
            </a: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Právě vykonávaný program </a:t>
            </a:r>
            <a:r>
              <a:rPr lang="cs-CZ" dirty="0">
                <a:latin typeface="Consolas" panose="020B0609020204030204" pitchFamily="49" charset="0"/>
              </a:rPr>
              <a:t>„HLAVNÍ PROGRAM“ </a:t>
            </a:r>
            <a:r>
              <a:rPr lang="cs-CZ" b="0" dirty="0">
                <a:latin typeface="Verdana" pitchFamily="34" charset="0"/>
              </a:rPr>
              <a:t>se přestane vykonávat</a:t>
            </a: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Do </a:t>
            </a:r>
            <a:r>
              <a:rPr lang="cs-CZ" dirty="0">
                <a:latin typeface="Verdana" pitchFamily="34" charset="0"/>
              </a:rPr>
              <a:t>zásobníku</a:t>
            </a:r>
            <a:r>
              <a:rPr lang="cs-CZ" b="0" dirty="0">
                <a:latin typeface="Verdana" pitchFamily="34" charset="0"/>
              </a:rPr>
              <a:t> se </a:t>
            </a:r>
            <a:r>
              <a:rPr lang="cs-CZ" dirty="0">
                <a:latin typeface="Verdana" pitchFamily="34" charset="0"/>
              </a:rPr>
              <a:t>uloží</a:t>
            </a:r>
            <a:r>
              <a:rPr lang="cs-CZ" b="0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návratová adresa</a:t>
            </a: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Podle druhu přerušení procesor nastaví </a:t>
            </a:r>
            <a:r>
              <a:rPr lang="cs-CZ" dirty="0">
                <a:latin typeface="Verdana" pitchFamily="34" charset="0"/>
              </a:rPr>
              <a:t>čítač programu </a:t>
            </a:r>
            <a:r>
              <a:rPr lang="cs-CZ" dirty="0">
                <a:latin typeface="Consolas" panose="020B0609020204030204" pitchFamily="49" charset="0"/>
              </a:rPr>
              <a:t>(PC) </a:t>
            </a:r>
            <a:r>
              <a:rPr lang="cs-CZ" b="0" dirty="0">
                <a:latin typeface="Verdana" pitchFamily="34" charset="0"/>
              </a:rPr>
              <a:t>na odpovídající hodnotu</a:t>
            </a:r>
            <a:r>
              <a:rPr lang="cs-CZ" dirty="0">
                <a:latin typeface="Verdana" pitchFamily="34" charset="0"/>
              </a:rPr>
              <a:t> </a:t>
            </a:r>
            <a:r>
              <a:rPr lang="cs-CZ" b="0" dirty="0">
                <a:latin typeface="Verdana" pitchFamily="34" charset="0"/>
              </a:rPr>
              <a:t>a </a:t>
            </a:r>
            <a:r>
              <a:rPr lang="cs-CZ" dirty="0">
                <a:latin typeface="Verdana" pitchFamily="34" charset="0"/>
              </a:rPr>
              <a:t>spustí se </a:t>
            </a:r>
            <a:r>
              <a:rPr lang="cs-CZ" dirty="0">
                <a:latin typeface="Consolas" panose="020B0609020204030204" pitchFamily="49" charset="0"/>
              </a:rPr>
              <a:t>„OBSLUŽNÝ PROGRAM“</a:t>
            </a: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Po ukončení </a:t>
            </a:r>
            <a:r>
              <a:rPr lang="cs-CZ" dirty="0">
                <a:latin typeface="Consolas" panose="020B0609020204030204" pitchFamily="49" charset="0"/>
              </a:rPr>
              <a:t>„OBSLUŽNÉHO PROGRAMu</a:t>
            </a:r>
            <a:r>
              <a:rPr lang="cs-CZ" b="0" dirty="0">
                <a:latin typeface="Verdana" pitchFamily="34" charset="0"/>
              </a:rPr>
              <a:t>“ (je ukončen instrukcí RETI) </a:t>
            </a:r>
            <a:r>
              <a:rPr lang="cs-CZ" dirty="0">
                <a:latin typeface="Verdana" pitchFamily="34" charset="0"/>
              </a:rPr>
              <a:t>vyzvedne</a:t>
            </a:r>
            <a:r>
              <a:rPr lang="cs-CZ" b="0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návratovou adresu </a:t>
            </a:r>
            <a:r>
              <a:rPr lang="cs-CZ" b="0" dirty="0">
                <a:latin typeface="Verdana" pitchFamily="34" charset="0"/>
              </a:rPr>
              <a:t>a pokračuje ve vykonávání </a:t>
            </a:r>
            <a:r>
              <a:rPr lang="cs-CZ" dirty="0">
                <a:latin typeface="Consolas" panose="020B0609020204030204" pitchFamily="49" charset="0"/>
              </a:rPr>
              <a:t>„HLAVNÍHO PROGRAMU“ </a:t>
            </a:r>
            <a:r>
              <a:rPr lang="cs-CZ" b="0" dirty="0">
                <a:latin typeface="Verdana" pitchFamily="34" charset="0"/>
              </a:rPr>
              <a:t>(návratová adresa se vloží do PC)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Řešení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44974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9" name="Obrázek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320" y="1080000"/>
            <a:ext cx="5940000" cy="4192246"/>
          </a:xfrm>
          <a:prstGeom prst="rect">
            <a:avLst/>
          </a:prstGeom>
        </p:spPr>
      </p:pic>
      <p:sp>
        <p:nvSpPr>
          <p:cNvPr id="11" name="Řečová bublina: obdélníkový bublinový popisek se zakulacenými rohy 10"/>
          <p:cNvSpPr/>
          <p:nvPr/>
        </p:nvSpPr>
        <p:spPr>
          <a:xfrm>
            <a:off x="335583" y="3294161"/>
            <a:ext cx="1115498" cy="638895"/>
          </a:xfrm>
          <a:prstGeom prst="wedgeRoundRectCallout">
            <a:avLst>
              <a:gd name="adj1" fmla="val 61398"/>
              <a:gd name="adj2" fmla="val -89274"/>
              <a:gd name="adj3" fmla="val 16667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0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Flag jednotlivých přerušení</a:t>
            </a:r>
          </a:p>
        </p:txBody>
      </p:sp>
      <p:sp>
        <p:nvSpPr>
          <p:cNvPr id="13" name="Řečová bublina: obdélníkový bublinový popisek se zakulacenými rohy 12"/>
          <p:cNvSpPr/>
          <p:nvPr/>
        </p:nvSpPr>
        <p:spPr>
          <a:xfrm>
            <a:off x="3473814" y="5410754"/>
            <a:ext cx="1296144" cy="889251"/>
          </a:xfrm>
          <a:prstGeom prst="wedgeRoundRectCallout">
            <a:avLst>
              <a:gd name="adj1" fmla="val 17430"/>
              <a:gd name="adj2" fmla="val -84992"/>
              <a:gd name="adj3" fmla="val 16667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Interrupt Enable</a:t>
            </a:r>
          </a:p>
          <a:p>
            <a:pPr algn="ctr"/>
            <a:r>
              <a:rPr lang="cs-CZ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jednotlivých událostí</a:t>
            </a:r>
          </a:p>
        </p:txBody>
      </p:sp>
      <p:sp>
        <p:nvSpPr>
          <p:cNvPr id="14" name="Řečová bublina: obdélníkový bublinový popisek se zakulacenými rohy 13"/>
          <p:cNvSpPr/>
          <p:nvPr/>
        </p:nvSpPr>
        <p:spPr>
          <a:xfrm>
            <a:off x="6965858" y="4993418"/>
            <a:ext cx="1260447" cy="739838"/>
          </a:xfrm>
          <a:prstGeom prst="wedgeRoundRectCallout">
            <a:avLst>
              <a:gd name="adj1" fmla="val -47725"/>
              <a:gd name="adj2" fmla="val -99071"/>
              <a:gd name="adj3" fmla="val 16667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Nastavení čítače programu</a:t>
            </a:r>
          </a:p>
        </p:txBody>
      </p:sp>
      <p:sp>
        <p:nvSpPr>
          <p:cNvPr id="15" name="Řečová bublina: obdélníkový bublinový popisek se zakulacenými rohy 14"/>
          <p:cNvSpPr/>
          <p:nvPr/>
        </p:nvSpPr>
        <p:spPr>
          <a:xfrm>
            <a:off x="1157209" y="5883544"/>
            <a:ext cx="1326559" cy="605931"/>
          </a:xfrm>
          <a:prstGeom prst="wedgeRoundRectCallout">
            <a:avLst>
              <a:gd name="adj1" fmla="val 19707"/>
              <a:gd name="adj2" fmla="val -61244"/>
              <a:gd name="adj3" fmla="val 16667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800" dirty="0">
                <a:solidFill>
                  <a:schemeClr val="tx1"/>
                </a:solidFill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Bit</a:t>
            </a:r>
          </a:p>
          <a:p>
            <a:pPr algn="ctr"/>
            <a:r>
              <a:rPr lang="cs-CZ" sz="1200" dirty="0">
                <a:solidFill>
                  <a:schemeClr val="tx1"/>
                </a:solidFill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IO registr</a:t>
            </a:r>
          </a:p>
        </p:txBody>
      </p:sp>
      <p:sp>
        <p:nvSpPr>
          <p:cNvPr id="12" name="Řečová bublina: obdélníkový bublinový popisek se zakulacenými rohy 11"/>
          <p:cNvSpPr/>
          <p:nvPr/>
        </p:nvSpPr>
        <p:spPr>
          <a:xfrm>
            <a:off x="5111933" y="5410755"/>
            <a:ext cx="1296144" cy="750741"/>
          </a:xfrm>
          <a:prstGeom prst="wedgeRoundRectCallout">
            <a:avLst>
              <a:gd name="adj1" fmla="val -22176"/>
              <a:gd name="adj2" fmla="val -84553"/>
              <a:gd name="adj3" fmla="val 16667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Globální povolení přerušení</a:t>
            </a:r>
          </a:p>
        </p:txBody>
      </p:sp>
      <p:sp>
        <p:nvSpPr>
          <p:cNvPr id="16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Signály vzniku přerušení</a:t>
            </a:r>
          </a:p>
        </p:txBody>
      </p:sp>
      <p:sp>
        <p:nvSpPr>
          <p:cNvPr id="17" name="Řečová bublina: obdélníkový bublinový popisek se zakulacenými rohy 16"/>
          <p:cNvSpPr/>
          <p:nvPr/>
        </p:nvSpPr>
        <p:spPr>
          <a:xfrm>
            <a:off x="263377" y="2204864"/>
            <a:ext cx="1187704" cy="288032"/>
          </a:xfrm>
          <a:prstGeom prst="wedgeRoundRectCallout">
            <a:avLst>
              <a:gd name="adj1" fmla="val 58722"/>
              <a:gd name="adj2" fmla="val -219312"/>
              <a:gd name="adj3" fmla="val 16667"/>
            </a:avLst>
          </a:prstGeom>
          <a:solidFill>
            <a:srgbClr val="FFFFC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b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Vnější vstup</a:t>
            </a:r>
          </a:p>
        </p:txBody>
      </p:sp>
    </p:spTree>
    <p:extLst>
      <p:ext uri="{BB962C8B-B14F-4D97-AF65-F5344CB8AC3E}">
        <p14:creationId xmlns:p14="http://schemas.microsoft.com/office/powerpoint/2010/main" val="222852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1" grpId="0" animBg="1"/>
      <p:bldP spid="13" grpId="0" animBg="1"/>
      <p:bldP spid="14" grpId="0" animBg="1"/>
      <p:bldP spid="15" grpId="0" animBg="1"/>
      <p:bldP spid="12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3"/>
            <a:ext cx="8784000" cy="3954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Použití přerušení v programu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Vybrat vhodnou </a:t>
            </a:r>
            <a:r>
              <a:rPr lang="cs-CZ" dirty="0">
                <a:latin typeface="Verdana" pitchFamily="34" charset="0"/>
              </a:rPr>
              <a:t>událost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Zařízení musí vyvolávat </a:t>
            </a:r>
            <a:r>
              <a:rPr lang="cs-CZ" dirty="0">
                <a:latin typeface="Verdana" pitchFamily="34" charset="0"/>
              </a:rPr>
              <a:t>změnu stavu 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Nastavení</a:t>
            </a:r>
            <a:r>
              <a:rPr lang="cs-CZ" dirty="0">
                <a:latin typeface="Verdana" pitchFamily="34" charset="0"/>
              </a:rPr>
              <a:t> zásobníku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dirty="0">
                <a:latin typeface="Verdana" pitchFamily="34" charset="0"/>
              </a:rPr>
              <a:t>Inicializace</a:t>
            </a:r>
            <a:r>
              <a:rPr lang="cs-CZ" b="0" dirty="0">
                <a:latin typeface="Verdana" pitchFamily="34" charset="0"/>
              </a:rPr>
              <a:t> přerušení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dirty="0">
                <a:latin typeface="Verdana" pitchFamily="34" charset="0"/>
              </a:rPr>
              <a:t>Uložení</a:t>
            </a:r>
            <a:r>
              <a:rPr lang="cs-CZ" b="0" dirty="0">
                <a:latin typeface="Verdana" pitchFamily="34" charset="0"/>
              </a:rPr>
              <a:t> </a:t>
            </a:r>
            <a:r>
              <a:rPr lang="cs-CZ" dirty="0">
                <a:latin typeface="Consolas" panose="020B0609020204030204" pitchFamily="49" charset="0"/>
              </a:rPr>
              <a:t>„HLAVNÍHO A OBSLUŽNÉHO PROGRAMU“ </a:t>
            </a:r>
            <a:r>
              <a:rPr lang="cs-CZ" b="0" dirty="0">
                <a:latin typeface="Verdana" pitchFamily="34" charset="0"/>
              </a:rPr>
              <a:t>do paměti programu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A283A8E9-111E-41E5-E5A9-5EE8224998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640494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Jak použít přerušení</a:t>
            </a:r>
          </a:p>
        </p:txBody>
      </p:sp>
    </p:spTree>
    <p:extLst>
      <p:ext uri="{BB962C8B-B14F-4D97-AF65-F5344CB8AC3E}">
        <p14:creationId xmlns:p14="http://schemas.microsoft.com/office/powerpoint/2010/main" val="125813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8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3"/>
            <a:ext cx="878400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Uspořádání paměti programu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Pro události přerušení je </a:t>
            </a:r>
            <a:r>
              <a:rPr lang="cs-CZ" dirty="0">
                <a:latin typeface="Verdana" pitchFamily="34" charset="0"/>
              </a:rPr>
              <a:t>rezervováno</a:t>
            </a:r>
            <a:r>
              <a:rPr lang="cs-CZ" b="0" dirty="0">
                <a:latin typeface="Verdana" pitchFamily="34" charset="0"/>
              </a:rPr>
              <a:t> v paměti programu </a:t>
            </a:r>
            <a:r>
              <a:rPr lang="cs-CZ" dirty="0">
                <a:latin typeface="Verdana" pitchFamily="34" charset="0"/>
              </a:rPr>
              <a:t>prvních x adres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Tyto adresy musíme při RESETU </a:t>
            </a:r>
            <a:r>
              <a:rPr lang="cs-CZ" dirty="0">
                <a:latin typeface="Verdana" pitchFamily="34" charset="0"/>
              </a:rPr>
              <a:t>obskočit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dirty="0">
                <a:latin typeface="Consolas" panose="020B0609020204030204" pitchFamily="49" charset="0"/>
              </a:rPr>
              <a:t>„HLAVNÍHO PROGRAM“</a:t>
            </a:r>
            <a:r>
              <a:rPr lang="cs-CZ" b="0" dirty="0">
                <a:latin typeface="Verdana" pitchFamily="34" charset="0"/>
              </a:rPr>
              <a:t> se uloží na </a:t>
            </a:r>
            <a:r>
              <a:rPr lang="cs-CZ" dirty="0">
                <a:latin typeface="Verdana" pitchFamily="34" charset="0"/>
              </a:rPr>
              <a:t>první volnou adresu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dirty="0">
                <a:latin typeface="Consolas" panose="020B0609020204030204" pitchFamily="49" charset="0"/>
              </a:rPr>
              <a:t>„HLAVNÍHO PROGRAM“</a:t>
            </a:r>
            <a:r>
              <a:rPr lang="cs-CZ" b="0" dirty="0">
                <a:latin typeface="Verdana" pitchFamily="34" charset="0"/>
              </a:rPr>
              <a:t> se skládá z </a:t>
            </a:r>
            <a:r>
              <a:rPr lang="cs-CZ" dirty="0">
                <a:latin typeface="Verdana" pitchFamily="34" charset="0"/>
              </a:rPr>
              <a:t>inicializační</a:t>
            </a:r>
            <a:r>
              <a:rPr lang="cs-CZ" b="0" dirty="0">
                <a:latin typeface="Verdana" pitchFamily="34" charset="0"/>
              </a:rPr>
              <a:t> části a </a:t>
            </a:r>
            <a:r>
              <a:rPr lang="cs-CZ" dirty="0">
                <a:latin typeface="Verdana" pitchFamily="34" charset="0"/>
              </a:rPr>
              <a:t>nekonečné smyčky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Jak použít přerušení</a:t>
            </a:r>
          </a:p>
        </p:txBody>
      </p:sp>
    </p:spTree>
    <p:extLst>
      <p:ext uri="{BB962C8B-B14F-4D97-AF65-F5344CB8AC3E}">
        <p14:creationId xmlns:p14="http://schemas.microsoft.com/office/powerpoint/2010/main" val="149713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8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3"/>
            <a:ext cx="8784000" cy="3123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Obslužný program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Na </a:t>
            </a:r>
            <a:r>
              <a:rPr lang="cs-CZ" dirty="0">
                <a:latin typeface="Verdana" pitchFamily="34" charset="0"/>
              </a:rPr>
              <a:t>konkrétní</a:t>
            </a:r>
            <a:r>
              <a:rPr lang="cs-CZ" b="0" dirty="0">
                <a:latin typeface="Verdana" pitchFamily="34" charset="0"/>
              </a:rPr>
              <a:t> pevné adrese (podle typu události) umístíme skok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Vlastní </a:t>
            </a:r>
            <a:r>
              <a:rPr lang="cs-CZ" dirty="0">
                <a:latin typeface="Consolas" panose="020B0609020204030204" pitchFamily="49" charset="0"/>
              </a:rPr>
              <a:t>„OBSLUŽNÝ PROGRAM“</a:t>
            </a:r>
            <a:r>
              <a:rPr lang="cs-CZ" b="0" dirty="0">
                <a:latin typeface="Verdana" pitchFamily="34" charset="0"/>
              </a:rPr>
              <a:t> umístíme </a:t>
            </a:r>
            <a:r>
              <a:rPr lang="cs-CZ" dirty="0">
                <a:latin typeface="Verdana" pitchFamily="34" charset="0"/>
              </a:rPr>
              <a:t>za</a:t>
            </a:r>
            <a:r>
              <a:rPr lang="cs-CZ" b="0" dirty="0">
                <a:latin typeface="Verdana" pitchFamily="34" charset="0"/>
              </a:rPr>
              <a:t> </a:t>
            </a:r>
            <a:r>
              <a:rPr lang="cs-CZ" dirty="0">
                <a:latin typeface="Consolas" panose="020B0609020204030204" pitchFamily="49" charset="0"/>
              </a:rPr>
              <a:t>„HLAVNÍM PROGRAMEM“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Musí být ukončen instrukcí </a:t>
            </a:r>
            <a:r>
              <a:rPr lang="cs-CZ" dirty="0">
                <a:latin typeface="Consolas" panose="020B0609020204030204" pitchFamily="49" charset="0"/>
              </a:rPr>
              <a:t>RETI</a:t>
            </a:r>
            <a:endParaRPr lang="cs-CZ" dirty="0"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Jak použít přerušení</a:t>
            </a:r>
          </a:p>
        </p:txBody>
      </p:sp>
    </p:spTree>
    <p:extLst>
      <p:ext uri="{BB962C8B-B14F-4D97-AF65-F5344CB8AC3E}">
        <p14:creationId xmlns:p14="http://schemas.microsoft.com/office/powerpoint/2010/main" val="318255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8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2" y="288006"/>
            <a:ext cx="867599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Přerušení v jazyce C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11"/>
            <a:ext cx="8784000" cy="3831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Připojení knihovny </a:t>
            </a:r>
            <a:r>
              <a:rPr lang="cs-CZ" kern="0" dirty="0" err="1">
                <a:solidFill>
                  <a:prstClr val="black"/>
                </a:solidFill>
                <a:latin typeface="Consolas" panose="020B0609020204030204" pitchFamily="49" charset="0"/>
              </a:rPr>
              <a:t>interrupts.h</a:t>
            </a:r>
            <a:endParaRPr lang="cs-CZ" dirty="0">
              <a:latin typeface="Consolas" panose="020B0609020204030204" pitchFamily="49" charset="0"/>
            </a:endParaRP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Obslužný program se píše do funkce </a:t>
            </a:r>
            <a:r>
              <a:rPr lang="cs-CZ" kern="0" dirty="0">
                <a:solidFill>
                  <a:prstClr val="black"/>
                </a:solidFill>
                <a:latin typeface="Consolas"/>
              </a:rPr>
              <a:t>ISR()</a:t>
            </a: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Povolení </a:t>
            </a:r>
            <a:r>
              <a:rPr lang="cs-CZ" dirty="0">
                <a:latin typeface="Verdana" pitchFamily="34" charset="0"/>
              </a:rPr>
              <a:t>konkrétního</a:t>
            </a:r>
            <a:r>
              <a:rPr lang="cs-CZ" b="0" dirty="0">
                <a:latin typeface="Verdana" pitchFamily="34" charset="0"/>
              </a:rPr>
              <a:t> přerušení (vybraná událost)</a:t>
            </a: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Povolení </a:t>
            </a:r>
            <a:r>
              <a:rPr lang="cs-CZ" dirty="0">
                <a:latin typeface="Verdana" pitchFamily="34" charset="0"/>
              </a:rPr>
              <a:t>globálního</a:t>
            </a:r>
            <a:r>
              <a:rPr lang="cs-CZ" b="0" dirty="0">
                <a:latin typeface="Verdana" pitchFamily="34" charset="0"/>
              </a:rPr>
              <a:t> přerušení funkcí </a:t>
            </a:r>
            <a:r>
              <a:rPr lang="cs-CZ" kern="0" dirty="0" err="1">
                <a:solidFill>
                  <a:prstClr val="black"/>
                </a:solidFill>
                <a:latin typeface="Consolas"/>
              </a:rPr>
              <a:t>sei</a:t>
            </a:r>
            <a:r>
              <a:rPr lang="cs-CZ" kern="0" dirty="0">
                <a:solidFill>
                  <a:prstClr val="black"/>
                </a:solidFill>
                <a:latin typeface="Consolas"/>
              </a:rPr>
              <a:t>()</a:t>
            </a: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Nekonečná smyčka </a:t>
            </a:r>
            <a:r>
              <a:rPr lang="cs-CZ" kern="0" dirty="0" err="1">
                <a:solidFill>
                  <a:prstClr val="black"/>
                </a:solidFill>
                <a:latin typeface="Consolas"/>
              </a:rPr>
              <a:t>while</a:t>
            </a:r>
            <a:r>
              <a:rPr lang="cs-CZ" kern="0" dirty="0">
                <a:solidFill>
                  <a:prstClr val="black"/>
                </a:solidFill>
                <a:latin typeface="Consolas"/>
              </a:rPr>
              <a:t>(1)</a:t>
            </a: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Spojení hlavního programu a obslužného programu je pomocí </a:t>
            </a:r>
            <a:r>
              <a:rPr lang="cs-CZ" dirty="0">
                <a:latin typeface="Verdana" pitchFamily="34" charset="0"/>
              </a:rPr>
              <a:t>globální</a:t>
            </a:r>
            <a:r>
              <a:rPr lang="cs-CZ" b="0" dirty="0">
                <a:latin typeface="Verdana" pitchFamily="34" charset="0"/>
              </a:rPr>
              <a:t> proměnné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79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ChangeArrowheads="1"/>
          </p:cNvSpPr>
          <p:nvPr/>
        </p:nvSpPr>
        <p:spPr bwMode="auto">
          <a:xfrm>
            <a:off x="360004" y="1080005"/>
            <a:ext cx="878399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Zadání</a:t>
            </a:r>
          </a:p>
          <a:p>
            <a:pPr marL="504000"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Naprogramujte v jazyce C aplikaci využívající přerušení. Přerušení bude obsluhovat událost </a:t>
            </a:r>
            <a:r>
              <a:rPr lang="cs-CZ" dirty="0">
                <a:latin typeface="Verdana" pitchFamily="34" charset="0"/>
              </a:rPr>
              <a:t>přetečení čítače 0 </a:t>
            </a:r>
            <a:r>
              <a:rPr lang="cs-CZ" b="0" dirty="0">
                <a:latin typeface="Verdana" pitchFamily="34" charset="0"/>
              </a:rPr>
              <a:t>(</a:t>
            </a:r>
            <a:r>
              <a:rPr lang="en-US" kern="0" dirty="0">
                <a:solidFill>
                  <a:prstClr val="black"/>
                </a:solidFill>
                <a:latin typeface="Consolas"/>
              </a:rPr>
              <a:t>TIMER0_OVF</a:t>
            </a:r>
            <a:r>
              <a:rPr lang="cs-CZ" b="0" dirty="0">
                <a:latin typeface="Verdana" pitchFamily="34" charset="0"/>
              </a:rPr>
              <a:t>). 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přerušení v jazyce C</a:t>
            </a:r>
          </a:p>
        </p:txBody>
      </p:sp>
    </p:spTree>
    <p:extLst>
      <p:ext uri="{BB962C8B-B14F-4D97-AF65-F5344CB8AC3E}">
        <p14:creationId xmlns:p14="http://schemas.microsoft.com/office/powerpoint/2010/main" val="322891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080000" y="720000"/>
            <a:ext cx="4320000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cs-CZ" sz="1600" b="1" kern="0" dirty="0">
                <a:solidFill>
                  <a:srgbClr val="0000FF"/>
                </a:solidFill>
                <a:latin typeface="Consolas"/>
              </a:rPr>
              <a:t>#include</a:t>
            </a:r>
            <a:r>
              <a:rPr lang="cs-CZ" sz="1600" b="1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600" b="1" kern="0" dirty="0">
                <a:solidFill>
                  <a:prstClr val="black"/>
                </a:solidFill>
                <a:latin typeface="Consolas"/>
              </a:rPr>
              <a:t>&lt;</a:t>
            </a:r>
            <a:r>
              <a:rPr lang="cs-CZ" sz="1600" b="1" kern="0" dirty="0" err="1">
                <a:solidFill>
                  <a:prstClr val="black"/>
                </a:solidFill>
                <a:latin typeface="Consolas"/>
              </a:rPr>
              <a:t>avr</a:t>
            </a:r>
            <a:r>
              <a:rPr lang="cs-CZ" sz="1600" b="1" kern="0" dirty="0">
                <a:solidFill>
                  <a:prstClr val="black"/>
                </a:solidFill>
                <a:latin typeface="Consolas"/>
              </a:rPr>
              <a:t>/</a:t>
            </a:r>
            <a:r>
              <a:rPr lang="cs-CZ" sz="1600" b="1" kern="0" dirty="0" err="1">
                <a:solidFill>
                  <a:prstClr val="black"/>
                </a:solidFill>
                <a:latin typeface="Consolas"/>
              </a:rPr>
              <a:t>io.h</a:t>
            </a:r>
            <a:r>
              <a:rPr lang="cs-CZ" sz="1600" b="1" kern="0" dirty="0">
                <a:solidFill>
                  <a:prstClr val="black"/>
                </a:solidFill>
                <a:latin typeface="Consolas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600" kern="0" dirty="0">
                <a:solidFill>
                  <a:srgbClr val="0000FF"/>
                </a:solidFill>
                <a:latin typeface="Consolas"/>
              </a:rPr>
              <a:t>#include</a:t>
            </a:r>
            <a:r>
              <a:rPr lang="cs-CZ" sz="1600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600" kern="0" dirty="0">
                <a:solidFill>
                  <a:prstClr val="black"/>
                </a:solidFill>
                <a:latin typeface="Consolas"/>
              </a:rPr>
              <a:t>&lt;</a:t>
            </a:r>
            <a:r>
              <a:rPr lang="cs-CZ" sz="1600" kern="0" dirty="0" err="1">
                <a:solidFill>
                  <a:prstClr val="black"/>
                </a:solidFill>
                <a:latin typeface="Consolas"/>
              </a:rPr>
              <a:t>avr</a:t>
            </a:r>
            <a:r>
              <a:rPr lang="cs-CZ" sz="1600" kern="0" dirty="0">
                <a:solidFill>
                  <a:prstClr val="black"/>
                </a:solidFill>
                <a:latin typeface="Consolas"/>
              </a:rPr>
              <a:t>/</a:t>
            </a:r>
            <a:r>
              <a:rPr lang="cs-CZ" sz="1600" kern="0" dirty="0" err="1">
                <a:solidFill>
                  <a:prstClr val="black"/>
                </a:solidFill>
                <a:latin typeface="Consolas"/>
              </a:rPr>
              <a:t>interrupts.h</a:t>
            </a:r>
            <a:r>
              <a:rPr lang="cs-CZ" sz="1600" kern="0" dirty="0">
                <a:solidFill>
                  <a:prstClr val="black"/>
                </a:solidFill>
                <a:latin typeface="Consolas"/>
              </a:rPr>
              <a:t>&gt;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1083568" y="3981896"/>
            <a:ext cx="4320000" cy="132343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cs-CZ" sz="1600" kern="0" dirty="0">
                <a:solidFill>
                  <a:srgbClr val="008000"/>
                </a:solidFill>
                <a:latin typeface="Consolas"/>
              </a:rPr>
              <a:t>//</a:t>
            </a:r>
            <a:r>
              <a:rPr lang="cs-CZ" sz="1600" kern="0" dirty="0" err="1">
                <a:solidFill>
                  <a:srgbClr val="008000"/>
                </a:solidFill>
                <a:latin typeface="Consolas"/>
              </a:rPr>
              <a:t>preruseni</a:t>
            </a:r>
            <a:endParaRPr lang="cs-CZ" sz="1600" kern="0" dirty="0">
              <a:solidFill>
                <a:prstClr val="black"/>
              </a:solidFill>
              <a:latin typeface="Consola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kern="0" dirty="0">
                <a:solidFill>
                  <a:srgbClr val="0000FF"/>
                </a:solidFill>
                <a:latin typeface="Consolas"/>
              </a:rPr>
              <a:t>ISR</a:t>
            </a:r>
            <a:r>
              <a:rPr lang="cs-CZ" sz="1600" kern="0" dirty="0">
                <a:solidFill>
                  <a:prstClr val="black"/>
                </a:solidFill>
                <a:latin typeface="Consolas"/>
              </a:rPr>
              <a:t>(</a:t>
            </a:r>
            <a:r>
              <a:rPr lang="en-US" sz="1600" kern="0" dirty="0">
                <a:solidFill>
                  <a:prstClr val="black"/>
                </a:solidFill>
                <a:latin typeface="Consolas"/>
              </a:rPr>
              <a:t>TIMER0_OVF</a:t>
            </a:r>
            <a:r>
              <a:rPr lang="cs-CZ" sz="1600" kern="0" dirty="0">
                <a:solidFill>
                  <a:prstClr val="black"/>
                </a:solidFill>
                <a:latin typeface="Consolas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600" kern="0" dirty="0">
                <a:solidFill>
                  <a:prstClr val="black"/>
                </a:solidFill>
                <a:latin typeface="Consolas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endParaRPr lang="en-US" sz="1600" kern="0" dirty="0">
              <a:solidFill>
                <a:prstClr val="black"/>
              </a:solidFill>
              <a:latin typeface="Consola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600" kern="0" dirty="0">
                <a:solidFill>
                  <a:prstClr val="black"/>
                </a:solidFill>
                <a:latin typeface="Consolas"/>
              </a:rPr>
              <a:t>}</a:t>
            </a:r>
            <a:endParaRPr lang="cs-CZ" sz="1600" kern="0" dirty="0">
              <a:solidFill>
                <a:srgbClr val="0000FF"/>
              </a:solidFill>
              <a:latin typeface="Consolas"/>
            </a:endParaRPr>
          </a:p>
        </p:txBody>
      </p:sp>
      <p:sp>
        <p:nvSpPr>
          <p:cNvPr id="14" name="Obdélníkový popisek 13"/>
          <p:cNvSpPr/>
          <p:nvPr/>
        </p:nvSpPr>
        <p:spPr>
          <a:xfrm>
            <a:off x="6054756" y="4437112"/>
            <a:ext cx="2449710" cy="400110"/>
          </a:xfrm>
          <a:prstGeom prst="wedgeRectCallout">
            <a:avLst>
              <a:gd name="adj1" fmla="val -141004"/>
              <a:gd name="adj2" fmla="val 104148"/>
            </a:avLst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cs-CZ" sz="2000" dirty="0">
                <a:solidFill>
                  <a:srgbClr val="000000"/>
                </a:solidFill>
                <a:latin typeface="Arial"/>
              </a:rPr>
              <a:t>Obslužný program</a:t>
            </a: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1080000" y="1552665"/>
            <a:ext cx="4320000" cy="2308324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cs-CZ" sz="1600" kern="0" dirty="0">
                <a:solidFill>
                  <a:srgbClr val="008000"/>
                </a:solidFill>
                <a:latin typeface="Consolas"/>
              </a:rPr>
              <a:t>//***hlavní program***</a:t>
            </a:r>
            <a:endParaRPr lang="cs-CZ" sz="1600" kern="0" dirty="0">
              <a:solidFill>
                <a:srgbClr val="0000FF"/>
              </a:solidFill>
              <a:latin typeface="Consola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cs-CZ" sz="1600" kern="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cs-CZ" sz="1600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600" kern="0" dirty="0">
                <a:solidFill>
                  <a:prstClr val="black"/>
                </a:solidFill>
                <a:latin typeface="Consolas"/>
              </a:rPr>
              <a:t>main(</a:t>
            </a:r>
            <a:r>
              <a:rPr lang="cs-CZ" sz="1600" kern="0" dirty="0" err="1">
                <a:solidFill>
                  <a:srgbClr val="0000FF"/>
                </a:solidFill>
                <a:latin typeface="Consolas"/>
              </a:rPr>
              <a:t>void</a:t>
            </a:r>
            <a:r>
              <a:rPr lang="cs-CZ" sz="1600" kern="0" dirty="0">
                <a:solidFill>
                  <a:prstClr val="black"/>
                </a:solidFill>
                <a:latin typeface="Consolas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600" kern="0" dirty="0">
                <a:solidFill>
                  <a:prstClr val="black"/>
                </a:solidFill>
                <a:latin typeface="Consolas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kern="0" dirty="0">
                <a:solidFill>
                  <a:prstClr val="black"/>
                </a:solidFill>
                <a:latin typeface="Consolas"/>
              </a:rPr>
              <a:t>TIMSK0</a:t>
            </a:r>
            <a:r>
              <a:rPr lang="cs-CZ" sz="1600" kern="0" dirty="0">
                <a:solidFill>
                  <a:prstClr val="black"/>
                </a:solidFill>
                <a:latin typeface="Consolas"/>
              </a:rPr>
              <a:t>=</a:t>
            </a:r>
            <a:r>
              <a:rPr lang="cs-CZ" sz="1600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en-US" sz="1600" kern="0" dirty="0">
                <a:solidFill>
                  <a:prstClr val="black"/>
                </a:solidFill>
                <a:latin typeface="Consolas"/>
              </a:rPr>
              <a:t>1&lt;&lt;TOIE0</a:t>
            </a:r>
            <a:r>
              <a:rPr lang="cs-CZ" sz="1600" kern="0" dirty="0">
                <a:solidFill>
                  <a:prstClr val="black"/>
                </a:solidFill>
                <a:latin typeface="Consolas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600" kern="0" dirty="0" err="1">
                <a:solidFill>
                  <a:srgbClr val="0000FF"/>
                </a:solidFill>
                <a:latin typeface="Consolas"/>
              </a:rPr>
              <a:t>sei</a:t>
            </a:r>
            <a:r>
              <a:rPr lang="en-US" sz="1600" kern="0" dirty="0">
                <a:solidFill>
                  <a:prstClr val="black"/>
                </a:solidFill>
                <a:latin typeface="Consolas"/>
              </a:rPr>
              <a:t>()</a:t>
            </a:r>
            <a:r>
              <a:rPr lang="cs-CZ" sz="1600" kern="0" dirty="0">
                <a:solidFill>
                  <a:prstClr val="black"/>
                </a:solidFill>
                <a:latin typeface="Consolas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600" kern="0" dirty="0" err="1">
                <a:solidFill>
                  <a:srgbClr val="0000FF"/>
                </a:solidFill>
                <a:latin typeface="Consolas"/>
              </a:rPr>
              <a:t>while</a:t>
            </a:r>
            <a:r>
              <a:rPr lang="cs-CZ" sz="1600" kern="0" dirty="0">
                <a:solidFill>
                  <a:prstClr val="black"/>
                </a:solidFill>
                <a:latin typeface="Consolas"/>
              </a:rPr>
              <a:t>(1)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cs-CZ" sz="1600" kern="0" dirty="0">
                <a:solidFill>
                  <a:prstClr val="black"/>
                </a:solidFill>
                <a:latin typeface="Consolas"/>
              </a:rPr>
              <a:t>{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cs-CZ" sz="1600" kern="0" dirty="0">
                <a:solidFill>
                  <a:prstClr val="black"/>
                </a:solidFill>
                <a:latin typeface="Consolas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600" kern="0" dirty="0">
                <a:solidFill>
                  <a:prstClr val="black"/>
                </a:solidFill>
                <a:latin typeface="Consolas"/>
              </a:rPr>
              <a:t>}</a:t>
            </a:r>
            <a:endParaRPr lang="cs-CZ" sz="1600" kern="0" dirty="0">
              <a:solidFill>
                <a:srgbClr val="0000FF"/>
              </a:solidFill>
              <a:latin typeface="Consolas"/>
            </a:endParaRPr>
          </a:p>
        </p:txBody>
      </p:sp>
      <p:sp>
        <p:nvSpPr>
          <p:cNvPr id="8" name="Obdélníkový popisek 7"/>
          <p:cNvSpPr/>
          <p:nvPr/>
        </p:nvSpPr>
        <p:spPr>
          <a:xfrm>
            <a:off x="4963913" y="614623"/>
            <a:ext cx="3861955" cy="400110"/>
          </a:xfrm>
          <a:prstGeom prst="wedgeRectCallout">
            <a:avLst>
              <a:gd name="adj1" fmla="val -73046"/>
              <a:gd name="adj2" fmla="val 109675"/>
            </a:avLst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cs-CZ" sz="2000" dirty="0">
                <a:solidFill>
                  <a:srgbClr val="000000"/>
                </a:solidFill>
                <a:latin typeface="Arial"/>
              </a:rPr>
              <a:t>Deklarace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 </a:t>
            </a:r>
            <a:r>
              <a:rPr lang="cs-CZ" sz="2000" dirty="0">
                <a:solidFill>
                  <a:srgbClr val="000000"/>
                </a:solidFill>
                <a:latin typeface="Arial"/>
              </a:rPr>
              <a:t>použitých knihoven</a:t>
            </a:r>
          </a:p>
        </p:txBody>
      </p:sp>
      <p:sp>
        <p:nvSpPr>
          <p:cNvPr id="10" name="Obdélníkový popisek 9"/>
          <p:cNvSpPr/>
          <p:nvPr/>
        </p:nvSpPr>
        <p:spPr>
          <a:xfrm>
            <a:off x="5862395" y="1899435"/>
            <a:ext cx="2064989" cy="400110"/>
          </a:xfrm>
          <a:prstGeom prst="wedgeRectCallout">
            <a:avLst>
              <a:gd name="adj1" fmla="val -139450"/>
              <a:gd name="adj2" fmla="val 187297"/>
            </a:avLst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cs-CZ" sz="2000" dirty="0">
                <a:solidFill>
                  <a:srgbClr val="000000"/>
                </a:solidFill>
                <a:latin typeface="Arial"/>
              </a:rPr>
              <a:t>Hlavní program</a:t>
            </a:r>
          </a:p>
        </p:txBody>
      </p:sp>
      <p:sp>
        <p:nvSpPr>
          <p:cNvPr id="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Příklad přerušení v jazyce C</a:t>
            </a:r>
          </a:p>
        </p:txBody>
      </p:sp>
      <p:sp>
        <p:nvSpPr>
          <p:cNvPr id="19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0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1" name="Tlačítko akce: Vlastní 7">
            <a:hlinkClick r:id="rId2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729575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4" grpId="0" animBg="1"/>
      <p:bldP spid="15" grpId="0" animBg="1"/>
      <p:bldP spid="8" grpId="0" animBg="1"/>
      <p:bldP spid="10" grpId="0" animBg="1"/>
      <p:bldP spid="9" grpId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FF116-51F7-FD9D-2FB7-278BDAAA8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>
            <a:extLst>
              <a:ext uri="{FF2B5EF4-FFF2-40B4-BE49-F238E27FC236}">
                <a16:creationId xmlns:a16="http://schemas.microsoft.com/office/drawing/2014/main" id="{781BFCF2-EBA0-DD57-0AD5-F9ADBD043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04" y="1080005"/>
            <a:ext cx="8783996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Zadání</a:t>
            </a:r>
          </a:p>
          <a:p>
            <a:pPr marL="504000"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b="0" dirty="0">
                <a:latin typeface="Verdana" pitchFamily="34" charset="0"/>
              </a:rPr>
              <a:t>Naprogramujte v jazyce ASM aplikaci využívající přerušení. Přerušení bude obsluhovat událost </a:t>
            </a:r>
            <a:r>
              <a:rPr lang="cs-CZ" dirty="0">
                <a:latin typeface="Verdana" pitchFamily="34" charset="0"/>
              </a:rPr>
              <a:t>přetečení čítače 0 </a:t>
            </a:r>
            <a:r>
              <a:rPr lang="cs-CZ" b="0" dirty="0">
                <a:latin typeface="Verdana" pitchFamily="34" charset="0"/>
              </a:rPr>
              <a:t>(adresa přerušení </a:t>
            </a:r>
            <a:r>
              <a:rPr lang="en-US" kern="0" dirty="0">
                <a:solidFill>
                  <a:prstClr val="black"/>
                </a:solidFill>
                <a:latin typeface="Consolas"/>
              </a:rPr>
              <a:t>OVRF0addr</a:t>
            </a:r>
            <a:r>
              <a:rPr lang="cs-CZ" b="0" dirty="0">
                <a:latin typeface="Verdana" pitchFamily="34" charset="0"/>
              </a:rPr>
              <a:t>). </a:t>
            </a:r>
          </a:p>
        </p:txBody>
      </p:sp>
      <p:sp>
        <p:nvSpPr>
          <p:cNvPr id="4" name="Elipsa 8">
            <a:extLst>
              <a:ext uri="{FF2B5EF4-FFF2-40B4-BE49-F238E27FC236}">
                <a16:creationId xmlns:a16="http://schemas.microsoft.com/office/drawing/2014/main" id="{DCA98518-B4C6-3E14-C77A-B8D72E82FC9E}"/>
              </a:ext>
            </a:extLst>
          </p:cNvPr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5" name="Zástupný symbol pro číslo snímku 5">
            <a:extLst>
              <a:ext uri="{FF2B5EF4-FFF2-40B4-BE49-F238E27FC236}">
                <a16:creationId xmlns:a16="http://schemas.microsoft.com/office/drawing/2014/main" id="{2E2F8C8A-7A92-CCED-0B14-44AD5AD1062A}"/>
              </a:ext>
            </a:extLst>
          </p:cNvPr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8C0E26B-9231-5D8C-6971-4AAA293A2DF0}"/>
              </a:ext>
            </a:extLst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F49A4E9F-40A2-8FEF-CDFA-92F0D1400873}"/>
              </a:ext>
            </a:extLst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4CC9AE6-81BE-2C2E-D46F-29912E3970E1}"/>
              </a:ext>
            </a:extLst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2C4D473-C150-F0C1-01F7-D794FD9FF1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přerušení v jazyce ASM</a:t>
            </a:r>
          </a:p>
        </p:txBody>
      </p:sp>
    </p:spTree>
    <p:extLst>
      <p:ext uri="{BB962C8B-B14F-4D97-AF65-F5344CB8AC3E}">
        <p14:creationId xmlns:p14="http://schemas.microsoft.com/office/powerpoint/2010/main" val="13667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0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8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2" y="288006"/>
            <a:ext cx="867599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Postup „Hlavní program“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11"/>
            <a:ext cx="87840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Začátek na </a:t>
            </a:r>
            <a:r>
              <a:rPr lang="cs-CZ" dirty="0">
                <a:latin typeface="Consolas" panose="020B0609020204030204" pitchFamily="49" charset="0"/>
              </a:rPr>
              <a:t>0x0000</a:t>
            </a:r>
            <a:r>
              <a:rPr lang="cs-CZ" b="0" dirty="0">
                <a:latin typeface="Verdana" pitchFamily="34" charset="0"/>
              </a:rPr>
              <a:t>, </a:t>
            </a:r>
            <a:r>
              <a:rPr lang="cs-CZ" dirty="0">
                <a:latin typeface="Verdana" pitchFamily="34" charset="0"/>
              </a:rPr>
              <a:t>skok</a:t>
            </a:r>
            <a:r>
              <a:rPr lang="cs-CZ" b="0" dirty="0">
                <a:latin typeface="Verdana" pitchFamily="34" charset="0"/>
              </a:rPr>
              <a:t> na </a:t>
            </a:r>
            <a:r>
              <a:rPr lang="cs-CZ" dirty="0">
                <a:latin typeface="Verdana" pitchFamily="34" charset="0"/>
              </a:rPr>
              <a:t>volnou</a:t>
            </a:r>
            <a:r>
              <a:rPr lang="cs-CZ" b="0" dirty="0">
                <a:latin typeface="Verdana" pitchFamily="34" charset="0"/>
              </a:rPr>
              <a:t> adresu za adresy přerušení </a:t>
            </a:r>
            <a:r>
              <a:rPr lang="cs-CZ" sz="2000" b="0" i="1" dirty="0">
                <a:latin typeface="Verdana" panose="020B0604030504040204" pitchFamily="34" charset="0"/>
                <a:ea typeface="Verdana" panose="020B0604030504040204" pitchFamily="34" charset="0"/>
              </a:rPr>
              <a:t>(pouze program v ASM)</a:t>
            </a:r>
            <a:endParaRPr lang="cs-CZ" sz="2000" b="0" dirty="0">
              <a:latin typeface="Verdana" pitchFamily="34" charset="0"/>
            </a:endParaRP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Inicializace </a:t>
            </a:r>
            <a:r>
              <a:rPr lang="cs-CZ" dirty="0">
                <a:latin typeface="Verdana" pitchFamily="34" charset="0"/>
              </a:rPr>
              <a:t>zásobníku</a:t>
            </a:r>
            <a:r>
              <a:rPr lang="cs-CZ" b="0" dirty="0">
                <a:latin typeface="Verdana" pitchFamily="34" charset="0"/>
              </a:rPr>
              <a:t> </a:t>
            </a:r>
            <a:r>
              <a:rPr lang="cs-CZ" b="0" dirty="0">
                <a:latin typeface="Consolas" panose="020B0609020204030204" pitchFamily="49" charset="0"/>
              </a:rPr>
              <a:t>(SP)</a:t>
            </a:r>
            <a:r>
              <a:rPr lang="cs-CZ" sz="2000" b="0" i="1" dirty="0">
                <a:latin typeface="Verdana" panose="020B0604030504040204" pitchFamily="34" charset="0"/>
                <a:ea typeface="Verdana" panose="020B0604030504040204" pitchFamily="34" charset="0"/>
              </a:rPr>
              <a:t>(pouze program v ASM)</a:t>
            </a: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Povolení </a:t>
            </a:r>
            <a:r>
              <a:rPr lang="cs-CZ" dirty="0">
                <a:latin typeface="Verdana" pitchFamily="34" charset="0"/>
              </a:rPr>
              <a:t>konkrétního přerušení </a:t>
            </a:r>
            <a:r>
              <a:rPr lang="cs-CZ" b="0" dirty="0">
                <a:latin typeface="Verdana" pitchFamily="34" charset="0"/>
              </a:rPr>
              <a:t>(vybraná událost)</a:t>
            </a: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Povolení </a:t>
            </a:r>
            <a:r>
              <a:rPr lang="cs-CZ" dirty="0">
                <a:latin typeface="Verdana" pitchFamily="34" charset="0"/>
              </a:rPr>
              <a:t>globálního přerušení </a:t>
            </a:r>
            <a:r>
              <a:rPr lang="cs-CZ" sz="2000" b="0" dirty="0">
                <a:latin typeface="Verdana" pitchFamily="34" charset="0"/>
              </a:rPr>
              <a:t>(bit I=1 v SREG)</a:t>
            </a: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Nekonečná smyčka</a:t>
            </a:r>
            <a:endParaRPr lang="cs-CZ" dirty="0">
              <a:latin typeface="Consolas" panose="020B0609020204030204" pitchFamily="49" charset="0"/>
            </a:endParaRP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561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2" y="288006"/>
            <a:ext cx="867599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Postup „Obslužný program“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11"/>
            <a:ext cx="8784000" cy="18004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Začátek na </a:t>
            </a:r>
            <a:r>
              <a:rPr lang="cs-CZ" dirty="0">
                <a:latin typeface="Verdana" pitchFamily="34" charset="0"/>
              </a:rPr>
              <a:t>adrese</a:t>
            </a:r>
            <a:r>
              <a:rPr lang="cs-CZ" b="0" dirty="0">
                <a:latin typeface="Verdana" pitchFamily="34" charset="0"/>
              </a:rPr>
              <a:t> (podle události) , </a:t>
            </a:r>
            <a:r>
              <a:rPr lang="cs-CZ" dirty="0">
                <a:latin typeface="Verdana" pitchFamily="34" charset="0"/>
              </a:rPr>
              <a:t>skok</a:t>
            </a:r>
            <a:r>
              <a:rPr lang="cs-CZ" b="0" dirty="0">
                <a:latin typeface="Verdana" pitchFamily="34" charset="0"/>
              </a:rPr>
              <a:t> na návěští za </a:t>
            </a:r>
            <a:r>
              <a:rPr lang="cs-CZ" dirty="0">
                <a:latin typeface="Consolas" panose="020B0609020204030204" pitchFamily="49" charset="0"/>
              </a:rPr>
              <a:t>„HLAVNÍ PROGRAM“</a:t>
            </a:r>
            <a:r>
              <a:rPr lang="cs-CZ" b="0" dirty="0">
                <a:latin typeface="Verdana" pitchFamily="34" charset="0"/>
              </a:rPr>
              <a:t> </a:t>
            </a:r>
          </a:p>
          <a:p>
            <a:pPr marL="540000" indent="-540000">
              <a:spcAft>
                <a:spcPts val="18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b="0" dirty="0">
                <a:latin typeface="Verdana" pitchFamily="34" charset="0"/>
              </a:rPr>
              <a:t>Sekvenci příkazů musí ukončit instrukce </a:t>
            </a:r>
            <a:r>
              <a:rPr lang="cs-CZ" dirty="0">
                <a:latin typeface="Consolas" panose="020B0609020204030204" pitchFamily="49" charset="0"/>
              </a:rPr>
              <a:t>RETI </a:t>
            </a:r>
            <a:r>
              <a:rPr lang="cs-CZ" sz="2000" b="0" i="1" dirty="0">
                <a:latin typeface="Verdana" panose="020B0604030504040204" pitchFamily="34" charset="0"/>
                <a:ea typeface="Verdana" panose="020B0604030504040204" pitchFamily="34" charset="0"/>
              </a:rPr>
              <a:t>(pouze program v ASM)</a:t>
            </a:r>
            <a:endParaRPr lang="cs-CZ" sz="2000" b="0" dirty="0">
              <a:latin typeface="Verdana" pitchFamily="34" charset="0"/>
            </a:endParaRP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84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2" y="288006"/>
            <a:ext cx="867599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 přerušení ASM</a:t>
            </a: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03"/>
            <a:ext cx="8784000" cy="1723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Přetečení </a:t>
            </a:r>
            <a:r>
              <a:rPr lang="cs-CZ" sz="2800" dirty="0">
                <a:latin typeface="Consolas" panose="020B0609020204030204" pitchFamily="49" charset="0"/>
              </a:rPr>
              <a:t>TIMER0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Adresa obslužného programu </a:t>
            </a:r>
            <a:r>
              <a:rPr lang="cs-CZ" dirty="0">
                <a:latin typeface="Consolas" panose="020B0609020204030204" pitchFamily="49" charset="0"/>
              </a:rPr>
              <a:t>OVF0addr (0x002E)</a:t>
            </a:r>
          </a:p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ü"/>
              <a:defRPr/>
            </a:pPr>
            <a:r>
              <a:rPr lang="cs-CZ" b="0" dirty="0">
                <a:latin typeface="Verdana" pitchFamily="34" charset="0"/>
              </a:rPr>
              <a:t>Povolení přerušení registr </a:t>
            </a:r>
            <a:r>
              <a:rPr lang="cs-CZ" dirty="0">
                <a:latin typeface="Consolas" panose="020B0609020204030204" pitchFamily="49" charset="0"/>
              </a:rPr>
              <a:t>TIMSK0</a:t>
            </a:r>
            <a:r>
              <a:rPr lang="cs-CZ" b="0" dirty="0">
                <a:latin typeface="Verdana" pitchFamily="34" charset="0"/>
              </a:rPr>
              <a:t>, bit </a:t>
            </a:r>
            <a:r>
              <a:rPr lang="cs-CZ" dirty="0">
                <a:latin typeface="Consolas" panose="020B0609020204030204" pitchFamily="49" charset="0"/>
              </a:rPr>
              <a:t>TOIE0=1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863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lačítko akce: Vlastní 2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0" name="Tlačítko akce: Vlastní 2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3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5" name="Obdélník 14"/>
          <p:cNvSpPr/>
          <p:nvPr/>
        </p:nvSpPr>
        <p:spPr>
          <a:xfrm>
            <a:off x="1080000" y="720000"/>
            <a:ext cx="4320000" cy="525982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cs-CZ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org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</a:t>
            </a:r>
          </a:p>
          <a:p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RJMP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START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.org	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OVRF0addr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RJMP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OBSLUHA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START:</a:t>
            </a:r>
            <a:endParaRPr lang="cs-CZ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R16,LOW(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RAMEND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SPL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</a:p>
          <a:p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R16,HIGH(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RAMEND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SPH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</a:p>
          <a:p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cs-CZ" sz="16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LDI</a:t>
            </a:r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	R16,1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TOIE0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TIMSK0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,R16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SEI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OPAKUJ: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RJMP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OPAKUJ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;***********************************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OBSLUHA: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6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</a:t>
            </a:r>
            <a:endParaRPr lang="cs-CZ" sz="1600" dirty="0">
              <a:solidFill>
                <a:srgbClr val="000099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Příklad přerušení ASM</a:t>
            </a:r>
          </a:p>
        </p:txBody>
      </p:sp>
      <p:sp>
        <p:nvSpPr>
          <p:cNvPr id="9" name="Obdélníkový popisek 13"/>
          <p:cNvSpPr/>
          <p:nvPr/>
        </p:nvSpPr>
        <p:spPr>
          <a:xfrm>
            <a:off x="6155145" y="4797152"/>
            <a:ext cx="2449710" cy="400110"/>
          </a:xfrm>
          <a:prstGeom prst="wedgeRectCallout">
            <a:avLst>
              <a:gd name="adj1" fmla="val -141004"/>
              <a:gd name="adj2" fmla="val 104148"/>
            </a:avLst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cs-CZ" sz="2000" dirty="0">
                <a:solidFill>
                  <a:srgbClr val="000000"/>
                </a:solidFill>
                <a:latin typeface="Arial"/>
              </a:rPr>
              <a:t>Obslužný program</a:t>
            </a:r>
          </a:p>
        </p:txBody>
      </p:sp>
      <p:sp>
        <p:nvSpPr>
          <p:cNvPr id="10" name="Obdélníkový popisek 13"/>
          <p:cNvSpPr/>
          <p:nvPr/>
        </p:nvSpPr>
        <p:spPr>
          <a:xfrm>
            <a:off x="6129396" y="3494359"/>
            <a:ext cx="2064989" cy="400110"/>
          </a:xfrm>
          <a:prstGeom prst="wedgeRectCallout">
            <a:avLst>
              <a:gd name="adj1" fmla="val -141004"/>
              <a:gd name="adj2" fmla="val 104148"/>
            </a:avLst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cs-CZ" sz="2000" dirty="0">
                <a:solidFill>
                  <a:srgbClr val="000000"/>
                </a:solidFill>
                <a:latin typeface="Arial"/>
              </a:rPr>
              <a:t>Hlavní program</a:t>
            </a:r>
          </a:p>
        </p:txBody>
      </p:sp>
    </p:spTree>
    <p:extLst>
      <p:ext uri="{BB962C8B-B14F-4D97-AF65-F5344CB8AC3E}">
        <p14:creationId xmlns:p14="http://schemas.microsoft.com/office/powerpoint/2010/main" val="292846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  <p:bldP spid="15" grpId="0" animBg="1"/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6"/>
            <a:ext cx="885652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Vnější přerušení EINT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24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Zadání</a:t>
            </a:r>
          </a:p>
          <a:p>
            <a:pPr marL="504000" indent="-342900">
              <a:spcAft>
                <a:spcPts val="12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cs-CZ" sz="2000" b="0" dirty="0">
                <a:latin typeface="Verdana" pitchFamily="34" charset="0"/>
              </a:rPr>
              <a:t>Naprogramujte aplikaci s </a:t>
            </a:r>
            <a:r>
              <a:rPr lang="cs-CZ" sz="2000" dirty="0">
                <a:latin typeface="Verdana" pitchFamily="34" charset="0"/>
              </a:rPr>
              <a:t>vnějším přerušením</a:t>
            </a:r>
            <a:r>
              <a:rPr lang="cs-CZ" sz="2000" b="0" dirty="0">
                <a:latin typeface="Verdana" pitchFamily="34" charset="0"/>
              </a:rPr>
              <a:t>,</a:t>
            </a:r>
          </a:p>
          <a:p>
            <a:pPr marL="504000" indent="-342900">
              <a:spcAft>
                <a:spcPts val="12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cs-CZ" sz="2000" dirty="0">
                <a:latin typeface="Verdana" pitchFamily="34" charset="0"/>
              </a:rPr>
              <a:t>Signálem INT0 </a:t>
            </a:r>
            <a:r>
              <a:rPr lang="cs-CZ" sz="2000" b="0" dirty="0">
                <a:latin typeface="Verdana" pitchFamily="34" charset="0"/>
              </a:rPr>
              <a:t>se připočítá do proměnné POCET jednička</a:t>
            </a:r>
          </a:p>
          <a:p>
            <a:pPr marL="504000" indent="-342900">
              <a:spcAft>
                <a:spcPts val="12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cs-CZ" sz="2000" dirty="0">
                <a:latin typeface="Verdana" pitchFamily="34" charset="0"/>
              </a:rPr>
              <a:t>Signálem INT1 </a:t>
            </a:r>
            <a:r>
              <a:rPr lang="cs-CZ" sz="2000" b="0" dirty="0">
                <a:latin typeface="Verdana" pitchFamily="34" charset="0"/>
              </a:rPr>
              <a:t>se odpočítá z proměnné POCET jednička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4" name="Tlačítko akce: Vlastní 13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6FA04C74-449D-416F-9C07-78BF12F50FEF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827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360004" y="1080009"/>
            <a:ext cx="8784000" cy="4447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504000" indent="-504000">
              <a:spcAft>
                <a:spcPts val="1800"/>
              </a:spcAft>
              <a:buClr>
                <a:schemeClr val="bg2"/>
              </a:buClr>
              <a:buSzPct val="100000"/>
              <a:buFont typeface="Wingdings" pitchFamily="2" charset="2"/>
              <a:buChar char="n"/>
              <a:defRPr/>
            </a:pPr>
            <a:r>
              <a:rPr lang="cs-CZ" sz="2800" dirty="0">
                <a:latin typeface="Verdana" pitchFamily="34" charset="0"/>
              </a:rPr>
              <a:t>Řešení</a:t>
            </a:r>
            <a:r>
              <a:rPr lang="cs-CZ" sz="2800" b="0" dirty="0">
                <a:latin typeface="Verdana" pitchFamily="34" charset="0"/>
              </a:rPr>
              <a:t> </a:t>
            </a:r>
          </a:p>
          <a:p>
            <a:pPr marL="540000" indent="-540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2000" b="0" dirty="0">
                <a:latin typeface="Verdana" pitchFamily="34" charset="0"/>
              </a:rPr>
              <a:t>Port, kde je vyvedeno vnější přerušení, nastavíme do vstupního režimu</a:t>
            </a:r>
          </a:p>
          <a:p>
            <a:pPr marL="540000" indent="-540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2000" b="0" dirty="0">
                <a:latin typeface="Verdana" pitchFamily="34" charset="0"/>
              </a:rPr>
              <a:t>Nastavíme, jakým způsobem bude reagovat vnější přerušení</a:t>
            </a:r>
          </a:p>
          <a:p>
            <a:pPr marL="540000" indent="-540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2000" b="0" dirty="0">
                <a:latin typeface="Verdana" pitchFamily="34" charset="0"/>
              </a:rPr>
              <a:t>Povolíme přerušení od signálu INT0, INT1</a:t>
            </a:r>
          </a:p>
          <a:p>
            <a:pPr marL="540000" indent="-540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2000" b="0" dirty="0">
                <a:latin typeface="Verdana" pitchFamily="34" charset="0"/>
              </a:rPr>
              <a:t>Povolíme globální přerušení</a:t>
            </a:r>
          </a:p>
          <a:p>
            <a:pPr marL="540000" indent="-540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2000" b="0" dirty="0">
                <a:latin typeface="Verdana" pitchFamily="34" charset="0"/>
              </a:rPr>
              <a:t>Nastavíme globální proměnnou na nulu (POCET)</a:t>
            </a:r>
          </a:p>
          <a:p>
            <a:pPr marL="540000" indent="-540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2000" b="0" dirty="0">
                <a:latin typeface="Verdana" pitchFamily="34" charset="0"/>
              </a:rPr>
              <a:t>HLAVNÍ PROGRAM bude zobrazovat proměnnou POČET</a:t>
            </a:r>
          </a:p>
          <a:p>
            <a:pPr marL="540000" indent="-540000">
              <a:spcAft>
                <a:spcPts val="1200"/>
              </a:spcAft>
              <a:buClr>
                <a:schemeClr val="bg2"/>
              </a:buClr>
              <a:buSzPct val="100000"/>
              <a:buFont typeface="+mj-lt"/>
              <a:buAutoNum type="arabicPeriod"/>
              <a:defRPr/>
            </a:pPr>
            <a:r>
              <a:rPr lang="cs-CZ" sz="2000" b="0" dirty="0">
                <a:latin typeface="Verdana" pitchFamily="34" charset="0"/>
              </a:rPr>
              <a:t>OBSLUŽNÉ PROGRAMY  budou připočítávat nebo odpočítávat jedničku</a:t>
            </a:r>
          </a:p>
        </p:txBody>
      </p:sp>
      <p:sp>
        <p:nvSpPr>
          <p:cNvPr id="1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2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4" name="Tlačítko akce: Vlastní 13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6FA04C74-449D-416F-9C07-78BF12F50FEF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pPr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Přerušení vnějším signálem</a:t>
            </a:r>
          </a:p>
        </p:txBody>
      </p:sp>
    </p:spTree>
    <p:extLst>
      <p:ext uri="{BB962C8B-B14F-4D97-AF65-F5344CB8AC3E}">
        <p14:creationId xmlns:p14="http://schemas.microsoft.com/office/powerpoint/2010/main" val="256883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Nastavení režimů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EINT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Text Box 71"/>
          <p:cNvSpPr txBox="1">
            <a:spLocks noChangeArrowheads="1"/>
          </p:cNvSpPr>
          <p:nvPr/>
        </p:nvSpPr>
        <p:spPr bwMode="auto">
          <a:xfrm>
            <a:off x="4193280" y="4058333"/>
            <a:ext cx="3060434" cy="27699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cs-CZ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Výběr režimu vnějšího přerušení</a:t>
            </a:r>
          </a:p>
        </p:txBody>
      </p:sp>
      <p:sp>
        <p:nvSpPr>
          <p:cNvPr id="4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2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3" name="Tlačítko akce: Vlastní 42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44" name="Tlačítko akce: Vlastní 43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45" name="Tlačítko akce: Vlastní 44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8" name="Levá složená závorka 37"/>
          <p:cNvSpPr/>
          <p:nvPr/>
        </p:nvSpPr>
        <p:spPr>
          <a:xfrm rot="16200000" flipV="1">
            <a:off x="8261272" y="2404888"/>
            <a:ext cx="252000" cy="1067882"/>
          </a:xfrm>
          <a:prstGeom prst="leftBrace">
            <a:avLst>
              <a:gd name="adj1" fmla="val 35197"/>
              <a:gd name="adj2" fmla="val 50000"/>
            </a:avLst>
          </a:prstGeom>
          <a:ln w="381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48" name="TextovéPole 47">
            <a:extLst>
              <a:ext uri="{FF2B5EF4-FFF2-40B4-BE49-F238E27FC236}">
                <a16:creationId xmlns:a16="http://schemas.microsoft.com/office/drawing/2014/main" id="{53FD8BC0-20A7-4581-A939-B88D6337EBB4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graphicFrame>
        <p:nvGraphicFramePr>
          <p:cNvPr id="6" name="Tabulk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92898"/>
              </p:ext>
            </p:extLst>
          </p:nvPr>
        </p:nvGraphicFramePr>
        <p:xfrm>
          <a:off x="4500000" y="4365104"/>
          <a:ext cx="2222499" cy="1276350"/>
        </p:xfrm>
        <a:graphic>
          <a:graphicData uri="http://schemas.openxmlformats.org/drawingml/2006/table">
            <a:tbl>
              <a:tblPr/>
              <a:tblGrid>
                <a:gridCol w="249073">
                  <a:extLst>
                    <a:ext uri="{9D8B030D-6E8A-4147-A177-3AD203B41FA5}">
                      <a16:colId xmlns:a16="http://schemas.microsoft.com/office/drawing/2014/main" val="1952973330"/>
                    </a:ext>
                  </a:extLst>
                </a:gridCol>
                <a:gridCol w="249073">
                  <a:extLst>
                    <a:ext uri="{9D8B030D-6E8A-4147-A177-3AD203B41FA5}">
                      <a16:colId xmlns:a16="http://schemas.microsoft.com/office/drawing/2014/main" val="3226613895"/>
                    </a:ext>
                  </a:extLst>
                </a:gridCol>
                <a:gridCol w="1724353">
                  <a:extLst>
                    <a:ext uri="{9D8B030D-6E8A-4147-A177-3AD203B41FA5}">
                      <a16:colId xmlns:a16="http://schemas.microsoft.com/office/drawing/2014/main" val="1459118095"/>
                    </a:ext>
                  </a:extLst>
                </a:gridCol>
              </a:tblGrid>
              <a:tr h="20955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cs-CZ" sz="1200" b="1" i="0" u="none" strike="noStrike">
                          <a:effectLst/>
                          <a:latin typeface="Arial" panose="020B0604020202020204" pitchFamily="34" charset="0"/>
                        </a:rPr>
                        <a:t>Interrupt Sense Control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D9F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414622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i="0" u="none" strike="noStrike">
                          <a:effectLst/>
                          <a:latin typeface="Consolas" panose="020B0609020204030204" pitchFamily="49" charset="0"/>
                        </a:rPr>
                        <a:t>ISCx1</a:t>
                      </a:r>
                    </a:p>
                  </a:txBody>
                  <a:tcPr marL="0" marR="0" marT="0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i="0" u="none" strike="noStrike">
                          <a:effectLst/>
                          <a:latin typeface="Consolas" panose="020B0609020204030204" pitchFamily="49" charset="0"/>
                        </a:rPr>
                        <a:t>ISCx0</a:t>
                      </a:r>
                    </a:p>
                  </a:txBody>
                  <a:tcPr marL="0" marR="0" marT="0" marB="0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cs-CZ" sz="1000" b="1" i="0" u="none" strike="noStrike" dirty="0">
                          <a:effectLst/>
                          <a:latin typeface="Arial" panose="020B0604020202020204" pitchFamily="34" charset="0"/>
                        </a:rPr>
                        <a:t>Změna vnějšího signálu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27921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000" b="0" i="0" u="none" strike="noStrike">
                          <a:effectLst/>
                          <a:latin typeface="Arial" panose="020B0604020202020204" pitchFamily="34" charset="0"/>
                        </a:rPr>
                        <a:t>Nízká úroveň (log 0)</a:t>
                      </a:r>
                    </a:p>
                  </a:txBody>
                  <a:tcPr marL="11430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43386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000" b="0" i="0" u="none" strike="noStrike">
                          <a:effectLst/>
                          <a:latin typeface="Arial" panose="020B0604020202020204" pitchFamily="34" charset="0"/>
                        </a:rPr>
                        <a:t>Jakákoliv změna</a:t>
                      </a:r>
                    </a:p>
                  </a:txBody>
                  <a:tcPr marL="11430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524079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>
                          <a:effectLst/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000" b="0" i="0" u="none" strike="noStrike">
                          <a:effectLst/>
                          <a:latin typeface="Arial" panose="020B0604020202020204" pitchFamily="34" charset="0"/>
                        </a:rPr>
                        <a:t>Sestupná hrana</a:t>
                      </a:r>
                    </a:p>
                  </a:txBody>
                  <a:tcPr marL="11430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852760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cs-CZ" sz="1000" b="1" i="0" u="none" strike="noStrike">
                          <a:effectLst/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1000" b="0" i="0" u="none" strike="noStrike" dirty="0">
                          <a:effectLst/>
                          <a:latin typeface="Arial" panose="020B0604020202020204" pitchFamily="34" charset="0"/>
                        </a:rPr>
                        <a:t>Nástupná hrana</a:t>
                      </a:r>
                    </a:p>
                  </a:txBody>
                  <a:tcPr marL="114300" marR="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6055245"/>
                  </a:ext>
                </a:extLst>
              </a:tr>
            </a:tbl>
          </a:graphicData>
        </a:graphic>
      </p:graphicFrame>
      <p:cxnSp>
        <p:nvCxnSpPr>
          <p:cNvPr id="40" name="Přímá spojnice se šipkou 39"/>
          <p:cNvCxnSpPr>
            <a:stCxn id="38" idx="1"/>
          </p:cNvCxnSpPr>
          <p:nvPr/>
        </p:nvCxnSpPr>
        <p:spPr>
          <a:xfrm flipH="1">
            <a:off x="6030000" y="3064829"/>
            <a:ext cx="2357272" cy="904552"/>
          </a:xfrm>
          <a:prstGeom prst="straightConnector1">
            <a:avLst/>
          </a:prstGeom>
          <a:ln w="5715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Skupina 12"/>
          <p:cNvGrpSpPr/>
          <p:nvPr/>
        </p:nvGrpSpPr>
        <p:grpSpPr>
          <a:xfrm>
            <a:off x="4680000" y="1080000"/>
            <a:ext cx="4320000" cy="1692000"/>
            <a:chOff x="4680000" y="1080000"/>
            <a:chExt cx="4320000" cy="169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8694" name="Rectangle 42"/>
            <p:cNvSpPr>
              <a:spLocks noChangeArrowheads="1"/>
            </p:cNvSpPr>
            <p:nvPr/>
          </p:nvSpPr>
          <p:spPr bwMode="auto">
            <a:xfrm>
              <a:off x="4680005" y="1440002"/>
              <a:ext cx="540000" cy="9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ISC31</a:t>
              </a:r>
            </a:p>
          </p:txBody>
        </p:sp>
        <p:sp>
          <p:nvSpPr>
            <p:cNvPr id="28695" name="Rectangle 43"/>
            <p:cNvSpPr>
              <a:spLocks noChangeArrowheads="1"/>
            </p:cNvSpPr>
            <p:nvPr/>
          </p:nvSpPr>
          <p:spPr bwMode="auto">
            <a:xfrm>
              <a:off x="5220000" y="1440002"/>
              <a:ext cx="540000" cy="9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ISC30</a:t>
              </a:r>
            </a:p>
          </p:txBody>
        </p:sp>
        <p:sp>
          <p:nvSpPr>
            <p:cNvPr id="28696" name="Rectangle 44"/>
            <p:cNvSpPr>
              <a:spLocks noChangeArrowheads="1"/>
            </p:cNvSpPr>
            <p:nvPr/>
          </p:nvSpPr>
          <p:spPr bwMode="auto">
            <a:xfrm>
              <a:off x="5760000" y="1440002"/>
              <a:ext cx="540000" cy="90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ISC21</a:t>
              </a:r>
            </a:p>
          </p:txBody>
        </p:sp>
        <p:sp>
          <p:nvSpPr>
            <p:cNvPr id="28697" name="Rectangle 45"/>
            <p:cNvSpPr>
              <a:spLocks noChangeArrowheads="1"/>
            </p:cNvSpPr>
            <p:nvPr/>
          </p:nvSpPr>
          <p:spPr bwMode="auto">
            <a:xfrm>
              <a:off x="6300000" y="1440002"/>
              <a:ext cx="540000" cy="90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ISC20</a:t>
              </a:r>
            </a:p>
          </p:txBody>
        </p:sp>
        <p:sp>
          <p:nvSpPr>
            <p:cNvPr id="28698" name="Rectangle 46"/>
            <p:cNvSpPr>
              <a:spLocks noChangeArrowheads="1"/>
            </p:cNvSpPr>
            <p:nvPr/>
          </p:nvSpPr>
          <p:spPr bwMode="auto">
            <a:xfrm>
              <a:off x="6840000" y="1440002"/>
              <a:ext cx="540000" cy="9000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ISC11</a:t>
              </a:r>
            </a:p>
          </p:txBody>
        </p:sp>
        <p:sp>
          <p:nvSpPr>
            <p:cNvPr id="28699" name="Rectangle 47"/>
            <p:cNvSpPr>
              <a:spLocks noChangeArrowheads="1"/>
            </p:cNvSpPr>
            <p:nvPr/>
          </p:nvSpPr>
          <p:spPr bwMode="auto">
            <a:xfrm>
              <a:off x="7380000" y="1440002"/>
              <a:ext cx="540000" cy="9000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ISC10</a:t>
              </a:r>
            </a:p>
          </p:txBody>
        </p:sp>
        <p:sp>
          <p:nvSpPr>
            <p:cNvPr id="28700" name="Rectangle 48"/>
            <p:cNvSpPr>
              <a:spLocks noChangeArrowheads="1"/>
            </p:cNvSpPr>
            <p:nvPr/>
          </p:nvSpPr>
          <p:spPr bwMode="auto">
            <a:xfrm>
              <a:off x="7920000" y="1440002"/>
              <a:ext cx="540000" cy="900000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ISC01</a:t>
              </a:r>
            </a:p>
          </p:txBody>
        </p:sp>
        <p:sp>
          <p:nvSpPr>
            <p:cNvPr id="28701" name="Rectangle 49"/>
            <p:cNvSpPr>
              <a:spLocks noChangeArrowheads="1"/>
            </p:cNvSpPr>
            <p:nvPr/>
          </p:nvSpPr>
          <p:spPr bwMode="auto">
            <a:xfrm>
              <a:off x="8460000" y="1440002"/>
              <a:ext cx="540000" cy="900000"/>
            </a:xfrm>
            <a:prstGeom prst="rect">
              <a:avLst/>
            </a:prstGeom>
            <a:solidFill>
              <a:schemeClr val="accent5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ISC00</a:t>
              </a:r>
            </a:p>
          </p:txBody>
        </p:sp>
        <p:sp>
          <p:nvSpPr>
            <p:cNvPr id="33" name="Text Box 71"/>
            <p:cNvSpPr txBox="1">
              <a:spLocks noChangeArrowheads="1"/>
            </p:cNvSpPr>
            <p:nvPr/>
          </p:nvSpPr>
          <p:spPr bwMode="auto">
            <a:xfrm>
              <a:off x="4680000" y="1080000"/>
              <a:ext cx="1857388" cy="40011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r>
                <a:rPr lang="cs-CZ" dirty="0"/>
                <a:t>EICRA</a:t>
              </a:r>
            </a:p>
          </p:txBody>
        </p:sp>
        <p:sp>
          <p:nvSpPr>
            <p:cNvPr id="35" name="Obdélník 34"/>
            <p:cNvSpPr/>
            <p:nvPr/>
          </p:nvSpPr>
          <p:spPr>
            <a:xfrm>
              <a:off x="7920000" y="1440002"/>
              <a:ext cx="1080000" cy="9000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/>
            </a:p>
          </p:txBody>
        </p:sp>
        <p:sp>
          <p:nvSpPr>
            <p:cNvPr id="39" name="Text Box 71"/>
            <p:cNvSpPr txBox="1">
              <a:spLocks noChangeArrowheads="1"/>
            </p:cNvSpPr>
            <p:nvPr/>
          </p:nvSpPr>
          <p:spPr bwMode="auto">
            <a:xfrm>
              <a:off x="7920000" y="2376000"/>
              <a:ext cx="1080000" cy="396000"/>
            </a:xfrm>
            <a:prstGeom prst="rect">
              <a:avLst/>
            </a:prstGeom>
            <a:solidFill>
              <a:srgbClr val="FFFF00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pPr algn="ctr"/>
              <a:r>
                <a:rPr lang="cs-CZ" dirty="0"/>
                <a:t>INT0</a:t>
              </a:r>
            </a:p>
          </p:txBody>
        </p:sp>
        <p:sp>
          <p:nvSpPr>
            <p:cNvPr id="49" name="Text Box 71"/>
            <p:cNvSpPr txBox="1">
              <a:spLocks noChangeArrowheads="1"/>
            </p:cNvSpPr>
            <p:nvPr/>
          </p:nvSpPr>
          <p:spPr bwMode="auto">
            <a:xfrm>
              <a:off x="6840000" y="2376000"/>
              <a:ext cx="1080000" cy="396000"/>
            </a:xfrm>
            <a:prstGeom prst="rect">
              <a:avLst/>
            </a:prstGeom>
            <a:solidFill>
              <a:srgbClr val="FFFFCC"/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pPr algn="ctr"/>
              <a:r>
                <a:rPr lang="cs-CZ" dirty="0"/>
                <a:t>INT1</a:t>
              </a:r>
            </a:p>
          </p:txBody>
        </p:sp>
        <p:sp>
          <p:nvSpPr>
            <p:cNvPr id="50" name="Text Box 71"/>
            <p:cNvSpPr txBox="1">
              <a:spLocks noChangeArrowheads="1"/>
            </p:cNvSpPr>
            <p:nvPr/>
          </p:nvSpPr>
          <p:spPr bwMode="auto">
            <a:xfrm>
              <a:off x="5760000" y="2375380"/>
              <a:ext cx="1080000" cy="396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pPr algn="ctr"/>
              <a:r>
                <a:rPr lang="cs-CZ" dirty="0"/>
                <a:t>INT2</a:t>
              </a:r>
            </a:p>
          </p:txBody>
        </p:sp>
        <p:sp>
          <p:nvSpPr>
            <p:cNvPr id="51" name="Text Box 71"/>
            <p:cNvSpPr txBox="1">
              <a:spLocks noChangeArrowheads="1"/>
            </p:cNvSpPr>
            <p:nvPr/>
          </p:nvSpPr>
          <p:spPr bwMode="auto">
            <a:xfrm>
              <a:off x="4680000" y="2376000"/>
              <a:ext cx="1080000" cy="396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pPr algn="ctr"/>
              <a:r>
                <a:rPr lang="cs-CZ" dirty="0"/>
                <a:t>INT3</a:t>
              </a:r>
            </a:p>
          </p:txBody>
        </p:sp>
      </p:grpSp>
      <p:grpSp>
        <p:nvGrpSpPr>
          <p:cNvPr id="12" name="Skupina 11"/>
          <p:cNvGrpSpPr/>
          <p:nvPr/>
        </p:nvGrpSpPr>
        <p:grpSpPr>
          <a:xfrm>
            <a:off x="180000" y="1080000"/>
            <a:ext cx="4320000" cy="1696110"/>
            <a:chOff x="180000" y="1080000"/>
            <a:chExt cx="4320000" cy="169611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Rectangle 42"/>
            <p:cNvSpPr>
              <a:spLocks noChangeArrowheads="1"/>
            </p:cNvSpPr>
            <p:nvPr/>
          </p:nvSpPr>
          <p:spPr bwMode="auto">
            <a:xfrm>
              <a:off x="180002" y="1440002"/>
              <a:ext cx="540000" cy="9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ISC71</a:t>
              </a:r>
            </a:p>
          </p:txBody>
        </p:sp>
        <p:sp>
          <p:nvSpPr>
            <p:cNvPr id="24" name="Rectangle 43"/>
            <p:cNvSpPr>
              <a:spLocks noChangeArrowheads="1"/>
            </p:cNvSpPr>
            <p:nvPr/>
          </p:nvSpPr>
          <p:spPr bwMode="auto">
            <a:xfrm>
              <a:off x="720000" y="1440002"/>
              <a:ext cx="540000" cy="9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ISC70</a:t>
              </a:r>
            </a:p>
          </p:txBody>
        </p:sp>
        <p:sp>
          <p:nvSpPr>
            <p:cNvPr id="26" name="Rectangle 44"/>
            <p:cNvSpPr>
              <a:spLocks noChangeArrowheads="1"/>
            </p:cNvSpPr>
            <p:nvPr/>
          </p:nvSpPr>
          <p:spPr bwMode="auto">
            <a:xfrm>
              <a:off x="1260000" y="1440002"/>
              <a:ext cx="540000" cy="90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ISC61</a:t>
              </a:r>
            </a:p>
          </p:txBody>
        </p:sp>
        <p:sp>
          <p:nvSpPr>
            <p:cNvPr id="27" name="Rectangle 45"/>
            <p:cNvSpPr>
              <a:spLocks noChangeArrowheads="1"/>
            </p:cNvSpPr>
            <p:nvPr/>
          </p:nvSpPr>
          <p:spPr bwMode="auto">
            <a:xfrm>
              <a:off x="1800000" y="1440002"/>
              <a:ext cx="540000" cy="90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ISC60</a:t>
              </a:r>
            </a:p>
          </p:txBody>
        </p:sp>
        <p:sp>
          <p:nvSpPr>
            <p:cNvPr id="28" name="Rectangle 46"/>
            <p:cNvSpPr>
              <a:spLocks noChangeArrowheads="1"/>
            </p:cNvSpPr>
            <p:nvPr/>
          </p:nvSpPr>
          <p:spPr bwMode="auto">
            <a:xfrm>
              <a:off x="2340000" y="1440002"/>
              <a:ext cx="540000" cy="9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ISC51</a:t>
              </a:r>
            </a:p>
          </p:txBody>
        </p:sp>
        <p:sp>
          <p:nvSpPr>
            <p:cNvPr id="29" name="Rectangle 47"/>
            <p:cNvSpPr>
              <a:spLocks noChangeArrowheads="1"/>
            </p:cNvSpPr>
            <p:nvPr/>
          </p:nvSpPr>
          <p:spPr bwMode="auto">
            <a:xfrm>
              <a:off x="2880000" y="1440002"/>
              <a:ext cx="540000" cy="90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ISC50</a:t>
              </a:r>
            </a:p>
          </p:txBody>
        </p:sp>
        <p:sp>
          <p:nvSpPr>
            <p:cNvPr id="30" name="Rectangle 48"/>
            <p:cNvSpPr>
              <a:spLocks noChangeArrowheads="1"/>
            </p:cNvSpPr>
            <p:nvPr/>
          </p:nvSpPr>
          <p:spPr bwMode="auto">
            <a:xfrm>
              <a:off x="3420000" y="1440002"/>
              <a:ext cx="540000" cy="90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ISC41</a:t>
              </a:r>
            </a:p>
          </p:txBody>
        </p:sp>
        <p:sp>
          <p:nvSpPr>
            <p:cNvPr id="31" name="Rectangle 49"/>
            <p:cNvSpPr>
              <a:spLocks noChangeArrowheads="1"/>
            </p:cNvSpPr>
            <p:nvPr/>
          </p:nvSpPr>
          <p:spPr bwMode="auto">
            <a:xfrm>
              <a:off x="3924000" y="1440002"/>
              <a:ext cx="540000" cy="900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ISC40</a:t>
              </a:r>
            </a:p>
          </p:txBody>
        </p:sp>
        <p:sp>
          <p:nvSpPr>
            <p:cNvPr id="32" name="Text Box 71"/>
            <p:cNvSpPr txBox="1">
              <a:spLocks noChangeArrowheads="1"/>
            </p:cNvSpPr>
            <p:nvPr/>
          </p:nvSpPr>
          <p:spPr bwMode="auto">
            <a:xfrm>
              <a:off x="180000" y="1080000"/>
              <a:ext cx="1857388" cy="40011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r>
                <a:rPr lang="cs-CZ" dirty="0"/>
                <a:t>EICRB</a:t>
              </a:r>
            </a:p>
          </p:txBody>
        </p:sp>
        <p:sp>
          <p:nvSpPr>
            <p:cNvPr id="52" name="Text Box 71"/>
            <p:cNvSpPr txBox="1">
              <a:spLocks noChangeArrowheads="1"/>
            </p:cNvSpPr>
            <p:nvPr/>
          </p:nvSpPr>
          <p:spPr bwMode="auto">
            <a:xfrm>
              <a:off x="3420000" y="2376000"/>
              <a:ext cx="1080000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pPr algn="ctr"/>
              <a:r>
                <a:rPr lang="cs-CZ" dirty="0"/>
                <a:t>INT4</a:t>
              </a:r>
            </a:p>
          </p:txBody>
        </p:sp>
        <p:sp>
          <p:nvSpPr>
            <p:cNvPr id="53" name="Text Box 71"/>
            <p:cNvSpPr txBox="1">
              <a:spLocks noChangeArrowheads="1"/>
            </p:cNvSpPr>
            <p:nvPr/>
          </p:nvSpPr>
          <p:spPr bwMode="auto">
            <a:xfrm>
              <a:off x="2340000" y="2376000"/>
              <a:ext cx="1080000" cy="4001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pPr algn="ctr"/>
              <a:r>
                <a:rPr lang="cs-CZ" dirty="0"/>
                <a:t>INT5</a:t>
              </a:r>
            </a:p>
          </p:txBody>
        </p:sp>
        <p:sp>
          <p:nvSpPr>
            <p:cNvPr id="54" name="Text Box 71"/>
            <p:cNvSpPr txBox="1">
              <a:spLocks noChangeArrowheads="1"/>
            </p:cNvSpPr>
            <p:nvPr/>
          </p:nvSpPr>
          <p:spPr bwMode="auto">
            <a:xfrm>
              <a:off x="1260000" y="2376000"/>
              <a:ext cx="1080000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pPr algn="ctr"/>
              <a:r>
                <a:rPr lang="cs-CZ" dirty="0"/>
                <a:t>INT6</a:t>
              </a:r>
            </a:p>
          </p:txBody>
        </p:sp>
        <p:sp>
          <p:nvSpPr>
            <p:cNvPr id="55" name="Text Box 71"/>
            <p:cNvSpPr txBox="1">
              <a:spLocks noChangeArrowheads="1"/>
            </p:cNvSpPr>
            <p:nvPr/>
          </p:nvSpPr>
          <p:spPr bwMode="auto">
            <a:xfrm>
              <a:off x="180000" y="2376000"/>
              <a:ext cx="1080000" cy="4001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square">
              <a:spAutoFit/>
            </a:bodyPr>
            <a:lstStyle>
              <a:defPPr>
                <a:defRPr lang="en-US"/>
              </a:defPPr>
              <a:lvl1pPr>
                <a:spcBef>
                  <a:spcPct val="50000"/>
                </a:spcBef>
                <a:defRPr sz="2000">
                  <a:latin typeface="Consolas" panose="020B0609020204030204" pitchFamily="49" charset="0"/>
                  <a:cs typeface="Consolas" panose="020B0609020204030204" pitchFamily="49" charset="0"/>
                </a:defRPr>
              </a:lvl1pPr>
            </a:lstStyle>
            <a:p>
              <a:pPr algn="ctr"/>
              <a:r>
                <a:rPr lang="cs-CZ" dirty="0"/>
                <a:t>INT7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067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1" grpId="0" animBg="1"/>
      <p:bldP spid="42" grpId="0"/>
      <p:bldP spid="3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Registr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EIMSK</a:t>
            </a:r>
          </a:p>
        </p:txBody>
      </p:sp>
      <p:grpSp>
        <p:nvGrpSpPr>
          <p:cNvPr id="22" name="Group 41"/>
          <p:cNvGrpSpPr>
            <a:grpSpLocks/>
          </p:cNvGrpSpPr>
          <p:nvPr/>
        </p:nvGrpSpPr>
        <p:grpSpPr bwMode="auto">
          <a:xfrm>
            <a:off x="971602" y="1440002"/>
            <a:ext cx="4321290" cy="900000"/>
            <a:chOff x="407" y="2839"/>
            <a:chExt cx="2758" cy="228"/>
          </a:xfr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3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INT7</a:t>
              </a:r>
            </a:p>
          </p:txBody>
        </p:sp>
        <p:sp>
          <p:nvSpPr>
            <p:cNvPr id="24" name="Rectangle 43"/>
            <p:cNvSpPr>
              <a:spLocks noChangeArrowheads="1"/>
            </p:cNvSpPr>
            <p:nvPr/>
          </p:nvSpPr>
          <p:spPr bwMode="auto">
            <a:xfrm>
              <a:off x="752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INT6</a:t>
              </a:r>
            </a:p>
          </p:txBody>
        </p:sp>
        <p:sp>
          <p:nvSpPr>
            <p:cNvPr id="26" name="Rectangle 44"/>
            <p:cNvSpPr>
              <a:spLocks noChangeArrowheads="1"/>
            </p:cNvSpPr>
            <p:nvPr/>
          </p:nvSpPr>
          <p:spPr bwMode="auto">
            <a:xfrm>
              <a:off x="1096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INT5</a:t>
              </a:r>
            </a:p>
          </p:txBody>
        </p:sp>
        <p:sp>
          <p:nvSpPr>
            <p:cNvPr id="27" name="Rectangle 45"/>
            <p:cNvSpPr>
              <a:spLocks noChangeArrowheads="1"/>
            </p:cNvSpPr>
            <p:nvPr/>
          </p:nvSpPr>
          <p:spPr bwMode="auto">
            <a:xfrm>
              <a:off x="1441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INT4</a:t>
              </a:r>
            </a:p>
          </p:txBody>
        </p:sp>
        <p:sp>
          <p:nvSpPr>
            <p:cNvPr id="28" name="Rectangle 46"/>
            <p:cNvSpPr>
              <a:spLocks noChangeArrowheads="1"/>
            </p:cNvSpPr>
            <p:nvPr/>
          </p:nvSpPr>
          <p:spPr bwMode="auto">
            <a:xfrm>
              <a:off x="1786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INT3</a:t>
              </a:r>
            </a:p>
          </p:txBody>
        </p:sp>
        <p:sp>
          <p:nvSpPr>
            <p:cNvPr id="29" name="Rectangle 47"/>
            <p:cNvSpPr>
              <a:spLocks noChangeArrowheads="1"/>
            </p:cNvSpPr>
            <p:nvPr/>
          </p:nvSpPr>
          <p:spPr bwMode="auto">
            <a:xfrm>
              <a:off x="2130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INT2</a:t>
              </a:r>
            </a:p>
          </p:txBody>
        </p:sp>
        <p:sp>
          <p:nvSpPr>
            <p:cNvPr id="30" name="Rectangle 48"/>
            <p:cNvSpPr>
              <a:spLocks noChangeArrowheads="1"/>
            </p:cNvSpPr>
            <p:nvPr/>
          </p:nvSpPr>
          <p:spPr bwMode="auto">
            <a:xfrm>
              <a:off x="2475" y="2839"/>
              <a:ext cx="345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INT1</a:t>
              </a:r>
            </a:p>
          </p:txBody>
        </p:sp>
        <p:sp>
          <p:nvSpPr>
            <p:cNvPr id="31" name="Rectangle 49"/>
            <p:cNvSpPr>
              <a:spLocks noChangeArrowheads="1"/>
            </p:cNvSpPr>
            <p:nvPr/>
          </p:nvSpPr>
          <p:spPr bwMode="auto">
            <a:xfrm>
              <a:off x="2820" y="2839"/>
              <a:ext cx="345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INT0</a:t>
              </a:r>
            </a:p>
          </p:txBody>
        </p:sp>
      </p:grpSp>
      <p:sp>
        <p:nvSpPr>
          <p:cNvPr id="32" name="Text Box 71"/>
          <p:cNvSpPr txBox="1">
            <a:spLocks noChangeArrowheads="1"/>
          </p:cNvSpPr>
          <p:nvPr/>
        </p:nvSpPr>
        <p:spPr bwMode="auto">
          <a:xfrm>
            <a:off x="971600" y="10800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EIMSK</a:t>
            </a:r>
          </a:p>
        </p:txBody>
      </p:sp>
      <p:cxnSp>
        <p:nvCxnSpPr>
          <p:cNvPr id="293937" name="Pravoúhlá spojnice 293936"/>
          <p:cNvCxnSpPr>
            <a:stCxn id="31" idx="2"/>
            <a:endCxn id="42" idx="0"/>
          </p:cNvCxnSpPr>
          <p:nvPr/>
        </p:nvCxnSpPr>
        <p:spPr>
          <a:xfrm rot="16200000" flipH="1">
            <a:off x="4758636" y="2603981"/>
            <a:ext cx="1593054" cy="1065095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2"/>
          <p:cNvSpPr>
            <a:spLocks noChangeArrowheads="1"/>
          </p:cNvSpPr>
          <p:nvPr/>
        </p:nvSpPr>
        <p:spPr bwMode="auto">
          <a:xfrm>
            <a:off x="4579085" y="3933056"/>
            <a:ext cx="3017251" cy="10156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buClr>
                <a:schemeClr val="bg2"/>
              </a:buClr>
              <a:buSzPct val="100000"/>
              <a:defRPr/>
            </a:pP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1 </a:t>
            </a:r>
            <a:r>
              <a:rPr lang="cs-CZ" sz="2000" b="0" dirty="0">
                <a:latin typeface="Verdana" panose="020B0604030504040204" pitchFamily="34" charset="0"/>
                <a:ea typeface="Verdana" panose="020B0604030504040204" pitchFamily="34" charset="0"/>
                <a:cs typeface="Consolas" panose="020B0609020204030204" pitchFamily="49" charset="0"/>
              </a:rPr>
              <a:t>– povolení přerušení na vstupu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INT0</a:t>
            </a:r>
            <a:endParaRPr lang="cs-CZ" sz="2000" b="0" dirty="0">
              <a:latin typeface="Verdana" pitchFamily="34" charset="0"/>
            </a:endParaRP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4" name="TextovéPole 33">
            <a:extLst>
              <a:ext uri="{FF2B5EF4-FFF2-40B4-BE49-F238E27FC236}">
                <a16:creationId xmlns:a16="http://schemas.microsoft.com/office/drawing/2014/main" id="{817D623B-A3BB-4349-8BE4-AC12FFD8FBA4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796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3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2" grpId="0" animBg="1"/>
      <p:bldP spid="19" grpId="0" animBg="1"/>
      <p:bldP spid="2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63068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Vstupy externího přerušení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</a:endParaRP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1" name="Tlačítko akce: Vlastní 20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5" name="Tlačítko akce: Vlastní 24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3" name="Tlačítko akce: Vlastní 32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4" name="TextovéPole 33">
            <a:extLst>
              <a:ext uri="{FF2B5EF4-FFF2-40B4-BE49-F238E27FC236}">
                <a16:creationId xmlns:a16="http://schemas.microsoft.com/office/drawing/2014/main" id="{01303FF1-A3D1-42E5-900C-8DE5FE49ABF4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grpSp>
        <p:nvGrpSpPr>
          <p:cNvPr id="35" name="Group 41"/>
          <p:cNvGrpSpPr>
            <a:grpSpLocks/>
          </p:cNvGrpSpPr>
          <p:nvPr/>
        </p:nvGrpSpPr>
        <p:grpSpPr bwMode="auto">
          <a:xfrm>
            <a:off x="971602" y="1440002"/>
            <a:ext cx="4321290" cy="900000"/>
            <a:chOff x="407" y="2839"/>
            <a:chExt cx="2758" cy="228"/>
          </a:xfr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>
              <a:off x="752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" name="Rectangle 44"/>
            <p:cNvSpPr>
              <a:spLocks noChangeArrowheads="1"/>
            </p:cNvSpPr>
            <p:nvPr/>
          </p:nvSpPr>
          <p:spPr bwMode="auto">
            <a:xfrm>
              <a:off x="1096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1441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1786" y="2839"/>
              <a:ext cx="345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INT3</a:t>
              </a:r>
            </a:p>
          </p:txBody>
        </p:sp>
        <p:sp>
          <p:nvSpPr>
            <p:cNvPr id="41" name="Rectangle 47"/>
            <p:cNvSpPr>
              <a:spLocks noChangeArrowheads="1"/>
            </p:cNvSpPr>
            <p:nvPr/>
          </p:nvSpPr>
          <p:spPr bwMode="auto">
            <a:xfrm>
              <a:off x="2130" y="2839"/>
              <a:ext cx="345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INT2</a:t>
              </a:r>
            </a:p>
          </p:txBody>
        </p:sp>
        <p:sp>
          <p:nvSpPr>
            <p:cNvPr id="43" name="Rectangle 48"/>
            <p:cNvSpPr>
              <a:spLocks noChangeArrowheads="1"/>
            </p:cNvSpPr>
            <p:nvPr/>
          </p:nvSpPr>
          <p:spPr bwMode="auto">
            <a:xfrm>
              <a:off x="2475" y="2839"/>
              <a:ext cx="345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INT1</a:t>
              </a:r>
            </a:p>
          </p:txBody>
        </p:sp>
        <p:sp>
          <p:nvSpPr>
            <p:cNvPr id="45" name="Rectangle 49"/>
            <p:cNvSpPr>
              <a:spLocks noChangeArrowheads="1"/>
            </p:cNvSpPr>
            <p:nvPr/>
          </p:nvSpPr>
          <p:spPr bwMode="auto">
            <a:xfrm>
              <a:off x="2820" y="2839"/>
              <a:ext cx="345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INT0</a:t>
              </a:r>
            </a:p>
          </p:txBody>
        </p:sp>
      </p:grpSp>
      <p:sp>
        <p:nvSpPr>
          <p:cNvPr id="46" name="Text Box 71"/>
          <p:cNvSpPr txBox="1">
            <a:spLocks noChangeArrowheads="1"/>
          </p:cNvSpPr>
          <p:nvPr/>
        </p:nvSpPr>
        <p:spPr bwMode="auto">
          <a:xfrm>
            <a:off x="971600" y="1080000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PORT D</a:t>
            </a:r>
          </a:p>
        </p:txBody>
      </p:sp>
      <p:grpSp>
        <p:nvGrpSpPr>
          <p:cNvPr id="51" name="Group 41"/>
          <p:cNvGrpSpPr>
            <a:grpSpLocks/>
          </p:cNvGrpSpPr>
          <p:nvPr/>
        </p:nvGrpSpPr>
        <p:grpSpPr bwMode="auto">
          <a:xfrm>
            <a:off x="971602" y="2838324"/>
            <a:ext cx="4321290" cy="900000"/>
            <a:chOff x="407" y="2839"/>
            <a:chExt cx="2758" cy="228"/>
          </a:xfrm>
          <a:solidFill>
            <a:srgbClr val="92D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2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45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INT7</a:t>
              </a:r>
            </a:p>
          </p:txBody>
        </p:sp>
        <p:sp>
          <p:nvSpPr>
            <p:cNvPr id="53" name="Rectangle 43"/>
            <p:cNvSpPr>
              <a:spLocks noChangeArrowheads="1"/>
            </p:cNvSpPr>
            <p:nvPr/>
          </p:nvSpPr>
          <p:spPr bwMode="auto">
            <a:xfrm>
              <a:off x="752" y="2839"/>
              <a:ext cx="345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INT6</a:t>
              </a:r>
            </a:p>
          </p:txBody>
        </p:sp>
        <p:sp>
          <p:nvSpPr>
            <p:cNvPr id="54" name="Rectangle 44"/>
            <p:cNvSpPr>
              <a:spLocks noChangeArrowheads="1"/>
            </p:cNvSpPr>
            <p:nvPr/>
          </p:nvSpPr>
          <p:spPr bwMode="auto">
            <a:xfrm>
              <a:off x="1096" y="2839"/>
              <a:ext cx="345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INT5</a:t>
              </a:r>
            </a:p>
          </p:txBody>
        </p:sp>
        <p:sp>
          <p:nvSpPr>
            <p:cNvPr id="56" name="Rectangle 45"/>
            <p:cNvSpPr>
              <a:spLocks noChangeArrowheads="1"/>
            </p:cNvSpPr>
            <p:nvPr/>
          </p:nvSpPr>
          <p:spPr bwMode="auto">
            <a:xfrm>
              <a:off x="1441" y="2839"/>
              <a:ext cx="345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r>
                <a:rPr lang="cs-CZ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INT4</a:t>
              </a:r>
            </a:p>
          </p:txBody>
        </p:sp>
        <p:sp>
          <p:nvSpPr>
            <p:cNvPr id="57" name="Rectangle 46"/>
            <p:cNvSpPr>
              <a:spLocks noChangeArrowheads="1"/>
            </p:cNvSpPr>
            <p:nvPr/>
          </p:nvSpPr>
          <p:spPr bwMode="auto">
            <a:xfrm>
              <a:off x="1786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8" name="Rectangle 47"/>
            <p:cNvSpPr>
              <a:spLocks noChangeArrowheads="1"/>
            </p:cNvSpPr>
            <p:nvPr/>
          </p:nvSpPr>
          <p:spPr bwMode="auto">
            <a:xfrm>
              <a:off x="2130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9" name="Rectangle 48"/>
            <p:cNvSpPr>
              <a:spLocks noChangeArrowheads="1"/>
            </p:cNvSpPr>
            <p:nvPr/>
          </p:nvSpPr>
          <p:spPr bwMode="auto">
            <a:xfrm>
              <a:off x="2475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0" name="Rectangle 49"/>
            <p:cNvSpPr>
              <a:spLocks noChangeArrowheads="1"/>
            </p:cNvSpPr>
            <p:nvPr/>
          </p:nvSpPr>
          <p:spPr bwMode="auto">
            <a:xfrm>
              <a:off x="2820" y="2839"/>
              <a:ext cx="345" cy="22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vert270" wrap="none" lIns="90000" tIns="46800" rIns="90000" bIns="46800" anchor="ctr"/>
            <a:lstStyle/>
            <a:p>
              <a:pPr algn="ctr" eaLnBrk="1" hangingPunct="1"/>
              <a:endParaRPr lang="cs-CZ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61" name="Text Box 71"/>
          <p:cNvSpPr txBox="1">
            <a:spLocks noChangeArrowheads="1"/>
          </p:cNvSpPr>
          <p:nvPr/>
        </p:nvSpPr>
        <p:spPr bwMode="auto">
          <a:xfrm>
            <a:off x="971600" y="2478322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PORT E</a:t>
            </a:r>
          </a:p>
        </p:txBody>
      </p:sp>
    </p:spTree>
    <p:extLst>
      <p:ext uri="{BB962C8B-B14F-4D97-AF65-F5344CB8AC3E}">
        <p14:creationId xmlns:p14="http://schemas.microsoft.com/office/powerpoint/2010/main" val="2021201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46" grpId="0"/>
      <p:bldP spid="6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10" y="288006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Nastavení registru </a:t>
            </a: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nsolas" panose="020B0609020204030204" pitchFamily="49" charset="0"/>
              </a:rPr>
              <a:t>EICRA</a:t>
            </a:r>
            <a:endParaRPr lang="cs-CZ" sz="4000" b="1" dirty="0">
              <a:effectLst>
                <a:outerShdw blurRad="38100" dist="38100" dir="2700000" algn="tl">
                  <a:srgbClr val="C0C0C0"/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42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3" name="Tlačítko akce: Vlastní 42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44" name="Tlačítko akce: Vlastní 43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45" name="Tlačítko akce: Vlastní 44">
            <a:hlinkClick r:id="rId3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48" name="TextovéPole 47">
            <a:extLst>
              <a:ext uri="{FF2B5EF4-FFF2-40B4-BE49-F238E27FC236}">
                <a16:creationId xmlns:a16="http://schemas.microsoft.com/office/drawing/2014/main" id="{53FD8BC0-20A7-4581-A939-B88D6337EBB4}"/>
              </a:ext>
            </a:extLst>
          </p:cNvPr>
          <p:cNvSpPr txBox="1"/>
          <p:nvPr/>
        </p:nvSpPr>
        <p:spPr>
          <a:xfrm>
            <a:off x="7668344" y="188640"/>
            <a:ext cx="1224138" cy="92333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cs-CZ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ebdings"/>
              </a:rPr>
              <a:t>PL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28694" name="Rectangle 42"/>
          <p:cNvSpPr>
            <a:spLocks noChangeArrowheads="1"/>
          </p:cNvSpPr>
          <p:nvPr/>
        </p:nvSpPr>
        <p:spPr bwMode="auto">
          <a:xfrm>
            <a:off x="972085" y="1504345"/>
            <a:ext cx="540000" cy="900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ISC31</a:t>
            </a:r>
          </a:p>
        </p:txBody>
      </p:sp>
      <p:sp>
        <p:nvSpPr>
          <p:cNvPr id="28695" name="Rectangle 43"/>
          <p:cNvSpPr>
            <a:spLocks noChangeArrowheads="1"/>
          </p:cNvSpPr>
          <p:nvPr/>
        </p:nvSpPr>
        <p:spPr bwMode="auto">
          <a:xfrm>
            <a:off x="1512080" y="1504345"/>
            <a:ext cx="540000" cy="90000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ISC30</a:t>
            </a:r>
          </a:p>
        </p:txBody>
      </p:sp>
      <p:sp>
        <p:nvSpPr>
          <p:cNvPr id="28696" name="Rectangle 44"/>
          <p:cNvSpPr>
            <a:spLocks noChangeArrowheads="1"/>
          </p:cNvSpPr>
          <p:nvPr/>
        </p:nvSpPr>
        <p:spPr bwMode="auto">
          <a:xfrm>
            <a:off x="2052080" y="1504345"/>
            <a:ext cx="540000" cy="9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ISC21</a:t>
            </a:r>
          </a:p>
        </p:txBody>
      </p:sp>
      <p:sp>
        <p:nvSpPr>
          <p:cNvPr id="28697" name="Rectangle 45"/>
          <p:cNvSpPr>
            <a:spLocks noChangeArrowheads="1"/>
          </p:cNvSpPr>
          <p:nvPr/>
        </p:nvSpPr>
        <p:spPr bwMode="auto">
          <a:xfrm>
            <a:off x="2592080" y="1504345"/>
            <a:ext cx="540000" cy="9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ISC20</a:t>
            </a:r>
          </a:p>
        </p:txBody>
      </p:sp>
      <p:sp>
        <p:nvSpPr>
          <p:cNvPr id="28698" name="Rectangle 46"/>
          <p:cNvSpPr>
            <a:spLocks noChangeArrowheads="1"/>
          </p:cNvSpPr>
          <p:nvPr/>
        </p:nvSpPr>
        <p:spPr bwMode="auto">
          <a:xfrm>
            <a:off x="3132080" y="1504345"/>
            <a:ext cx="540000" cy="90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ISC11</a:t>
            </a:r>
          </a:p>
        </p:txBody>
      </p:sp>
      <p:sp>
        <p:nvSpPr>
          <p:cNvPr id="28699" name="Rectangle 47"/>
          <p:cNvSpPr>
            <a:spLocks noChangeArrowheads="1"/>
          </p:cNvSpPr>
          <p:nvPr/>
        </p:nvSpPr>
        <p:spPr bwMode="auto">
          <a:xfrm>
            <a:off x="3672080" y="1504345"/>
            <a:ext cx="540000" cy="900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r>
              <a:rPr lang="cs-CZ" sz="1600" dirty="0">
                <a:latin typeface="Consolas" panose="020B0609020204030204" pitchFamily="49" charset="0"/>
                <a:cs typeface="Consolas" panose="020B0609020204030204" pitchFamily="49" charset="0"/>
              </a:rPr>
              <a:t>ISC10</a:t>
            </a:r>
          </a:p>
        </p:txBody>
      </p:sp>
      <p:sp>
        <p:nvSpPr>
          <p:cNvPr id="28700" name="Rectangle 48"/>
          <p:cNvSpPr>
            <a:spLocks noChangeArrowheads="1"/>
          </p:cNvSpPr>
          <p:nvPr/>
        </p:nvSpPr>
        <p:spPr bwMode="auto">
          <a:xfrm>
            <a:off x="4212080" y="1504345"/>
            <a:ext cx="540000" cy="900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r>
              <a:rPr lang="cs-CZ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ISC01</a:t>
            </a:r>
          </a:p>
        </p:txBody>
      </p:sp>
      <p:sp>
        <p:nvSpPr>
          <p:cNvPr id="28701" name="Rectangle 49"/>
          <p:cNvSpPr>
            <a:spLocks noChangeArrowheads="1"/>
          </p:cNvSpPr>
          <p:nvPr/>
        </p:nvSpPr>
        <p:spPr bwMode="auto">
          <a:xfrm>
            <a:off x="4752080" y="1504345"/>
            <a:ext cx="540000" cy="9000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r>
              <a:rPr lang="cs-CZ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ISC00</a:t>
            </a:r>
          </a:p>
        </p:txBody>
      </p:sp>
      <p:sp>
        <p:nvSpPr>
          <p:cNvPr id="33" name="Text Box 71"/>
          <p:cNvSpPr txBox="1">
            <a:spLocks noChangeArrowheads="1"/>
          </p:cNvSpPr>
          <p:nvPr/>
        </p:nvSpPr>
        <p:spPr bwMode="auto">
          <a:xfrm>
            <a:off x="972080" y="1144343"/>
            <a:ext cx="1857388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r>
              <a:rPr lang="cs-CZ" dirty="0"/>
              <a:t>EICRA</a:t>
            </a:r>
          </a:p>
        </p:txBody>
      </p:sp>
      <p:sp>
        <p:nvSpPr>
          <p:cNvPr id="35" name="Obdélník 34"/>
          <p:cNvSpPr/>
          <p:nvPr/>
        </p:nvSpPr>
        <p:spPr>
          <a:xfrm>
            <a:off x="4212080" y="1504345"/>
            <a:ext cx="1080000" cy="900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9" name="Text Box 71"/>
          <p:cNvSpPr txBox="1">
            <a:spLocks noChangeArrowheads="1"/>
          </p:cNvSpPr>
          <p:nvPr/>
        </p:nvSpPr>
        <p:spPr bwMode="auto">
          <a:xfrm>
            <a:off x="4212080" y="2440343"/>
            <a:ext cx="1080000" cy="396000"/>
          </a:xfrm>
          <a:prstGeom prst="rect">
            <a:avLst/>
          </a:prstGeom>
          <a:solidFill>
            <a:srgbClr val="FFFF00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dirty="0"/>
              <a:t>INT0</a:t>
            </a:r>
          </a:p>
        </p:txBody>
      </p:sp>
      <p:sp>
        <p:nvSpPr>
          <p:cNvPr id="49" name="Text Box 71"/>
          <p:cNvSpPr txBox="1">
            <a:spLocks noChangeArrowheads="1"/>
          </p:cNvSpPr>
          <p:nvPr/>
        </p:nvSpPr>
        <p:spPr bwMode="auto">
          <a:xfrm>
            <a:off x="3132080" y="2440343"/>
            <a:ext cx="1080000" cy="396000"/>
          </a:xfrm>
          <a:prstGeom prst="rect">
            <a:avLst/>
          </a:prstGeom>
          <a:solidFill>
            <a:srgbClr val="FFFFCC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dirty="0"/>
              <a:t>INT1</a:t>
            </a:r>
          </a:p>
        </p:txBody>
      </p:sp>
      <p:sp>
        <p:nvSpPr>
          <p:cNvPr id="50" name="Text Box 71"/>
          <p:cNvSpPr txBox="1">
            <a:spLocks noChangeArrowheads="1"/>
          </p:cNvSpPr>
          <p:nvPr/>
        </p:nvSpPr>
        <p:spPr bwMode="auto">
          <a:xfrm>
            <a:off x="2052080" y="2439723"/>
            <a:ext cx="1080000" cy="396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dirty="0"/>
              <a:t>INT2</a:t>
            </a:r>
          </a:p>
        </p:txBody>
      </p:sp>
      <p:sp>
        <p:nvSpPr>
          <p:cNvPr id="51" name="Text Box 71"/>
          <p:cNvSpPr txBox="1">
            <a:spLocks noChangeArrowheads="1"/>
          </p:cNvSpPr>
          <p:nvPr/>
        </p:nvSpPr>
        <p:spPr bwMode="auto">
          <a:xfrm>
            <a:off x="972080" y="2440343"/>
            <a:ext cx="1080000" cy="396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</a:lstStyle>
          <a:p>
            <a:pPr algn="ctr"/>
            <a:r>
              <a:rPr lang="cs-CZ" dirty="0"/>
              <a:t>INT3</a:t>
            </a:r>
          </a:p>
        </p:txBody>
      </p:sp>
      <p:sp>
        <p:nvSpPr>
          <p:cNvPr id="46" name="Rectangle 42"/>
          <p:cNvSpPr>
            <a:spLocks noChangeArrowheads="1"/>
          </p:cNvSpPr>
          <p:nvPr/>
        </p:nvSpPr>
        <p:spPr bwMode="auto">
          <a:xfrm>
            <a:off x="972080" y="2876113"/>
            <a:ext cx="540000" cy="90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endParaRPr lang="cs-CZ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7" name="Rectangle 43"/>
          <p:cNvSpPr>
            <a:spLocks noChangeArrowheads="1"/>
          </p:cNvSpPr>
          <p:nvPr/>
        </p:nvSpPr>
        <p:spPr bwMode="auto">
          <a:xfrm>
            <a:off x="1512075" y="2876113"/>
            <a:ext cx="540000" cy="90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endParaRPr lang="cs-CZ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6" name="Rectangle 44"/>
          <p:cNvSpPr>
            <a:spLocks noChangeArrowheads="1"/>
          </p:cNvSpPr>
          <p:nvPr/>
        </p:nvSpPr>
        <p:spPr bwMode="auto">
          <a:xfrm>
            <a:off x="2052075" y="2876113"/>
            <a:ext cx="540000" cy="90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endParaRPr lang="cs-CZ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7" name="Rectangle 45"/>
          <p:cNvSpPr>
            <a:spLocks noChangeArrowheads="1"/>
          </p:cNvSpPr>
          <p:nvPr/>
        </p:nvSpPr>
        <p:spPr bwMode="auto">
          <a:xfrm>
            <a:off x="2592075" y="2876113"/>
            <a:ext cx="540000" cy="90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endParaRPr lang="cs-CZ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8" name="Rectangle 46"/>
          <p:cNvSpPr>
            <a:spLocks noChangeArrowheads="1"/>
          </p:cNvSpPr>
          <p:nvPr/>
        </p:nvSpPr>
        <p:spPr bwMode="auto">
          <a:xfrm>
            <a:off x="3132075" y="2876113"/>
            <a:ext cx="540000" cy="90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endParaRPr lang="cs-CZ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9" name="Rectangle 47"/>
          <p:cNvSpPr>
            <a:spLocks noChangeArrowheads="1"/>
          </p:cNvSpPr>
          <p:nvPr/>
        </p:nvSpPr>
        <p:spPr bwMode="auto">
          <a:xfrm>
            <a:off x="3672075" y="2876113"/>
            <a:ext cx="540000" cy="90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endParaRPr lang="cs-CZ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0" name="Rectangle 48"/>
          <p:cNvSpPr>
            <a:spLocks noChangeArrowheads="1"/>
          </p:cNvSpPr>
          <p:nvPr/>
        </p:nvSpPr>
        <p:spPr bwMode="auto">
          <a:xfrm>
            <a:off x="4212075" y="2876113"/>
            <a:ext cx="540000" cy="90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endParaRPr lang="cs-CZ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1" name="Rectangle 49"/>
          <p:cNvSpPr>
            <a:spLocks noChangeArrowheads="1"/>
          </p:cNvSpPr>
          <p:nvPr/>
        </p:nvSpPr>
        <p:spPr bwMode="auto">
          <a:xfrm>
            <a:off x="4752075" y="2876113"/>
            <a:ext cx="540000" cy="90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vert270" wrap="none" lIns="90000" tIns="46800" rIns="90000" bIns="46800" anchor="ctr"/>
          <a:lstStyle/>
          <a:p>
            <a:pPr algn="ctr" eaLnBrk="1" hangingPunct="1"/>
            <a:endParaRPr lang="cs-CZ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42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85804" y="351546"/>
            <a:ext cx="8229600" cy="720000"/>
          </a:xfrm>
          <a:noFill/>
        </p:spPr>
        <p:txBody>
          <a:bodyPr>
            <a:normAutofit/>
          </a:bodyPr>
          <a:lstStyle/>
          <a:p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Konec</a:t>
            </a:r>
          </a:p>
        </p:txBody>
      </p:sp>
      <p:sp>
        <p:nvSpPr>
          <p:cNvPr id="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7" name="Tlačítko akce: Vlastní 6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482754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1" y="1080005"/>
            <a:ext cx="6156216" cy="5227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4" y="288006"/>
            <a:ext cx="8928536" cy="720000"/>
          </a:xfrm>
        </p:spPr>
        <p:txBody>
          <a:bodyPr/>
          <a:lstStyle/>
          <a:p>
            <a:pPr>
              <a:defRPr/>
            </a:pPr>
            <a:r>
              <a:rPr lang="cs-CZ" sz="28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Umístění adres přerušení v paměti programu</a:t>
            </a:r>
          </a:p>
        </p:txBody>
      </p:sp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5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7">
            <a:hlinkClick r:id="rId4" action="ppaction://hlinksldjump" highlightClick="1"/>
          </p:cNvPr>
          <p:cNvSpPr/>
          <p:nvPr/>
        </p:nvSpPr>
        <p:spPr>
          <a:xfrm>
            <a:off x="7920005" y="6300006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293256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theme/theme1.xml><?xml version="1.0" encoding="utf-8"?>
<a:theme xmlns:a="http://schemas.openxmlformats.org/drawingml/2006/main" name="Pixel">
  <a:themeElements>
    <a:clrScheme name="MI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666699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algn="r" rtl="0" fontAlgn="base">
          <a:spcBef>
            <a:spcPct val="0"/>
          </a:spcBef>
          <a:spcAft>
            <a:spcPct val="0"/>
          </a:spcAft>
          <a:defRPr sz="2400" b="1" dirty="0">
            <a:solidFill>
              <a:srgbClr val="000000"/>
            </a:solidFill>
            <a:latin typeface="Arial"/>
            <a:ea typeface="+mn-ea"/>
            <a:cs typeface="+mn-cs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41132</TotalTime>
  <Words>1268</Words>
  <Application>Microsoft Office PowerPoint</Application>
  <PresentationFormat>Předvádění na obrazovce (4:3)</PresentationFormat>
  <Paragraphs>402</Paragraphs>
  <Slides>29</Slides>
  <Notes>28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29</vt:i4>
      </vt:variant>
    </vt:vector>
  </HeadingPairs>
  <TitlesOfParts>
    <vt:vector size="36" baseType="lpstr">
      <vt:lpstr>Arial</vt:lpstr>
      <vt:lpstr>Arial Black</vt:lpstr>
      <vt:lpstr>Consolas</vt:lpstr>
      <vt:lpstr>Times New Roman</vt:lpstr>
      <vt:lpstr>Verdana</vt:lpstr>
      <vt:lpstr>Wingdings</vt:lpstr>
      <vt:lpstr>Pixel</vt:lpstr>
      <vt:lpstr>MIT AVR přerušení</vt:lpstr>
      <vt:lpstr>Mikroprocesorová technika</vt:lpstr>
      <vt:lpstr>Index</vt:lpstr>
      <vt:lpstr>Zdroje</vt:lpstr>
      <vt:lpstr>AVR Přerušení</vt:lpstr>
      <vt:lpstr>Reset</vt:lpstr>
      <vt:lpstr>Zdroje resetu</vt:lpstr>
      <vt:lpstr>Přerušení</vt:lpstr>
      <vt:lpstr>Řešení</vt:lpstr>
      <vt:lpstr>Signály vzniku přerušení</vt:lpstr>
      <vt:lpstr>Jak použít přerušení</vt:lpstr>
      <vt:lpstr>Jak použít přerušení</vt:lpstr>
      <vt:lpstr>Jak použít přerušení</vt:lpstr>
      <vt:lpstr>Přerušení v jazyce C</vt:lpstr>
      <vt:lpstr>Příklad přerušení v jazyce C</vt:lpstr>
      <vt:lpstr>Příklad přerušení v jazyce C</vt:lpstr>
      <vt:lpstr>Příklad přerušení v jazyce ASM</vt:lpstr>
      <vt:lpstr>Postup „Hlavní program“</vt:lpstr>
      <vt:lpstr>Postup „Obslužný program“</vt:lpstr>
      <vt:lpstr>Příklad přerušení ASM</vt:lpstr>
      <vt:lpstr>Příklad přerušení ASM</vt:lpstr>
      <vt:lpstr>Vnější přerušení EINT</vt:lpstr>
      <vt:lpstr>Přerušení vnějším signálem</vt:lpstr>
      <vt:lpstr>Nastavení režimů EINT</vt:lpstr>
      <vt:lpstr>Registr EIMSK</vt:lpstr>
      <vt:lpstr>Vstupy externího přerušení</vt:lpstr>
      <vt:lpstr>Nastavení registru EICRA</vt:lpstr>
      <vt:lpstr>Konec</vt:lpstr>
      <vt:lpstr>Umístění adres přerušení v paměti programu</vt:lpstr>
    </vt:vector>
  </TitlesOfParts>
  <Company>SPŠEI Frenštát p.R.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Přerušení</dc:title>
  <dc:subject>MIT</dc:subject>
  <dc:creator>Juránek Leoš Ing.</dc:creator>
  <cp:lastModifiedBy>Petr Juránek</cp:lastModifiedBy>
  <cp:revision>987</cp:revision>
  <cp:lastPrinted>2018-05-17T13:26:12Z</cp:lastPrinted>
  <dcterms:created xsi:type="dcterms:W3CDTF">2001-09-22T14:04:06Z</dcterms:created>
  <dcterms:modified xsi:type="dcterms:W3CDTF">2024-05-23T08:57:51Z</dcterms:modified>
</cp:coreProperties>
</file>