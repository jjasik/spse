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3" r:id="rId1"/>
    <p:sldMasterId id="2147483679" r:id="rId2"/>
    <p:sldMasterId id="2147483695" r:id="rId3"/>
  </p:sldMasterIdLst>
  <p:notesMasterIdLst>
    <p:notesMasterId r:id="rId77"/>
  </p:notesMasterIdLst>
  <p:handoutMasterIdLst>
    <p:handoutMasterId r:id="rId78"/>
  </p:handoutMasterIdLst>
  <p:sldIdLst>
    <p:sldId id="364" r:id="rId4"/>
    <p:sldId id="379" r:id="rId5"/>
    <p:sldId id="390" r:id="rId6"/>
    <p:sldId id="381" r:id="rId7"/>
    <p:sldId id="382" r:id="rId8"/>
    <p:sldId id="527" r:id="rId9"/>
    <p:sldId id="509" r:id="rId10"/>
    <p:sldId id="528" r:id="rId11"/>
    <p:sldId id="529" r:id="rId12"/>
    <p:sldId id="510" r:id="rId13"/>
    <p:sldId id="567" r:id="rId14"/>
    <p:sldId id="568" r:id="rId15"/>
    <p:sldId id="512" r:id="rId16"/>
    <p:sldId id="542" r:id="rId17"/>
    <p:sldId id="514" r:id="rId18"/>
    <p:sldId id="515" r:id="rId19"/>
    <p:sldId id="516" r:id="rId20"/>
    <p:sldId id="517" r:id="rId21"/>
    <p:sldId id="538" r:id="rId22"/>
    <p:sldId id="518" r:id="rId23"/>
    <p:sldId id="519" r:id="rId24"/>
    <p:sldId id="533" r:id="rId25"/>
    <p:sldId id="539" r:id="rId26"/>
    <p:sldId id="534" r:id="rId27"/>
    <p:sldId id="535" r:id="rId28"/>
    <p:sldId id="520" r:id="rId29"/>
    <p:sldId id="521" r:id="rId30"/>
    <p:sldId id="522" r:id="rId31"/>
    <p:sldId id="565" r:id="rId32"/>
    <p:sldId id="524" r:id="rId33"/>
    <p:sldId id="523" r:id="rId34"/>
    <p:sldId id="536" r:id="rId35"/>
    <p:sldId id="526" r:id="rId36"/>
    <p:sldId id="558" r:id="rId37"/>
    <p:sldId id="537" r:id="rId38"/>
    <p:sldId id="553" r:id="rId39"/>
    <p:sldId id="554" r:id="rId40"/>
    <p:sldId id="532" r:id="rId41"/>
    <p:sldId id="443" r:id="rId42"/>
    <p:sldId id="434" r:id="rId43"/>
    <p:sldId id="439" r:id="rId44"/>
    <p:sldId id="401" r:id="rId45"/>
    <p:sldId id="402" r:id="rId46"/>
    <p:sldId id="432" r:id="rId47"/>
    <p:sldId id="531" r:id="rId48"/>
    <p:sldId id="559" r:id="rId49"/>
    <p:sldId id="560" r:id="rId50"/>
    <p:sldId id="561" r:id="rId51"/>
    <p:sldId id="562" r:id="rId52"/>
    <p:sldId id="449" r:id="rId53"/>
    <p:sldId id="543" r:id="rId54"/>
    <p:sldId id="544" r:id="rId55"/>
    <p:sldId id="450" r:id="rId56"/>
    <p:sldId id="545" r:id="rId57"/>
    <p:sldId id="540" r:id="rId58"/>
    <p:sldId id="541" r:id="rId59"/>
    <p:sldId id="453" r:id="rId60"/>
    <p:sldId id="546" r:id="rId61"/>
    <p:sldId id="454" r:id="rId62"/>
    <p:sldId id="547" r:id="rId63"/>
    <p:sldId id="563" r:id="rId64"/>
    <p:sldId id="566" r:id="rId65"/>
    <p:sldId id="555" r:id="rId66"/>
    <p:sldId id="556" r:id="rId67"/>
    <p:sldId id="548" r:id="rId68"/>
    <p:sldId id="549" r:id="rId69"/>
    <p:sldId id="569" r:id="rId70"/>
    <p:sldId id="550" r:id="rId71"/>
    <p:sldId id="551" r:id="rId72"/>
    <p:sldId id="570" r:id="rId73"/>
    <p:sldId id="571" r:id="rId74"/>
    <p:sldId id="552" r:id="rId75"/>
    <p:sldId id="572" r:id="rId76"/>
  </p:sldIdLst>
  <p:sldSz cx="9144000" cy="6858000" type="screen4x3"/>
  <p:notesSz cx="7104063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pis" id="{B3F6CC22-5D26-4F9E-8A9F-E1888E082886}">
          <p14:sldIdLst>
            <p14:sldId id="364"/>
            <p14:sldId id="379"/>
            <p14:sldId id="390"/>
            <p14:sldId id="381"/>
          </p14:sldIdLst>
        </p14:section>
        <p14:section name="Regulátor" id="{F7EA2D10-504E-4EF8-A45F-A4AFA8E4A0C2}">
          <p14:sldIdLst>
            <p14:sldId id="382"/>
            <p14:sldId id="527"/>
            <p14:sldId id="509"/>
            <p14:sldId id="528"/>
            <p14:sldId id="529"/>
          </p14:sldIdLst>
        </p14:section>
        <p14:section name="A/D převodník" id="{47E8B889-6718-4618-A221-3583F39CE0BE}">
          <p14:sldIdLst>
            <p14:sldId id="510"/>
            <p14:sldId id="567"/>
            <p14:sldId id="568"/>
            <p14:sldId id="512"/>
            <p14:sldId id="542"/>
          </p14:sldIdLst>
        </p14:section>
        <p14:section name="Komparační" id="{AC86DD3D-A17E-4111-89A0-F0FE188703D1}">
          <p14:sldIdLst>
            <p14:sldId id="514"/>
            <p14:sldId id="515"/>
            <p14:sldId id="516"/>
          </p14:sldIdLst>
        </p14:section>
        <p14:section name="Zpětnovazební" id="{B5F5A1D7-1BEA-4005-8865-8787A860DEF2}">
          <p14:sldIdLst>
            <p14:sldId id="517"/>
            <p14:sldId id="538"/>
            <p14:sldId id="518"/>
            <p14:sldId id="519"/>
          </p14:sldIdLst>
        </p14:section>
        <p14:section name="Aproximační" id="{ACAA241D-204C-4687-9BBD-BDF0B75867BB}">
          <p14:sldIdLst>
            <p14:sldId id="533"/>
            <p14:sldId id="539"/>
            <p14:sldId id="534"/>
            <p14:sldId id="535"/>
          </p14:sldIdLst>
        </p14:section>
        <p14:section name="D/A převodník" id="{81070122-F9BA-4C41-8991-D73D703A1F53}">
          <p14:sldIdLst>
            <p14:sldId id="520"/>
            <p14:sldId id="521"/>
            <p14:sldId id="522"/>
          </p14:sldIdLst>
        </p14:section>
        <p14:section name="DA váhové rezistory" id="{F9D0BD2E-81F1-44EC-AF4B-ED9AD4173067}">
          <p14:sldIdLst>
            <p14:sldId id="565"/>
            <p14:sldId id="524"/>
            <p14:sldId id="523"/>
            <p14:sldId id="536"/>
          </p14:sldIdLst>
        </p14:section>
        <p14:section name="DA R-2R" id="{B01B18FE-7D5D-427E-81E3-BE2BFE3CE5C2}">
          <p14:sldIdLst>
            <p14:sldId id="526"/>
            <p14:sldId id="558"/>
            <p14:sldId id="537"/>
          </p14:sldIdLst>
        </p14:section>
        <p14:section name="Kontrolní otázky" id="{31C15C46-73C9-40D4-AB99-767CF95D56C6}">
          <p14:sldIdLst>
            <p14:sldId id="553"/>
            <p14:sldId id="554"/>
          </p14:sldIdLst>
        </p14:section>
        <p14:section name="AD converter AVR" id="{C0236F33-AB47-434B-AF6A-947E465628B5}">
          <p14:sldIdLst>
            <p14:sldId id="532"/>
            <p14:sldId id="443"/>
            <p14:sldId id="434"/>
            <p14:sldId id="439"/>
            <p14:sldId id="401"/>
            <p14:sldId id="402"/>
            <p14:sldId id="432"/>
            <p14:sldId id="531"/>
            <p14:sldId id="559"/>
            <p14:sldId id="560"/>
            <p14:sldId id="561"/>
            <p14:sldId id="562"/>
          </p14:sldIdLst>
        </p14:section>
        <p14:section name="Operace s ADC" id="{24BC99DD-4E63-43E1-B774-F806EFC29AD6}">
          <p14:sldIdLst>
            <p14:sldId id="449"/>
            <p14:sldId id="543"/>
            <p14:sldId id="544"/>
            <p14:sldId id="450"/>
            <p14:sldId id="545"/>
            <p14:sldId id="540"/>
            <p14:sldId id="541"/>
            <p14:sldId id="453"/>
            <p14:sldId id="546"/>
            <p14:sldId id="454"/>
            <p14:sldId id="547"/>
            <p14:sldId id="563"/>
            <p14:sldId id="566"/>
            <p14:sldId id="555"/>
            <p14:sldId id="556"/>
          </p14:sldIdLst>
        </p14:section>
        <p14:section name="Aplikace ADC" id="{7473D219-85CB-47D4-AFCE-4A6CAC1A79D0}">
          <p14:sldIdLst>
            <p14:sldId id="548"/>
            <p14:sldId id="549"/>
            <p14:sldId id="569"/>
            <p14:sldId id="550"/>
            <p14:sldId id="551"/>
            <p14:sldId id="570"/>
            <p14:sldId id="571"/>
            <p14:sldId id="552"/>
            <p14:sldId id="572"/>
          </p14:sldIdLst>
        </p14:section>
        <p14:section name="Koš" id="{F4ED5AD5-E35E-472D-AB53-C71D2536639A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48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oš Juránek" initials="LJ" lastIdx="1" clrIdx="0">
    <p:extLst>
      <p:ext uri="{19B8F6BF-5375-455C-9EA6-DF929625EA0E}">
        <p15:presenceInfo xmlns:p15="http://schemas.microsoft.com/office/powerpoint/2012/main" userId="5c55083a10500a0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CC"/>
    <a:srgbClr val="FFFFCC"/>
    <a:srgbClr val="666633"/>
    <a:srgbClr val="000066"/>
    <a:srgbClr val="000099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31250" autoAdjust="0"/>
    <p:restoredTop sz="86387" autoAdjust="0"/>
  </p:normalViewPr>
  <p:slideViewPr>
    <p:cSldViewPr>
      <p:cViewPr varScale="1">
        <p:scale>
          <a:sx n="95" d="100"/>
          <a:sy n="95" d="100"/>
        </p:scale>
        <p:origin x="1662" y="96"/>
      </p:cViewPr>
      <p:guideLst>
        <p:guide orient="horz" pos="482"/>
        <p:guide pos="2880"/>
      </p:guideLst>
    </p:cSldViewPr>
  </p:slideViewPr>
  <p:outlineViewPr>
    <p:cViewPr>
      <p:scale>
        <a:sx n="33" d="100"/>
        <a:sy n="33" d="100"/>
      </p:scale>
      <p:origin x="0" y="679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21240"/>
    </p:cViewPr>
  </p:sorterViewPr>
  <p:notesViewPr>
    <p:cSldViewPr>
      <p:cViewPr varScale="1">
        <p:scale>
          <a:sx n="53" d="100"/>
          <a:sy n="53" d="100"/>
        </p:scale>
        <p:origin x="-2922" y="-84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commentAuthors" Target="commentAuthor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82" Type="http://schemas.openxmlformats.org/officeDocument/2006/relationships/theme" Target="theme/theme1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handoutMaster" Target="handoutMasters/handoutMaster1.xml"/><Relationship Id="rId8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5-04T10:18:05.148" idx="1">
    <p:pos x="10" y="10"/>
    <p:text/>
    <p:extLst>
      <p:ext uri="{C676402C-5697-4E1C-873F-D02D1690AC5C}">
        <p15:threadingInfo xmlns:p15="http://schemas.microsoft.com/office/powerpoint/2012/main" timeZoneBias="-120"/>
      </p:ext>
    </p:extLst>
  </p:cm>
</p:cmLst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2.xml"/><Relationship Id="rId2" Type="http://schemas.openxmlformats.org/officeDocument/2006/relationships/slide" Target="../slides/slide18.xml"/><Relationship Id="rId1" Type="http://schemas.openxmlformats.org/officeDocument/2006/relationships/slide" Target="../slides/slide15.xml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slide" Target="../slides/slide3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7BCE0F-3F04-4F30-AB13-3254AAED2CF8}" type="doc">
      <dgm:prSet loTypeId="urn:microsoft.com/office/officeart/2005/8/layout/hierarchy2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cs-CZ"/>
        </a:p>
      </dgm:t>
    </dgm:pt>
    <dgm:pt modelId="{29F2076D-3EC8-4F2E-AFED-6EEC6DBE00AB}">
      <dgm:prSet phldrT="[Text]" custT="1"/>
      <dgm:spPr/>
      <dgm:t>
        <a:bodyPr/>
        <a:lstStyle/>
        <a:p>
          <a:r>
            <a:rPr lang="cs-CZ" sz="2800" b="0" dirty="0"/>
            <a:t>Převodník A/D</a:t>
          </a:r>
        </a:p>
      </dgm:t>
    </dgm:pt>
    <dgm:pt modelId="{198CCECF-A19E-4712-9B5E-05C7BCFBA773}" type="parTrans" cxnId="{0A29A494-9D9B-47FF-BFAB-1CFA913EA366}">
      <dgm:prSet/>
      <dgm:spPr/>
      <dgm:t>
        <a:bodyPr/>
        <a:lstStyle/>
        <a:p>
          <a:endParaRPr lang="cs-CZ" sz="2400"/>
        </a:p>
      </dgm:t>
    </dgm:pt>
    <dgm:pt modelId="{A00AD877-D3F6-43A2-BBF5-796384B96210}" type="sibTrans" cxnId="{0A29A494-9D9B-47FF-BFAB-1CFA913EA366}">
      <dgm:prSet/>
      <dgm:spPr/>
      <dgm:t>
        <a:bodyPr/>
        <a:lstStyle/>
        <a:p>
          <a:endParaRPr lang="cs-CZ" sz="2400"/>
        </a:p>
      </dgm:t>
    </dgm:pt>
    <dgm:pt modelId="{E1B5079A-75A4-413B-BF40-F39D71355DE2}">
      <dgm:prSet phldrT="[Text]" custT="1"/>
      <dgm:spPr/>
      <dgm:t>
        <a:bodyPr/>
        <a:lstStyle/>
        <a:p>
          <a:r>
            <a:rPr lang="cs-CZ" sz="24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Komparační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245785A1-576C-4CC0-8550-FAA18F46DEEB}" type="parTrans" cxnId="{82FB4F0D-A957-4863-8E68-C64A452AC395}">
      <dgm:prSet custT="1"/>
      <dgm:spPr/>
      <dgm:t>
        <a:bodyPr/>
        <a:lstStyle/>
        <a:p>
          <a:endParaRPr lang="cs-CZ" sz="2400"/>
        </a:p>
      </dgm:t>
    </dgm:pt>
    <dgm:pt modelId="{B48D08FF-651E-46F3-BD47-BB9CFA39E7D0}" type="sibTrans" cxnId="{82FB4F0D-A957-4863-8E68-C64A452AC395}">
      <dgm:prSet/>
      <dgm:spPr/>
      <dgm:t>
        <a:bodyPr/>
        <a:lstStyle/>
        <a:p>
          <a:endParaRPr lang="cs-CZ" sz="2400"/>
        </a:p>
      </dgm:t>
    </dgm:pt>
    <dgm:pt modelId="{504F0136-DBD9-4B36-ACDE-E7D26AD6D2EC}">
      <dgm:prSet phldrT="[Text]" custT="1"/>
      <dgm:spPr/>
      <dgm:t>
        <a:bodyPr/>
        <a:lstStyle/>
        <a:p>
          <a:r>
            <a:rPr lang="cs-CZ" sz="24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Zpětnovazební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 action="ppaction://hlinksldjump"/>
          </dgm14:cNvPr>
        </a:ext>
      </dgm:extLst>
    </dgm:pt>
    <dgm:pt modelId="{330D3129-B272-45A6-AEFD-AA5CEA9EBC4C}" type="parTrans" cxnId="{5508426D-FA34-484B-ADD4-F9A61A4AFFFB}">
      <dgm:prSet custT="1"/>
      <dgm:spPr/>
      <dgm:t>
        <a:bodyPr/>
        <a:lstStyle/>
        <a:p>
          <a:endParaRPr lang="cs-CZ" sz="2400"/>
        </a:p>
      </dgm:t>
    </dgm:pt>
    <dgm:pt modelId="{00A8EEEE-C0AB-4068-AF43-4C9010711EB4}" type="sibTrans" cxnId="{5508426D-FA34-484B-ADD4-F9A61A4AFFFB}">
      <dgm:prSet/>
      <dgm:spPr/>
      <dgm:t>
        <a:bodyPr/>
        <a:lstStyle/>
        <a:p>
          <a:endParaRPr lang="cs-CZ" sz="2400"/>
        </a:p>
      </dgm:t>
    </dgm:pt>
    <dgm:pt modelId="{21C9B74D-28EF-480E-88AC-C0D8CF81910D}">
      <dgm:prSet phldrT="[Text]" custT="1"/>
      <dgm:spPr/>
      <dgm:t>
        <a:bodyPr/>
        <a:lstStyle/>
        <a:p>
          <a:r>
            <a:rPr lang="cs-CZ" sz="2400" dirty="0">
              <a:solidFill>
                <a:schemeClr val="bg1"/>
              </a:solidFill>
              <a:effectLst/>
            </a:rPr>
            <a:t>Sledovací</a:t>
          </a:r>
        </a:p>
      </dgm:t>
    </dgm:pt>
    <dgm:pt modelId="{A0620075-3E20-4B42-AC3B-374F197B6FC4}" type="parTrans" cxnId="{DDB70725-B66A-4088-A10F-848EC39B42AB}">
      <dgm:prSet custT="1"/>
      <dgm:spPr/>
      <dgm:t>
        <a:bodyPr/>
        <a:lstStyle/>
        <a:p>
          <a:endParaRPr lang="cs-CZ" sz="2400"/>
        </a:p>
      </dgm:t>
    </dgm:pt>
    <dgm:pt modelId="{E398101B-A4C3-4299-8BBC-33BD79070EC2}" type="sibTrans" cxnId="{DDB70725-B66A-4088-A10F-848EC39B42AB}">
      <dgm:prSet/>
      <dgm:spPr/>
      <dgm:t>
        <a:bodyPr/>
        <a:lstStyle/>
        <a:p>
          <a:endParaRPr lang="cs-CZ" sz="2400"/>
        </a:p>
      </dgm:t>
    </dgm:pt>
    <dgm:pt modelId="{EAA0C3E7-F6EE-4D64-A92A-D56D93CAC15A}">
      <dgm:prSet phldrT="[Text]" custT="1"/>
      <dgm:spPr/>
      <dgm:t>
        <a:bodyPr/>
        <a:lstStyle/>
        <a:p>
          <a:r>
            <a:rPr lang="cs-CZ" sz="24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Aproximační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3" action="ppaction://hlinksldjump"/>
          </dgm14:cNvPr>
        </a:ext>
      </dgm:extLst>
    </dgm:pt>
    <dgm:pt modelId="{1B048ACF-24C6-4AE5-80AD-372F89BC71D7}" type="parTrans" cxnId="{47C4B1F0-DECC-4379-8EFA-8A6342E0DB0E}">
      <dgm:prSet custT="1"/>
      <dgm:spPr/>
      <dgm:t>
        <a:bodyPr/>
        <a:lstStyle/>
        <a:p>
          <a:endParaRPr lang="cs-CZ" sz="2400"/>
        </a:p>
      </dgm:t>
    </dgm:pt>
    <dgm:pt modelId="{A24D30BE-CDE6-4BA2-842F-B0F412A195E6}" type="sibTrans" cxnId="{47C4B1F0-DECC-4379-8EFA-8A6342E0DB0E}">
      <dgm:prSet/>
      <dgm:spPr/>
      <dgm:t>
        <a:bodyPr/>
        <a:lstStyle/>
        <a:p>
          <a:endParaRPr lang="cs-CZ" sz="2400"/>
        </a:p>
      </dgm:t>
    </dgm:pt>
    <dgm:pt modelId="{2D170F4D-6193-4C5E-88EB-64C88CEABCDE}">
      <dgm:prSet phldrT="[Text]" custT="1"/>
      <dgm:spPr/>
      <dgm:t>
        <a:bodyPr/>
        <a:lstStyle/>
        <a:p>
          <a:r>
            <a:rPr lang="cs-CZ" sz="2400" dirty="0">
              <a:solidFill>
                <a:schemeClr val="bg1"/>
              </a:solidFill>
              <a:effectLst/>
            </a:rPr>
            <a:t>Integrační</a:t>
          </a:r>
        </a:p>
      </dgm:t>
    </dgm:pt>
    <dgm:pt modelId="{D1080525-F7FE-49F4-83BB-6D1E23904AF5}" type="parTrans" cxnId="{83AAC0FE-3298-45A3-949B-00925C91A6C1}">
      <dgm:prSet custT="1"/>
      <dgm:spPr/>
      <dgm:t>
        <a:bodyPr/>
        <a:lstStyle/>
        <a:p>
          <a:endParaRPr lang="cs-CZ" sz="2400"/>
        </a:p>
      </dgm:t>
    </dgm:pt>
    <dgm:pt modelId="{1A551AB9-8AA9-40FA-A196-E5EE299056F4}" type="sibTrans" cxnId="{83AAC0FE-3298-45A3-949B-00925C91A6C1}">
      <dgm:prSet/>
      <dgm:spPr/>
      <dgm:t>
        <a:bodyPr/>
        <a:lstStyle/>
        <a:p>
          <a:endParaRPr lang="cs-CZ" sz="2400"/>
        </a:p>
      </dgm:t>
    </dgm:pt>
    <dgm:pt modelId="{8504B36B-2592-453E-B298-4A2342BD1BD1}" type="pres">
      <dgm:prSet presAssocID="{CD7BCE0F-3F04-4F30-AB13-3254AAED2CF8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FA1E9F1C-59BB-4F3D-8515-E8D1F5836095}" type="pres">
      <dgm:prSet presAssocID="{29F2076D-3EC8-4F2E-AFED-6EEC6DBE00AB}" presName="root1" presStyleCnt="0"/>
      <dgm:spPr/>
    </dgm:pt>
    <dgm:pt modelId="{559B870C-BB88-4E79-8D26-3E3E4C6101A6}" type="pres">
      <dgm:prSet presAssocID="{29F2076D-3EC8-4F2E-AFED-6EEC6DBE00AB}" presName="LevelOneTextNode" presStyleLbl="node0" presStyleIdx="0" presStyleCnt="1" custScaleX="189934" custScaleY="181254" custLinFactNeighborX="-23448" custLinFactNeighborY="-2419">
        <dgm:presLayoutVars>
          <dgm:chPref val="3"/>
        </dgm:presLayoutVars>
      </dgm:prSet>
      <dgm:spPr/>
    </dgm:pt>
    <dgm:pt modelId="{5795E7CB-027C-4AE5-8095-7A1F767CACC3}" type="pres">
      <dgm:prSet presAssocID="{29F2076D-3EC8-4F2E-AFED-6EEC6DBE00AB}" presName="level2hierChild" presStyleCnt="0"/>
      <dgm:spPr/>
    </dgm:pt>
    <dgm:pt modelId="{E1537397-644D-4716-8F51-48632D667EE8}" type="pres">
      <dgm:prSet presAssocID="{245785A1-576C-4CC0-8550-FAA18F46DEEB}" presName="conn2-1" presStyleLbl="parChTrans1D2" presStyleIdx="0" presStyleCnt="5"/>
      <dgm:spPr/>
    </dgm:pt>
    <dgm:pt modelId="{07A26B99-A06F-49B1-BC99-871025D24F9A}" type="pres">
      <dgm:prSet presAssocID="{245785A1-576C-4CC0-8550-FAA18F46DEEB}" presName="connTx" presStyleLbl="parChTrans1D2" presStyleIdx="0" presStyleCnt="5"/>
      <dgm:spPr/>
    </dgm:pt>
    <dgm:pt modelId="{EAF6C922-7DD0-468C-9E32-4CD7C1233BD7}" type="pres">
      <dgm:prSet presAssocID="{E1B5079A-75A4-413B-BF40-F39D71355DE2}" presName="root2" presStyleCnt="0"/>
      <dgm:spPr/>
    </dgm:pt>
    <dgm:pt modelId="{DC2CEAA5-4CF9-4F0C-A12A-C4F828BEF41F}" type="pres">
      <dgm:prSet presAssocID="{E1B5079A-75A4-413B-BF40-F39D71355DE2}" presName="LevelTwoTextNode" presStyleLbl="node2" presStyleIdx="0" presStyleCnt="5" custScaleX="199829">
        <dgm:presLayoutVars>
          <dgm:chPref val="3"/>
        </dgm:presLayoutVars>
      </dgm:prSet>
      <dgm:spPr/>
    </dgm:pt>
    <dgm:pt modelId="{87D7EAC6-8BED-439D-8B74-76D4FDA926E2}" type="pres">
      <dgm:prSet presAssocID="{E1B5079A-75A4-413B-BF40-F39D71355DE2}" presName="level3hierChild" presStyleCnt="0"/>
      <dgm:spPr/>
    </dgm:pt>
    <dgm:pt modelId="{7627D5AA-8C7E-492C-BB07-EC488524C801}" type="pres">
      <dgm:prSet presAssocID="{330D3129-B272-45A6-AEFD-AA5CEA9EBC4C}" presName="conn2-1" presStyleLbl="parChTrans1D2" presStyleIdx="1" presStyleCnt="5"/>
      <dgm:spPr/>
    </dgm:pt>
    <dgm:pt modelId="{F3C991C3-C0F6-49BF-B249-CC2C680B4356}" type="pres">
      <dgm:prSet presAssocID="{330D3129-B272-45A6-AEFD-AA5CEA9EBC4C}" presName="connTx" presStyleLbl="parChTrans1D2" presStyleIdx="1" presStyleCnt="5"/>
      <dgm:spPr/>
    </dgm:pt>
    <dgm:pt modelId="{DA953AD0-91DC-413A-B9F8-ED15AF631897}" type="pres">
      <dgm:prSet presAssocID="{504F0136-DBD9-4B36-ACDE-E7D26AD6D2EC}" presName="root2" presStyleCnt="0"/>
      <dgm:spPr/>
    </dgm:pt>
    <dgm:pt modelId="{C6A6C8CC-1DC2-4D64-ACD7-D0AAB1FFBF4B}" type="pres">
      <dgm:prSet presAssocID="{504F0136-DBD9-4B36-ACDE-E7D26AD6D2EC}" presName="LevelTwoTextNode" presStyleLbl="node2" presStyleIdx="1" presStyleCnt="5" custScaleX="199829">
        <dgm:presLayoutVars>
          <dgm:chPref val="3"/>
        </dgm:presLayoutVars>
      </dgm:prSet>
      <dgm:spPr/>
    </dgm:pt>
    <dgm:pt modelId="{E350CC49-F5D4-4B3C-9610-738F2746A6EB}" type="pres">
      <dgm:prSet presAssocID="{504F0136-DBD9-4B36-ACDE-E7D26AD6D2EC}" presName="level3hierChild" presStyleCnt="0"/>
      <dgm:spPr/>
    </dgm:pt>
    <dgm:pt modelId="{8A0D2308-8716-4F49-A5EE-A5DF9CC9E0F5}" type="pres">
      <dgm:prSet presAssocID="{A0620075-3E20-4B42-AC3B-374F197B6FC4}" presName="conn2-1" presStyleLbl="parChTrans1D2" presStyleIdx="2" presStyleCnt="5"/>
      <dgm:spPr/>
    </dgm:pt>
    <dgm:pt modelId="{7262219C-BB18-454D-A4E1-18211E4903AD}" type="pres">
      <dgm:prSet presAssocID="{A0620075-3E20-4B42-AC3B-374F197B6FC4}" presName="connTx" presStyleLbl="parChTrans1D2" presStyleIdx="2" presStyleCnt="5"/>
      <dgm:spPr/>
    </dgm:pt>
    <dgm:pt modelId="{637BF95F-D407-4994-9358-A43CE66EE4ED}" type="pres">
      <dgm:prSet presAssocID="{21C9B74D-28EF-480E-88AC-C0D8CF81910D}" presName="root2" presStyleCnt="0"/>
      <dgm:spPr/>
    </dgm:pt>
    <dgm:pt modelId="{A1EDA19C-3DCB-494C-874D-E34468812DF6}" type="pres">
      <dgm:prSet presAssocID="{21C9B74D-28EF-480E-88AC-C0D8CF81910D}" presName="LevelTwoTextNode" presStyleLbl="node2" presStyleIdx="2" presStyleCnt="5" custScaleX="199829">
        <dgm:presLayoutVars>
          <dgm:chPref val="3"/>
        </dgm:presLayoutVars>
      </dgm:prSet>
      <dgm:spPr/>
    </dgm:pt>
    <dgm:pt modelId="{4B011979-1FB0-4EE0-998B-5C7347BF7DB0}" type="pres">
      <dgm:prSet presAssocID="{21C9B74D-28EF-480E-88AC-C0D8CF81910D}" presName="level3hierChild" presStyleCnt="0"/>
      <dgm:spPr/>
    </dgm:pt>
    <dgm:pt modelId="{2D71DBFA-8D30-4E6F-9B2F-5687569FDCE8}" type="pres">
      <dgm:prSet presAssocID="{1B048ACF-24C6-4AE5-80AD-372F89BC71D7}" presName="conn2-1" presStyleLbl="parChTrans1D2" presStyleIdx="3" presStyleCnt="5"/>
      <dgm:spPr/>
    </dgm:pt>
    <dgm:pt modelId="{86D7316D-6517-4AAE-AB69-0ACACCDD8977}" type="pres">
      <dgm:prSet presAssocID="{1B048ACF-24C6-4AE5-80AD-372F89BC71D7}" presName="connTx" presStyleLbl="parChTrans1D2" presStyleIdx="3" presStyleCnt="5"/>
      <dgm:spPr/>
    </dgm:pt>
    <dgm:pt modelId="{48368E7C-81CF-43DB-9742-FEB8A9A52183}" type="pres">
      <dgm:prSet presAssocID="{EAA0C3E7-F6EE-4D64-A92A-D56D93CAC15A}" presName="root2" presStyleCnt="0"/>
      <dgm:spPr/>
    </dgm:pt>
    <dgm:pt modelId="{4F0DA1D2-6434-4950-B9A7-572F0A04F65F}" type="pres">
      <dgm:prSet presAssocID="{EAA0C3E7-F6EE-4D64-A92A-D56D93CAC15A}" presName="LevelTwoTextNode" presStyleLbl="node2" presStyleIdx="3" presStyleCnt="5" custScaleX="199829">
        <dgm:presLayoutVars>
          <dgm:chPref val="3"/>
        </dgm:presLayoutVars>
      </dgm:prSet>
      <dgm:spPr/>
    </dgm:pt>
    <dgm:pt modelId="{CDA96712-F8A4-4027-9EF0-B85DFD8858DB}" type="pres">
      <dgm:prSet presAssocID="{EAA0C3E7-F6EE-4D64-A92A-D56D93CAC15A}" presName="level3hierChild" presStyleCnt="0"/>
      <dgm:spPr/>
    </dgm:pt>
    <dgm:pt modelId="{EE2387CE-5824-4F2D-AFE2-EE396DF08A24}" type="pres">
      <dgm:prSet presAssocID="{D1080525-F7FE-49F4-83BB-6D1E23904AF5}" presName="conn2-1" presStyleLbl="parChTrans1D2" presStyleIdx="4" presStyleCnt="5"/>
      <dgm:spPr/>
    </dgm:pt>
    <dgm:pt modelId="{6194A07F-6AD3-441C-9415-46224CDFC73B}" type="pres">
      <dgm:prSet presAssocID="{D1080525-F7FE-49F4-83BB-6D1E23904AF5}" presName="connTx" presStyleLbl="parChTrans1D2" presStyleIdx="4" presStyleCnt="5"/>
      <dgm:spPr/>
    </dgm:pt>
    <dgm:pt modelId="{8DE24683-6AE7-4AEE-972F-E8535C1FC068}" type="pres">
      <dgm:prSet presAssocID="{2D170F4D-6193-4C5E-88EB-64C88CEABCDE}" presName="root2" presStyleCnt="0"/>
      <dgm:spPr/>
    </dgm:pt>
    <dgm:pt modelId="{303DE69F-0E33-42AB-A87C-405F6BEC7C4D}" type="pres">
      <dgm:prSet presAssocID="{2D170F4D-6193-4C5E-88EB-64C88CEABCDE}" presName="LevelTwoTextNode" presStyleLbl="node2" presStyleIdx="4" presStyleCnt="5" custScaleX="199829">
        <dgm:presLayoutVars>
          <dgm:chPref val="3"/>
        </dgm:presLayoutVars>
      </dgm:prSet>
      <dgm:spPr/>
    </dgm:pt>
    <dgm:pt modelId="{CF93798E-52CB-43AB-A59D-97FE39127FF5}" type="pres">
      <dgm:prSet presAssocID="{2D170F4D-6193-4C5E-88EB-64C88CEABCDE}" presName="level3hierChild" presStyleCnt="0"/>
      <dgm:spPr/>
    </dgm:pt>
  </dgm:ptLst>
  <dgm:cxnLst>
    <dgm:cxn modelId="{82FB4F0D-A957-4863-8E68-C64A452AC395}" srcId="{29F2076D-3EC8-4F2E-AFED-6EEC6DBE00AB}" destId="{E1B5079A-75A4-413B-BF40-F39D71355DE2}" srcOrd="0" destOrd="0" parTransId="{245785A1-576C-4CC0-8550-FAA18F46DEEB}" sibTransId="{B48D08FF-651E-46F3-BD47-BB9CFA39E7D0}"/>
    <dgm:cxn modelId="{D23F380F-6829-40E0-952E-BB03C22E8578}" type="presOf" srcId="{21C9B74D-28EF-480E-88AC-C0D8CF81910D}" destId="{A1EDA19C-3DCB-494C-874D-E34468812DF6}" srcOrd="0" destOrd="0" presId="urn:microsoft.com/office/officeart/2005/8/layout/hierarchy2"/>
    <dgm:cxn modelId="{8CB31C1A-E3B5-46C1-95AF-7EBEFC5C6B01}" type="presOf" srcId="{29F2076D-3EC8-4F2E-AFED-6EEC6DBE00AB}" destId="{559B870C-BB88-4E79-8D26-3E3E4C6101A6}" srcOrd="0" destOrd="0" presId="urn:microsoft.com/office/officeart/2005/8/layout/hierarchy2"/>
    <dgm:cxn modelId="{466AA824-A91F-42BC-B98E-0FBF4880EE05}" type="presOf" srcId="{D1080525-F7FE-49F4-83BB-6D1E23904AF5}" destId="{EE2387CE-5824-4F2D-AFE2-EE396DF08A24}" srcOrd="0" destOrd="0" presId="urn:microsoft.com/office/officeart/2005/8/layout/hierarchy2"/>
    <dgm:cxn modelId="{DDB70725-B66A-4088-A10F-848EC39B42AB}" srcId="{29F2076D-3EC8-4F2E-AFED-6EEC6DBE00AB}" destId="{21C9B74D-28EF-480E-88AC-C0D8CF81910D}" srcOrd="2" destOrd="0" parTransId="{A0620075-3E20-4B42-AC3B-374F197B6FC4}" sibTransId="{E398101B-A4C3-4299-8BBC-33BD79070EC2}"/>
    <dgm:cxn modelId="{EE61FE2A-0305-47AA-8CDC-F698A285123E}" type="presOf" srcId="{1B048ACF-24C6-4AE5-80AD-372F89BC71D7}" destId="{2D71DBFA-8D30-4E6F-9B2F-5687569FDCE8}" srcOrd="0" destOrd="0" presId="urn:microsoft.com/office/officeart/2005/8/layout/hierarchy2"/>
    <dgm:cxn modelId="{723F1D3C-9CB7-469F-BC83-13F29DB7D9F6}" type="presOf" srcId="{245785A1-576C-4CC0-8550-FAA18F46DEEB}" destId="{07A26B99-A06F-49B1-BC99-871025D24F9A}" srcOrd="1" destOrd="0" presId="urn:microsoft.com/office/officeart/2005/8/layout/hierarchy2"/>
    <dgm:cxn modelId="{B5570F3E-8736-4565-A385-3ADE9F20FAAC}" type="presOf" srcId="{2D170F4D-6193-4C5E-88EB-64C88CEABCDE}" destId="{303DE69F-0E33-42AB-A87C-405F6BEC7C4D}" srcOrd="0" destOrd="0" presId="urn:microsoft.com/office/officeart/2005/8/layout/hierarchy2"/>
    <dgm:cxn modelId="{2D370A43-1FEB-42DC-87D5-9A8E7D3BCF55}" type="presOf" srcId="{330D3129-B272-45A6-AEFD-AA5CEA9EBC4C}" destId="{F3C991C3-C0F6-49BF-B249-CC2C680B4356}" srcOrd="1" destOrd="0" presId="urn:microsoft.com/office/officeart/2005/8/layout/hierarchy2"/>
    <dgm:cxn modelId="{BC595043-864D-4D04-84B8-98C4CAC1BE8A}" type="presOf" srcId="{CD7BCE0F-3F04-4F30-AB13-3254AAED2CF8}" destId="{8504B36B-2592-453E-B298-4A2342BD1BD1}" srcOrd="0" destOrd="0" presId="urn:microsoft.com/office/officeart/2005/8/layout/hierarchy2"/>
    <dgm:cxn modelId="{E6E33369-7BD3-4988-BC5B-E35E314854BC}" type="presOf" srcId="{EAA0C3E7-F6EE-4D64-A92A-D56D93CAC15A}" destId="{4F0DA1D2-6434-4950-B9A7-572F0A04F65F}" srcOrd="0" destOrd="0" presId="urn:microsoft.com/office/officeart/2005/8/layout/hierarchy2"/>
    <dgm:cxn modelId="{5508426D-FA34-484B-ADD4-F9A61A4AFFFB}" srcId="{29F2076D-3EC8-4F2E-AFED-6EEC6DBE00AB}" destId="{504F0136-DBD9-4B36-ACDE-E7D26AD6D2EC}" srcOrd="1" destOrd="0" parTransId="{330D3129-B272-45A6-AEFD-AA5CEA9EBC4C}" sibTransId="{00A8EEEE-C0AB-4068-AF43-4C9010711EB4}"/>
    <dgm:cxn modelId="{1D30256E-EB80-4794-8898-B1BB193F4628}" type="presOf" srcId="{504F0136-DBD9-4B36-ACDE-E7D26AD6D2EC}" destId="{C6A6C8CC-1DC2-4D64-ACD7-D0AAB1FFBF4B}" srcOrd="0" destOrd="0" presId="urn:microsoft.com/office/officeart/2005/8/layout/hierarchy2"/>
    <dgm:cxn modelId="{7D73AE8A-EDC1-43CB-B718-CCC4C3BEDF84}" type="presOf" srcId="{245785A1-576C-4CC0-8550-FAA18F46DEEB}" destId="{E1537397-644D-4716-8F51-48632D667EE8}" srcOrd="0" destOrd="0" presId="urn:microsoft.com/office/officeart/2005/8/layout/hierarchy2"/>
    <dgm:cxn modelId="{0A29A494-9D9B-47FF-BFAB-1CFA913EA366}" srcId="{CD7BCE0F-3F04-4F30-AB13-3254AAED2CF8}" destId="{29F2076D-3EC8-4F2E-AFED-6EEC6DBE00AB}" srcOrd="0" destOrd="0" parTransId="{198CCECF-A19E-4712-9B5E-05C7BCFBA773}" sibTransId="{A00AD877-D3F6-43A2-BBF5-796384B96210}"/>
    <dgm:cxn modelId="{34070FA5-DF5A-44E4-8D63-21A2EA38D593}" type="presOf" srcId="{330D3129-B272-45A6-AEFD-AA5CEA9EBC4C}" destId="{7627D5AA-8C7E-492C-BB07-EC488524C801}" srcOrd="0" destOrd="0" presId="urn:microsoft.com/office/officeart/2005/8/layout/hierarchy2"/>
    <dgm:cxn modelId="{E2F25DB9-848B-40B0-9C82-E48ACB7FEED1}" type="presOf" srcId="{A0620075-3E20-4B42-AC3B-374F197B6FC4}" destId="{8A0D2308-8716-4F49-A5EE-A5DF9CC9E0F5}" srcOrd="0" destOrd="0" presId="urn:microsoft.com/office/officeart/2005/8/layout/hierarchy2"/>
    <dgm:cxn modelId="{8354CDBF-5CA8-4743-BD02-40C71998D8B9}" type="presOf" srcId="{E1B5079A-75A4-413B-BF40-F39D71355DE2}" destId="{DC2CEAA5-4CF9-4F0C-A12A-C4F828BEF41F}" srcOrd="0" destOrd="0" presId="urn:microsoft.com/office/officeart/2005/8/layout/hierarchy2"/>
    <dgm:cxn modelId="{A7B4B4E6-1BA9-4634-82B8-6601CFBC7FD6}" type="presOf" srcId="{A0620075-3E20-4B42-AC3B-374F197B6FC4}" destId="{7262219C-BB18-454D-A4E1-18211E4903AD}" srcOrd="1" destOrd="0" presId="urn:microsoft.com/office/officeart/2005/8/layout/hierarchy2"/>
    <dgm:cxn modelId="{47C4B1F0-DECC-4379-8EFA-8A6342E0DB0E}" srcId="{29F2076D-3EC8-4F2E-AFED-6EEC6DBE00AB}" destId="{EAA0C3E7-F6EE-4D64-A92A-D56D93CAC15A}" srcOrd="3" destOrd="0" parTransId="{1B048ACF-24C6-4AE5-80AD-372F89BC71D7}" sibTransId="{A24D30BE-CDE6-4BA2-842F-B0F412A195E6}"/>
    <dgm:cxn modelId="{91772BF4-3EDD-4599-BDC4-868A5F6F9B1F}" type="presOf" srcId="{1B048ACF-24C6-4AE5-80AD-372F89BC71D7}" destId="{86D7316D-6517-4AAE-AB69-0ACACCDD8977}" srcOrd="1" destOrd="0" presId="urn:microsoft.com/office/officeart/2005/8/layout/hierarchy2"/>
    <dgm:cxn modelId="{18D8BAF5-646C-4592-A572-6F151EF5AB02}" type="presOf" srcId="{D1080525-F7FE-49F4-83BB-6D1E23904AF5}" destId="{6194A07F-6AD3-441C-9415-46224CDFC73B}" srcOrd="1" destOrd="0" presId="urn:microsoft.com/office/officeart/2005/8/layout/hierarchy2"/>
    <dgm:cxn modelId="{83AAC0FE-3298-45A3-949B-00925C91A6C1}" srcId="{29F2076D-3EC8-4F2E-AFED-6EEC6DBE00AB}" destId="{2D170F4D-6193-4C5E-88EB-64C88CEABCDE}" srcOrd="4" destOrd="0" parTransId="{D1080525-F7FE-49F4-83BB-6D1E23904AF5}" sibTransId="{1A551AB9-8AA9-40FA-A196-E5EE299056F4}"/>
    <dgm:cxn modelId="{7FA50CED-97A4-4B47-8499-FF9407037FE5}" type="presParOf" srcId="{8504B36B-2592-453E-B298-4A2342BD1BD1}" destId="{FA1E9F1C-59BB-4F3D-8515-E8D1F5836095}" srcOrd="0" destOrd="0" presId="urn:microsoft.com/office/officeart/2005/8/layout/hierarchy2"/>
    <dgm:cxn modelId="{4CD0090A-08E8-4231-85D4-1C4BFA2EF8EE}" type="presParOf" srcId="{FA1E9F1C-59BB-4F3D-8515-E8D1F5836095}" destId="{559B870C-BB88-4E79-8D26-3E3E4C6101A6}" srcOrd="0" destOrd="0" presId="urn:microsoft.com/office/officeart/2005/8/layout/hierarchy2"/>
    <dgm:cxn modelId="{C0683EFA-F9C5-430A-86E2-F7F95584D7B0}" type="presParOf" srcId="{FA1E9F1C-59BB-4F3D-8515-E8D1F5836095}" destId="{5795E7CB-027C-4AE5-8095-7A1F767CACC3}" srcOrd="1" destOrd="0" presId="urn:microsoft.com/office/officeart/2005/8/layout/hierarchy2"/>
    <dgm:cxn modelId="{78DAF871-F1A6-4066-BFFE-FE0413111539}" type="presParOf" srcId="{5795E7CB-027C-4AE5-8095-7A1F767CACC3}" destId="{E1537397-644D-4716-8F51-48632D667EE8}" srcOrd="0" destOrd="0" presId="urn:microsoft.com/office/officeart/2005/8/layout/hierarchy2"/>
    <dgm:cxn modelId="{7396671B-316D-4F02-A3A5-E84C6F05954F}" type="presParOf" srcId="{E1537397-644D-4716-8F51-48632D667EE8}" destId="{07A26B99-A06F-49B1-BC99-871025D24F9A}" srcOrd="0" destOrd="0" presId="urn:microsoft.com/office/officeart/2005/8/layout/hierarchy2"/>
    <dgm:cxn modelId="{655E334C-40D6-4A43-830C-23459287D86D}" type="presParOf" srcId="{5795E7CB-027C-4AE5-8095-7A1F767CACC3}" destId="{EAF6C922-7DD0-468C-9E32-4CD7C1233BD7}" srcOrd="1" destOrd="0" presId="urn:microsoft.com/office/officeart/2005/8/layout/hierarchy2"/>
    <dgm:cxn modelId="{09CA6198-6254-4D90-A8DB-CBDB94560C28}" type="presParOf" srcId="{EAF6C922-7DD0-468C-9E32-4CD7C1233BD7}" destId="{DC2CEAA5-4CF9-4F0C-A12A-C4F828BEF41F}" srcOrd="0" destOrd="0" presId="urn:microsoft.com/office/officeart/2005/8/layout/hierarchy2"/>
    <dgm:cxn modelId="{103D3325-F10D-4065-A287-CB100A9AA90B}" type="presParOf" srcId="{EAF6C922-7DD0-468C-9E32-4CD7C1233BD7}" destId="{87D7EAC6-8BED-439D-8B74-76D4FDA926E2}" srcOrd="1" destOrd="0" presId="urn:microsoft.com/office/officeart/2005/8/layout/hierarchy2"/>
    <dgm:cxn modelId="{B96CE960-B0E4-43F9-8445-BA7FD341E244}" type="presParOf" srcId="{5795E7CB-027C-4AE5-8095-7A1F767CACC3}" destId="{7627D5AA-8C7E-492C-BB07-EC488524C801}" srcOrd="2" destOrd="0" presId="urn:microsoft.com/office/officeart/2005/8/layout/hierarchy2"/>
    <dgm:cxn modelId="{37838AC7-7837-4A43-8B8A-A30DAD0580E7}" type="presParOf" srcId="{7627D5AA-8C7E-492C-BB07-EC488524C801}" destId="{F3C991C3-C0F6-49BF-B249-CC2C680B4356}" srcOrd="0" destOrd="0" presId="urn:microsoft.com/office/officeart/2005/8/layout/hierarchy2"/>
    <dgm:cxn modelId="{A65C81A5-9E4A-44DA-8CEE-940026CC6B37}" type="presParOf" srcId="{5795E7CB-027C-4AE5-8095-7A1F767CACC3}" destId="{DA953AD0-91DC-413A-B9F8-ED15AF631897}" srcOrd="3" destOrd="0" presId="urn:microsoft.com/office/officeart/2005/8/layout/hierarchy2"/>
    <dgm:cxn modelId="{996A633D-54EF-4FB0-8D62-6F21CE94B5F8}" type="presParOf" srcId="{DA953AD0-91DC-413A-B9F8-ED15AF631897}" destId="{C6A6C8CC-1DC2-4D64-ACD7-D0AAB1FFBF4B}" srcOrd="0" destOrd="0" presId="urn:microsoft.com/office/officeart/2005/8/layout/hierarchy2"/>
    <dgm:cxn modelId="{5501FEF3-A34F-4BD4-9BBA-2493A2298FD1}" type="presParOf" srcId="{DA953AD0-91DC-413A-B9F8-ED15AF631897}" destId="{E350CC49-F5D4-4B3C-9610-738F2746A6EB}" srcOrd="1" destOrd="0" presId="urn:microsoft.com/office/officeart/2005/8/layout/hierarchy2"/>
    <dgm:cxn modelId="{8350F722-2446-4D32-97C5-DD6148CA7BE0}" type="presParOf" srcId="{5795E7CB-027C-4AE5-8095-7A1F767CACC3}" destId="{8A0D2308-8716-4F49-A5EE-A5DF9CC9E0F5}" srcOrd="4" destOrd="0" presId="urn:microsoft.com/office/officeart/2005/8/layout/hierarchy2"/>
    <dgm:cxn modelId="{54093E9E-6DAD-4C8D-90CF-3128D732BED6}" type="presParOf" srcId="{8A0D2308-8716-4F49-A5EE-A5DF9CC9E0F5}" destId="{7262219C-BB18-454D-A4E1-18211E4903AD}" srcOrd="0" destOrd="0" presId="urn:microsoft.com/office/officeart/2005/8/layout/hierarchy2"/>
    <dgm:cxn modelId="{74D54385-3CF6-47B9-9CC1-F38F5B4D4B4F}" type="presParOf" srcId="{5795E7CB-027C-4AE5-8095-7A1F767CACC3}" destId="{637BF95F-D407-4994-9358-A43CE66EE4ED}" srcOrd="5" destOrd="0" presId="urn:microsoft.com/office/officeart/2005/8/layout/hierarchy2"/>
    <dgm:cxn modelId="{D971A4B4-0D43-4682-AFB1-B033BB485202}" type="presParOf" srcId="{637BF95F-D407-4994-9358-A43CE66EE4ED}" destId="{A1EDA19C-3DCB-494C-874D-E34468812DF6}" srcOrd="0" destOrd="0" presId="urn:microsoft.com/office/officeart/2005/8/layout/hierarchy2"/>
    <dgm:cxn modelId="{6B2FD239-132D-40C8-B70B-327315DC845C}" type="presParOf" srcId="{637BF95F-D407-4994-9358-A43CE66EE4ED}" destId="{4B011979-1FB0-4EE0-998B-5C7347BF7DB0}" srcOrd="1" destOrd="0" presId="urn:microsoft.com/office/officeart/2005/8/layout/hierarchy2"/>
    <dgm:cxn modelId="{F3B5A957-776F-4B04-917D-49536752F523}" type="presParOf" srcId="{5795E7CB-027C-4AE5-8095-7A1F767CACC3}" destId="{2D71DBFA-8D30-4E6F-9B2F-5687569FDCE8}" srcOrd="6" destOrd="0" presId="urn:microsoft.com/office/officeart/2005/8/layout/hierarchy2"/>
    <dgm:cxn modelId="{5878ECEC-0FE1-4DC0-8592-62493A5CD892}" type="presParOf" srcId="{2D71DBFA-8D30-4E6F-9B2F-5687569FDCE8}" destId="{86D7316D-6517-4AAE-AB69-0ACACCDD8977}" srcOrd="0" destOrd="0" presId="urn:microsoft.com/office/officeart/2005/8/layout/hierarchy2"/>
    <dgm:cxn modelId="{E17981A3-2033-4576-B29C-07AE9151692B}" type="presParOf" srcId="{5795E7CB-027C-4AE5-8095-7A1F767CACC3}" destId="{48368E7C-81CF-43DB-9742-FEB8A9A52183}" srcOrd="7" destOrd="0" presId="urn:microsoft.com/office/officeart/2005/8/layout/hierarchy2"/>
    <dgm:cxn modelId="{70D67BD9-E161-4D6F-81FC-9D8D9DFD8A6C}" type="presParOf" srcId="{48368E7C-81CF-43DB-9742-FEB8A9A52183}" destId="{4F0DA1D2-6434-4950-B9A7-572F0A04F65F}" srcOrd="0" destOrd="0" presId="urn:microsoft.com/office/officeart/2005/8/layout/hierarchy2"/>
    <dgm:cxn modelId="{2C33FB38-0077-45A7-BA9A-378B1DCA56A9}" type="presParOf" srcId="{48368E7C-81CF-43DB-9742-FEB8A9A52183}" destId="{CDA96712-F8A4-4027-9EF0-B85DFD8858DB}" srcOrd="1" destOrd="0" presId="urn:microsoft.com/office/officeart/2005/8/layout/hierarchy2"/>
    <dgm:cxn modelId="{AC8F9E83-884B-44AF-B377-C6C59A2BADBB}" type="presParOf" srcId="{5795E7CB-027C-4AE5-8095-7A1F767CACC3}" destId="{EE2387CE-5824-4F2D-AFE2-EE396DF08A24}" srcOrd="8" destOrd="0" presId="urn:microsoft.com/office/officeart/2005/8/layout/hierarchy2"/>
    <dgm:cxn modelId="{81BC48A7-915D-4A28-AD51-685B4851091B}" type="presParOf" srcId="{EE2387CE-5824-4F2D-AFE2-EE396DF08A24}" destId="{6194A07F-6AD3-441C-9415-46224CDFC73B}" srcOrd="0" destOrd="0" presId="urn:microsoft.com/office/officeart/2005/8/layout/hierarchy2"/>
    <dgm:cxn modelId="{B7A4CA90-7739-49AB-9BD5-2A503A04E713}" type="presParOf" srcId="{5795E7CB-027C-4AE5-8095-7A1F767CACC3}" destId="{8DE24683-6AE7-4AEE-972F-E8535C1FC068}" srcOrd="9" destOrd="0" presId="urn:microsoft.com/office/officeart/2005/8/layout/hierarchy2"/>
    <dgm:cxn modelId="{C28D0D8C-FEDE-4440-B434-B8A001F2760F}" type="presParOf" srcId="{8DE24683-6AE7-4AEE-972F-E8535C1FC068}" destId="{303DE69F-0E33-42AB-A87C-405F6BEC7C4D}" srcOrd="0" destOrd="0" presId="urn:microsoft.com/office/officeart/2005/8/layout/hierarchy2"/>
    <dgm:cxn modelId="{28FDBB45-C1AB-47B2-9AB7-96CF4A7386CE}" type="presParOf" srcId="{8DE24683-6AE7-4AEE-972F-E8535C1FC068}" destId="{CF93798E-52CB-43AB-A59D-97FE39127FF5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D7BCE0F-3F04-4F30-AB13-3254AAED2CF8}" type="doc">
      <dgm:prSet loTypeId="urn:microsoft.com/office/officeart/2005/8/layout/hierarchy2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cs-CZ"/>
        </a:p>
      </dgm:t>
    </dgm:pt>
    <dgm:pt modelId="{29F2076D-3EC8-4F2E-AFED-6EEC6DBE00AB}">
      <dgm:prSet phldrT="[Text]" custT="1"/>
      <dgm:spPr/>
      <dgm:t>
        <a:bodyPr/>
        <a:lstStyle/>
        <a:p>
          <a:r>
            <a:rPr lang="cs-CZ" sz="2800" b="0" dirty="0"/>
            <a:t>Převodník D/A</a:t>
          </a:r>
        </a:p>
      </dgm:t>
    </dgm:pt>
    <dgm:pt modelId="{198CCECF-A19E-4712-9B5E-05C7BCFBA773}" type="parTrans" cxnId="{0A29A494-9D9B-47FF-BFAB-1CFA913EA366}">
      <dgm:prSet/>
      <dgm:spPr/>
      <dgm:t>
        <a:bodyPr/>
        <a:lstStyle/>
        <a:p>
          <a:endParaRPr lang="cs-CZ" sz="2400"/>
        </a:p>
      </dgm:t>
    </dgm:pt>
    <dgm:pt modelId="{A00AD877-D3F6-43A2-BBF5-796384B96210}" type="sibTrans" cxnId="{0A29A494-9D9B-47FF-BFAB-1CFA913EA366}">
      <dgm:prSet/>
      <dgm:spPr/>
      <dgm:t>
        <a:bodyPr/>
        <a:lstStyle/>
        <a:p>
          <a:endParaRPr lang="cs-CZ" sz="2400"/>
        </a:p>
      </dgm:t>
    </dgm:pt>
    <dgm:pt modelId="{E1B5079A-75A4-413B-BF40-F39D71355DE2}">
      <dgm:prSet phldrT="[Text]" custT="1"/>
      <dgm:spPr/>
      <dgm:t>
        <a:bodyPr/>
        <a:lstStyle/>
        <a:p>
          <a:r>
            <a:rPr lang="cs-CZ" sz="28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Váhové rezistory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245785A1-576C-4CC0-8550-FAA18F46DEEB}" type="parTrans" cxnId="{82FB4F0D-A957-4863-8E68-C64A452AC395}">
      <dgm:prSet custT="1"/>
      <dgm:spPr/>
      <dgm:t>
        <a:bodyPr/>
        <a:lstStyle/>
        <a:p>
          <a:endParaRPr lang="cs-CZ" sz="2400"/>
        </a:p>
      </dgm:t>
    </dgm:pt>
    <dgm:pt modelId="{B48D08FF-651E-46F3-BD47-BB9CFA39E7D0}" type="sibTrans" cxnId="{82FB4F0D-A957-4863-8E68-C64A452AC395}">
      <dgm:prSet/>
      <dgm:spPr/>
      <dgm:t>
        <a:bodyPr/>
        <a:lstStyle/>
        <a:p>
          <a:endParaRPr lang="cs-CZ" sz="2400"/>
        </a:p>
      </dgm:t>
    </dgm:pt>
    <dgm:pt modelId="{504F0136-DBD9-4B36-ACDE-E7D26AD6D2EC}">
      <dgm:prSet phldrT="[Text]" custT="1"/>
      <dgm:spPr/>
      <dgm:t>
        <a:bodyPr/>
        <a:lstStyle/>
        <a:p>
          <a:r>
            <a:rPr lang="cs-CZ" sz="24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Síť R-2R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 action="ppaction://hlinksldjump"/>
          </dgm14:cNvPr>
        </a:ext>
      </dgm:extLst>
    </dgm:pt>
    <dgm:pt modelId="{330D3129-B272-45A6-AEFD-AA5CEA9EBC4C}" type="parTrans" cxnId="{5508426D-FA34-484B-ADD4-F9A61A4AFFFB}">
      <dgm:prSet custT="1"/>
      <dgm:spPr/>
      <dgm:t>
        <a:bodyPr/>
        <a:lstStyle/>
        <a:p>
          <a:endParaRPr lang="cs-CZ" sz="2400"/>
        </a:p>
      </dgm:t>
    </dgm:pt>
    <dgm:pt modelId="{00A8EEEE-C0AB-4068-AF43-4C9010711EB4}" type="sibTrans" cxnId="{5508426D-FA34-484B-ADD4-F9A61A4AFFFB}">
      <dgm:prSet/>
      <dgm:spPr/>
      <dgm:t>
        <a:bodyPr/>
        <a:lstStyle/>
        <a:p>
          <a:endParaRPr lang="cs-CZ" sz="2400"/>
        </a:p>
      </dgm:t>
    </dgm:pt>
    <dgm:pt modelId="{8504B36B-2592-453E-B298-4A2342BD1BD1}" type="pres">
      <dgm:prSet presAssocID="{CD7BCE0F-3F04-4F30-AB13-3254AAED2CF8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FA1E9F1C-59BB-4F3D-8515-E8D1F5836095}" type="pres">
      <dgm:prSet presAssocID="{29F2076D-3EC8-4F2E-AFED-6EEC6DBE00AB}" presName="root1" presStyleCnt="0"/>
      <dgm:spPr/>
    </dgm:pt>
    <dgm:pt modelId="{559B870C-BB88-4E79-8D26-3E3E4C6101A6}" type="pres">
      <dgm:prSet presAssocID="{29F2076D-3EC8-4F2E-AFED-6EEC6DBE00AB}" presName="LevelOneTextNode" presStyleLbl="node0" presStyleIdx="0" presStyleCnt="1" custScaleX="189934" custScaleY="82986" custLinFactNeighborX="-23448" custLinFactNeighborY="-2419">
        <dgm:presLayoutVars>
          <dgm:chPref val="3"/>
        </dgm:presLayoutVars>
      </dgm:prSet>
      <dgm:spPr/>
    </dgm:pt>
    <dgm:pt modelId="{5795E7CB-027C-4AE5-8095-7A1F767CACC3}" type="pres">
      <dgm:prSet presAssocID="{29F2076D-3EC8-4F2E-AFED-6EEC6DBE00AB}" presName="level2hierChild" presStyleCnt="0"/>
      <dgm:spPr/>
    </dgm:pt>
    <dgm:pt modelId="{E1537397-644D-4716-8F51-48632D667EE8}" type="pres">
      <dgm:prSet presAssocID="{245785A1-576C-4CC0-8550-FAA18F46DEEB}" presName="conn2-1" presStyleLbl="parChTrans1D2" presStyleIdx="0" presStyleCnt="2"/>
      <dgm:spPr/>
    </dgm:pt>
    <dgm:pt modelId="{07A26B99-A06F-49B1-BC99-871025D24F9A}" type="pres">
      <dgm:prSet presAssocID="{245785A1-576C-4CC0-8550-FAA18F46DEEB}" presName="connTx" presStyleLbl="parChTrans1D2" presStyleIdx="0" presStyleCnt="2"/>
      <dgm:spPr/>
    </dgm:pt>
    <dgm:pt modelId="{EAF6C922-7DD0-468C-9E32-4CD7C1233BD7}" type="pres">
      <dgm:prSet presAssocID="{E1B5079A-75A4-413B-BF40-F39D71355DE2}" presName="root2" presStyleCnt="0"/>
      <dgm:spPr/>
    </dgm:pt>
    <dgm:pt modelId="{DC2CEAA5-4CF9-4F0C-A12A-C4F828BEF41F}" type="pres">
      <dgm:prSet presAssocID="{E1B5079A-75A4-413B-BF40-F39D71355DE2}" presName="LevelTwoTextNode" presStyleLbl="node2" presStyleIdx="0" presStyleCnt="2" custScaleX="199829">
        <dgm:presLayoutVars>
          <dgm:chPref val="3"/>
        </dgm:presLayoutVars>
      </dgm:prSet>
      <dgm:spPr/>
    </dgm:pt>
    <dgm:pt modelId="{87D7EAC6-8BED-439D-8B74-76D4FDA926E2}" type="pres">
      <dgm:prSet presAssocID="{E1B5079A-75A4-413B-BF40-F39D71355DE2}" presName="level3hierChild" presStyleCnt="0"/>
      <dgm:spPr/>
    </dgm:pt>
    <dgm:pt modelId="{7627D5AA-8C7E-492C-BB07-EC488524C801}" type="pres">
      <dgm:prSet presAssocID="{330D3129-B272-45A6-AEFD-AA5CEA9EBC4C}" presName="conn2-1" presStyleLbl="parChTrans1D2" presStyleIdx="1" presStyleCnt="2"/>
      <dgm:spPr/>
    </dgm:pt>
    <dgm:pt modelId="{F3C991C3-C0F6-49BF-B249-CC2C680B4356}" type="pres">
      <dgm:prSet presAssocID="{330D3129-B272-45A6-AEFD-AA5CEA9EBC4C}" presName="connTx" presStyleLbl="parChTrans1D2" presStyleIdx="1" presStyleCnt="2"/>
      <dgm:spPr/>
    </dgm:pt>
    <dgm:pt modelId="{DA953AD0-91DC-413A-B9F8-ED15AF631897}" type="pres">
      <dgm:prSet presAssocID="{504F0136-DBD9-4B36-ACDE-E7D26AD6D2EC}" presName="root2" presStyleCnt="0"/>
      <dgm:spPr/>
    </dgm:pt>
    <dgm:pt modelId="{C6A6C8CC-1DC2-4D64-ACD7-D0AAB1FFBF4B}" type="pres">
      <dgm:prSet presAssocID="{504F0136-DBD9-4B36-ACDE-E7D26AD6D2EC}" presName="LevelTwoTextNode" presStyleLbl="node2" presStyleIdx="1" presStyleCnt="2" custScaleX="199829">
        <dgm:presLayoutVars>
          <dgm:chPref val="3"/>
        </dgm:presLayoutVars>
      </dgm:prSet>
      <dgm:spPr/>
    </dgm:pt>
    <dgm:pt modelId="{E350CC49-F5D4-4B3C-9610-738F2746A6EB}" type="pres">
      <dgm:prSet presAssocID="{504F0136-DBD9-4B36-ACDE-E7D26AD6D2EC}" presName="level3hierChild" presStyleCnt="0"/>
      <dgm:spPr/>
    </dgm:pt>
  </dgm:ptLst>
  <dgm:cxnLst>
    <dgm:cxn modelId="{82FB4F0D-A957-4863-8E68-C64A452AC395}" srcId="{29F2076D-3EC8-4F2E-AFED-6EEC6DBE00AB}" destId="{E1B5079A-75A4-413B-BF40-F39D71355DE2}" srcOrd="0" destOrd="0" parTransId="{245785A1-576C-4CC0-8550-FAA18F46DEEB}" sibTransId="{B48D08FF-651E-46F3-BD47-BB9CFA39E7D0}"/>
    <dgm:cxn modelId="{7DB8860F-98A1-40F1-90F5-725DC2162FE3}" type="presOf" srcId="{330D3129-B272-45A6-AEFD-AA5CEA9EBC4C}" destId="{7627D5AA-8C7E-492C-BB07-EC488524C801}" srcOrd="0" destOrd="0" presId="urn:microsoft.com/office/officeart/2005/8/layout/hierarchy2"/>
    <dgm:cxn modelId="{89C2BD1C-FE54-4C0D-A36B-1CEEB219BAAC}" type="presOf" srcId="{245785A1-576C-4CC0-8550-FAA18F46DEEB}" destId="{07A26B99-A06F-49B1-BC99-871025D24F9A}" srcOrd="1" destOrd="0" presId="urn:microsoft.com/office/officeart/2005/8/layout/hierarchy2"/>
    <dgm:cxn modelId="{F6E1A335-1100-4BA2-9C71-6B07078E1AC1}" type="presOf" srcId="{CD7BCE0F-3F04-4F30-AB13-3254AAED2CF8}" destId="{8504B36B-2592-453E-B298-4A2342BD1BD1}" srcOrd="0" destOrd="0" presId="urn:microsoft.com/office/officeart/2005/8/layout/hierarchy2"/>
    <dgm:cxn modelId="{0B27BE4B-6F0E-44DA-B4B2-9F6FD36BE702}" type="presOf" srcId="{245785A1-576C-4CC0-8550-FAA18F46DEEB}" destId="{E1537397-644D-4716-8F51-48632D667EE8}" srcOrd="0" destOrd="0" presId="urn:microsoft.com/office/officeart/2005/8/layout/hierarchy2"/>
    <dgm:cxn modelId="{6A3CBF4C-F78A-470B-9E86-E33DFCAA920B}" type="presOf" srcId="{29F2076D-3EC8-4F2E-AFED-6EEC6DBE00AB}" destId="{559B870C-BB88-4E79-8D26-3E3E4C6101A6}" srcOrd="0" destOrd="0" presId="urn:microsoft.com/office/officeart/2005/8/layout/hierarchy2"/>
    <dgm:cxn modelId="{5508426D-FA34-484B-ADD4-F9A61A4AFFFB}" srcId="{29F2076D-3EC8-4F2E-AFED-6EEC6DBE00AB}" destId="{504F0136-DBD9-4B36-ACDE-E7D26AD6D2EC}" srcOrd="1" destOrd="0" parTransId="{330D3129-B272-45A6-AEFD-AA5CEA9EBC4C}" sibTransId="{00A8EEEE-C0AB-4068-AF43-4C9010711EB4}"/>
    <dgm:cxn modelId="{0A29A494-9D9B-47FF-BFAB-1CFA913EA366}" srcId="{CD7BCE0F-3F04-4F30-AB13-3254AAED2CF8}" destId="{29F2076D-3EC8-4F2E-AFED-6EEC6DBE00AB}" srcOrd="0" destOrd="0" parTransId="{198CCECF-A19E-4712-9B5E-05C7BCFBA773}" sibTransId="{A00AD877-D3F6-43A2-BBF5-796384B96210}"/>
    <dgm:cxn modelId="{D409039E-26B6-47E8-96F0-A19CCDD6FED5}" type="presOf" srcId="{504F0136-DBD9-4B36-ACDE-E7D26AD6D2EC}" destId="{C6A6C8CC-1DC2-4D64-ACD7-D0AAB1FFBF4B}" srcOrd="0" destOrd="0" presId="urn:microsoft.com/office/officeart/2005/8/layout/hierarchy2"/>
    <dgm:cxn modelId="{5A6CD7C1-E610-415A-AC66-34020CC58373}" type="presOf" srcId="{330D3129-B272-45A6-AEFD-AA5CEA9EBC4C}" destId="{F3C991C3-C0F6-49BF-B249-CC2C680B4356}" srcOrd="1" destOrd="0" presId="urn:microsoft.com/office/officeart/2005/8/layout/hierarchy2"/>
    <dgm:cxn modelId="{60ABF4E5-F542-437E-B676-2C6225463B9D}" type="presOf" srcId="{E1B5079A-75A4-413B-BF40-F39D71355DE2}" destId="{DC2CEAA5-4CF9-4F0C-A12A-C4F828BEF41F}" srcOrd="0" destOrd="0" presId="urn:microsoft.com/office/officeart/2005/8/layout/hierarchy2"/>
    <dgm:cxn modelId="{7AC1B53D-C385-4762-9770-561EE4CC6BFC}" type="presParOf" srcId="{8504B36B-2592-453E-B298-4A2342BD1BD1}" destId="{FA1E9F1C-59BB-4F3D-8515-E8D1F5836095}" srcOrd="0" destOrd="0" presId="urn:microsoft.com/office/officeart/2005/8/layout/hierarchy2"/>
    <dgm:cxn modelId="{FCB3B836-7833-4267-AB42-34C8CC8F75A0}" type="presParOf" srcId="{FA1E9F1C-59BB-4F3D-8515-E8D1F5836095}" destId="{559B870C-BB88-4E79-8D26-3E3E4C6101A6}" srcOrd="0" destOrd="0" presId="urn:microsoft.com/office/officeart/2005/8/layout/hierarchy2"/>
    <dgm:cxn modelId="{56895BEF-8585-4E05-A3EB-3D45D3B0567E}" type="presParOf" srcId="{FA1E9F1C-59BB-4F3D-8515-E8D1F5836095}" destId="{5795E7CB-027C-4AE5-8095-7A1F767CACC3}" srcOrd="1" destOrd="0" presId="urn:microsoft.com/office/officeart/2005/8/layout/hierarchy2"/>
    <dgm:cxn modelId="{A2C7E857-182F-42BB-A394-044BB3D628AB}" type="presParOf" srcId="{5795E7CB-027C-4AE5-8095-7A1F767CACC3}" destId="{E1537397-644D-4716-8F51-48632D667EE8}" srcOrd="0" destOrd="0" presId="urn:microsoft.com/office/officeart/2005/8/layout/hierarchy2"/>
    <dgm:cxn modelId="{9A47C929-F305-4511-B59B-BB5D6010683F}" type="presParOf" srcId="{E1537397-644D-4716-8F51-48632D667EE8}" destId="{07A26B99-A06F-49B1-BC99-871025D24F9A}" srcOrd="0" destOrd="0" presId="urn:microsoft.com/office/officeart/2005/8/layout/hierarchy2"/>
    <dgm:cxn modelId="{3898849B-D973-4A1E-9F97-233DA1DE360D}" type="presParOf" srcId="{5795E7CB-027C-4AE5-8095-7A1F767CACC3}" destId="{EAF6C922-7DD0-468C-9E32-4CD7C1233BD7}" srcOrd="1" destOrd="0" presId="urn:microsoft.com/office/officeart/2005/8/layout/hierarchy2"/>
    <dgm:cxn modelId="{07EE8C7B-64E5-4455-A391-5C2D3AA3C6B3}" type="presParOf" srcId="{EAF6C922-7DD0-468C-9E32-4CD7C1233BD7}" destId="{DC2CEAA5-4CF9-4F0C-A12A-C4F828BEF41F}" srcOrd="0" destOrd="0" presId="urn:microsoft.com/office/officeart/2005/8/layout/hierarchy2"/>
    <dgm:cxn modelId="{E65D1077-1F90-4B09-B045-EBAE2C2818F4}" type="presParOf" srcId="{EAF6C922-7DD0-468C-9E32-4CD7C1233BD7}" destId="{87D7EAC6-8BED-439D-8B74-76D4FDA926E2}" srcOrd="1" destOrd="0" presId="urn:microsoft.com/office/officeart/2005/8/layout/hierarchy2"/>
    <dgm:cxn modelId="{C252573F-097B-45A9-B753-070BA780A91B}" type="presParOf" srcId="{5795E7CB-027C-4AE5-8095-7A1F767CACC3}" destId="{7627D5AA-8C7E-492C-BB07-EC488524C801}" srcOrd="2" destOrd="0" presId="urn:microsoft.com/office/officeart/2005/8/layout/hierarchy2"/>
    <dgm:cxn modelId="{F1E784B6-2A90-4C55-9DA7-89EB69A7391E}" type="presParOf" srcId="{7627D5AA-8C7E-492C-BB07-EC488524C801}" destId="{F3C991C3-C0F6-49BF-B249-CC2C680B4356}" srcOrd="0" destOrd="0" presId="urn:microsoft.com/office/officeart/2005/8/layout/hierarchy2"/>
    <dgm:cxn modelId="{5E1724F6-F53D-45AF-8FCE-E5BC39D561DF}" type="presParOf" srcId="{5795E7CB-027C-4AE5-8095-7A1F767CACC3}" destId="{DA953AD0-91DC-413A-B9F8-ED15AF631897}" srcOrd="3" destOrd="0" presId="urn:microsoft.com/office/officeart/2005/8/layout/hierarchy2"/>
    <dgm:cxn modelId="{DE6E6512-BAA2-40F0-AD08-653E4D7323C0}" type="presParOf" srcId="{DA953AD0-91DC-413A-B9F8-ED15AF631897}" destId="{C6A6C8CC-1DC2-4D64-ACD7-D0AAB1FFBF4B}" srcOrd="0" destOrd="0" presId="urn:microsoft.com/office/officeart/2005/8/layout/hierarchy2"/>
    <dgm:cxn modelId="{E735D6CB-A092-4D4E-B95F-68F0A62B8E89}" type="presParOf" srcId="{DA953AD0-91DC-413A-B9F8-ED15AF631897}" destId="{E350CC49-F5D4-4B3C-9610-738F2746A6EB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9B870C-BB88-4E79-8D26-3E3E4C6101A6}">
      <dsp:nvSpPr>
        <dsp:cNvPr id="0" name=""/>
        <dsp:cNvSpPr/>
      </dsp:nvSpPr>
      <dsp:spPr>
        <a:xfrm>
          <a:off x="428608" y="1628918"/>
          <a:ext cx="3302028" cy="15755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b="0" kern="1200" dirty="0"/>
            <a:t>Převodník A/D</a:t>
          </a:r>
        </a:p>
      </dsp:txBody>
      <dsp:txXfrm>
        <a:off x="474755" y="1675065"/>
        <a:ext cx="3209734" cy="1483268"/>
      </dsp:txXfrm>
    </dsp:sp>
    <dsp:sp modelId="{E1537397-644D-4716-8F51-48632D667EE8}">
      <dsp:nvSpPr>
        <dsp:cNvPr id="0" name=""/>
        <dsp:cNvSpPr/>
      </dsp:nvSpPr>
      <dsp:spPr>
        <a:xfrm rot="17948606">
          <a:off x="3149660" y="1411521"/>
          <a:ext cx="2265005" cy="32092"/>
        </a:xfrm>
        <a:custGeom>
          <a:avLst/>
          <a:gdLst/>
          <a:ahLst/>
          <a:cxnLst/>
          <a:rect l="0" t="0" r="0" b="0"/>
          <a:pathLst>
            <a:path>
              <a:moveTo>
                <a:pt x="0" y="16046"/>
              </a:moveTo>
              <a:lnTo>
                <a:pt x="2265005" y="16046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2400" kern="1200"/>
        </a:p>
      </dsp:txBody>
      <dsp:txXfrm>
        <a:off x="4225538" y="1370942"/>
        <a:ext cx="113250" cy="113250"/>
      </dsp:txXfrm>
    </dsp:sp>
    <dsp:sp modelId="{DC2CEAA5-4CF9-4F0C-A12A-C4F828BEF41F}">
      <dsp:nvSpPr>
        <dsp:cNvPr id="0" name=""/>
        <dsp:cNvSpPr/>
      </dsp:nvSpPr>
      <dsp:spPr>
        <a:xfrm>
          <a:off x="4833689" y="3807"/>
          <a:ext cx="3474054" cy="86925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400" b="1" kern="1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Komparační</a:t>
          </a:r>
        </a:p>
      </dsp:txBody>
      <dsp:txXfrm>
        <a:off x="4859149" y="29267"/>
        <a:ext cx="3423134" cy="818336"/>
      </dsp:txXfrm>
    </dsp:sp>
    <dsp:sp modelId="{7627D5AA-8C7E-492C-BB07-EC488524C801}">
      <dsp:nvSpPr>
        <dsp:cNvPr id="0" name=""/>
        <dsp:cNvSpPr/>
      </dsp:nvSpPr>
      <dsp:spPr>
        <a:xfrm rot="19105251">
          <a:off x="3544868" y="1911344"/>
          <a:ext cx="1474590" cy="32092"/>
        </a:xfrm>
        <a:custGeom>
          <a:avLst/>
          <a:gdLst/>
          <a:ahLst/>
          <a:cxnLst/>
          <a:rect l="0" t="0" r="0" b="0"/>
          <a:pathLst>
            <a:path>
              <a:moveTo>
                <a:pt x="0" y="16046"/>
              </a:moveTo>
              <a:lnTo>
                <a:pt x="1474590" y="16046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2400" kern="1200"/>
        </a:p>
      </dsp:txBody>
      <dsp:txXfrm>
        <a:off x="4245298" y="1890525"/>
        <a:ext cx="73729" cy="73729"/>
      </dsp:txXfrm>
    </dsp:sp>
    <dsp:sp modelId="{C6A6C8CC-1DC2-4D64-ACD7-D0AAB1FFBF4B}">
      <dsp:nvSpPr>
        <dsp:cNvPr id="0" name=""/>
        <dsp:cNvSpPr/>
      </dsp:nvSpPr>
      <dsp:spPr>
        <a:xfrm>
          <a:off x="4833689" y="1003453"/>
          <a:ext cx="3474054" cy="86925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400" b="1" kern="1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Zpětnovazební</a:t>
          </a:r>
        </a:p>
      </dsp:txBody>
      <dsp:txXfrm>
        <a:off x="4859149" y="1028913"/>
        <a:ext cx="3423134" cy="818336"/>
      </dsp:txXfrm>
    </dsp:sp>
    <dsp:sp modelId="{8A0D2308-8716-4F49-A5EE-A5DF9CC9E0F5}">
      <dsp:nvSpPr>
        <dsp:cNvPr id="0" name=""/>
        <dsp:cNvSpPr/>
      </dsp:nvSpPr>
      <dsp:spPr>
        <a:xfrm rot="65525">
          <a:off x="3730537" y="2411167"/>
          <a:ext cx="1103252" cy="32092"/>
        </a:xfrm>
        <a:custGeom>
          <a:avLst/>
          <a:gdLst/>
          <a:ahLst/>
          <a:cxnLst/>
          <a:rect l="0" t="0" r="0" b="0"/>
          <a:pathLst>
            <a:path>
              <a:moveTo>
                <a:pt x="0" y="16046"/>
              </a:moveTo>
              <a:lnTo>
                <a:pt x="1103252" y="16046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2400" kern="1200"/>
        </a:p>
      </dsp:txBody>
      <dsp:txXfrm>
        <a:off x="4254582" y="2399632"/>
        <a:ext cx="55162" cy="55162"/>
      </dsp:txXfrm>
    </dsp:sp>
    <dsp:sp modelId="{A1EDA19C-3DCB-494C-874D-E34468812DF6}">
      <dsp:nvSpPr>
        <dsp:cNvPr id="0" name=""/>
        <dsp:cNvSpPr/>
      </dsp:nvSpPr>
      <dsp:spPr>
        <a:xfrm>
          <a:off x="4833689" y="2003098"/>
          <a:ext cx="3474054" cy="86925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400" kern="1200" dirty="0">
              <a:solidFill>
                <a:schemeClr val="bg1"/>
              </a:solidFill>
              <a:effectLst/>
            </a:rPr>
            <a:t>Sledovací</a:t>
          </a:r>
        </a:p>
      </dsp:txBody>
      <dsp:txXfrm>
        <a:off x="4859149" y="2028558"/>
        <a:ext cx="3423134" cy="818336"/>
      </dsp:txXfrm>
    </dsp:sp>
    <dsp:sp modelId="{2D71DBFA-8D30-4E6F-9B2F-5687569FDCE8}">
      <dsp:nvSpPr>
        <dsp:cNvPr id="0" name=""/>
        <dsp:cNvSpPr/>
      </dsp:nvSpPr>
      <dsp:spPr>
        <a:xfrm rot="2566716">
          <a:off x="3530748" y="2910989"/>
          <a:ext cx="1502829" cy="32092"/>
        </a:xfrm>
        <a:custGeom>
          <a:avLst/>
          <a:gdLst/>
          <a:ahLst/>
          <a:cxnLst/>
          <a:rect l="0" t="0" r="0" b="0"/>
          <a:pathLst>
            <a:path>
              <a:moveTo>
                <a:pt x="0" y="16046"/>
              </a:moveTo>
              <a:lnTo>
                <a:pt x="1502829" y="16046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2400" kern="1200"/>
        </a:p>
      </dsp:txBody>
      <dsp:txXfrm>
        <a:off x="4244592" y="2889465"/>
        <a:ext cx="75141" cy="75141"/>
      </dsp:txXfrm>
    </dsp:sp>
    <dsp:sp modelId="{4F0DA1D2-6434-4950-B9A7-572F0A04F65F}">
      <dsp:nvSpPr>
        <dsp:cNvPr id="0" name=""/>
        <dsp:cNvSpPr/>
      </dsp:nvSpPr>
      <dsp:spPr>
        <a:xfrm>
          <a:off x="4833689" y="3002744"/>
          <a:ext cx="3474054" cy="86925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400" b="1" kern="1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Aproximační</a:t>
          </a:r>
        </a:p>
      </dsp:txBody>
      <dsp:txXfrm>
        <a:off x="4859149" y="3028204"/>
        <a:ext cx="3423134" cy="818336"/>
      </dsp:txXfrm>
    </dsp:sp>
    <dsp:sp modelId="{EE2387CE-5824-4F2D-AFE2-EE396DF08A24}">
      <dsp:nvSpPr>
        <dsp:cNvPr id="0" name=""/>
        <dsp:cNvSpPr/>
      </dsp:nvSpPr>
      <dsp:spPr>
        <a:xfrm rot="3681982">
          <a:off x="3131249" y="3410812"/>
          <a:ext cx="2301827" cy="32092"/>
        </a:xfrm>
        <a:custGeom>
          <a:avLst/>
          <a:gdLst/>
          <a:ahLst/>
          <a:cxnLst/>
          <a:rect l="0" t="0" r="0" b="0"/>
          <a:pathLst>
            <a:path>
              <a:moveTo>
                <a:pt x="0" y="16046"/>
              </a:moveTo>
              <a:lnTo>
                <a:pt x="2301827" y="16046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2400" kern="1200"/>
        </a:p>
      </dsp:txBody>
      <dsp:txXfrm>
        <a:off x="4224617" y="3369313"/>
        <a:ext cx="115091" cy="115091"/>
      </dsp:txXfrm>
    </dsp:sp>
    <dsp:sp modelId="{303DE69F-0E33-42AB-A87C-405F6BEC7C4D}">
      <dsp:nvSpPr>
        <dsp:cNvPr id="0" name=""/>
        <dsp:cNvSpPr/>
      </dsp:nvSpPr>
      <dsp:spPr>
        <a:xfrm>
          <a:off x="4833689" y="4002389"/>
          <a:ext cx="3474054" cy="86925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400" kern="1200" dirty="0">
              <a:solidFill>
                <a:schemeClr val="bg1"/>
              </a:solidFill>
              <a:effectLst/>
            </a:rPr>
            <a:t>Integrační</a:t>
          </a:r>
        </a:p>
      </dsp:txBody>
      <dsp:txXfrm>
        <a:off x="4859149" y="4027849"/>
        <a:ext cx="3423134" cy="8183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9B870C-BB88-4E79-8D26-3E3E4C6101A6}">
      <dsp:nvSpPr>
        <dsp:cNvPr id="0" name=""/>
        <dsp:cNvSpPr/>
      </dsp:nvSpPr>
      <dsp:spPr>
        <a:xfrm>
          <a:off x="0" y="1449718"/>
          <a:ext cx="3497304" cy="76402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b="0" kern="1200" dirty="0"/>
            <a:t>Převodník D/A</a:t>
          </a:r>
        </a:p>
      </dsp:txBody>
      <dsp:txXfrm>
        <a:off x="22377" y="1472095"/>
        <a:ext cx="3452550" cy="719267"/>
      </dsp:txXfrm>
    </dsp:sp>
    <dsp:sp modelId="{E1537397-644D-4716-8F51-48632D667EE8}">
      <dsp:nvSpPr>
        <dsp:cNvPr id="0" name=""/>
        <dsp:cNvSpPr/>
      </dsp:nvSpPr>
      <dsp:spPr>
        <a:xfrm rot="19534365">
          <a:off x="3418749" y="1555827"/>
          <a:ext cx="896970" cy="44692"/>
        </a:xfrm>
        <a:custGeom>
          <a:avLst/>
          <a:gdLst/>
          <a:ahLst/>
          <a:cxnLst/>
          <a:rect l="0" t="0" r="0" b="0"/>
          <a:pathLst>
            <a:path>
              <a:moveTo>
                <a:pt x="0" y="22346"/>
              </a:moveTo>
              <a:lnTo>
                <a:pt x="896970" y="22346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2400" kern="1200"/>
        </a:p>
      </dsp:txBody>
      <dsp:txXfrm>
        <a:off x="3844810" y="1555749"/>
        <a:ext cx="44848" cy="44848"/>
      </dsp:txXfrm>
    </dsp:sp>
    <dsp:sp modelId="{DC2CEAA5-4CF9-4F0C-A12A-C4F828BEF41F}">
      <dsp:nvSpPr>
        <dsp:cNvPr id="0" name=""/>
        <dsp:cNvSpPr/>
      </dsp:nvSpPr>
      <dsp:spPr>
        <a:xfrm>
          <a:off x="4237165" y="864287"/>
          <a:ext cx="3679503" cy="92066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Váhové rezistory</a:t>
          </a:r>
        </a:p>
      </dsp:txBody>
      <dsp:txXfrm>
        <a:off x="4264130" y="891252"/>
        <a:ext cx="3625573" cy="866733"/>
      </dsp:txXfrm>
    </dsp:sp>
    <dsp:sp modelId="{7627D5AA-8C7E-492C-BB07-EC488524C801}">
      <dsp:nvSpPr>
        <dsp:cNvPr id="0" name=""/>
        <dsp:cNvSpPr/>
      </dsp:nvSpPr>
      <dsp:spPr>
        <a:xfrm rot="2202527">
          <a:off x="3405793" y="2085209"/>
          <a:ext cx="922883" cy="44692"/>
        </a:xfrm>
        <a:custGeom>
          <a:avLst/>
          <a:gdLst/>
          <a:ahLst/>
          <a:cxnLst/>
          <a:rect l="0" t="0" r="0" b="0"/>
          <a:pathLst>
            <a:path>
              <a:moveTo>
                <a:pt x="0" y="22346"/>
              </a:moveTo>
              <a:lnTo>
                <a:pt x="922883" y="22346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2400" kern="1200"/>
        </a:p>
      </dsp:txBody>
      <dsp:txXfrm>
        <a:off x="3844162" y="2084483"/>
        <a:ext cx="46144" cy="46144"/>
      </dsp:txXfrm>
    </dsp:sp>
    <dsp:sp modelId="{C6A6C8CC-1DC2-4D64-ACD7-D0AAB1FFBF4B}">
      <dsp:nvSpPr>
        <dsp:cNvPr id="0" name=""/>
        <dsp:cNvSpPr/>
      </dsp:nvSpPr>
      <dsp:spPr>
        <a:xfrm>
          <a:off x="4237165" y="1923049"/>
          <a:ext cx="3679503" cy="92066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400" kern="1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Síť R-2R</a:t>
          </a:r>
        </a:p>
      </dsp:txBody>
      <dsp:txXfrm>
        <a:off x="4264130" y="1950014"/>
        <a:ext cx="3625573" cy="8667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78762" cy="51206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425" tIns="47713" rIns="95425" bIns="47713" numCol="1" anchor="t" anchorCtr="0" compatLnSpc="1">
            <a:prstTxWarp prst="textNoShape">
              <a:avLst/>
            </a:prstTxWarp>
          </a:bodyPr>
          <a:lstStyle>
            <a:lvl1pPr>
              <a:defRPr sz="1300" b="0"/>
            </a:lvl1pPr>
          </a:lstStyle>
          <a:p>
            <a:endParaRPr lang="cs-CZ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5303" y="1"/>
            <a:ext cx="3078761" cy="51206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425" tIns="47713" rIns="95425" bIns="47713" numCol="1" anchor="t" anchorCtr="0" compatLnSpc="1">
            <a:prstTxWarp prst="textNoShape">
              <a:avLst/>
            </a:prstTxWarp>
          </a:bodyPr>
          <a:lstStyle>
            <a:lvl1pPr algn="r">
              <a:defRPr sz="1300" b="0"/>
            </a:lvl1pPr>
          </a:lstStyle>
          <a:p>
            <a:endParaRPr lang="cs-CZ"/>
          </a:p>
        </p:txBody>
      </p:sp>
      <p:sp>
        <p:nvSpPr>
          <p:cNvPr id="30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2555"/>
            <a:ext cx="3078762" cy="51206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425" tIns="47713" rIns="95425" bIns="47713" numCol="1" anchor="b" anchorCtr="0" compatLnSpc="1">
            <a:prstTxWarp prst="textNoShape">
              <a:avLst/>
            </a:prstTxWarp>
          </a:bodyPr>
          <a:lstStyle>
            <a:lvl1pPr>
              <a:defRPr sz="1300" b="0"/>
            </a:lvl1pPr>
          </a:lstStyle>
          <a:p>
            <a:endParaRPr lang="cs-CZ"/>
          </a:p>
        </p:txBody>
      </p:sp>
      <p:sp>
        <p:nvSpPr>
          <p:cNvPr id="30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5303" y="9722555"/>
            <a:ext cx="3078761" cy="51206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425" tIns="47713" rIns="95425" bIns="47713" numCol="1" anchor="b" anchorCtr="0" compatLnSpc="1">
            <a:prstTxWarp prst="textNoShape">
              <a:avLst/>
            </a:prstTxWarp>
          </a:bodyPr>
          <a:lstStyle>
            <a:lvl1pPr algn="r">
              <a:defRPr sz="1300" b="0"/>
            </a:lvl1pPr>
          </a:lstStyle>
          <a:p>
            <a:fld id="{B789FC14-9522-4CF0-9A65-5F024E367975}" type="slidenum">
              <a:rPr lang="cs-CZ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004928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78762" cy="512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25" tIns="47713" rIns="95425" bIns="47713" numCol="1" anchor="t" anchorCtr="0" compatLnSpc="1">
            <a:prstTxWarp prst="textNoShape">
              <a:avLst/>
            </a:prstTxWarp>
          </a:bodyPr>
          <a:lstStyle>
            <a:lvl1pPr>
              <a:defRPr sz="1300" b="0"/>
            </a:lvl1pPr>
          </a:lstStyle>
          <a:p>
            <a:endParaRPr lang="cs-CZ"/>
          </a:p>
        </p:txBody>
      </p:sp>
      <p:sp>
        <p:nvSpPr>
          <p:cNvPr id="135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3630" y="1"/>
            <a:ext cx="3078762" cy="512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25" tIns="47713" rIns="95425" bIns="47713" numCol="1" anchor="t" anchorCtr="0" compatLnSpc="1">
            <a:prstTxWarp prst="textNoShape">
              <a:avLst/>
            </a:prstTxWarp>
          </a:bodyPr>
          <a:lstStyle>
            <a:lvl1pPr algn="r">
              <a:defRPr sz="1300" b="0"/>
            </a:lvl1pPr>
          </a:lstStyle>
          <a:p>
            <a:endParaRPr lang="cs-CZ"/>
          </a:p>
        </p:txBody>
      </p:sp>
      <p:sp>
        <p:nvSpPr>
          <p:cNvPr id="135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3775" y="766763"/>
            <a:ext cx="5116513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35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0744" y="4862101"/>
            <a:ext cx="5682581" cy="46052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25" tIns="47713" rIns="95425" bIns="477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135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0907"/>
            <a:ext cx="3078762" cy="512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25" tIns="47713" rIns="95425" bIns="47713" numCol="1" anchor="b" anchorCtr="0" compatLnSpc="1">
            <a:prstTxWarp prst="textNoShape">
              <a:avLst/>
            </a:prstTxWarp>
          </a:bodyPr>
          <a:lstStyle>
            <a:lvl1pPr>
              <a:defRPr sz="1300" b="0"/>
            </a:lvl1pPr>
          </a:lstStyle>
          <a:p>
            <a:endParaRPr lang="cs-CZ"/>
          </a:p>
        </p:txBody>
      </p:sp>
      <p:sp>
        <p:nvSpPr>
          <p:cNvPr id="135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3630" y="9720907"/>
            <a:ext cx="3078762" cy="512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25" tIns="47713" rIns="95425" bIns="47713" numCol="1" anchor="b" anchorCtr="0" compatLnSpc="1">
            <a:prstTxWarp prst="textNoShape">
              <a:avLst/>
            </a:prstTxWarp>
          </a:bodyPr>
          <a:lstStyle>
            <a:lvl1pPr algn="r">
              <a:defRPr sz="1300" b="0"/>
            </a:lvl1pPr>
          </a:lstStyle>
          <a:p>
            <a:fld id="{5F85057A-F1F2-483B-BD27-BE54DAB18A85}" type="slidenum">
              <a:rPr lang="cs-CZ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955469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993775" y="766763"/>
            <a:ext cx="5116513" cy="3838575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95EEAFF5-42F6-48E8-8B2A-FBA7A2EC0999}" type="slidenum">
              <a:rPr lang="cs-CZ">
                <a:solidFill>
                  <a:prstClr val="black"/>
                </a:solidFill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cs-CZ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F47E2342-14F7-425B-93D2-D06753AC8677}" type="slidenum">
              <a:rPr lang="cs-CZ">
                <a:solidFill>
                  <a:prstClr val="black"/>
                </a:solidFill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cs-CZ" dirty="0">
              <a:solidFill>
                <a:prstClr val="black"/>
              </a:solidFill>
            </a:endParaRPr>
          </a:p>
        </p:txBody>
      </p:sp>
      <p:sp>
        <p:nvSpPr>
          <p:cNvPr id="273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6763"/>
            <a:ext cx="5116513" cy="3838575"/>
          </a:xfrm>
          <a:ln/>
        </p:spPr>
      </p:sp>
      <p:sp>
        <p:nvSpPr>
          <p:cNvPr id="273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0F6ACE72-45B9-46EB-9812-BE6DEFC3F096}" type="slidenum">
              <a:rPr lang="cs-CZ">
                <a:solidFill>
                  <a:prstClr val="black"/>
                </a:solidFill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cs-CZ" dirty="0">
              <a:solidFill>
                <a:prstClr val="black"/>
              </a:solidFill>
            </a:endParaRPr>
          </a:p>
        </p:txBody>
      </p:sp>
      <p:sp>
        <p:nvSpPr>
          <p:cNvPr id="274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6763"/>
            <a:ext cx="5116513" cy="3838575"/>
          </a:xfrm>
          <a:ln/>
        </p:spPr>
      </p:sp>
      <p:sp>
        <p:nvSpPr>
          <p:cNvPr id="274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2EF345F-C42D-4BFB-832D-7718F492B793}" type="slidenum">
              <a:rPr lang="cs-CZ"/>
              <a:pPr/>
              <a:t>4</a:t>
            </a:fld>
            <a:endParaRPr lang="cs-CZ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6763"/>
            <a:ext cx="5116513" cy="3838575"/>
          </a:xfrm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B415192-1EC6-44ED-96DF-1592854C7C07}" type="slidenum">
              <a:rPr lang="cs-CZ"/>
              <a:pPr/>
              <a:t>5</a:t>
            </a:fld>
            <a:endParaRPr lang="cs-CZ"/>
          </a:p>
        </p:txBody>
      </p:sp>
      <p:sp>
        <p:nvSpPr>
          <p:cNvPr id="200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6763"/>
            <a:ext cx="5116513" cy="3838575"/>
          </a:xfrm>
          <a:ln/>
        </p:spPr>
      </p:sp>
      <p:sp>
        <p:nvSpPr>
          <p:cNvPr id="200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3775" y="766763"/>
            <a:ext cx="5116513" cy="38385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solidFill>
                  <a:prstClr val="black"/>
                </a:solidFill>
                <a:latin typeface="Arial" charset="0"/>
              </a:rPr>
              <a:pPr/>
              <a:t>6</a:t>
            </a:fld>
            <a:endParaRPr lang="cs-CZ">
              <a:solidFill>
                <a:prstClr val="black"/>
              </a:solidFill>
              <a:latin typeface="Arial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3775" y="766763"/>
            <a:ext cx="5116513" cy="38385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solidFill>
                  <a:prstClr val="black"/>
                </a:solidFill>
                <a:latin typeface="Arial" charset="0"/>
              </a:rPr>
              <a:pPr/>
              <a:t>7</a:t>
            </a:fld>
            <a:endParaRPr lang="cs-CZ">
              <a:solidFill>
                <a:prstClr val="black"/>
              </a:solidFill>
              <a:latin typeface="Arial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3775" y="766763"/>
            <a:ext cx="5116513" cy="38385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solidFill>
                  <a:prstClr val="black"/>
                </a:solidFill>
                <a:latin typeface="Arial" charset="0"/>
              </a:rPr>
              <a:pPr/>
              <a:t>8</a:t>
            </a:fld>
            <a:endParaRPr lang="cs-CZ">
              <a:solidFill>
                <a:prstClr val="black"/>
              </a:solidFill>
              <a:latin typeface="Arial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3775" y="766763"/>
            <a:ext cx="5116513" cy="38385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solidFill>
                  <a:prstClr val="black"/>
                </a:solidFill>
                <a:latin typeface="Arial" charset="0"/>
              </a:rPr>
              <a:pPr/>
              <a:t>9</a:t>
            </a:fld>
            <a:endParaRPr lang="cs-CZ">
              <a:solidFill>
                <a:prstClr val="black"/>
              </a:solidFill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3775" y="766763"/>
            <a:ext cx="5116513" cy="38385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solidFill>
                  <a:prstClr val="black"/>
                </a:solidFill>
                <a:latin typeface="Arial" charset="0"/>
              </a:rPr>
              <a:pPr/>
              <a:t>10</a:t>
            </a:fld>
            <a:endParaRPr lang="cs-CZ">
              <a:solidFill>
                <a:prstClr val="black"/>
              </a:solidFill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3775" y="766763"/>
            <a:ext cx="5116513" cy="38385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solidFill>
                  <a:prstClr val="black"/>
                </a:solidFill>
                <a:latin typeface="Arial" charset="0"/>
              </a:rPr>
              <a:pPr/>
              <a:t>11</a:t>
            </a:fld>
            <a:endParaRPr lang="cs-CZ">
              <a:solidFill>
                <a:prstClr val="black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99433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3775" y="766763"/>
            <a:ext cx="5116513" cy="38385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solidFill>
                  <a:prstClr val="black"/>
                </a:solidFill>
                <a:latin typeface="Arial" charset="0"/>
              </a:rPr>
              <a:pPr/>
              <a:t>12</a:t>
            </a:fld>
            <a:endParaRPr lang="cs-CZ">
              <a:solidFill>
                <a:prstClr val="black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3491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3775" y="766763"/>
            <a:ext cx="5116513" cy="38385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solidFill>
                  <a:prstClr val="black"/>
                </a:solidFill>
                <a:latin typeface="Arial" charset="0"/>
              </a:rPr>
              <a:pPr/>
              <a:t>13</a:t>
            </a:fld>
            <a:endParaRPr lang="cs-CZ">
              <a:solidFill>
                <a:prstClr val="black"/>
              </a:solidFill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717123A-2912-49B9-97F4-0E883EEA3338}" type="slidenum">
              <a:rPr lang="cs-CZ"/>
              <a:pPr/>
              <a:t>14</a:t>
            </a:fld>
            <a:endParaRPr lang="cs-CZ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993775" y="766763"/>
            <a:ext cx="5116513" cy="3838575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B5818CF-B69B-4743-8A03-92EAF716288B}" type="slidenum">
              <a:rPr lang="cs-CZ" smtClean="0">
                <a:solidFill>
                  <a:prstClr val="black"/>
                </a:solidFill>
              </a:rPr>
              <a:pPr>
                <a:defRPr/>
              </a:pPr>
              <a:t>15</a:t>
            </a:fld>
            <a:endParaRPr lang="cs-CZ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3775" y="766763"/>
            <a:ext cx="5116513" cy="38385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solidFill>
                  <a:prstClr val="black"/>
                </a:solidFill>
                <a:latin typeface="Arial" charset="0"/>
              </a:rPr>
              <a:pPr/>
              <a:t>16</a:t>
            </a:fld>
            <a:endParaRPr lang="cs-CZ">
              <a:solidFill>
                <a:prstClr val="black"/>
              </a:solidFill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3775" y="766763"/>
            <a:ext cx="5116513" cy="38385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solidFill>
                  <a:prstClr val="black"/>
                </a:solidFill>
                <a:latin typeface="Arial" charset="0"/>
              </a:rPr>
              <a:pPr/>
              <a:t>17</a:t>
            </a:fld>
            <a:endParaRPr lang="cs-CZ">
              <a:solidFill>
                <a:prstClr val="black"/>
              </a:solidFill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993775" y="766763"/>
            <a:ext cx="5116513" cy="3838575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B5818CF-B69B-4743-8A03-92EAF716288B}" type="slidenum">
              <a:rPr lang="cs-CZ" smtClean="0">
                <a:solidFill>
                  <a:prstClr val="black"/>
                </a:solidFill>
              </a:rPr>
              <a:pPr>
                <a:defRPr/>
              </a:pPr>
              <a:t>18</a:t>
            </a:fld>
            <a:endParaRPr lang="cs-CZ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993775" y="766763"/>
            <a:ext cx="5116513" cy="3838575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B5818CF-B69B-4743-8A03-92EAF716288B}" type="slidenum">
              <a:rPr lang="cs-CZ" smtClean="0">
                <a:solidFill>
                  <a:prstClr val="black"/>
                </a:solidFill>
              </a:rPr>
              <a:pPr>
                <a:defRPr/>
              </a:pPr>
              <a:t>19</a:t>
            </a:fld>
            <a:endParaRPr lang="cs-CZ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3775" y="766763"/>
            <a:ext cx="5116513" cy="38385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solidFill>
                  <a:prstClr val="black"/>
                </a:solidFill>
                <a:latin typeface="Arial" charset="0"/>
              </a:rPr>
              <a:pPr/>
              <a:t>20</a:t>
            </a:fld>
            <a:endParaRPr lang="cs-CZ">
              <a:solidFill>
                <a:prstClr val="black"/>
              </a:solidFill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3775" y="766763"/>
            <a:ext cx="5116513" cy="38385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solidFill>
                  <a:prstClr val="black"/>
                </a:solidFill>
                <a:latin typeface="Arial" charset="0"/>
              </a:rPr>
              <a:pPr/>
              <a:t>21</a:t>
            </a:fld>
            <a:endParaRPr lang="cs-CZ">
              <a:solidFill>
                <a:prstClr val="black"/>
              </a:solidFill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993775" y="766763"/>
            <a:ext cx="5116513" cy="3838575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B5818CF-B69B-4743-8A03-92EAF716288B}" type="slidenum">
              <a:rPr lang="cs-CZ" smtClean="0">
                <a:solidFill>
                  <a:prstClr val="black"/>
                </a:solidFill>
              </a:rPr>
              <a:pPr>
                <a:defRPr/>
              </a:pPr>
              <a:t>22</a:t>
            </a:fld>
            <a:endParaRPr lang="cs-CZ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993775" y="766763"/>
            <a:ext cx="5116513" cy="3838575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B5818CF-B69B-4743-8A03-92EAF716288B}" type="slidenum">
              <a:rPr lang="cs-CZ" smtClean="0">
                <a:solidFill>
                  <a:prstClr val="black"/>
                </a:solidFill>
              </a:rPr>
              <a:pPr>
                <a:defRPr/>
              </a:pPr>
              <a:t>23</a:t>
            </a:fld>
            <a:endParaRPr lang="cs-CZ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3775" y="766763"/>
            <a:ext cx="5116513" cy="38385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 dirty="0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solidFill>
                  <a:prstClr val="black"/>
                </a:solidFill>
                <a:latin typeface="Arial" charset="0"/>
              </a:rPr>
              <a:pPr/>
              <a:t>24</a:t>
            </a:fld>
            <a:endParaRPr lang="cs-CZ">
              <a:solidFill>
                <a:prstClr val="black"/>
              </a:solidFill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3775" y="766763"/>
            <a:ext cx="5116513" cy="38385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solidFill>
                  <a:prstClr val="black"/>
                </a:solidFill>
                <a:latin typeface="Arial" charset="0"/>
              </a:rPr>
              <a:pPr/>
              <a:t>25</a:t>
            </a:fld>
            <a:endParaRPr lang="cs-CZ">
              <a:solidFill>
                <a:prstClr val="black"/>
              </a:solidFill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3775" y="766763"/>
            <a:ext cx="5116513" cy="38385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solidFill>
                  <a:prstClr val="black"/>
                </a:solidFill>
                <a:latin typeface="Arial" charset="0"/>
              </a:rPr>
              <a:pPr/>
              <a:t>26</a:t>
            </a:fld>
            <a:endParaRPr lang="cs-CZ">
              <a:solidFill>
                <a:prstClr val="black"/>
              </a:solidFill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3775" y="766763"/>
            <a:ext cx="5116513" cy="38385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solidFill>
                  <a:prstClr val="black"/>
                </a:solidFill>
                <a:latin typeface="Arial" charset="0"/>
              </a:rPr>
              <a:pPr/>
              <a:t>27</a:t>
            </a:fld>
            <a:endParaRPr lang="cs-CZ">
              <a:solidFill>
                <a:prstClr val="black"/>
              </a:solidFill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3775" y="766763"/>
            <a:ext cx="5116513" cy="38385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solidFill>
                  <a:prstClr val="black"/>
                </a:solidFill>
                <a:latin typeface="Arial" charset="0"/>
              </a:rPr>
              <a:pPr/>
              <a:t>28</a:t>
            </a:fld>
            <a:endParaRPr lang="cs-CZ">
              <a:solidFill>
                <a:prstClr val="black"/>
              </a:solidFill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3775" y="766763"/>
            <a:ext cx="5116513" cy="38385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solidFill>
                  <a:prstClr val="black"/>
                </a:solidFill>
                <a:latin typeface="Arial" charset="0"/>
              </a:rPr>
              <a:pPr/>
              <a:t>29</a:t>
            </a:fld>
            <a:endParaRPr lang="cs-CZ">
              <a:solidFill>
                <a:prstClr val="black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296290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3775" y="766763"/>
            <a:ext cx="5116513" cy="38385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solidFill>
                  <a:prstClr val="black"/>
                </a:solidFill>
                <a:latin typeface="Arial" charset="0"/>
              </a:rPr>
              <a:pPr/>
              <a:t>30</a:t>
            </a:fld>
            <a:endParaRPr lang="cs-CZ">
              <a:solidFill>
                <a:prstClr val="black"/>
              </a:solidFill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3775" y="766763"/>
            <a:ext cx="5116513" cy="38385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solidFill>
                  <a:prstClr val="black"/>
                </a:solidFill>
                <a:latin typeface="Arial" charset="0"/>
              </a:rPr>
              <a:pPr/>
              <a:t>31</a:t>
            </a:fld>
            <a:endParaRPr lang="cs-CZ">
              <a:solidFill>
                <a:prstClr val="black"/>
              </a:solidFill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3775" y="766763"/>
            <a:ext cx="5116513" cy="38385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solidFill>
                  <a:prstClr val="black"/>
                </a:solidFill>
                <a:latin typeface="Arial" charset="0"/>
              </a:rPr>
              <a:pPr/>
              <a:t>32</a:t>
            </a:fld>
            <a:endParaRPr lang="cs-CZ">
              <a:solidFill>
                <a:prstClr val="black"/>
              </a:solidFill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3775" y="766763"/>
            <a:ext cx="5116513" cy="38385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 dirty="0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solidFill>
                  <a:prstClr val="black"/>
                </a:solidFill>
                <a:latin typeface="Arial" charset="0"/>
              </a:rPr>
              <a:pPr/>
              <a:t>33</a:t>
            </a:fld>
            <a:endParaRPr lang="cs-CZ">
              <a:solidFill>
                <a:prstClr val="black"/>
              </a:solidFill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3775" y="766763"/>
            <a:ext cx="5116513" cy="38385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solidFill>
                  <a:prstClr val="black"/>
                </a:solidFill>
                <a:latin typeface="Arial" charset="0"/>
              </a:rPr>
              <a:pPr/>
              <a:t>34</a:t>
            </a:fld>
            <a:endParaRPr lang="cs-CZ">
              <a:solidFill>
                <a:prstClr val="black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874106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3775" y="766763"/>
            <a:ext cx="5116513" cy="38385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solidFill>
                  <a:prstClr val="black"/>
                </a:solidFill>
                <a:latin typeface="Arial" charset="0"/>
              </a:rPr>
              <a:pPr/>
              <a:t>35</a:t>
            </a:fld>
            <a:endParaRPr lang="cs-CZ">
              <a:solidFill>
                <a:prstClr val="black"/>
              </a:solidFill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4C69345-BCB8-40A8-9EEE-55FD1AFC74CA}" type="slidenum">
              <a:rPr lang="cs-CZ"/>
              <a:pPr/>
              <a:t>36</a:t>
            </a:fld>
            <a:endParaRPr lang="cs-CZ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6763"/>
            <a:ext cx="5116513" cy="3838575"/>
          </a:xfrm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4C69345-BCB8-40A8-9EEE-55FD1AFC74CA}" type="slidenum">
              <a:rPr lang="cs-CZ"/>
              <a:pPr/>
              <a:t>37</a:t>
            </a:fld>
            <a:endParaRPr lang="cs-CZ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6763"/>
            <a:ext cx="5116513" cy="3838575"/>
          </a:xfrm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38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6763"/>
            <a:ext cx="5116513" cy="3838575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39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6763"/>
            <a:ext cx="5116513" cy="3838575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40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6763"/>
            <a:ext cx="5116513" cy="3838575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41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6763"/>
            <a:ext cx="5116513" cy="3838575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cs-CZ" dirty="0"/>
              <a:t>Do pracovního</a:t>
            </a:r>
            <a:r>
              <a:rPr lang="cs-CZ" baseline="0" dirty="0"/>
              <a:t> listu</a:t>
            </a:r>
            <a:endParaRPr lang="cs-CZ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42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6763"/>
            <a:ext cx="5116513" cy="3838575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43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6763"/>
            <a:ext cx="5116513" cy="3838575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A9383F7-2EE9-4D4C-A25D-890BE40E0459}" type="slidenum">
              <a:rPr lang="cs-CZ"/>
              <a:pPr/>
              <a:t>44</a:t>
            </a:fld>
            <a:endParaRPr lang="cs-CZ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6763"/>
            <a:ext cx="5116513" cy="3838575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cs-CZ" b="1" dirty="0"/>
              <a:t>ADMUX </a:t>
            </a:r>
            <a:r>
              <a:rPr lang="cs-CZ" dirty="0"/>
              <a:t>– </a:t>
            </a:r>
          </a:p>
          <a:p>
            <a:r>
              <a:rPr lang="cs-CZ" b="1" dirty="0"/>
              <a:t>ADCSRB </a:t>
            </a:r>
            <a:r>
              <a:rPr lang="cs-CZ" dirty="0"/>
              <a:t>– </a:t>
            </a:r>
          </a:p>
          <a:p>
            <a:r>
              <a:rPr lang="cs-CZ" b="1" dirty="0"/>
              <a:t>ADCSRA </a:t>
            </a:r>
            <a:r>
              <a:rPr lang="cs-CZ" dirty="0"/>
              <a:t>-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A9383F7-2EE9-4D4C-A25D-890BE40E0459}" type="slidenum">
              <a:rPr lang="cs-CZ"/>
              <a:pPr/>
              <a:t>45</a:t>
            </a:fld>
            <a:endParaRPr lang="cs-CZ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6763"/>
            <a:ext cx="5116513" cy="3838575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46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6763"/>
            <a:ext cx="5116513" cy="3838575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cs-CZ" dirty="0"/>
              <a:t>Do pracovního</a:t>
            </a:r>
            <a:r>
              <a:rPr lang="cs-CZ" baseline="0" dirty="0"/>
              <a:t> listu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2574680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47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6763"/>
            <a:ext cx="5116513" cy="3838575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cs-CZ" dirty="0"/>
              <a:t>Do pracovního</a:t>
            </a:r>
            <a:r>
              <a:rPr lang="cs-CZ" baseline="0" dirty="0"/>
              <a:t> listu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4446854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48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6763"/>
            <a:ext cx="5116513" cy="3838575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cs-CZ" dirty="0"/>
              <a:t>Do pracovního</a:t>
            </a:r>
            <a:r>
              <a:rPr lang="cs-CZ" baseline="0" dirty="0"/>
              <a:t> listu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41805083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49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6763"/>
            <a:ext cx="5116513" cy="3838575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cs-CZ" dirty="0"/>
              <a:t>Do pracovního</a:t>
            </a:r>
            <a:r>
              <a:rPr lang="cs-CZ" baseline="0" dirty="0"/>
              <a:t> listu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7657525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50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6763"/>
            <a:ext cx="5116513" cy="3838575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51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6763"/>
            <a:ext cx="5116513" cy="3838575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52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6763"/>
            <a:ext cx="5116513" cy="3838575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53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6763"/>
            <a:ext cx="5116513" cy="3838575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54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6763"/>
            <a:ext cx="5116513" cy="3838575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55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6763"/>
            <a:ext cx="5116513" cy="3838575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56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6763"/>
            <a:ext cx="5116513" cy="3838575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57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6763"/>
            <a:ext cx="5116513" cy="3838575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58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6763"/>
            <a:ext cx="5116513" cy="3838575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59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6763"/>
            <a:ext cx="5116513" cy="3838575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60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6763"/>
            <a:ext cx="5116513" cy="3838575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61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6763"/>
            <a:ext cx="5116513" cy="3838575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9754739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62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6763"/>
            <a:ext cx="5116513" cy="3838575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5214288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4C69345-BCB8-40A8-9EEE-55FD1AFC74CA}" type="slidenum">
              <a:rPr lang="cs-CZ"/>
              <a:pPr/>
              <a:t>63</a:t>
            </a:fld>
            <a:endParaRPr lang="cs-CZ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6763"/>
            <a:ext cx="5116513" cy="3838575"/>
          </a:xfrm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4C69345-BCB8-40A8-9EEE-55FD1AFC74CA}" type="slidenum">
              <a:rPr lang="cs-CZ"/>
              <a:pPr/>
              <a:t>64</a:t>
            </a:fld>
            <a:endParaRPr lang="cs-CZ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6763"/>
            <a:ext cx="5116513" cy="3838575"/>
          </a:xfrm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65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6763"/>
            <a:ext cx="5116513" cy="3838575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66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6763"/>
            <a:ext cx="5116513" cy="3838575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67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3337" cy="3835400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71742856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68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6763"/>
            <a:ext cx="5116513" cy="3838575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A9383F7-2EE9-4D4C-A25D-890BE40E0459}" type="slidenum">
              <a:rPr lang="cs-CZ"/>
              <a:pPr/>
              <a:t>69</a:t>
            </a:fld>
            <a:endParaRPr lang="cs-CZ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6763"/>
            <a:ext cx="5116513" cy="3838575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cs-CZ" b="1" dirty="0"/>
              <a:t>ADMUX </a:t>
            </a:r>
            <a:r>
              <a:rPr lang="cs-CZ" dirty="0"/>
              <a:t>– </a:t>
            </a:r>
          </a:p>
          <a:p>
            <a:r>
              <a:rPr lang="cs-CZ" b="1" dirty="0"/>
              <a:t>ADCSRB </a:t>
            </a:r>
            <a:r>
              <a:rPr lang="cs-CZ" dirty="0"/>
              <a:t>– </a:t>
            </a:r>
          </a:p>
          <a:p>
            <a:r>
              <a:rPr lang="cs-CZ" b="1" dirty="0"/>
              <a:t>ADCSRA </a:t>
            </a:r>
            <a:r>
              <a:rPr lang="cs-CZ" dirty="0"/>
              <a:t>-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70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3337" cy="3835400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47852469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71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3337" cy="3835400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9133846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72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6763"/>
            <a:ext cx="5116513" cy="3838575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73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6763"/>
            <a:ext cx="5116513" cy="3838575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289128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" y="3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endParaRPr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1537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1" y="1828805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1538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1" y="4267204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cs-CZ"/>
              <a:t>Klepnutím lze upravit styl předlohy podnadpisů.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 smtClean="0"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DA347E44-1AAC-420B-AB32-12DDDBCDE885}" type="slidenum">
              <a:rPr lang="cs-CZ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C8C8903D-23E7-46FD-A74A-6DF06809A117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F6A0C1FC-A554-491D-A23A-A703A9D524E7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7" y="4406909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7" y="2906718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DD00DF35-2688-4F44-9F8C-2107F806ADC6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9145DC76-6872-4DF4-9E14-3C9F149DB051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3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3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D6387A52-E705-490A-838D-8B1C5ED7F7CC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3CCA7D36-5D0B-46DA-8B86-93CC45348741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4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8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8" y="1535114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8" y="2174878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527CE658-0EE9-48FF-B2F3-346B209313CA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6FC0A10C-74C9-4EDA-8B18-281A1C85680F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59F259AA-69C5-45ED-B1EF-90BAC465720E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4A972A3D-E40E-44AE-8599-5054B70DFC1D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D1D2316D-E476-4C1C-97C5-38113797E089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BB126D77-9135-4E47-A5DC-34E5006577A9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9" y="273053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8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9" y="1435104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57E249D1-C02F-4E77-A829-446A2E49D60E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BC81E695-55B3-4878-8A1B-BFF729C1E317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8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cs-CZ" noProof="0" dirty="0"/>
              <a:t>Klepnutím na ikonu přidáte obrázek.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42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4D96806B-82A5-4237-952D-C352BA9CEF60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5C5BDBD8-354C-4C33-8509-9899503E8362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2669EF09-CD29-477D-ABCE-FD6C28D05070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A7743F0B-D3BD-4B64-87E9-5E7926EE0CE3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4" y="457200"/>
            <a:ext cx="6019800" cy="5410200"/>
          </a:xfrm>
        </p:spPr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B60F7D18-8356-410F-86CC-C0A59AA6E5C2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FFF29617-F229-4AA3-AF63-629A34F9D0C9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Nadpis, 2 malé a 1 velký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457204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457203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57203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half" idx="3"/>
          </p:nvPr>
        </p:nvSpPr>
        <p:spPr>
          <a:xfrm>
            <a:off x="4648203" y="1981200"/>
            <a:ext cx="4038600" cy="38862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A24E9C55-C54B-46F2-802C-C950BBC5F97F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EC377670-D1B4-4464-8ADD-7E5B3403F0F4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Nadpis a 4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sz="quarter"/>
          </p:nvPr>
        </p:nvSpPr>
        <p:spPr>
          <a:xfrm>
            <a:off x="457200" y="457204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457203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648203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3"/>
          </p:nvPr>
        </p:nvSpPr>
        <p:spPr>
          <a:xfrm>
            <a:off x="457203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8203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D4ACD1D1-1FD1-4BD2-B5AA-BAAE11F8E4F6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AD5EE032-125E-4EF1-897C-C6C132F4C071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Nadpis, 1 velký a 2 malé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457204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3" y="1981200"/>
            <a:ext cx="4038600" cy="38862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648203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3"/>
          </p:nvPr>
        </p:nvSpPr>
        <p:spPr>
          <a:xfrm>
            <a:off x="4648203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A24E9C55-C54B-46F2-802C-C950BBC5F97F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EC377670-D1B4-4464-8ADD-7E5B3403F0F4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hf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Nadpis, text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1004" y="55572"/>
            <a:ext cx="7772400" cy="719137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sz="half" idx="1"/>
          </p:nvPr>
        </p:nvSpPr>
        <p:spPr>
          <a:xfrm>
            <a:off x="357192" y="1412884"/>
            <a:ext cx="4125912" cy="4970463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35500" y="1412884"/>
            <a:ext cx="4127500" cy="4970463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381003" y="61722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72F054CC-169B-405A-8EFC-341DCDFEA7DC}" type="slidenum">
              <a:rPr lang="cs-CZ" sz="12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l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>
          <a:xfrm>
            <a:off x="3124203" y="61722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>
          <a:xfrm>
            <a:off x="6858003" y="61722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F1FCE2D9-6AD3-4231-B397-0257783385A2}" type="slidenum">
              <a:rPr lang="cs-CZ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" y="1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cs-CZ" b="0">
                <a:solidFill>
                  <a:srgbClr val="000000"/>
                </a:solidFill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 b="0">
                <a:solidFill>
                  <a:srgbClr val="000000"/>
                </a:solidFill>
              </a:endParaRPr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b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b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b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b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b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b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b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b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b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b="0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1537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1" y="1828801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1538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1" y="4267202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cs-CZ"/>
              <a:t>Klepnutím lze upravit styl předlohy podnadpisů.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DD48C5B-6BFF-4E96-9AF1-341025CA6D17}" type="slidenum">
              <a:rPr lang="cs-CZ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cs-CZ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43123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22D688-386B-4C25-AA59-69439E7D7781}" type="slidenum">
              <a:rPr lang="cs-CZ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cs-CZ">
              <a:solidFill>
                <a:srgbClr val="000000"/>
              </a:solidFill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65075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5" y="4406903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5" y="2906714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5381DC-0E13-4A99-A3BE-4C1C59FBFB12}" type="slidenum">
              <a:rPr lang="cs-CZ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cs-CZ">
              <a:solidFill>
                <a:srgbClr val="000000"/>
              </a:solidFill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82547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1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1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1F0954-F2F0-4E0C-BB81-772E013A286F}" type="slidenum">
              <a:rPr lang="cs-CZ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cs-CZ">
              <a:solidFill>
                <a:srgbClr val="000000"/>
              </a:solidFill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17175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4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6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6" y="1535114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6" y="2174876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F73F4D-F30C-4FC7-A43C-8FD75E3F5263}" type="slidenum">
              <a:rPr lang="cs-CZ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cs-CZ">
              <a:solidFill>
                <a:srgbClr val="000000"/>
              </a:solidFill>
            </a:endParaRPr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09044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41D2D5-6838-48EF-8202-39EE1F6A8FEE}" type="slidenum">
              <a:rPr lang="cs-CZ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cs-CZ">
              <a:solidFill>
                <a:srgbClr val="000000"/>
              </a:solidFill>
            </a:endParaRP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9273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96A9E2-DC78-43C5-9AAE-F0A3109CF0DD}" type="slidenum">
              <a:rPr lang="cs-CZ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cs-CZ">
              <a:solidFill>
                <a:srgbClr val="000000"/>
              </a:solidFill>
            </a:endParaRP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35881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3" y="273051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3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3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0E33B-F925-4A04-B8B7-F08555748326}" type="slidenum">
              <a:rPr lang="cs-CZ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cs-CZ">
              <a:solidFill>
                <a:srgbClr val="000000"/>
              </a:solidFill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59323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6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cs-CZ" noProof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BE7029-A8CA-42B5-9B86-3DF3CF4D33EC}" type="slidenum">
              <a:rPr lang="cs-CZ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cs-CZ">
              <a:solidFill>
                <a:srgbClr val="000000"/>
              </a:solidFill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4811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6D8035-E823-4939-9C59-4E76CA7F66A0}" type="slidenum">
              <a:rPr lang="cs-CZ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cs-CZ">
              <a:solidFill>
                <a:srgbClr val="000000"/>
              </a:solidFill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7578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2" y="457200"/>
            <a:ext cx="6019800" cy="5410200"/>
          </a:xfrm>
        </p:spPr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F21D63-BD53-4616-90DD-2626754F1C85}" type="slidenum">
              <a:rPr lang="cs-CZ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cs-CZ">
              <a:solidFill>
                <a:srgbClr val="000000"/>
              </a:solidFill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97731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Nadpis, 2 malé a 1 velký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457201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457201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57201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half" idx="3"/>
          </p:nvPr>
        </p:nvSpPr>
        <p:spPr>
          <a:xfrm>
            <a:off x="4648201" y="1981200"/>
            <a:ext cx="4038600" cy="38862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039473-5203-4C3F-8705-D2591C46CB40}" type="slidenum">
              <a:rPr lang="cs-CZ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cs-CZ">
              <a:solidFill>
                <a:srgbClr val="000000"/>
              </a:solidFill>
            </a:endParaRPr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88399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Nadpis a 4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sz="quarter"/>
          </p:nvPr>
        </p:nvSpPr>
        <p:spPr>
          <a:xfrm>
            <a:off x="457200" y="457201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457201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648201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3"/>
          </p:nvPr>
        </p:nvSpPr>
        <p:spPr>
          <a:xfrm>
            <a:off x="457201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8201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169A0D-1A94-42B6-959D-1BB7BA9CEC32}" type="slidenum">
              <a:rPr lang="cs-CZ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cs-CZ">
              <a:solidFill>
                <a:srgbClr val="000000"/>
              </a:solidFill>
            </a:endParaRPr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41375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Nadpis, 1 velký a 2 malé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457201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1" y="1981200"/>
            <a:ext cx="4038600" cy="38862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648201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3"/>
          </p:nvPr>
        </p:nvSpPr>
        <p:spPr>
          <a:xfrm>
            <a:off x="4648201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548505-1EC9-44EB-8F4D-2775C55E18ED}" type="slidenum">
              <a:rPr lang="cs-CZ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cs-CZ">
              <a:solidFill>
                <a:srgbClr val="000000"/>
              </a:solidFill>
            </a:endParaRPr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04138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Nadpis, text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1001" y="55566"/>
            <a:ext cx="7772400" cy="719137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sz="half" idx="1"/>
          </p:nvPr>
        </p:nvSpPr>
        <p:spPr>
          <a:xfrm>
            <a:off x="357189" y="1412878"/>
            <a:ext cx="4125912" cy="4970463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35500" y="1412878"/>
            <a:ext cx="4127500" cy="4970463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381001" y="61722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>
                <a:solidFill>
                  <a:srgbClr val="000000"/>
                </a:solidFill>
              </a:rPr>
              <a:t> </a:t>
            </a:r>
            <a:fld id="{C04CD753-5E15-4361-9886-99B8E0E102EB}" type="slidenum">
              <a:rPr lang="cs-CZ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cs-CZ">
              <a:solidFill>
                <a:srgbClr val="000000"/>
              </a:solidFill>
            </a:endParaRP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>
          <a:xfrm>
            <a:off x="3124201" y="61722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>
          <a:xfrm>
            <a:off x="6858001" y="61722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FCA8FF-3D39-4FBC-9EB3-36D375138D5A}" type="slidenum">
              <a:rPr lang="cs-CZ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cs-CZ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47745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" y="1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cs-CZ" b="0">
                <a:solidFill>
                  <a:srgbClr val="000000"/>
                </a:solidFill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 b="0">
                <a:solidFill>
                  <a:srgbClr val="000000"/>
                </a:solidFill>
              </a:endParaRPr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b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b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b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b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b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b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b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b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b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b="0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1537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1" y="1828801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1538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1" y="4267202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cs-CZ"/>
              <a:t>Klepnutím lze upravit styl předlohy podnadpisů.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DD48C5B-6BFF-4E96-9AF1-341025CA6D17}" type="slidenum">
              <a:rPr lang="cs-CZ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cs-CZ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068702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22D688-386B-4C25-AA59-69439E7D7781}" type="slidenum">
              <a:rPr lang="cs-CZ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cs-CZ">
              <a:solidFill>
                <a:srgbClr val="000000"/>
              </a:solidFill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837069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5" y="4406903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5" y="2906714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5381DC-0E13-4A99-A3BE-4C1C59FBFB12}" type="slidenum">
              <a:rPr lang="cs-CZ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cs-CZ">
              <a:solidFill>
                <a:srgbClr val="000000"/>
              </a:solidFill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542552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1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1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1F0954-F2F0-4E0C-BB81-772E013A286F}" type="slidenum">
              <a:rPr lang="cs-CZ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cs-CZ">
              <a:solidFill>
                <a:srgbClr val="000000"/>
              </a:solidFill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938348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4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6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6" y="1535114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6" y="2174876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F73F4D-F30C-4FC7-A43C-8FD75E3F5263}" type="slidenum">
              <a:rPr lang="cs-CZ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cs-CZ">
              <a:solidFill>
                <a:srgbClr val="000000"/>
              </a:solidFill>
            </a:endParaRPr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17357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41D2D5-6838-48EF-8202-39EE1F6A8FEE}" type="slidenum">
              <a:rPr lang="cs-CZ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cs-CZ">
              <a:solidFill>
                <a:srgbClr val="000000"/>
              </a:solidFill>
            </a:endParaRP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951351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96A9E2-DC78-43C5-9AAE-F0A3109CF0DD}" type="slidenum">
              <a:rPr lang="cs-CZ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cs-CZ">
              <a:solidFill>
                <a:srgbClr val="000000"/>
              </a:solidFill>
            </a:endParaRP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880811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3" y="273051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3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3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0E33B-F925-4A04-B8B7-F08555748326}" type="slidenum">
              <a:rPr lang="cs-CZ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cs-CZ">
              <a:solidFill>
                <a:srgbClr val="000000"/>
              </a:solidFill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713651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6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cs-CZ" noProof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BE7029-A8CA-42B5-9B86-3DF3CF4D33EC}" type="slidenum">
              <a:rPr lang="cs-CZ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cs-CZ">
              <a:solidFill>
                <a:srgbClr val="000000"/>
              </a:solidFill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565552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6D8035-E823-4939-9C59-4E76CA7F66A0}" type="slidenum">
              <a:rPr lang="cs-CZ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cs-CZ">
              <a:solidFill>
                <a:srgbClr val="000000"/>
              </a:solidFill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677988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2" y="457200"/>
            <a:ext cx="6019800" cy="5410200"/>
          </a:xfrm>
        </p:spPr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F21D63-BD53-4616-90DD-2626754F1C85}" type="slidenum">
              <a:rPr lang="cs-CZ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cs-CZ">
              <a:solidFill>
                <a:srgbClr val="000000"/>
              </a:solidFill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498391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Nadpis, 2 malé a 1 velký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457201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457201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57201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half" idx="3"/>
          </p:nvPr>
        </p:nvSpPr>
        <p:spPr>
          <a:xfrm>
            <a:off x="4648201" y="1981200"/>
            <a:ext cx="4038600" cy="38862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039473-5203-4C3F-8705-D2591C46CB40}" type="slidenum">
              <a:rPr lang="cs-CZ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cs-CZ">
              <a:solidFill>
                <a:srgbClr val="000000"/>
              </a:solidFill>
            </a:endParaRPr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877974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Nadpis a 4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sz="quarter"/>
          </p:nvPr>
        </p:nvSpPr>
        <p:spPr>
          <a:xfrm>
            <a:off x="457200" y="457201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457201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648201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3"/>
          </p:nvPr>
        </p:nvSpPr>
        <p:spPr>
          <a:xfrm>
            <a:off x="457201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8201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169A0D-1A94-42B6-959D-1BB7BA9CEC32}" type="slidenum">
              <a:rPr lang="cs-CZ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cs-CZ">
              <a:solidFill>
                <a:srgbClr val="000000"/>
              </a:solidFill>
            </a:endParaRPr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372891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Nadpis, 1 velký a 2 malé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457201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1" y="1981200"/>
            <a:ext cx="4038600" cy="38862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648201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3"/>
          </p:nvPr>
        </p:nvSpPr>
        <p:spPr>
          <a:xfrm>
            <a:off x="4648201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548505-1EC9-44EB-8F4D-2775C55E18ED}" type="slidenum">
              <a:rPr lang="cs-CZ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cs-CZ">
              <a:solidFill>
                <a:srgbClr val="000000"/>
              </a:solidFill>
            </a:endParaRPr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061187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Nadpis, text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1001" y="55566"/>
            <a:ext cx="7772400" cy="719137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sz="half" idx="1"/>
          </p:nvPr>
        </p:nvSpPr>
        <p:spPr>
          <a:xfrm>
            <a:off x="357189" y="1412878"/>
            <a:ext cx="4125912" cy="4970463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35500" y="1412878"/>
            <a:ext cx="4127500" cy="4970463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381001" y="61722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>
                <a:solidFill>
                  <a:srgbClr val="000000"/>
                </a:solidFill>
              </a:rPr>
              <a:t> </a:t>
            </a:r>
            <a:fld id="{C04CD753-5E15-4361-9886-99B8E0E102EB}" type="slidenum">
              <a:rPr lang="cs-CZ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cs-CZ">
              <a:solidFill>
                <a:srgbClr val="000000"/>
              </a:solidFill>
            </a:endParaRP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>
          <a:xfrm>
            <a:off x="3124201" y="61722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>
              <a:solidFill>
                <a:srgbClr val="000000"/>
              </a:solidFill>
            </a:endParaRP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>
          <a:xfrm>
            <a:off x="6858001" y="61722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FCA8FF-3D39-4FBC-9EB3-36D375138D5A}" type="slidenum">
              <a:rPr lang="cs-CZ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cs-CZ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9442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2" Type="http://schemas.openxmlformats.org/officeDocument/2006/relationships/slideLayout" Target="../slideLayouts/slideLayout32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3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smtClean="0">
                <a:latin typeface="Arial" pitchFamily="34" charset="0"/>
              </a:defRPr>
            </a:lvl1pPr>
          </a:lstStyle>
          <a:p>
            <a:pPr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kern="1200" dirty="0">
              <a:solidFill>
                <a:srgbClr val="000000"/>
              </a:solidFill>
              <a:ea typeface="+mn-ea"/>
              <a:cs typeface="+mn-cs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 Black" pitchFamily="34" charset="0"/>
              </a:defRPr>
            </a:lvl1pPr>
          </a:lstStyle>
          <a:p>
            <a:pPr rtl="0" eaLnBrk="0" fontAlgn="base" hangingPunct="0">
              <a:spcBef>
                <a:spcPct val="0"/>
              </a:spcBef>
              <a:spcAft>
                <a:spcPct val="0"/>
              </a:spcAft>
            </a:pPr>
            <a:fld id="{A24E9C55-C54B-46F2-802C-C950BBC5F97F}" type="slidenum">
              <a:rPr lang="cs-CZ" kern="1200">
                <a:solidFill>
                  <a:srgbClr val="000000"/>
                </a:solidFill>
                <a:ea typeface="+mn-ea"/>
                <a:cs typeface="+mn-cs"/>
              </a:rPr>
              <a:pPr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kern="1200" dirty="0">
              <a:solidFill>
                <a:srgbClr val="000000"/>
              </a:solidFill>
              <a:ea typeface="+mn-ea"/>
              <a:cs typeface="+mn-cs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" y="0"/>
            <a:ext cx="9144000" cy="546100"/>
            <a:chOff x="0" y="0"/>
            <a:chExt cx="5760" cy="344"/>
          </a:xfrm>
        </p:grpSpPr>
        <p:sp>
          <p:nvSpPr>
            <p:cNvPr id="14341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14342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14343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6633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344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6633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345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CC66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346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6633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347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14348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CC66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349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CC66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4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 předlohy nadpisů.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1435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8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pitchFamily="34" charset="0"/>
              </a:defRPr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kern="1200" dirty="0">
                <a:solidFill>
                  <a:srgbClr val="000000"/>
                </a:solidFill>
                <a:ea typeface="+mn-ea"/>
                <a:cs typeface="+mn-cs"/>
              </a:rPr>
              <a:t> </a:t>
            </a:r>
            <a:fld id="{EC377670-D1B4-4464-8ADD-7E5B3403F0F4}" type="slidenum">
              <a:rPr lang="cs-CZ" kern="1200">
                <a:solidFill>
                  <a:srgbClr val="000000"/>
                </a:solidFill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kern="1200" dirty="0">
              <a:solidFill>
                <a:srgbClr val="000000"/>
              </a:solidFill>
              <a:ea typeface="+mn-ea"/>
              <a:cs typeface="+mn-cs"/>
            </a:endParaRPr>
          </a:p>
        </p:txBody>
      </p:sp>
      <p:sp>
        <p:nvSpPr>
          <p:cNvPr id="17" name="Text Box 8"/>
          <p:cNvSpPr txBox="1">
            <a:spLocks noChangeArrowheads="1"/>
          </p:cNvSpPr>
          <p:nvPr userDrawn="1"/>
        </p:nvSpPr>
        <p:spPr bwMode="auto">
          <a:xfrm>
            <a:off x="8172459" y="692157"/>
            <a:ext cx="792163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endParaRPr lang="cs-CZ" sz="2400" kern="1200" dirty="0">
              <a:solidFill>
                <a:srgbClr val="000000"/>
              </a:solidFill>
              <a:latin typeface="Times New Roman" pitchFamily="18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1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smtClean="0">
                <a:latin typeface="Arial" pitchFamily="34" charset="0"/>
              </a:defRPr>
            </a:lvl1pPr>
          </a:lstStyle>
          <a:p>
            <a:pPr>
              <a:defRPr/>
            </a:pPr>
            <a:endParaRPr lang="cs-CZ" b="0">
              <a:solidFill>
                <a:srgbClr val="000000"/>
              </a:solidFill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 Black" pitchFamily="34" charset="0"/>
              </a:defRPr>
            </a:lvl1pPr>
          </a:lstStyle>
          <a:p>
            <a:pPr>
              <a:defRPr/>
            </a:pPr>
            <a:fld id="{967C25FC-0B15-471A-ADF7-202C34385DCC}" type="slidenum">
              <a:rPr lang="cs-CZ" b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cs-CZ" b="0">
              <a:solidFill>
                <a:srgbClr val="000000"/>
              </a:solidFill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" y="0"/>
            <a:ext cx="9144000" cy="546100"/>
            <a:chOff x="0" y="0"/>
            <a:chExt cx="5760" cy="344"/>
          </a:xfrm>
        </p:grpSpPr>
        <p:sp>
          <p:nvSpPr>
            <p:cNvPr id="14341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cs-CZ" b="0">
                <a:solidFill>
                  <a:srgbClr val="000000"/>
                </a:solidFill>
              </a:endParaRPr>
            </a:p>
          </p:txBody>
        </p:sp>
        <p:sp>
          <p:nvSpPr>
            <p:cNvPr id="14342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 b="0">
                <a:solidFill>
                  <a:srgbClr val="000000"/>
                </a:solidFill>
              </a:endParaRPr>
            </a:p>
          </p:txBody>
        </p:sp>
        <p:sp>
          <p:nvSpPr>
            <p:cNvPr id="14343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 b="0">
                <a:solidFill>
                  <a:srgbClr val="666699"/>
                </a:solidFill>
                <a:latin typeface="Arial" pitchFamily="34" charset="0"/>
              </a:endParaRPr>
            </a:p>
          </p:txBody>
        </p:sp>
        <p:sp>
          <p:nvSpPr>
            <p:cNvPr id="14344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 b="0">
                <a:solidFill>
                  <a:srgbClr val="666699"/>
                </a:solidFill>
                <a:latin typeface="Arial" pitchFamily="34" charset="0"/>
              </a:endParaRPr>
            </a:p>
          </p:txBody>
        </p:sp>
        <p:sp>
          <p:nvSpPr>
            <p:cNvPr id="14345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 b="0">
                <a:solidFill>
                  <a:srgbClr val="9999CC"/>
                </a:solidFill>
                <a:latin typeface="Arial" pitchFamily="34" charset="0"/>
              </a:endParaRPr>
            </a:p>
          </p:txBody>
        </p:sp>
        <p:sp>
          <p:nvSpPr>
            <p:cNvPr id="14346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 b="0">
                <a:solidFill>
                  <a:srgbClr val="666699"/>
                </a:solidFill>
                <a:latin typeface="Arial" pitchFamily="34" charset="0"/>
              </a:endParaRPr>
            </a:p>
          </p:txBody>
        </p:sp>
        <p:sp>
          <p:nvSpPr>
            <p:cNvPr id="14347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 b="0">
                <a:solidFill>
                  <a:srgbClr val="000000"/>
                </a:solidFill>
              </a:endParaRPr>
            </a:p>
          </p:txBody>
        </p:sp>
        <p:sp>
          <p:nvSpPr>
            <p:cNvPr id="14348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 b="0">
                <a:solidFill>
                  <a:srgbClr val="9999CC"/>
                </a:solidFill>
                <a:latin typeface="Arial" pitchFamily="34" charset="0"/>
              </a:endParaRPr>
            </a:p>
          </p:txBody>
        </p:sp>
        <p:sp>
          <p:nvSpPr>
            <p:cNvPr id="14349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 b="0">
                <a:solidFill>
                  <a:srgbClr val="9999CC"/>
                </a:solidFill>
                <a:latin typeface="Arial" pitchFamily="34" charset="0"/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1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 předlohy nadpisů.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1435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6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pitchFamily="34" charset="0"/>
              </a:defRPr>
            </a:lvl1pPr>
          </a:lstStyle>
          <a:p>
            <a:pPr>
              <a:defRPr/>
            </a:pPr>
            <a:endParaRPr lang="cs-CZ" b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9050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1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smtClean="0">
                <a:latin typeface="Arial" pitchFamily="34" charset="0"/>
              </a:defRPr>
            </a:lvl1pPr>
          </a:lstStyle>
          <a:p>
            <a:pPr>
              <a:defRPr/>
            </a:pPr>
            <a:endParaRPr lang="cs-CZ" b="0">
              <a:solidFill>
                <a:srgbClr val="000000"/>
              </a:solidFill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 Black" pitchFamily="34" charset="0"/>
              </a:defRPr>
            </a:lvl1pPr>
          </a:lstStyle>
          <a:p>
            <a:pPr>
              <a:defRPr/>
            </a:pPr>
            <a:fld id="{967C25FC-0B15-471A-ADF7-202C34385DCC}" type="slidenum">
              <a:rPr lang="cs-CZ" b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cs-CZ" b="0">
              <a:solidFill>
                <a:srgbClr val="000000"/>
              </a:solidFill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" y="0"/>
            <a:ext cx="9144000" cy="546100"/>
            <a:chOff x="0" y="0"/>
            <a:chExt cx="5760" cy="344"/>
          </a:xfrm>
        </p:grpSpPr>
        <p:sp>
          <p:nvSpPr>
            <p:cNvPr id="14341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cs-CZ" b="0">
                <a:solidFill>
                  <a:srgbClr val="000000"/>
                </a:solidFill>
              </a:endParaRPr>
            </a:p>
          </p:txBody>
        </p:sp>
        <p:sp>
          <p:nvSpPr>
            <p:cNvPr id="14342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 b="0">
                <a:solidFill>
                  <a:srgbClr val="000000"/>
                </a:solidFill>
              </a:endParaRPr>
            </a:p>
          </p:txBody>
        </p:sp>
        <p:sp>
          <p:nvSpPr>
            <p:cNvPr id="14343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 b="0">
                <a:solidFill>
                  <a:srgbClr val="666699"/>
                </a:solidFill>
                <a:latin typeface="Arial" pitchFamily="34" charset="0"/>
              </a:endParaRPr>
            </a:p>
          </p:txBody>
        </p:sp>
        <p:sp>
          <p:nvSpPr>
            <p:cNvPr id="14344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 b="0">
                <a:solidFill>
                  <a:srgbClr val="666699"/>
                </a:solidFill>
                <a:latin typeface="Arial" pitchFamily="34" charset="0"/>
              </a:endParaRPr>
            </a:p>
          </p:txBody>
        </p:sp>
        <p:sp>
          <p:nvSpPr>
            <p:cNvPr id="14345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 b="0">
                <a:solidFill>
                  <a:srgbClr val="9999CC"/>
                </a:solidFill>
                <a:latin typeface="Arial" pitchFamily="34" charset="0"/>
              </a:endParaRPr>
            </a:p>
          </p:txBody>
        </p:sp>
        <p:sp>
          <p:nvSpPr>
            <p:cNvPr id="14346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 b="0">
                <a:solidFill>
                  <a:srgbClr val="666699"/>
                </a:solidFill>
                <a:latin typeface="Arial" pitchFamily="34" charset="0"/>
              </a:endParaRPr>
            </a:p>
          </p:txBody>
        </p:sp>
        <p:sp>
          <p:nvSpPr>
            <p:cNvPr id="14347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 b="0">
                <a:solidFill>
                  <a:srgbClr val="000000"/>
                </a:solidFill>
              </a:endParaRPr>
            </a:p>
          </p:txBody>
        </p:sp>
        <p:sp>
          <p:nvSpPr>
            <p:cNvPr id="14348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 b="0">
                <a:solidFill>
                  <a:srgbClr val="9999CC"/>
                </a:solidFill>
                <a:latin typeface="Arial" pitchFamily="34" charset="0"/>
              </a:endParaRPr>
            </a:p>
          </p:txBody>
        </p:sp>
        <p:sp>
          <p:nvSpPr>
            <p:cNvPr id="14349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 b="0">
                <a:solidFill>
                  <a:srgbClr val="9999CC"/>
                </a:solidFill>
                <a:latin typeface="Arial" pitchFamily="34" charset="0"/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1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 předlohy nadpisů.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1435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6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pitchFamily="34" charset="0"/>
              </a:defRPr>
            </a:lvl1pPr>
          </a:lstStyle>
          <a:p>
            <a:pPr>
              <a:defRPr/>
            </a:pPr>
            <a:endParaRPr lang="cs-CZ" b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7814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18.xml"/><Relationship Id="rId13" Type="http://schemas.openxmlformats.org/officeDocument/2006/relationships/slide" Target="slide65.xml"/><Relationship Id="rId3" Type="http://schemas.openxmlformats.org/officeDocument/2006/relationships/slide" Target="slide5.xml"/><Relationship Id="rId7" Type="http://schemas.openxmlformats.org/officeDocument/2006/relationships/slide" Target="slide15.xml"/><Relationship Id="rId12" Type="http://schemas.openxmlformats.org/officeDocument/2006/relationships/slide" Target="slide50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6" Type="http://schemas.openxmlformats.org/officeDocument/2006/relationships/slide" Target="slide14.xml"/><Relationship Id="rId11" Type="http://schemas.openxmlformats.org/officeDocument/2006/relationships/slide" Target="slide28.xml"/><Relationship Id="rId5" Type="http://schemas.openxmlformats.org/officeDocument/2006/relationships/slide" Target="slide10.xml"/><Relationship Id="rId10" Type="http://schemas.openxmlformats.org/officeDocument/2006/relationships/slide" Target="slide38.xml"/><Relationship Id="rId4" Type="http://schemas.openxmlformats.org/officeDocument/2006/relationships/slide" Target="slide6.xml"/><Relationship Id="rId9" Type="http://schemas.openxmlformats.org/officeDocument/2006/relationships/slide" Target="slide2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avr.hw.cz/architektura/arch_avr.html" TargetMode="External"/><Relationship Id="rId5" Type="http://schemas.openxmlformats.org/officeDocument/2006/relationships/hyperlink" Target="http://cs.wikipedia.org/wiki/D/A_p%C5%99evodn%C3%ADk" TargetMode="External"/><Relationship Id="rId4" Type="http://schemas.openxmlformats.org/officeDocument/2006/relationships/hyperlink" Target="http://cs.wikipedia.org/?title=A/D_p%C5%99evodn%C3%ADk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slide" Target="slide15.xml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Relationship Id="rId4" Type="http://schemas.openxmlformats.org/officeDocument/2006/relationships/slide" Target="slide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9.xml"/><Relationship Id="rId4" Type="http://schemas.openxmlformats.org/officeDocument/2006/relationships/slide" Target="slide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9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2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9.xml"/><Relationship Id="rId4" Type="http://schemas.openxmlformats.org/officeDocument/2006/relationships/slide" Target="slide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5" Type="http://schemas.openxmlformats.org/officeDocument/2006/relationships/comments" Target="../comments/comment1.xml"/><Relationship Id="rId4" Type="http://schemas.openxmlformats.org/officeDocument/2006/relationships/image" Target="../media/image1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.xml"/><Relationship Id="rId4" Type="http://schemas.openxmlformats.org/officeDocument/2006/relationships/image" Target="../media/image16.e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e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.xml"/><Relationship Id="rId4" Type="http://schemas.openxmlformats.org/officeDocument/2006/relationships/image" Target="../media/image16.emf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dpis 5"/>
          <p:cNvSpPr>
            <a:spLocks noGrp="1"/>
          </p:cNvSpPr>
          <p:nvPr>
            <p:ph type="ctrTitle"/>
          </p:nvPr>
        </p:nvSpPr>
        <p:spPr>
          <a:xfrm>
            <a:off x="2880001" y="1692000"/>
            <a:ext cx="6264000" cy="2154436"/>
          </a:xfrm>
        </p:spPr>
        <p:txBody>
          <a:bodyPr anchor="t" anchorCtr="0">
            <a:spAutoFit/>
          </a:bodyPr>
          <a:lstStyle/>
          <a:p>
            <a:r>
              <a:rPr lang="cs-CZ" sz="8800" b="1" dirty="0"/>
              <a:t>MIT</a:t>
            </a:r>
            <a:br>
              <a:rPr lang="cs-CZ" dirty="0"/>
            </a:br>
            <a:r>
              <a:rPr lang="cs-CZ" sz="4600" b="1" dirty="0"/>
              <a:t>AVR </a:t>
            </a:r>
            <a:r>
              <a:rPr lang="cs-CZ" sz="2800" b="1" dirty="0"/>
              <a:t>ADC převodník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880001" y="4320009"/>
            <a:ext cx="6264000" cy="1323439"/>
          </a:xfrm>
        </p:spPr>
        <p:txBody>
          <a:bodyPr wrap="square">
            <a:spAutoFit/>
          </a:bodyPr>
          <a:lstStyle/>
          <a:p>
            <a:pPr eaLnBrk="1" hangingPunct="1"/>
            <a:r>
              <a:rPr lang="cs-CZ" sz="8000" b="1" dirty="0">
                <a:solidFill>
                  <a:schemeClr val="accent5">
                    <a:lumMod val="25000"/>
                  </a:schemeClr>
                </a:solidFill>
              </a:rPr>
              <a:t>Díl V</a:t>
            </a:r>
          </a:p>
        </p:txBody>
      </p:sp>
      <p:pic>
        <p:nvPicPr>
          <p:cNvPr id="5" name="Picture 7" descr="D:\lj\prezentace\MIT\obr\logo5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000" y="2160011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9" name="Rectangle 3"/>
          <p:cNvSpPr>
            <a:spLocks noGrp="1" noChangeArrowheads="1"/>
          </p:cNvSpPr>
          <p:nvPr>
            <p:ph idx="1"/>
          </p:nvPr>
        </p:nvSpPr>
        <p:spPr>
          <a:xfrm>
            <a:off x="360003" y="1440010"/>
            <a:ext cx="8784000" cy="2862322"/>
          </a:xfrm>
          <a:noFill/>
          <a:ln/>
        </p:spPr>
        <p:txBody>
          <a:bodyPr>
            <a:spAutoFit/>
          </a:bodyPr>
          <a:lstStyle/>
          <a:p>
            <a:pPr marL="360000" indent="-360000"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cs-CZ" sz="2400" dirty="0">
                <a:latin typeface="Arial" charset="0"/>
              </a:rPr>
              <a:t>Téma	</a:t>
            </a:r>
            <a:r>
              <a:rPr lang="cs-CZ" b="1" dirty="0"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AVR ADC</a:t>
            </a:r>
          </a:p>
          <a:p>
            <a:pPr marL="360000" indent="-360000"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cs-CZ" sz="2400" dirty="0"/>
              <a:t>Předmět</a:t>
            </a:r>
            <a:r>
              <a:rPr lang="cs-CZ" dirty="0"/>
              <a:t> 	</a:t>
            </a:r>
            <a:r>
              <a:rPr lang="cs-CZ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MIT</a:t>
            </a:r>
            <a:endParaRPr lang="cs-CZ" b="1" dirty="0"/>
          </a:p>
          <a:p>
            <a:pPr marL="360000" indent="-360000"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cs-CZ" sz="2400" dirty="0"/>
              <a:t>Ročník</a:t>
            </a:r>
            <a:r>
              <a:rPr lang="cs-CZ" dirty="0"/>
              <a:t> 	</a:t>
            </a:r>
            <a:r>
              <a:rPr lang="cs-CZ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3</a:t>
            </a:r>
            <a:endParaRPr lang="cs-CZ" sz="32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360000" indent="-360000"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cs-CZ" sz="2400" dirty="0"/>
              <a:t>Autor	</a:t>
            </a:r>
            <a:r>
              <a:rPr lang="cs-CZ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Ing. Leoš Juránek </a:t>
            </a:r>
          </a:p>
          <a:p>
            <a:pPr marL="360000" indent="-360000"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cs-CZ" sz="2400" dirty="0"/>
              <a:t>Datum	</a:t>
            </a:r>
            <a:r>
              <a:rPr lang="cs-CZ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duben 2024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3" y="288005"/>
            <a:ext cx="7772400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Mikroprocesorová technika</a:t>
            </a:r>
          </a:p>
        </p:txBody>
      </p:sp>
      <p:sp>
        <p:nvSpPr>
          <p:cNvPr id="2" name="Rectangle 17">
            <a:extLst>
              <a:ext uri="{FF2B5EF4-FFF2-40B4-BE49-F238E27FC236}">
                <a16:creationId xmlns:a16="http://schemas.microsoft.com/office/drawing/2014/main" id="{BFD5F12D-7FEB-C95D-AD59-6CBFAF404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57890"/>
            <a:ext cx="257176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eaLnBrk="1" hangingPunct="1">
              <a:buClr>
                <a:srgbClr val="006600"/>
              </a:buClr>
              <a:buFont typeface="Wingdings" pitchFamily="2" charset="2"/>
              <a:buNone/>
            </a:pPr>
            <a:r>
              <a:rPr lang="cs-CZ" sz="2000" kern="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15.4.2024</a:t>
            </a:r>
          </a:p>
        </p:txBody>
      </p:sp>
    </p:spTree>
    <p:extLst>
      <p:ext uri="{BB962C8B-B14F-4D97-AF65-F5344CB8AC3E}">
        <p14:creationId xmlns:p14="http://schemas.microsoft.com/office/powerpoint/2010/main" val="3950258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6" y="288005"/>
            <a:ext cx="7772400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Index</a:t>
            </a:r>
          </a:p>
        </p:txBody>
      </p:sp>
      <p:sp>
        <p:nvSpPr>
          <p:cNvPr id="1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20" name="Zástupný symbol pro číslo snímku 5"/>
          <p:cNvSpPr txBox="1">
            <a:spLocks/>
          </p:cNvSpPr>
          <p:nvPr/>
        </p:nvSpPr>
        <p:spPr bwMode="auto">
          <a:xfrm>
            <a:off x="3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3" name="Obdélník 2">
            <a:hlinkClick r:id="rId3" action="ppaction://hlinksldjump"/>
          </p:cNvPr>
          <p:cNvSpPr/>
          <p:nvPr/>
        </p:nvSpPr>
        <p:spPr>
          <a:xfrm>
            <a:off x="540004" y="1440000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lvl="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Analogové rozhraní</a:t>
            </a:r>
          </a:p>
        </p:txBody>
      </p:sp>
      <p:sp>
        <p:nvSpPr>
          <p:cNvPr id="11" name="Obdélník 10">
            <a:hlinkClick r:id="rId4" action="ppaction://hlinksldjump"/>
          </p:cNvPr>
          <p:cNvSpPr/>
          <p:nvPr/>
        </p:nvSpPr>
        <p:spPr>
          <a:xfrm>
            <a:off x="540004" y="1800000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54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Arial" pitchFamily="34" charset="0"/>
              <a:buChar char="•"/>
            </a:pP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Regulátor</a:t>
            </a:r>
          </a:p>
        </p:txBody>
      </p:sp>
      <p:sp>
        <p:nvSpPr>
          <p:cNvPr id="12" name="Obdélník 11">
            <a:hlinkClick r:id="rId5" action="ppaction://hlinksldjump"/>
          </p:cNvPr>
          <p:cNvSpPr/>
          <p:nvPr/>
        </p:nvSpPr>
        <p:spPr>
          <a:xfrm>
            <a:off x="540004" y="2160000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A/D převodník</a:t>
            </a:r>
          </a:p>
        </p:txBody>
      </p:sp>
      <p:sp>
        <p:nvSpPr>
          <p:cNvPr id="13" name="Obdélník 12">
            <a:hlinkClick r:id="rId6" action="ppaction://hlinksldjump"/>
          </p:cNvPr>
          <p:cNvSpPr/>
          <p:nvPr/>
        </p:nvSpPr>
        <p:spPr>
          <a:xfrm>
            <a:off x="540004" y="2520000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Typy A/D převodníků</a:t>
            </a:r>
          </a:p>
        </p:txBody>
      </p:sp>
      <p:sp>
        <p:nvSpPr>
          <p:cNvPr id="14" name="Obdélník 13">
            <a:hlinkClick r:id="rId7" action="ppaction://hlinksldjump"/>
          </p:cNvPr>
          <p:cNvSpPr/>
          <p:nvPr/>
        </p:nvSpPr>
        <p:spPr>
          <a:xfrm>
            <a:off x="540004" y="2880000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54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Arial" pitchFamily="34" charset="0"/>
              <a:buChar char="•"/>
            </a:pP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Komparační</a:t>
            </a:r>
          </a:p>
        </p:txBody>
      </p:sp>
      <p:sp>
        <p:nvSpPr>
          <p:cNvPr id="15" name="Obdélník 14">
            <a:hlinkClick r:id="rId8" action="ppaction://hlinksldjump"/>
          </p:cNvPr>
          <p:cNvSpPr/>
          <p:nvPr/>
        </p:nvSpPr>
        <p:spPr>
          <a:xfrm>
            <a:off x="540004" y="3240000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54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Arial" pitchFamily="34" charset="0"/>
              <a:buChar char="•"/>
            </a:pP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Zpětnovazební</a:t>
            </a:r>
          </a:p>
        </p:txBody>
      </p:sp>
      <p:sp>
        <p:nvSpPr>
          <p:cNvPr id="16" name="Obdélník 15">
            <a:hlinkClick r:id="rId9" action="ppaction://hlinksldjump"/>
          </p:cNvPr>
          <p:cNvSpPr/>
          <p:nvPr/>
        </p:nvSpPr>
        <p:spPr>
          <a:xfrm>
            <a:off x="540004" y="3600000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54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Arial" pitchFamily="34" charset="0"/>
              <a:buChar char="•"/>
            </a:pP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Aproximační</a:t>
            </a:r>
          </a:p>
        </p:txBody>
      </p:sp>
      <p:sp>
        <p:nvSpPr>
          <p:cNvPr id="17" name="Obdélník 16">
            <a:hlinkClick r:id="rId10" action="ppaction://hlinksldjump"/>
          </p:cNvPr>
          <p:cNvSpPr/>
          <p:nvPr/>
        </p:nvSpPr>
        <p:spPr>
          <a:xfrm>
            <a:off x="540004" y="4320000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ADC AVR</a:t>
            </a:r>
          </a:p>
        </p:txBody>
      </p:sp>
      <p:sp>
        <p:nvSpPr>
          <p:cNvPr id="18" name="Obdélník 17">
            <a:hlinkClick r:id="rId11" action="ppaction://hlinksldjump"/>
          </p:cNvPr>
          <p:cNvSpPr/>
          <p:nvPr/>
        </p:nvSpPr>
        <p:spPr>
          <a:xfrm>
            <a:off x="540000" y="3960000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Typy D/A převodníků</a:t>
            </a:r>
          </a:p>
        </p:txBody>
      </p:sp>
      <p:sp>
        <p:nvSpPr>
          <p:cNvPr id="21" name="Obdélník 20">
            <a:hlinkClick r:id="rId12" action="ppaction://hlinksldjump"/>
          </p:cNvPr>
          <p:cNvSpPr/>
          <p:nvPr/>
        </p:nvSpPr>
        <p:spPr>
          <a:xfrm>
            <a:off x="540000" y="4680000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54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Arial" pitchFamily="34" charset="0"/>
              <a:buChar char="•"/>
            </a:pP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Základní operace s ADC</a:t>
            </a:r>
          </a:p>
        </p:txBody>
      </p:sp>
      <p:sp>
        <p:nvSpPr>
          <p:cNvPr id="22" name="Obdélník 21">
            <a:hlinkClick r:id="rId13" action="ppaction://hlinksldjump"/>
          </p:cNvPr>
          <p:cNvSpPr/>
          <p:nvPr/>
        </p:nvSpPr>
        <p:spPr>
          <a:xfrm>
            <a:off x="540000" y="5040000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Aplikace ADC</a:t>
            </a:r>
          </a:p>
        </p:txBody>
      </p:sp>
      <p:sp>
        <p:nvSpPr>
          <p:cNvPr id="23" name="Obdélník 22">
            <a:extLst>
              <a:ext uri="{FF2B5EF4-FFF2-40B4-BE49-F238E27FC236}">
                <a16:creationId xmlns:a16="http://schemas.microsoft.com/office/drawing/2014/main" id="{817C5D07-7CED-4789-84F5-FFF07B841589}"/>
              </a:ext>
            </a:extLst>
          </p:cNvPr>
          <p:cNvSpPr/>
          <p:nvPr/>
        </p:nvSpPr>
        <p:spPr>
          <a:xfrm>
            <a:off x="540001" y="1078783"/>
            <a:ext cx="8280000" cy="36000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noAutofit/>
          </a:bodyPr>
          <a:lstStyle/>
          <a:p>
            <a:pPr lvl="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</a:pPr>
            <a:r>
              <a:rPr lang="cs-CZ" sz="2000" b="0" kern="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AVR ADC</a:t>
            </a:r>
          </a:p>
        </p:txBody>
      </p:sp>
    </p:spTree>
    <p:extLst>
      <p:ext uri="{BB962C8B-B14F-4D97-AF65-F5344CB8AC3E}">
        <p14:creationId xmlns:p14="http://schemas.microsoft.com/office/powerpoint/2010/main" val="1883326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7" y="288005"/>
            <a:ext cx="8104183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Zdroje</a:t>
            </a: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0" name="Tlačítko akce: Vlastní 9">
            <a:hlinkClick r:id="" action="ppaction://hlinkshowjump?jump=previousslide" highlightClick="1"/>
          </p:cNvPr>
          <p:cNvSpPr/>
          <p:nvPr/>
        </p:nvSpPr>
        <p:spPr>
          <a:xfrm>
            <a:off x="5760003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1" name="Tlačítko akce: Vlastní 10">
            <a:hlinkClick r:id="rId3" action="ppaction://hlinksldjump" highlightClick="1"/>
          </p:cNvPr>
          <p:cNvSpPr/>
          <p:nvPr/>
        </p:nvSpPr>
        <p:spPr>
          <a:xfrm>
            <a:off x="792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2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3" name="Zástupný symbol pro číslo snímku 5"/>
          <p:cNvSpPr txBox="1">
            <a:spLocks/>
          </p:cNvSpPr>
          <p:nvPr/>
        </p:nvSpPr>
        <p:spPr bwMode="auto">
          <a:xfrm>
            <a:off x="3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4" name="Obdélník 13">
            <a:hlinkClick r:id="rId4"/>
          </p:cNvPr>
          <p:cNvSpPr/>
          <p:nvPr/>
        </p:nvSpPr>
        <p:spPr>
          <a:xfrm>
            <a:off x="540004" y="1080003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q"/>
            </a:pPr>
            <a:r>
              <a:rPr lang="cs-CZ" sz="200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A/D převodníky</a:t>
            </a: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, WIKI</a:t>
            </a:r>
            <a:endParaRPr lang="en-US" sz="2000" b="0" kern="0" dirty="0">
              <a:solidFill>
                <a:srgbClr val="00007D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5" name="Obdélník 14">
            <a:hlinkClick r:id="rId5"/>
          </p:cNvPr>
          <p:cNvSpPr/>
          <p:nvPr/>
        </p:nvSpPr>
        <p:spPr>
          <a:xfrm>
            <a:off x="539555" y="1440005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q"/>
            </a:pPr>
            <a:r>
              <a:rPr lang="cs-CZ" sz="200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D/A převodník</a:t>
            </a: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, WIKI</a:t>
            </a:r>
            <a:endParaRPr lang="en-US" sz="2000" b="0" kern="0" dirty="0">
              <a:solidFill>
                <a:srgbClr val="00007D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6" name="Obdélník 15">
            <a:hlinkClick r:id="rId6"/>
          </p:cNvPr>
          <p:cNvSpPr/>
          <p:nvPr/>
        </p:nvSpPr>
        <p:spPr>
          <a:xfrm>
            <a:off x="539555" y="1800004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q"/>
            </a:pPr>
            <a:r>
              <a:rPr lang="cs-CZ" sz="200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Aplikace ATmega644 v jazyce C</a:t>
            </a: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, KE 1/2011</a:t>
            </a:r>
            <a:endParaRPr lang="en-US" sz="2000" b="0" kern="0" dirty="0">
              <a:solidFill>
                <a:srgbClr val="00007D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7" name="Obdélník 16"/>
          <p:cNvSpPr/>
          <p:nvPr/>
        </p:nvSpPr>
        <p:spPr>
          <a:xfrm>
            <a:off x="539555" y="2160003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q"/>
            </a:pPr>
            <a:r>
              <a:rPr lang="cs-CZ" sz="200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Moderní mikrokontroléry 5</a:t>
            </a: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, KE 5/2011</a:t>
            </a:r>
            <a:endParaRPr lang="en-US" sz="2000" b="0" kern="0" dirty="0">
              <a:solidFill>
                <a:srgbClr val="00007D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8" name="Obdélník 17"/>
          <p:cNvSpPr/>
          <p:nvPr/>
        </p:nvSpPr>
        <p:spPr>
          <a:xfrm>
            <a:off x="540279" y="2880004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q"/>
            </a:pPr>
            <a:r>
              <a:rPr lang="cs-CZ" sz="200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Moderní mikrokontroléry 4</a:t>
            </a: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, KE 4/2010</a:t>
            </a:r>
            <a:endParaRPr lang="en-US" sz="2000" b="0" kern="0" dirty="0">
              <a:solidFill>
                <a:srgbClr val="00007D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9" name="Obdélník 18"/>
          <p:cNvSpPr/>
          <p:nvPr/>
        </p:nvSpPr>
        <p:spPr>
          <a:xfrm>
            <a:off x="540004" y="2520005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q"/>
            </a:pPr>
            <a:r>
              <a:rPr lang="cs-CZ" sz="200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Aplikace ATmega644 v algoritmech</a:t>
            </a: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, KE 1/2010</a:t>
            </a:r>
            <a:endParaRPr lang="en-US" sz="2000" b="0" kern="0" dirty="0">
              <a:solidFill>
                <a:srgbClr val="00007D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0" name="Obdélník 19"/>
          <p:cNvSpPr/>
          <p:nvPr/>
        </p:nvSpPr>
        <p:spPr>
          <a:xfrm>
            <a:off x="540004" y="3240003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q"/>
            </a:pPr>
            <a:r>
              <a:rPr lang="cs-CZ" sz="200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Moderní mikrokontroléry 3</a:t>
            </a: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, KE 4/2009</a:t>
            </a:r>
            <a:endParaRPr lang="en-US" sz="2000" b="0" kern="0" dirty="0">
              <a:solidFill>
                <a:srgbClr val="00007D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1" name="Obdélník 20"/>
          <p:cNvSpPr/>
          <p:nvPr/>
        </p:nvSpPr>
        <p:spPr>
          <a:xfrm>
            <a:off x="539555" y="3600004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q"/>
            </a:pPr>
            <a:r>
              <a:rPr lang="cs-CZ" sz="200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Praktické aplikace obvodu FT232RL</a:t>
            </a: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, KE 1/2009</a:t>
            </a:r>
            <a:endParaRPr lang="en-US" sz="2000" b="0" kern="0" dirty="0">
              <a:solidFill>
                <a:srgbClr val="00007D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2" name="Obdélník 21"/>
          <p:cNvSpPr/>
          <p:nvPr/>
        </p:nvSpPr>
        <p:spPr>
          <a:xfrm>
            <a:off x="539555" y="3960004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q"/>
            </a:pPr>
            <a:r>
              <a:rPr lang="cs-CZ" sz="200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Moderní mikrokontroléry 2</a:t>
            </a: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, KE 2/2008</a:t>
            </a:r>
            <a:endParaRPr lang="en-US" sz="2000" b="0" kern="0" dirty="0">
              <a:solidFill>
                <a:srgbClr val="00007D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3" name="Obdélník 22"/>
          <p:cNvSpPr/>
          <p:nvPr/>
        </p:nvSpPr>
        <p:spPr>
          <a:xfrm>
            <a:off x="539555" y="4320003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q"/>
            </a:pPr>
            <a:r>
              <a:rPr lang="cs-CZ" sz="200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Moderní mikrokontroléry</a:t>
            </a: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, KE 4/2007</a:t>
            </a:r>
            <a:endParaRPr lang="en-US" sz="2000" b="0" kern="0" dirty="0">
              <a:solidFill>
                <a:srgbClr val="00007D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4" name="Obdélník 23"/>
          <p:cNvSpPr/>
          <p:nvPr/>
        </p:nvSpPr>
        <p:spPr>
          <a:xfrm>
            <a:off x="539555" y="4653179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q"/>
            </a:pPr>
            <a:r>
              <a:rPr lang="cs-CZ" sz="200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Programování a aplikace .. ATtiny2313(2.)</a:t>
            </a: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, KE 1/2007</a:t>
            </a:r>
            <a:endParaRPr lang="en-US" sz="2000" b="0" kern="0" dirty="0">
              <a:solidFill>
                <a:srgbClr val="00007D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5" name="Obdélník 24"/>
          <p:cNvSpPr/>
          <p:nvPr/>
        </p:nvSpPr>
        <p:spPr>
          <a:xfrm>
            <a:off x="539555" y="5013176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q"/>
            </a:pPr>
            <a:r>
              <a:rPr lang="cs-CZ" sz="200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Programování a aplikace .. ATtiny2313(1.)</a:t>
            </a: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, KE 5/2006</a:t>
            </a:r>
            <a:endParaRPr lang="en-US" sz="2000" b="0" kern="0" dirty="0">
              <a:solidFill>
                <a:srgbClr val="00007D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3777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3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3" y="2034945"/>
            <a:ext cx="9144000" cy="2554545"/>
          </a:xfrm>
          <a:noFill/>
          <a:ln/>
        </p:spPr>
        <p:txBody>
          <a:bodyPr>
            <a:spAutoFit/>
          </a:bodyPr>
          <a:lstStyle/>
          <a:p>
            <a:pPr algn="ctr">
              <a:defRPr/>
            </a:pPr>
            <a:r>
              <a:rPr lang="cs-CZ" sz="8000">
                <a:latin typeface="Arial Black" pitchFamily="34" charset="0"/>
              </a:rPr>
              <a:t>Analogové </a:t>
            </a:r>
            <a:br>
              <a:rPr lang="cs-CZ" sz="8000" dirty="0">
                <a:latin typeface="Arial Black" pitchFamily="34" charset="0"/>
              </a:rPr>
            </a:br>
            <a:r>
              <a:rPr lang="cs-CZ" sz="8000" dirty="0">
                <a:latin typeface="Arial Black" pitchFamily="34" charset="0"/>
              </a:rPr>
              <a:t>rozhraní</a:t>
            </a:r>
          </a:p>
        </p:txBody>
      </p:sp>
      <p:sp>
        <p:nvSpPr>
          <p:cNvPr id="12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3" name="Zástupný symbol pro číslo snímku 5"/>
          <p:cNvSpPr txBox="1">
            <a:spLocks/>
          </p:cNvSpPr>
          <p:nvPr/>
        </p:nvSpPr>
        <p:spPr bwMode="auto">
          <a:xfrm>
            <a:off x="3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4" name="Rectangle 17"/>
          <p:cNvSpPr>
            <a:spLocks noChangeArrowheads="1"/>
          </p:cNvSpPr>
          <p:nvPr/>
        </p:nvSpPr>
        <p:spPr bwMode="auto">
          <a:xfrm>
            <a:off x="720000" y="72000"/>
            <a:ext cx="2776392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buClr>
                <a:srgbClr val="006600"/>
              </a:buClr>
              <a:buFont typeface="Wingdings" pitchFamily="2" charset="2"/>
              <a:buNone/>
            </a:pPr>
            <a:r>
              <a:rPr lang="cs-CZ" sz="2000" b="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Nová kapitola </a:t>
            </a:r>
          </a:p>
        </p:txBody>
      </p:sp>
    </p:spTree>
    <p:extLst>
      <p:ext uri="{BB962C8B-B14F-4D97-AF65-F5344CB8AC3E}">
        <p14:creationId xmlns:p14="http://schemas.microsoft.com/office/powerpoint/2010/main" val="1380762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Šipka doprava 23"/>
          <p:cNvSpPr/>
          <p:nvPr/>
        </p:nvSpPr>
        <p:spPr>
          <a:xfrm>
            <a:off x="5300713" y="2872729"/>
            <a:ext cx="512533" cy="396000"/>
          </a:xfrm>
          <a:prstGeom prst="rightArrow">
            <a:avLst/>
          </a:prstGeom>
          <a:ln w="635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 b="0">
              <a:solidFill>
                <a:srgbClr val="000000"/>
              </a:solidFill>
            </a:endParaRPr>
          </a:p>
        </p:txBody>
      </p:sp>
      <p:sp>
        <p:nvSpPr>
          <p:cNvPr id="23" name="Šipka doprava 22"/>
          <p:cNvSpPr/>
          <p:nvPr/>
        </p:nvSpPr>
        <p:spPr>
          <a:xfrm>
            <a:off x="3123213" y="2872729"/>
            <a:ext cx="521498" cy="396000"/>
          </a:xfrm>
          <a:prstGeom prst="rightArrow">
            <a:avLst/>
          </a:prstGeom>
          <a:ln w="635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 b="0">
              <a:solidFill>
                <a:srgbClr val="000000"/>
              </a:solidFill>
            </a:endParaRPr>
          </a:p>
        </p:txBody>
      </p:sp>
      <p:sp>
        <p:nvSpPr>
          <p:cNvPr id="11" name="Obdélník 10"/>
          <p:cNvSpPr/>
          <p:nvPr/>
        </p:nvSpPr>
        <p:spPr>
          <a:xfrm>
            <a:off x="3644712" y="2350729"/>
            <a:ext cx="1656000" cy="144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2800" dirty="0">
                <a:solidFill>
                  <a:srgbClr val="000000"/>
                </a:solidFill>
              </a:rPr>
              <a:t>MCU</a:t>
            </a:r>
          </a:p>
        </p:txBody>
      </p:sp>
      <p:sp>
        <p:nvSpPr>
          <p:cNvPr id="12" name="Obdélník 11"/>
          <p:cNvSpPr/>
          <p:nvPr/>
        </p:nvSpPr>
        <p:spPr>
          <a:xfrm>
            <a:off x="2223213" y="2350729"/>
            <a:ext cx="900000" cy="144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2800" dirty="0">
                <a:solidFill>
                  <a:srgbClr val="000000"/>
                </a:solidFill>
              </a:rPr>
              <a:t>A/D</a:t>
            </a:r>
          </a:p>
        </p:txBody>
      </p:sp>
      <p:sp>
        <p:nvSpPr>
          <p:cNvPr id="13" name="Obdélník 12"/>
          <p:cNvSpPr/>
          <p:nvPr/>
        </p:nvSpPr>
        <p:spPr>
          <a:xfrm>
            <a:off x="5822209" y="2350729"/>
            <a:ext cx="900000" cy="144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PWM</a:t>
            </a:r>
            <a:endParaRPr lang="cs-CZ" sz="2000" dirty="0">
              <a:solidFill>
                <a:srgbClr val="000000"/>
              </a:solidFill>
            </a:endParaRPr>
          </a:p>
        </p:txBody>
      </p:sp>
      <p:cxnSp>
        <p:nvCxnSpPr>
          <p:cNvPr id="15" name="Přímá spojovací šipka 14"/>
          <p:cNvCxnSpPr>
            <a:stCxn id="17" idx="3"/>
            <a:endCxn id="12" idx="1"/>
          </p:cNvCxnSpPr>
          <p:nvPr/>
        </p:nvCxnSpPr>
        <p:spPr>
          <a:xfrm>
            <a:off x="1701715" y="3070728"/>
            <a:ext cx="521498" cy="0"/>
          </a:xfrm>
          <a:prstGeom prst="straightConnector1">
            <a:avLst/>
          </a:prstGeom>
          <a:ln w="635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bdélník 16"/>
          <p:cNvSpPr/>
          <p:nvPr/>
        </p:nvSpPr>
        <p:spPr>
          <a:xfrm>
            <a:off x="981716" y="2350729"/>
            <a:ext cx="720000" cy="144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cs-CZ" sz="2000" dirty="0">
                <a:solidFill>
                  <a:srgbClr val="000000"/>
                </a:solidFill>
              </a:rPr>
              <a:t>Teploměr</a:t>
            </a:r>
          </a:p>
        </p:txBody>
      </p:sp>
      <p:sp>
        <p:nvSpPr>
          <p:cNvPr id="18" name="Obdélník 17"/>
          <p:cNvSpPr/>
          <p:nvPr/>
        </p:nvSpPr>
        <p:spPr>
          <a:xfrm>
            <a:off x="7243708" y="2350729"/>
            <a:ext cx="720000" cy="144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cs-CZ" sz="1400" dirty="0">
                <a:solidFill>
                  <a:srgbClr val="000000"/>
                </a:solidFill>
              </a:rPr>
              <a:t>Plynový hořák</a:t>
            </a:r>
          </a:p>
        </p:txBody>
      </p:sp>
      <p:cxnSp>
        <p:nvCxnSpPr>
          <p:cNvPr id="20" name="Přímá spojovací šipka 19"/>
          <p:cNvCxnSpPr>
            <a:stCxn id="13" idx="3"/>
            <a:endCxn id="18" idx="1"/>
          </p:cNvCxnSpPr>
          <p:nvPr/>
        </p:nvCxnSpPr>
        <p:spPr>
          <a:xfrm>
            <a:off x="6722212" y="3070728"/>
            <a:ext cx="521497" cy="0"/>
          </a:xfrm>
          <a:prstGeom prst="straightConnector1">
            <a:avLst/>
          </a:prstGeom>
          <a:ln w="635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Pravoúhlá spojovací čára 25"/>
          <p:cNvCxnSpPr>
            <a:stCxn id="18" idx="3"/>
            <a:endCxn id="14" idx="3"/>
          </p:cNvCxnSpPr>
          <p:nvPr/>
        </p:nvCxnSpPr>
        <p:spPr>
          <a:xfrm flipH="1">
            <a:off x="5079935" y="3070729"/>
            <a:ext cx="2883772" cy="1972467"/>
          </a:xfrm>
          <a:prstGeom prst="bentConnector3">
            <a:avLst>
              <a:gd name="adj1" fmla="val -13542"/>
            </a:avLst>
          </a:prstGeom>
          <a:ln w="63500"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2"/>
            <a:ext cx="8229600" cy="720000"/>
          </a:xfrm>
        </p:spPr>
        <p:txBody>
          <a:bodyPr/>
          <a:lstStyle/>
          <a:p>
            <a:pPr eaLnBrk="1" hangingPunct="1"/>
            <a:r>
              <a:rPr lang="cs-C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Regulátor</a:t>
            </a:r>
          </a:p>
        </p:txBody>
      </p:sp>
      <p:sp>
        <p:nvSpPr>
          <p:cNvPr id="14" name="Obdélník 13"/>
          <p:cNvSpPr/>
          <p:nvPr/>
        </p:nvSpPr>
        <p:spPr>
          <a:xfrm>
            <a:off x="3865488" y="4293096"/>
            <a:ext cx="1214446" cy="1500198"/>
          </a:xfrm>
          <a:prstGeom prst="rect">
            <a:avLst/>
          </a:prstGeom>
          <a:solidFill>
            <a:schemeClr val="accent5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800" dirty="0">
                <a:solidFill>
                  <a:srgbClr val="000000"/>
                </a:solidFill>
              </a:rPr>
              <a:t>Prostředí</a:t>
            </a:r>
          </a:p>
        </p:txBody>
      </p:sp>
      <p:cxnSp>
        <p:nvCxnSpPr>
          <p:cNvPr id="16" name="Pravoúhlá spojovací čára 25"/>
          <p:cNvCxnSpPr>
            <a:stCxn id="14" idx="1"/>
            <a:endCxn id="17" idx="1"/>
          </p:cNvCxnSpPr>
          <p:nvPr/>
        </p:nvCxnSpPr>
        <p:spPr>
          <a:xfrm rot="10800000">
            <a:off x="981717" y="3070731"/>
            <a:ext cx="2883773" cy="1972467"/>
          </a:xfrm>
          <a:prstGeom prst="bentConnector3">
            <a:avLst>
              <a:gd name="adj1" fmla="val 117836"/>
            </a:avLst>
          </a:prstGeom>
          <a:ln w="63500"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Zaoblený obdélníkový popisek 31"/>
          <p:cNvSpPr/>
          <p:nvPr/>
        </p:nvSpPr>
        <p:spPr>
          <a:xfrm>
            <a:off x="79198" y="1686220"/>
            <a:ext cx="936104" cy="455644"/>
          </a:xfrm>
          <a:prstGeom prst="wedgeRoundRectCallout">
            <a:avLst>
              <a:gd name="adj1" fmla="val 18888"/>
              <a:gd name="adj2" fmla="val 130123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cs-CZ" sz="1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Teplota</a:t>
            </a:r>
          </a:p>
          <a:p>
            <a:pPr algn="ctr"/>
            <a:r>
              <a:rPr lang="cs-CZ" sz="1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t=25 </a:t>
            </a:r>
            <a:r>
              <a:rPr lang="cs-CZ" sz="1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st.C</a:t>
            </a:r>
            <a:endParaRPr lang="cs-CZ" sz="10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3" name="Zaoblený obdélníkový popisek 32"/>
          <p:cNvSpPr/>
          <p:nvPr/>
        </p:nvSpPr>
        <p:spPr>
          <a:xfrm>
            <a:off x="1656413" y="1914041"/>
            <a:ext cx="730195" cy="252028"/>
          </a:xfrm>
          <a:prstGeom prst="wedgeRoundRectCallout">
            <a:avLst>
              <a:gd name="adj1" fmla="val -7874"/>
              <a:gd name="adj2" fmla="val 187218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cs-CZ" sz="1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U=2,5V</a:t>
            </a:r>
          </a:p>
        </p:txBody>
      </p:sp>
      <p:sp>
        <p:nvSpPr>
          <p:cNvPr id="34" name="Zaoblený obdélníkový popisek 33"/>
          <p:cNvSpPr/>
          <p:nvPr/>
        </p:nvSpPr>
        <p:spPr>
          <a:xfrm>
            <a:off x="2843810" y="1814413"/>
            <a:ext cx="1224136" cy="252028"/>
          </a:xfrm>
          <a:prstGeom prst="wedgeRoundRectCallout">
            <a:avLst>
              <a:gd name="adj1" fmla="val -7874"/>
              <a:gd name="adj2" fmla="val 187218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cs-CZ" sz="1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“10101011“</a:t>
            </a:r>
          </a:p>
        </p:txBody>
      </p:sp>
      <p:sp>
        <p:nvSpPr>
          <p:cNvPr id="35" name="Zaoblený obdélníkový popisek 34"/>
          <p:cNvSpPr/>
          <p:nvPr/>
        </p:nvSpPr>
        <p:spPr>
          <a:xfrm>
            <a:off x="5128329" y="1814413"/>
            <a:ext cx="1224136" cy="252028"/>
          </a:xfrm>
          <a:prstGeom prst="wedgeRoundRectCallout">
            <a:avLst>
              <a:gd name="adj1" fmla="val -7874"/>
              <a:gd name="adj2" fmla="val 187218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cs-CZ" sz="1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“00001011“</a:t>
            </a:r>
          </a:p>
        </p:txBody>
      </p:sp>
      <p:sp>
        <p:nvSpPr>
          <p:cNvPr id="19" name="Zaoblený obdélníkový popisek 18"/>
          <p:cNvSpPr/>
          <p:nvPr/>
        </p:nvSpPr>
        <p:spPr>
          <a:xfrm>
            <a:off x="6603094" y="1802524"/>
            <a:ext cx="849229" cy="252028"/>
          </a:xfrm>
          <a:prstGeom prst="wedgeRoundRectCallout">
            <a:avLst>
              <a:gd name="adj1" fmla="val -20119"/>
              <a:gd name="adj2" fmla="val 222905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PWM=25</a:t>
            </a:r>
            <a:r>
              <a:rPr lang="en-US" sz="1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%</a:t>
            </a:r>
            <a:endParaRPr lang="cs-CZ" sz="10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Tlačítko akce: Vlastní 20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5" name="Tlačítko akce: Vlastní 24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7" name="Tlačítko akce: Vlastní 26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2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29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8865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3" grpId="0" animBg="1"/>
      <p:bldP spid="11" grpId="0" animBg="1"/>
      <p:bldP spid="12" grpId="0" animBg="1"/>
      <p:bldP spid="13" grpId="0" animBg="1"/>
      <p:bldP spid="17" grpId="0" animBg="1"/>
      <p:bldP spid="18" grpId="0" animBg="1"/>
      <p:bldP spid="14" grpId="0" animBg="1"/>
      <p:bldP spid="32" grpId="0" animBg="1"/>
      <p:bldP spid="33" grpId="0" animBg="1"/>
      <p:bldP spid="34" grpId="0" animBg="1"/>
      <p:bldP spid="35" grpId="0" animBg="1"/>
      <p:bldP spid="19" grpId="0" animBg="1"/>
      <p:bldP spid="28" grpId="0" animBg="1"/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4"/>
          <p:cNvSpPr>
            <a:spLocks noChangeArrowheads="1"/>
          </p:cNvSpPr>
          <p:nvPr/>
        </p:nvSpPr>
        <p:spPr bwMode="auto">
          <a:xfrm>
            <a:off x="360001" y="1080003"/>
            <a:ext cx="8784000" cy="34015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marL="504000" indent="-504000" eaLnBrk="1" hangingPunct="1">
              <a:spcBef>
                <a:spcPts val="0"/>
              </a:spcBef>
              <a:spcAft>
                <a:spcPts val="1800"/>
              </a:spcAft>
              <a:buClr>
                <a:srgbClr val="00007D"/>
              </a:buClr>
              <a:buSzPct val="100000"/>
              <a:buFont typeface="Wingdings" pitchFamily="2" charset="2"/>
              <a:buChar char="n"/>
            </a:pPr>
            <a:r>
              <a:rPr lang="cs-CZ" sz="2800" kern="0" dirty="0">
                <a:solidFill>
                  <a:srgbClr val="000000"/>
                </a:solidFill>
                <a:latin typeface="Verdana" pitchFamily="34" charset="0"/>
              </a:rPr>
              <a:t>Regulátor s mikropočítačem</a:t>
            </a:r>
            <a:endParaRPr lang="en-US" sz="2800" dirty="0">
              <a:solidFill>
                <a:srgbClr val="CACAFF">
                  <a:lumMod val="25000"/>
                </a:srgbClr>
              </a:solidFill>
              <a:latin typeface="Verdana" pitchFamily="34" charset="0"/>
            </a:endParaRPr>
          </a:p>
          <a:p>
            <a:pPr marL="457200" indent="-457200" eaLnBrk="1" hangingPunct="1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ü"/>
              <a:defRPr/>
            </a:pP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Úkolem regulátoru je </a:t>
            </a:r>
            <a:r>
              <a:rPr lang="cs-CZ" sz="2000" dirty="0">
                <a:solidFill>
                  <a:srgbClr val="000000"/>
                </a:solidFill>
                <a:latin typeface="Verdana" pitchFamily="34" charset="0"/>
              </a:rPr>
              <a:t>udržovat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 regulovanou veličinu podle </a:t>
            </a:r>
            <a:r>
              <a:rPr lang="cs-CZ" sz="2000" dirty="0">
                <a:solidFill>
                  <a:srgbClr val="000000"/>
                </a:solidFill>
                <a:latin typeface="Verdana" pitchFamily="34" charset="0"/>
              </a:rPr>
              <a:t>požadovaného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 nastavení</a:t>
            </a:r>
          </a:p>
          <a:p>
            <a:pPr marL="457200" indent="-457200" eaLnBrk="1" hangingPunct="1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ü"/>
              <a:defRPr/>
            </a:pPr>
            <a:r>
              <a:rPr lang="cs-CZ" sz="1800" b="0" dirty="0">
                <a:solidFill>
                  <a:srgbClr val="000000"/>
                </a:solidFill>
                <a:latin typeface="Verdana" pitchFamily="34" charset="0"/>
              </a:rPr>
              <a:t>Příkladem je </a:t>
            </a:r>
            <a:r>
              <a:rPr lang="cs-CZ" sz="1800" b="0" dirty="0">
                <a:solidFill>
                  <a:srgbClr val="000000"/>
                </a:solidFill>
                <a:highlight>
                  <a:srgbClr val="FFFF00"/>
                </a:highlight>
                <a:latin typeface="Verdana" pitchFamily="34" charset="0"/>
              </a:rPr>
              <a:t>udržování teploty</a:t>
            </a:r>
            <a:r>
              <a:rPr lang="cs-CZ" sz="1800" b="0" dirty="0">
                <a:solidFill>
                  <a:srgbClr val="000000"/>
                </a:solidFill>
                <a:latin typeface="Verdana" pitchFamily="34" charset="0"/>
              </a:rPr>
              <a:t> v místnosti, měřícím zařízením je teploměr, akční člen dodávající energii může být solenoidový ventil (pouští teplou vodu do radiátoru) nebo plynový ventil zapalující plynový hořák)</a:t>
            </a:r>
            <a:r>
              <a:rPr lang="en-US" sz="1800" b="0" dirty="0">
                <a:solidFill>
                  <a:srgbClr val="000000"/>
                </a:solidFill>
                <a:latin typeface="Verdana" pitchFamily="34" charset="0"/>
              </a:rPr>
              <a:t>; pro </a:t>
            </a:r>
            <a:r>
              <a:rPr lang="cs-CZ" sz="1800" b="0" dirty="0">
                <a:solidFill>
                  <a:srgbClr val="000000"/>
                </a:solidFill>
                <a:latin typeface="Verdana" pitchFamily="34" charset="0"/>
              </a:rPr>
              <a:t>ovládání použijeme např. PWM</a:t>
            </a:r>
          </a:p>
          <a:p>
            <a:pPr marL="457200" indent="-457200" eaLnBrk="1" hangingPunct="1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ü"/>
              <a:defRPr/>
            </a:pP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V regulátoru je použit mikropočítač, který bude vyhodnocovat tzv. regulační odchylku od žádané hodnoty</a:t>
            </a:r>
          </a:p>
        </p:txBody>
      </p:sp>
      <p:sp>
        <p:nvSpPr>
          <p:cNvPr id="3" name="Rectangle 62"/>
          <p:cNvSpPr>
            <a:spLocks noGrp="1" noChangeArrowheads="1"/>
          </p:cNvSpPr>
          <p:nvPr>
            <p:ph type="title" idx="4294967295"/>
          </p:nvPr>
        </p:nvSpPr>
        <p:spPr>
          <a:xfrm>
            <a:off x="720001" y="72002"/>
            <a:ext cx="6012240" cy="399600"/>
          </a:xfrm>
        </p:spPr>
        <p:txBody>
          <a:bodyPr/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Regulátor</a:t>
            </a:r>
          </a:p>
        </p:txBody>
      </p:sp>
      <p:sp>
        <p:nvSpPr>
          <p:cNvPr id="4" name="Tlačítko akce: Vlastní 3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5" name="Tlačítko akce: Vlastní 4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6" name="Tlačítko akce: Vlastní 5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8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6407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4"/>
          <p:cNvSpPr>
            <a:spLocks noChangeArrowheads="1"/>
          </p:cNvSpPr>
          <p:nvPr/>
        </p:nvSpPr>
        <p:spPr bwMode="auto">
          <a:xfrm>
            <a:off x="360001" y="1080000"/>
            <a:ext cx="8784000" cy="1801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marL="504000" indent="-504000" eaLnBrk="1" hangingPunct="1">
              <a:spcBef>
                <a:spcPts val="0"/>
              </a:spcBef>
              <a:spcAft>
                <a:spcPts val="1800"/>
              </a:spcAft>
              <a:buClr>
                <a:srgbClr val="00007D"/>
              </a:buClr>
              <a:buSzPct val="100000"/>
              <a:buFont typeface="Wingdings" pitchFamily="2" charset="2"/>
              <a:buChar char="n"/>
            </a:pPr>
            <a:r>
              <a:rPr lang="cs-CZ" sz="2800" kern="0" dirty="0">
                <a:solidFill>
                  <a:srgbClr val="000000"/>
                </a:solidFill>
                <a:latin typeface="Verdana" pitchFamily="34" charset="0"/>
              </a:rPr>
              <a:t>Vstupní část</a:t>
            </a:r>
            <a:endParaRPr lang="en-US" sz="2800" dirty="0">
              <a:solidFill>
                <a:srgbClr val="CACAFF">
                  <a:lumMod val="25000"/>
                </a:srgbClr>
              </a:solidFill>
              <a:latin typeface="Verdana" pitchFamily="34" charset="0"/>
            </a:endParaRPr>
          </a:p>
          <a:p>
            <a:pPr marL="457200" indent="-457200" eaLnBrk="1" hangingPunct="1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ü"/>
              <a:defRPr/>
            </a:pP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Teplota se měří </a:t>
            </a:r>
            <a:r>
              <a:rPr lang="cs-CZ" sz="2000" dirty="0">
                <a:solidFill>
                  <a:srgbClr val="000000"/>
                </a:solidFill>
                <a:latin typeface="Verdana" pitchFamily="34" charset="0"/>
              </a:rPr>
              <a:t>teploměrem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, který má </a:t>
            </a:r>
            <a:r>
              <a:rPr lang="cs-CZ" sz="2000" dirty="0">
                <a:solidFill>
                  <a:srgbClr val="000000"/>
                </a:solidFill>
                <a:latin typeface="Verdana" pitchFamily="34" charset="0"/>
              </a:rPr>
              <a:t>napěťový výstup </a:t>
            </a:r>
          </a:p>
          <a:p>
            <a:pPr marL="457200" indent="-457200" eaLnBrk="1" hangingPunct="1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ü"/>
              <a:defRPr/>
            </a:pPr>
            <a:r>
              <a:rPr lang="cs-CZ" sz="2000" dirty="0">
                <a:solidFill>
                  <a:srgbClr val="000000"/>
                </a:solidFill>
                <a:latin typeface="Verdana" pitchFamily="34" charset="0"/>
              </a:rPr>
              <a:t>Napětí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 je </a:t>
            </a:r>
            <a:r>
              <a:rPr lang="cs-CZ" sz="2000" dirty="0">
                <a:solidFill>
                  <a:srgbClr val="000000"/>
                </a:solidFill>
                <a:latin typeface="Verdana" pitchFamily="34" charset="0"/>
              </a:rPr>
              <a:t>převedeno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 A/D převodníkem na </a:t>
            </a:r>
            <a:r>
              <a:rPr lang="cs-CZ" sz="2000" dirty="0">
                <a:solidFill>
                  <a:srgbClr val="000000"/>
                </a:solidFill>
                <a:latin typeface="Verdana" pitchFamily="34" charset="0"/>
              </a:rPr>
              <a:t>číslicovou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 informaci</a:t>
            </a:r>
          </a:p>
        </p:txBody>
      </p:sp>
      <p:sp>
        <p:nvSpPr>
          <p:cNvPr id="3" name="Rectangle 62"/>
          <p:cNvSpPr>
            <a:spLocks noGrp="1" noChangeArrowheads="1"/>
          </p:cNvSpPr>
          <p:nvPr>
            <p:ph type="title" idx="4294967295"/>
          </p:nvPr>
        </p:nvSpPr>
        <p:spPr>
          <a:xfrm>
            <a:off x="720001" y="72002"/>
            <a:ext cx="6012240" cy="399600"/>
          </a:xfrm>
        </p:spPr>
        <p:txBody>
          <a:bodyPr/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Regulátor</a:t>
            </a:r>
          </a:p>
        </p:txBody>
      </p:sp>
      <p:sp>
        <p:nvSpPr>
          <p:cNvPr id="4" name="Tlačítko akce: Vlastní 3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5" name="Tlačítko akce: Vlastní 4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6" name="Tlačítko akce: Vlastní 5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8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9318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4"/>
          <p:cNvSpPr>
            <a:spLocks noChangeArrowheads="1"/>
          </p:cNvSpPr>
          <p:nvPr/>
        </p:nvSpPr>
        <p:spPr bwMode="auto">
          <a:xfrm>
            <a:off x="360001" y="1080003"/>
            <a:ext cx="8784000" cy="24782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marL="504000" indent="-504000" eaLnBrk="1" hangingPunct="1">
              <a:spcBef>
                <a:spcPts val="0"/>
              </a:spcBef>
              <a:spcAft>
                <a:spcPts val="1800"/>
              </a:spcAft>
              <a:buClr>
                <a:srgbClr val="00007D"/>
              </a:buClr>
              <a:buSzPct val="100000"/>
              <a:buFont typeface="Wingdings" pitchFamily="2" charset="2"/>
              <a:buChar char="n"/>
            </a:pPr>
            <a:r>
              <a:rPr lang="cs-CZ" sz="2800" kern="0" dirty="0">
                <a:solidFill>
                  <a:srgbClr val="000000"/>
                </a:solidFill>
                <a:latin typeface="Verdana" pitchFamily="34" charset="0"/>
              </a:rPr>
              <a:t>Výstupní část</a:t>
            </a:r>
            <a:endParaRPr lang="en-US" sz="2800" dirty="0">
              <a:solidFill>
                <a:srgbClr val="CACAFF">
                  <a:lumMod val="25000"/>
                </a:srgbClr>
              </a:solidFill>
              <a:latin typeface="Verdana" pitchFamily="34" charset="0"/>
            </a:endParaRPr>
          </a:p>
          <a:p>
            <a:pPr marL="457200" indent="-457200" eaLnBrk="1" hangingPunct="1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ü"/>
              <a:defRPr/>
            </a:pPr>
            <a:r>
              <a:rPr lang="cs-CZ" sz="2000" b="0" dirty="0">
                <a:solidFill>
                  <a:srgbClr val="000000"/>
                </a:solidFill>
                <a:highlight>
                  <a:srgbClr val="FFFF00"/>
                </a:highlight>
                <a:latin typeface="Verdana" pitchFamily="34" charset="0"/>
              </a:rPr>
              <a:t>Vstupní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 veličina je </a:t>
            </a:r>
            <a:r>
              <a:rPr lang="cs-CZ" sz="2000" dirty="0">
                <a:solidFill>
                  <a:srgbClr val="000000"/>
                </a:solidFill>
                <a:latin typeface="Verdana" pitchFamily="34" charset="0"/>
              </a:rPr>
              <a:t>porovnána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 s </a:t>
            </a:r>
            <a:r>
              <a:rPr lang="cs-CZ" sz="2000" b="0" dirty="0">
                <a:solidFill>
                  <a:srgbClr val="000000"/>
                </a:solidFill>
                <a:highlight>
                  <a:srgbClr val="FFFF00"/>
                </a:highlight>
                <a:latin typeface="Verdana" pitchFamily="34" charset="0"/>
              </a:rPr>
              <a:t>žádanou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 hodnotou v číslicové podobě</a:t>
            </a:r>
          </a:p>
          <a:p>
            <a:pPr marL="457200" indent="-457200" eaLnBrk="1" hangingPunct="1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ü"/>
              <a:defRPr/>
            </a:pP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Na výstupu se nastaví velikost </a:t>
            </a:r>
            <a:r>
              <a:rPr lang="cs-CZ" sz="2000" dirty="0">
                <a:solidFill>
                  <a:srgbClr val="000000"/>
                </a:solidFill>
                <a:latin typeface="Verdana" pitchFamily="34" charset="0"/>
              </a:rPr>
              <a:t>akční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 veličiny např. PWM, která ovládá množství dodávané energie (regulujeme teplotu)</a:t>
            </a:r>
          </a:p>
          <a:p>
            <a:pPr marL="457200" indent="-457200" eaLnBrk="1" hangingPunct="1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ü"/>
              <a:defRPr/>
            </a:pP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Vstupní veličina je </a:t>
            </a:r>
            <a:r>
              <a:rPr lang="cs-CZ" sz="2000" dirty="0">
                <a:solidFill>
                  <a:srgbClr val="000000"/>
                </a:solidFill>
                <a:latin typeface="Verdana" pitchFamily="34" charset="0"/>
              </a:rPr>
              <a:t>vzorkována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 v pravidelných intervalech</a:t>
            </a:r>
          </a:p>
        </p:txBody>
      </p:sp>
      <p:sp>
        <p:nvSpPr>
          <p:cNvPr id="3" name="Rectangle 62"/>
          <p:cNvSpPr>
            <a:spLocks noGrp="1" noChangeArrowheads="1"/>
          </p:cNvSpPr>
          <p:nvPr>
            <p:ph type="title" idx="4294967295"/>
          </p:nvPr>
        </p:nvSpPr>
        <p:spPr>
          <a:xfrm>
            <a:off x="720001" y="72002"/>
            <a:ext cx="6012240" cy="399600"/>
          </a:xfrm>
        </p:spPr>
        <p:txBody>
          <a:bodyPr/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Regulátor</a:t>
            </a:r>
          </a:p>
        </p:txBody>
      </p:sp>
      <p:sp>
        <p:nvSpPr>
          <p:cNvPr id="4" name="Tlačítko akce: Vlastní 3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5" name="Tlačítko akce: Vlastní 4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6" name="Tlačítko akce: Vlastní 5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8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8133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804" y="285729"/>
            <a:ext cx="8229600" cy="720000"/>
          </a:xfrm>
        </p:spPr>
        <p:txBody>
          <a:bodyPr/>
          <a:lstStyle/>
          <a:p>
            <a:pPr eaLnBrk="1" hangingPunct="1"/>
            <a:r>
              <a:rPr lang="cs-C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A/D převodník</a:t>
            </a: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360001" y="1080001"/>
            <a:ext cx="8784000" cy="10624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marL="504000" indent="-504000" eaLnBrk="1" hangingPunct="1">
              <a:spcBef>
                <a:spcPts val="0"/>
              </a:spcBef>
              <a:spcAft>
                <a:spcPts val="1800"/>
              </a:spcAft>
              <a:buClr>
                <a:srgbClr val="00007D"/>
              </a:buClr>
              <a:buSzPct val="100000"/>
              <a:buFont typeface="Wingdings" pitchFamily="2" charset="2"/>
              <a:buChar char="n"/>
            </a:pPr>
            <a:r>
              <a:rPr lang="cs-CZ" sz="2800" kern="0" dirty="0">
                <a:solidFill>
                  <a:srgbClr val="000000"/>
                </a:solidFill>
                <a:latin typeface="Verdana" pitchFamily="34" charset="0"/>
              </a:rPr>
              <a:t>Funkce</a:t>
            </a:r>
            <a:endParaRPr lang="en-US" sz="2800" dirty="0">
              <a:solidFill>
                <a:srgbClr val="CACAFF">
                  <a:lumMod val="25000"/>
                </a:srgbClr>
              </a:solidFill>
              <a:latin typeface="Verdana" pitchFamily="34" charset="0"/>
            </a:endParaRPr>
          </a:p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Clr>
                <a:srgbClr val="00007D"/>
              </a:buClr>
              <a:buSzPct val="75000"/>
              <a:buFont typeface="Wingdings" pitchFamily="2" charset="2"/>
              <a:buChar char="ü"/>
              <a:defRPr/>
            </a:pP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Převádí </a:t>
            </a:r>
            <a:r>
              <a:rPr lang="cs-CZ" sz="2000" dirty="0">
                <a:solidFill>
                  <a:srgbClr val="000000"/>
                </a:solidFill>
                <a:latin typeface="Verdana" pitchFamily="34" charset="0"/>
              </a:rPr>
              <a:t>analogovou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 veličinu na </a:t>
            </a:r>
            <a:r>
              <a:rPr lang="cs-CZ" sz="2000" dirty="0">
                <a:solidFill>
                  <a:srgbClr val="000000"/>
                </a:solidFill>
                <a:latin typeface="Verdana" pitchFamily="34" charset="0"/>
              </a:rPr>
              <a:t>n-bitové číslo</a:t>
            </a:r>
          </a:p>
        </p:txBody>
      </p:sp>
      <p:sp>
        <p:nvSpPr>
          <p:cNvPr id="4" name="Tlačítko akce: Vlastní 3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5" name="Tlačítko akce: Vlastní 4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6" name="Tlačítko akce: Vlastní 5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8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8481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Šipka: dolů 21">
            <a:extLst>
              <a:ext uri="{FF2B5EF4-FFF2-40B4-BE49-F238E27FC236}">
                <a16:creationId xmlns:a16="http://schemas.microsoft.com/office/drawing/2014/main" id="{32189993-CD16-40A2-B164-491BE4BA8A60}"/>
              </a:ext>
            </a:extLst>
          </p:cNvPr>
          <p:cNvSpPr/>
          <p:nvPr/>
        </p:nvSpPr>
        <p:spPr>
          <a:xfrm rot="16200000">
            <a:off x="6012000" y="2430001"/>
            <a:ext cx="900000" cy="900000"/>
          </a:xfrm>
          <a:prstGeom prst="down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Rectangle 62"/>
          <p:cNvSpPr>
            <a:spLocks noGrp="1" noChangeArrowheads="1"/>
          </p:cNvSpPr>
          <p:nvPr>
            <p:ph type="title" idx="4294967295"/>
          </p:nvPr>
        </p:nvSpPr>
        <p:spPr>
          <a:xfrm>
            <a:off x="720001" y="72002"/>
            <a:ext cx="6012240" cy="399600"/>
          </a:xfrm>
        </p:spPr>
        <p:txBody>
          <a:bodyPr/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A/D převodník</a:t>
            </a:r>
          </a:p>
        </p:txBody>
      </p:sp>
      <p:sp>
        <p:nvSpPr>
          <p:cNvPr id="4" name="Tlačítko akce: Vlastní 3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5" name="Tlačítko akce: Vlastní 4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6" name="Tlačítko akce: Vlastní 5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8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A66EDB35-C1FB-426B-8FFF-76500CC03007}"/>
              </a:ext>
            </a:extLst>
          </p:cNvPr>
          <p:cNvSpPr/>
          <p:nvPr/>
        </p:nvSpPr>
        <p:spPr>
          <a:xfrm>
            <a:off x="2880000" y="1800000"/>
            <a:ext cx="3240360" cy="21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A/D převodník</a:t>
            </a:r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1A393A72-00AA-4D11-9460-49FF4BFA198B}"/>
              </a:ext>
            </a:extLst>
          </p:cNvPr>
          <p:cNvSpPr/>
          <p:nvPr/>
        </p:nvSpPr>
        <p:spPr>
          <a:xfrm>
            <a:off x="6840640" y="2423465"/>
            <a:ext cx="1403768" cy="9130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cs-CZ" sz="2000" dirty="0">
                <a:solidFill>
                  <a:schemeClr val="tx1"/>
                </a:solidFill>
              </a:rPr>
              <a:t>NAPETI</a:t>
            </a:r>
          </a:p>
          <a:p>
            <a:pPr algn="ctr"/>
            <a:r>
              <a:rPr lang="cs-CZ" sz="2000" dirty="0">
                <a:solidFill>
                  <a:schemeClr val="tx1"/>
                </a:solidFill>
              </a:rPr>
              <a:t>n-bitů</a:t>
            </a:r>
          </a:p>
          <a:p>
            <a:pPr algn="ctr"/>
            <a:r>
              <a:rPr lang="cs-CZ" sz="2000" baseline="-25000" dirty="0" err="1">
                <a:solidFill>
                  <a:schemeClr val="tx1"/>
                </a:solidFill>
              </a:rPr>
              <a:t>digital</a:t>
            </a:r>
            <a:endParaRPr lang="cs-CZ" sz="2000" baseline="-25000" dirty="0">
              <a:solidFill>
                <a:schemeClr val="tx1"/>
              </a:solidFill>
            </a:endParaRPr>
          </a:p>
        </p:txBody>
      </p:sp>
      <p:sp>
        <p:nvSpPr>
          <p:cNvPr id="12" name="Obdélník 11">
            <a:extLst>
              <a:ext uri="{FF2B5EF4-FFF2-40B4-BE49-F238E27FC236}">
                <a16:creationId xmlns:a16="http://schemas.microsoft.com/office/drawing/2014/main" id="{20EFB008-6C1C-4B25-887F-A8F7465227F8}"/>
              </a:ext>
            </a:extLst>
          </p:cNvPr>
          <p:cNvSpPr/>
          <p:nvPr/>
        </p:nvSpPr>
        <p:spPr>
          <a:xfrm>
            <a:off x="695151" y="2996417"/>
            <a:ext cx="1107234" cy="6155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cs-CZ" sz="2000" dirty="0" err="1">
                <a:solidFill>
                  <a:schemeClr val="tx1"/>
                </a:solidFill>
              </a:rPr>
              <a:t>U</a:t>
            </a:r>
            <a:r>
              <a:rPr lang="cs-CZ" sz="2000" baseline="-25000" dirty="0" err="1">
                <a:solidFill>
                  <a:schemeClr val="tx1"/>
                </a:solidFill>
              </a:rPr>
              <a:t>ref</a:t>
            </a:r>
            <a:endParaRPr lang="cs-CZ" sz="2000" baseline="-25000" dirty="0">
              <a:solidFill>
                <a:schemeClr val="tx1"/>
              </a:solidFill>
            </a:endParaRPr>
          </a:p>
          <a:p>
            <a:pPr algn="ctr"/>
            <a:r>
              <a:rPr lang="cs-CZ" sz="1400" dirty="0">
                <a:solidFill>
                  <a:schemeClr val="tx1"/>
                </a:solidFill>
              </a:rPr>
              <a:t>analog</a:t>
            </a:r>
          </a:p>
        </p:txBody>
      </p:sp>
      <p:cxnSp>
        <p:nvCxnSpPr>
          <p:cNvPr id="20" name="Přímá spojnice se šipkou 19">
            <a:extLst>
              <a:ext uri="{FF2B5EF4-FFF2-40B4-BE49-F238E27FC236}">
                <a16:creationId xmlns:a16="http://schemas.microsoft.com/office/drawing/2014/main" id="{6B85F4B8-DF21-4057-9164-5756DF1FEED5}"/>
              </a:ext>
            </a:extLst>
          </p:cNvPr>
          <p:cNvCxnSpPr>
            <a:cxnSpLocks/>
          </p:cNvCxnSpPr>
          <p:nvPr/>
        </p:nvCxnSpPr>
        <p:spPr>
          <a:xfrm>
            <a:off x="1835816" y="2454780"/>
            <a:ext cx="1080000" cy="0"/>
          </a:xfrm>
          <a:prstGeom prst="straightConnector1">
            <a:avLst/>
          </a:prstGeom>
          <a:ln w="762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Přímá spojnice se šipkou 22">
            <a:extLst>
              <a:ext uri="{FF2B5EF4-FFF2-40B4-BE49-F238E27FC236}">
                <a16:creationId xmlns:a16="http://schemas.microsoft.com/office/drawing/2014/main" id="{9D5892F6-9E29-4A2F-8BF4-624C99A4445E}"/>
              </a:ext>
            </a:extLst>
          </p:cNvPr>
          <p:cNvCxnSpPr>
            <a:cxnSpLocks/>
          </p:cNvCxnSpPr>
          <p:nvPr/>
        </p:nvCxnSpPr>
        <p:spPr>
          <a:xfrm>
            <a:off x="1835816" y="3304194"/>
            <a:ext cx="10800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bdélník 23">
            <a:extLst>
              <a:ext uri="{FF2B5EF4-FFF2-40B4-BE49-F238E27FC236}">
                <a16:creationId xmlns:a16="http://schemas.microsoft.com/office/drawing/2014/main" id="{D814D204-B235-40EF-B408-1B104D38A8FE}"/>
              </a:ext>
            </a:extLst>
          </p:cNvPr>
          <p:cNvSpPr/>
          <p:nvPr/>
        </p:nvSpPr>
        <p:spPr>
          <a:xfrm>
            <a:off x="728462" y="2147003"/>
            <a:ext cx="1107234" cy="6155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cs-CZ" sz="2000" dirty="0" err="1">
                <a:solidFill>
                  <a:schemeClr val="tx1"/>
                </a:solidFill>
              </a:rPr>
              <a:t>U</a:t>
            </a:r>
            <a:r>
              <a:rPr lang="cs-CZ" sz="2000" baseline="-25000" dirty="0" err="1">
                <a:solidFill>
                  <a:schemeClr val="tx1"/>
                </a:solidFill>
              </a:rPr>
              <a:t>vst</a:t>
            </a:r>
            <a:endParaRPr lang="cs-CZ" sz="2000" baseline="-25000" dirty="0">
              <a:solidFill>
                <a:schemeClr val="tx1"/>
              </a:solidFill>
            </a:endParaRPr>
          </a:p>
          <a:p>
            <a:pPr algn="ctr"/>
            <a:r>
              <a:rPr lang="cs-CZ" sz="1400" dirty="0">
                <a:solidFill>
                  <a:schemeClr val="tx1"/>
                </a:solidFill>
              </a:rPr>
              <a:t>analog</a:t>
            </a:r>
          </a:p>
        </p:txBody>
      </p:sp>
      <p:cxnSp>
        <p:nvCxnSpPr>
          <p:cNvPr id="26" name="Přímá spojnice se šipkou 25">
            <a:extLst>
              <a:ext uri="{FF2B5EF4-FFF2-40B4-BE49-F238E27FC236}">
                <a16:creationId xmlns:a16="http://schemas.microsoft.com/office/drawing/2014/main" id="{2B063035-EED6-4CFE-BB3F-600B30178237}"/>
              </a:ext>
            </a:extLst>
          </p:cNvPr>
          <p:cNvCxnSpPr>
            <a:cxnSpLocks/>
          </p:cNvCxnSpPr>
          <p:nvPr/>
        </p:nvCxnSpPr>
        <p:spPr>
          <a:xfrm flipV="1">
            <a:off x="3960000" y="3960000"/>
            <a:ext cx="0" cy="91204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bdélník 27">
            <a:extLst>
              <a:ext uri="{FF2B5EF4-FFF2-40B4-BE49-F238E27FC236}">
                <a16:creationId xmlns:a16="http://schemas.microsoft.com/office/drawing/2014/main" id="{056A0C68-AFAA-4A5F-BBB9-E4D758D09AA7}"/>
              </a:ext>
            </a:extLst>
          </p:cNvPr>
          <p:cNvSpPr/>
          <p:nvPr/>
        </p:nvSpPr>
        <p:spPr>
          <a:xfrm>
            <a:off x="3406383" y="4946003"/>
            <a:ext cx="1107234" cy="584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cs-CZ" sz="1600" dirty="0">
                <a:solidFill>
                  <a:schemeClr val="tx1"/>
                </a:solidFill>
              </a:rPr>
              <a:t>Start</a:t>
            </a:r>
            <a:br>
              <a:rPr lang="cs-CZ" sz="1600" dirty="0">
                <a:solidFill>
                  <a:schemeClr val="tx1"/>
                </a:solidFill>
              </a:rPr>
            </a:br>
            <a:r>
              <a:rPr lang="cs-CZ" sz="1600" dirty="0">
                <a:solidFill>
                  <a:schemeClr val="tx1"/>
                </a:solidFill>
              </a:rPr>
              <a:t>převodu</a:t>
            </a:r>
          </a:p>
        </p:txBody>
      </p:sp>
      <p:cxnSp>
        <p:nvCxnSpPr>
          <p:cNvPr id="29" name="Přímá spojnice se šipkou 28">
            <a:extLst>
              <a:ext uri="{FF2B5EF4-FFF2-40B4-BE49-F238E27FC236}">
                <a16:creationId xmlns:a16="http://schemas.microsoft.com/office/drawing/2014/main" id="{11CF600D-B106-47CC-9FB2-A5C90D70930B}"/>
              </a:ext>
            </a:extLst>
          </p:cNvPr>
          <p:cNvCxnSpPr>
            <a:cxnSpLocks/>
          </p:cNvCxnSpPr>
          <p:nvPr/>
        </p:nvCxnSpPr>
        <p:spPr>
          <a:xfrm>
            <a:off x="5040000" y="3960000"/>
            <a:ext cx="0" cy="91204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bdélník 29">
            <a:extLst>
              <a:ext uri="{FF2B5EF4-FFF2-40B4-BE49-F238E27FC236}">
                <a16:creationId xmlns:a16="http://schemas.microsoft.com/office/drawing/2014/main" id="{E8170F4D-A1D6-4C19-936B-9EFFAC814D59}"/>
              </a:ext>
            </a:extLst>
          </p:cNvPr>
          <p:cNvSpPr/>
          <p:nvPr/>
        </p:nvSpPr>
        <p:spPr>
          <a:xfrm>
            <a:off x="4412481" y="4941167"/>
            <a:ext cx="1255038" cy="584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cs-CZ" sz="1600" dirty="0">
                <a:solidFill>
                  <a:schemeClr val="tx1"/>
                </a:solidFill>
              </a:rPr>
              <a:t>Převod</a:t>
            </a:r>
            <a:br>
              <a:rPr lang="cs-CZ" sz="1600" dirty="0">
                <a:solidFill>
                  <a:schemeClr val="tx1"/>
                </a:solidFill>
              </a:rPr>
            </a:br>
            <a:r>
              <a:rPr lang="cs-CZ" sz="1600" dirty="0">
                <a:solidFill>
                  <a:schemeClr val="tx1"/>
                </a:solidFill>
              </a:rPr>
              <a:t>dokončen</a:t>
            </a:r>
          </a:p>
        </p:txBody>
      </p:sp>
    </p:spTree>
    <p:extLst>
      <p:ext uri="{BB962C8B-B14F-4D97-AF65-F5344CB8AC3E}">
        <p14:creationId xmlns:p14="http://schemas.microsoft.com/office/powerpoint/2010/main" val="1941114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7" grpId="0" animBg="1"/>
      <p:bldP spid="8" grpId="0"/>
      <p:bldP spid="9" grpId="0" animBg="1"/>
      <p:bldP spid="11" grpId="0"/>
      <p:bldP spid="12" grpId="0"/>
      <p:bldP spid="24" grpId="0"/>
      <p:bldP spid="28" grpId="0"/>
      <p:bldP spid="3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4"/>
          <p:cNvSpPr>
            <a:spLocks noChangeArrowheads="1"/>
          </p:cNvSpPr>
          <p:nvPr/>
        </p:nvSpPr>
        <p:spPr bwMode="auto">
          <a:xfrm>
            <a:off x="360001" y="1080003"/>
            <a:ext cx="8784000" cy="523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marL="504000" indent="-504000" eaLnBrk="1" hangingPunct="1">
              <a:spcBef>
                <a:spcPts val="0"/>
              </a:spcBef>
              <a:spcAft>
                <a:spcPts val="1800"/>
              </a:spcAft>
              <a:buClr>
                <a:srgbClr val="00007D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kern="0" dirty="0">
                <a:solidFill>
                  <a:srgbClr val="000000"/>
                </a:solidFill>
                <a:latin typeface="Verdana" pitchFamily="34" charset="0"/>
              </a:rPr>
              <a:t>Příklad převodu </a:t>
            </a:r>
            <a:r>
              <a:rPr lang="cs-CZ" sz="2800" b="0" kern="0" dirty="0">
                <a:solidFill>
                  <a:srgbClr val="000000"/>
                </a:solidFill>
                <a:latin typeface="Verdana" pitchFamily="34" charset="0"/>
              </a:rPr>
              <a:t>(rozlišení 4bity)</a:t>
            </a:r>
          </a:p>
        </p:txBody>
      </p:sp>
      <p:sp>
        <p:nvSpPr>
          <p:cNvPr id="3" name="Rectangle 62"/>
          <p:cNvSpPr>
            <a:spLocks noGrp="1" noChangeArrowheads="1"/>
          </p:cNvSpPr>
          <p:nvPr>
            <p:ph type="title" idx="4294967295"/>
          </p:nvPr>
        </p:nvSpPr>
        <p:spPr>
          <a:xfrm>
            <a:off x="720001" y="72002"/>
            <a:ext cx="6012240" cy="399600"/>
          </a:xfrm>
        </p:spPr>
        <p:txBody>
          <a:bodyPr/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A/D převodník</a:t>
            </a:r>
          </a:p>
        </p:txBody>
      </p:sp>
      <p:sp>
        <p:nvSpPr>
          <p:cNvPr id="4" name="Tlačítko akce: Vlastní 3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5" name="Tlačítko akce: Vlastní 4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6" name="Tlačítko akce: Vlastní 5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8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aphicFrame>
        <p:nvGraphicFramePr>
          <p:cNvPr id="2" name="Tabulka 1">
            <a:extLst>
              <a:ext uri="{FF2B5EF4-FFF2-40B4-BE49-F238E27FC236}">
                <a16:creationId xmlns:a16="http://schemas.microsoft.com/office/drawing/2014/main" id="{20C41E70-9E88-48D6-B123-E1BA153C2B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133750"/>
              </p:ext>
            </p:extLst>
          </p:nvPr>
        </p:nvGraphicFramePr>
        <p:xfrm>
          <a:off x="360000" y="1800000"/>
          <a:ext cx="809700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122122504"/>
                    </a:ext>
                  </a:extLst>
                </a:gridCol>
                <a:gridCol w="2698501">
                  <a:extLst>
                    <a:ext uri="{9D8B030D-6E8A-4147-A177-3AD203B41FA5}">
                      <a16:colId xmlns:a16="http://schemas.microsoft.com/office/drawing/2014/main" val="972791241"/>
                    </a:ext>
                  </a:extLst>
                </a:gridCol>
                <a:gridCol w="2698501">
                  <a:extLst>
                    <a:ext uri="{9D8B030D-6E8A-4147-A177-3AD203B41FA5}">
                      <a16:colId xmlns:a16="http://schemas.microsoft.com/office/drawing/2014/main" val="389614467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cs-CZ" sz="1800" b="1" kern="0" dirty="0" err="1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U</a:t>
                      </a:r>
                      <a:r>
                        <a:rPr lang="cs-CZ" sz="1800" b="1" kern="0" baseline="-25000" dirty="0" err="1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ref</a:t>
                      </a:r>
                      <a:r>
                        <a:rPr lang="en-US" sz="1800" b="1" kern="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[V]</a:t>
                      </a:r>
                      <a:endParaRPr lang="cs-CZ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800" b="1" kern="0" dirty="0" err="1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U</a:t>
                      </a:r>
                      <a:r>
                        <a:rPr lang="cs-CZ" sz="1800" b="1" kern="0" baseline="-25000" dirty="0" err="1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vst</a:t>
                      </a:r>
                      <a:r>
                        <a:rPr lang="en-US" sz="1800" b="1" kern="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[V]</a:t>
                      </a:r>
                      <a:endParaRPr lang="cs-CZ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sz="1800" b="1" kern="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NAPETI</a:t>
                      </a:r>
                      <a:r>
                        <a:rPr lang="en-US" sz="1800" b="1" kern="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(BIN)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230181"/>
                  </a:ext>
                </a:extLst>
              </a:tr>
            </a:tbl>
          </a:graphicData>
        </a:graphic>
      </p:graphicFrame>
      <p:graphicFrame>
        <p:nvGraphicFramePr>
          <p:cNvPr id="10" name="Tabulka 9">
            <a:extLst>
              <a:ext uri="{FF2B5EF4-FFF2-40B4-BE49-F238E27FC236}">
                <a16:creationId xmlns:a16="http://schemas.microsoft.com/office/drawing/2014/main" id="{DC0BE79A-3885-4EA7-9CF5-A81A42B675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8857730"/>
              </p:ext>
            </p:extLst>
          </p:nvPr>
        </p:nvGraphicFramePr>
        <p:xfrm>
          <a:off x="360000" y="2160000"/>
          <a:ext cx="809700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122122504"/>
                    </a:ext>
                  </a:extLst>
                </a:gridCol>
                <a:gridCol w="2698501">
                  <a:extLst>
                    <a:ext uri="{9D8B030D-6E8A-4147-A177-3AD203B41FA5}">
                      <a16:colId xmlns:a16="http://schemas.microsoft.com/office/drawing/2014/main" val="972791241"/>
                    </a:ext>
                  </a:extLst>
                </a:gridCol>
                <a:gridCol w="2698501">
                  <a:extLst>
                    <a:ext uri="{9D8B030D-6E8A-4147-A177-3AD203B41FA5}">
                      <a16:colId xmlns:a16="http://schemas.microsoft.com/office/drawing/2014/main" val="389614467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  <a:endParaRPr lang="cs-CZ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0" dirty="0">
                          <a:solidFill>
                            <a:schemeClr val="bg2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  <a:endParaRPr lang="cs-CZ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1111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230181"/>
                  </a:ext>
                </a:extLst>
              </a:tr>
            </a:tbl>
          </a:graphicData>
        </a:graphic>
      </p:graphicFrame>
      <p:graphicFrame>
        <p:nvGraphicFramePr>
          <p:cNvPr id="11" name="Tabulka 10">
            <a:extLst>
              <a:ext uri="{FF2B5EF4-FFF2-40B4-BE49-F238E27FC236}">
                <a16:creationId xmlns:a16="http://schemas.microsoft.com/office/drawing/2014/main" id="{677CE058-2D8D-4259-B0F5-F9AAF1EDC5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1949262"/>
              </p:ext>
            </p:extLst>
          </p:nvPr>
        </p:nvGraphicFramePr>
        <p:xfrm>
          <a:off x="360000" y="2520000"/>
          <a:ext cx="809700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122122504"/>
                    </a:ext>
                  </a:extLst>
                </a:gridCol>
                <a:gridCol w="2698501">
                  <a:extLst>
                    <a:ext uri="{9D8B030D-6E8A-4147-A177-3AD203B41FA5}">
                      <a16:colId xmlns:a16="http://schemas.microsoft.com/office/drawing/2014/main" val="972791241"/>
                    </a:ext>
                  </a:extLst>
                </a:gridCol>
                <a:gridCol w="2698501">
                  <a:extLst>
                    <a:ext uri="{9D8B030D-6E8A-4147-A177-3AD203B41FA5}">
                      <a16:colId xmlns:a16="http://schemas.microsoft.com/office/drawing/2014/main" val="389614467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  <a:endParaRPr lang="cs-CZ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0" dirty="0">
                          <a:solidFill>
                            <a:schemeClr val="bg2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  <a:endParaRPr lang="cs-CZ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0111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230181"/>
                  </a:ext>
                </a:extLst>
              </a:tr>
            </a:tbl>
          </a:graphicData>
        </a:graphic>
      </p:graphicFrame>
      <p:graphicFrame>
        <p:nvGraphicFramePr>
          <p:cNvPr id="12" name="Tabulka 11">
            <a:extLst>
              <a:ext uri="{FF2B5EF4-FFF2-40B4-BE49-F238E27FC236}">
                <a16:creationId xmlns:a16="http://schemas.microsoft.com/office/drawing/2014/main" id="{15AE825A-0A77-4636-8D28-299144A165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618541"/>
              </p:ext>
            </p:extLst>
          </p:nvPr>
        </p:nvGraphicFramePr>
        <p:xfrm>
          <a:off x="360000" y="2880000"/>
          <a:ext cx="809700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122122504"/>
                    </a:ext>
                  </a:extLst>
                </a:gridCol>
                <a:gridCol w="2698501">
                  <a:extLst>
                    <a:ext uri="{9D8B030D-6E8A-4147-A177-3AD203B41FA5}">
                      <a16:colId xmlns:a16="http://schemas.microsoft.com/office/drawing/2014/main" val="972791241"/>
                    </a:ext>
                  </a:extLst>
                </a:gridCol>
                <a:gridCol w="2698501">
                  <a:extLst>
                    <a:ext uri="{9D8B030D-6E8A-4147-A177-3AD203B41FA5}">
                      <a16:colId xmlns:a16="http://schemas.microsoft.com/office/drawing/2014/main" val="389614467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  <a:endParaRPr lang="cs-CZ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0" dirty="0">
                          <a:solidFill>
                            <a:schemeClr val="bg2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lang="cs-CZ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0000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230181"/>
                  </a:ext>
                </a:extLst>
              </a:tr>
            </a:tbl>
          </a:graphicData>
        </a:graphic>
      </p:graphicFrame>
      <p:graphicFrame>
        <p:nvGraphicFramePr>
          <p:cNvPr id="13" name="Tabulka 12">
            <a:extLst>
              <a:ext uri="{FF2B5EF4-FFF2-40B4-BE49-F238E27FC236}">
                <a16:creationId xmlns:a16="http://schemas.microsoft.com/office/drawing/2014/main" id="{55257DB5-0DBF-42C3-B980-24196EC7CD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115059"/>
              </p:ext>
            </p:extLst>
          </p:nvPr>
        </p:nvGraphicFramePr>
        <p:xfrm>
          <a:off x="360000" y="3240000"/>
          <a:ext cx="809700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122122504"/>
                    </a:ext>
                  </a:extLst>
                </a:gridCol>
                <a:gridCol w="2698501">
                  <a:extLst>
                    <a:ext uri="{9D8B030D-6E8A-4147-A177-3AD203B41FA5}">
                      <a16:colId xmlns:a16="http://schemas.microsoft.com/office/drawing/2014/main" val="972791241"/>
                    </a:ext>
                  </a:extLst>
                </a:gridCol>
                <a:gridCol w="2698501">
                  <a:extLst>
                    <a:ext uri="{9D8B030D-6E8A-4147-A177-3AD203B41FA5}">
                      <a16:colId xmlns:a16="http://schemas.microsoft.com/office/drawing/2014/main" val="389614467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  <a:endParaRPr lang="cs-CZ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0" dirty="0">
                          <a:solidFill>
                            <a:schemeClr val="bg2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  <a:endParaRPr lang="cs-CZ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0" dirty="0">
                          <a:solidFill>
                            <a:schemeClr val="bg1"/>
                          </a:solidFill>
                          <a:highlight>
                            <a:srgbClr val="FF0000"/>
                          </a:highlight>
                          <a:latin typeface="Consolas" panose="020B0609020204030204" pitchFamily="49" charset="0"/>
                        </a:rPr>
                        <a:t>1111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230181"/>
                  </a:ext>
                </a:extLst>
              </a:tr>
            </a:tbl>
          </a:graphicData>
        </a:graphic>
      </p:graphicFrame>
      <p:graphicFrame>
        <p:nvGraphicFramePr>
          <p:cNvPr id="14" name="Tabulka 13">
            <a:extLst>
              <a:ext uri="{FF2B5EF4-FFF2-40B4-BE49-F238E27FC236}">
                <a16:creationId xmlns:a16="http://schemas.microsoft.com/office/drawing/2014/main" id="{495C8F9D-708C-4957-B127-F42FDEFFDE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0966216"/>
              </p:ext>
            </p:extLst>
          </p:nvPr>
        </p:nvGraphicFramePr>
        <p:xfrm>
          <a:off x="360000" y="3600000"/>
          <a:ext cx="809700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122122504"/>
                    </a:ext>
                  </a:extLst>
                </a:gridCol>
                <a:gridCol w="2698501">
                  <a:extLst>
                    <a:ext uri="{9D8B030D-6E8A-4147-A177-3AD203B41FA5}">
                      <a16:colId xmlns:a16="http://schemas.microsoft.com/office/drawing/2014/main" val="972791241"/>
                    </a:ext>
                  </a:extLst>
                </a:gridCol>
                <a:gridCol w="2698501">
                  <a:extLst>
                    <a:ext uri="{9D8B030D-6E8A-4147-A177-3AD203B41FA5}">
                      <a16:colId xmlns:a16="http://schemas.microsoft.com/office/drawing/2014/main" val="389614467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10</a:t>
                      </a:r>
                      <a:endParaRPr lang="cs-CZ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0" dirty="0">
                          <a:solidFill>
                            <a:schemeClr val="bg2"/>
                          </a:solidFill>
                          <a:latin typeface="Consolas" panose="020B0609020204030204" pitchFamily="49" charset="0"/>
                        </a:rPr>
                        <a:t>10/16=0,624</a:t>
                      </a:r>
                      <a:endParaRPr lang="cs-CZ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0000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2301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187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4"/>
          <p:cNvSpPr>
            <a:spLocks noChangeArrowheads="1"/>
          </p:cNvSpPr>
          <p:nvPr/>
        </p:nvSpPr>
        <p:spPr bwMode="auto">
          <a:xfrm>
            <a:off x="360001" y="1080003"/>
            <a:ext cx="8784000" cy="3832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marL="504000" indent="-504000" eaLnBrk="1" hangingPunct="1">
              <a:spcBef>
                <a:spcPts val="0"/>
              </a:spcBef>
              <a:spcAft>
                <a:spcPts val="1800"/>
              </a:spcAft>
              <a:buClr>
                <a:srgbClr val="00007D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kern="0" dirty="0">
                <a:solidFill>
                  <a:srgbClr val="000000"/>
                </a:solidFill>
                <a:latin typeface="Verdana" pitchFamily="34" charset="0"/>
              </a:rPr>
              <a:t>Parametry</a:t>
            </a:r>
            <a:endParaRPr lang="en-US" sz="2800" kern="0" dirty="0">
              <a:solidFill>
                <a:srgbClr val="000000"/>
              </a:solidFill>
              <a:latin typeface="Verdana" pitchFamily="34" charset="0"/>
            </a:endParaRPr>
          </a:p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Char char="§"/>
              <a:defRPr/>
            </a:pPr>
            <a:r>
              <a:rPr lang="cs-CZ" sz="2000" dirty="0">
                <a:solidFill>
                  <a:srgbClr val="FF0000"/>
                </a:solidFill>
                <a:latin typeface="Verdana" pitchFamily="34" charset="0"/>
              </a:rPr>
              <a:t>Rozlišení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  - počet úrovní, které rozlišuje převodník, uvádí se </a:t>
            </a:r>
            <a:r>
              <a:rPr lang="cs-CZ" sz="2000" dirty="0">
                <a:solidFill>
                  <a:srgbClr val="000000"/>
                </a:solidFill>
                <a:latin typeface="Verdana" pitchFamily="34" charset="0"/>
              </a:rPr>
              <a:t>počtem bitů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 kódového slova</a:t>
            </a:r>
          </a:p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Char char="§"/>
              <a:defRPr/>
            </a:pPr>
            <a:r>
              <a:rPr lang="cs-CZ" sz="2000" dirty="0">
                <a:solidFill>
                  <a:srgbClr val="FF0000"/>
                </a:solidFill>
                <a:latin typeface="Verdana" pitchFamily="34" charset="0"/>
              </a:rPr>
              <a:t>Rychlost</a:t>
            </a:r>
            <a:r>
              <a:rPr lang="cs-CZ" sz="2000" b="0" dirty="0">
                <a:solidFill>
                  <a:srgbClr val="FF0000"/>
                </a:solidFill>
                <a:latin typeface="Verdana" pitchFamily="34" charset="0"/>
              </a:rPr>
              <a:t> </a:t>
            </a:r>
            <a:r>
              <a:rPr lang="cs-CZ" sz="2000" dirty="0">
                <a:solidFill>
                  <a:srgbClr val="FF0000"/>
                </a:solidFill>
                <a:latin typeface="Verdana" pitchFamily="34" charset="0"/>
              </a:rPr>
              <a:t>převodu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 – počet převodů za sekundu</a:t>
            </a:r>
            <a:endParaRPr lang="en-US" sz="2000" b="0" dirty="0">
              <a:solidFill>
                <a:srgbClr val="000000"/>
              </a:solidFill>
              <a:latin typeface="Verdana" pitchFamily="34" charset="0"/>
            </a:endParaRPr>
          </a:p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Char char="§"/>
              <a:defRPr/>
            </a:pPr>
            <a:r>
              <a:rPr lang="cs-CZ" sz="2000" dirty="0">
                <a:solidFill>
                  <a:srgbClr val="FF0000"/>
                </a:solidFill>
                <a:latin typeface="Verdana" pitchFamily="34" charset="0"/>
              </a:rPr>
              <a:t>Krok kvantování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 – rozdíl analogových hodnot odpovídající </a:t>
            </a:r>
            <a:r>
              <a:rPr lang="cs-CZ" sz="2000" dirty="0">
                <a:solidFill>
                  <a:srgbClr val="000000"/>
                </a:solidFill>
                <a:latin typeface="Verdana" pitchFamily="34" charset="0"/>
              </a:rPr>
              <a:t>stejné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 číslicové hodnotě</a:t>
            </a:r>
          </a:p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Char char="§"/>
              <a:defRPr/>
            </a:pPr>
            <a:r>
              <a:rPr lang="cs-CZ" sz="2000" dirty="0">
                <a:solidFill>
                  <a:srgbClr val="FF0000"/>
                </a:solidFill>
                <a:latin typeface="Verdana" pitchFamily="34" charset="0"/>
              </a:rPr>
              <a:t>Rozsah vstupního napětí</a:t>
            </a:r>
            <a:r>
              <a:rPr lang="cs-CZ" sz="2000" dirty="0">
                <a:solidFill>
                  <a:srgbClr val="000000"/>
                </a:solidFill>
                <a:latin typeface="Verdana" pitchFamily="34" charset="0"/>
              </a:rPr>
              <a:t> 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– je dán napětím referenčního zdroje</a:t>
            </a:r>
          </a:p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Char char="§"/>
              <a:defRPr/>
            </a:pPr>
            <a:r>
              <a:rPr lang="cs-CZ" sz="2000" dirty="0">
                <a:solidFill>
                  <a:srgbClr val="FF0000"/>
                </a:solidFill>
                <a:latin typeface="Verdana" pitchFamily="34" charset="0"/>
              </a:rPr>
              <a:t>Přesnost převodu</a:t>
            </a:r>
          </a:p>
        </p:txBody>
      </p:sp>
      <p:sp>
        <p:nvSpPr>
          <p:cNvPr id="3" name="Rectangle 62"/>
          <p:cNvSpPr>
            <a:spLocks noGrp="1" noChangeArrowheads="1"/>
          </p:cNvSpPr>
          <p:nvPr>
            <p:ph type="title" idx="4294967295"/>
          </p:nvPr>
        </p:nvSpPr>
        <p:spPr>
          <a:xfrm>
            <a:off x="720001" y="72002"/>
            <a:ext cx="6012240" cy="399600"/>
          </a:xfrm>
        </p:spPr>
        <p:txBody>
          <a:bodyPr/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A/D převodník</a:t>
            </a:r>
          </a:p>
        </p:txBody>
      </p:sp>
      <p:sp>
        <p:nvSpPr>
          <p:cNvPr id="4" name="Tlačítko akce: Vlastní 3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5" name="Tlačítko akce: Vlastní 4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6" name="Tlačítko akce: Vlastní 5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8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4242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 noChangeArrowheads="1"/>
          </p:cNvSpPr>
          <p:nvPr>
            <p:ph type="title" sz="quarter"/>
          </p:nvPr>
        </p:nvSpPr>
        <p:spPr>
          <a:xfrm>
            <a:off x="468000" y="288000"/>
            <a:ext cx="8229600" cy="720000"/>
          </a:xfrm>
          <a:noFill/>
        </p:spPr>
        <p:txBody>
          <a:bodyPr/>
          <a:lstStyle/>
          <a:p>
            <a:r>
              <a:rPr lang="cs-CZ" sz="3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Typy A/D převodníků</a:t>
            </a:r>
          </a:p>
        </p:txBody>
      </p:sp>
      <p:sp>
        <p:nvSpPr>
          <p:cNvPr id="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graphicFrame>
        <p:nvGraphicFramePr>
          <p:cNvPr id="14" name="Diagram 13"/>
          <p:cNvGraphicFramePr/>
          <p:nvPr>
            <p:extLst>
              <p:ext uri="{D42A27DB-BD31-4B8C-83A1-F6EECF244321}">
                <p14:modId xmlns:p14="http://schemas.microsoft.com/office/powerpoint/2010/main" val="2436134657"/>
              </p:ext>
            </p:extLst>
          </p:nvPr>
        </p:nvGraphicFramePr>
        <p:xfrm>
          <a:off x="0" y="1080000"/>
          <a:ext cx="9144000" cy="48754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084404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2"/>
            <a:ext cx="8229600" cy="720000"/>
          </a:xfrm>
        </p:spPr>
        <p:txBody>
          <a:bodyPr/>
          <a:lstStyle/>
          <a:p>
            <a:pPr eaLnBrk="1" hangingPunct="1"/>
            <a:r>
              <a:rPr lang="cs-C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Komparační převodník</a:t>
            </a:r>
          </a:p>
        </p:txBody>
      </p:sp>
      <p:sp>
        <p:nvSpPr>
          <p:cNvPr id="4" name="Tlačítko akce: Vlastní 3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pic>
        <p:nvPicPr>
          <p:cNvPr id="10" name="Obrázek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000" y="1080000"/>
            <a:ext cx="3240000" cy="544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486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360001" y="1080000"/>
            <a:ext cx="8784000" cy="26013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marL="504000" indent="-504000" eaLnBrk="1" hangingPunct="1">
              <a:spcBef>
                <a:spcPts val="0"/>
              </a:spcBef>
              <a:spcAft>
                <a:spcPts val="1800"/>
              </a:spcAft>
              <a:buClr>
                <a:srgbClr val="00007D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kern="0" dirty="0">
                <a:solidFill>
                  <a:srgbClr val="000000"/>
                </a:solidFill>
                <a:latin typeface="Verdana" pitchFamily="34" charset="0"/>
              </a:rPr>
              <a:t>Funkce převodníku</a:t>
            </a:r>
          </a:p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Clr>
                <a:srgbClr val="00007D"/>
              </a:buClr>
              <a:buSzPct val="75000"/>
              <a:buFont typeface="Wingdings" pitchFamily="2" charset="2"/>
              <a:buChar char="ü"/>
              <a:defRPr/>
            </a:pP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Děličem napětí se vytvoří </a:t>
            </a:r>
            <a:r>
              <a:rPr lang="cs-CZ" sz="2000" b="0" i="1" dirty="0">
                <a:solidFill>
                  <a:srgbClr val="000000"/>
                </a:solidFill>
                <a:latin typeface="Verdana" pitchFamily="34" charset="0"/>
              </a:rPr>
              <a:t>n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 </a:t>
            </a:r>
            <a:r>
              <a:rPr lang="cs-CZ" sz="2000" dirty="0">
                <a:solidFill>
                  <a:srgbClr val="000000"/>
                </a:solidFill>
                <a:latin typeface="Verdana" pitchFamily="34" charset="0"/>
              </a:rPr>
              <a:t>referenčních úrovní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 (256) napětí</a:t>
            </a:r>
          </a:p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Clr>
                <a:srgbClr val="00007D"/>
              </a:buClr>
              <a:buSzPct val="75000"/>
              <a:buFont typeface="Wingdings" pitchFamily="2" charset="2"/>
              <a:buChar char="ü"/>
              <a:defRPr/>
            </a:pP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Vstupní napětí </a:t>
            </a:r>
            <a:r>
              <a:rPr lang="cs-CZ" sz="2000" dirty="0">
                <a:solidFill>
                  <a:srgbClr val="000000"/>
                </a:solidFill>
                <a:latin typeface="Verdana" pitchFamily="34" charset="0"/>
              </a:rPr>
              <a:t>porovnáváme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 s jednotlivými úrovněmi </a:t>
            </a:r>
            <a:r>
              <a:rPr lang="cs-CZ" sz="2000" dirty="0">
                <a:solidFill>
                  <a:srgbClr val="000000"/>
                </a:solidFill>
                <a:latin typeface="Verdana" pitchFamily="34" charset="0"/>
              </a:rPr>
              <a:t>komparátory</a:t>
            </a:r>
          </a:p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Clr>
                <a:srgbClr val="00007D"/>
              </a:buClr>
              <a:buSzPct val="75000"/>
              <a:buFont typeface="Wingdings" pitchFamily="2" charset="2"/>
              <a:buChar char="ü"/>
              <a:defRPr/>
            </a:pP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Pomocí </a:t>
            </a:r>
            <a:r>
              <a:rPr lang="cs-CZ" sz="2000" dirty="0">
                <a:solidFill>
                  <a:srgbClr val="000000"/>
                </a:solidFill>
                <a:latin typeface="Verdana" pitchFamily="34" charset="0"/>
              </a:rPr>
              <a:t>kodéru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 převedeme výstupy z komparátoru na </a:t>
            </a:r>
            <a:r>
              <a:rPr lang="cs-CZ" sz="2000" dirty="0">
                <a:solidFill>
                  <a:srgbClr val="000000"/>
                </a:solidFill>
                <a:latin typeface="Verdana" pitchFamily="34" charset="0"/>
              </a:rPr>
              <a:t>dvojkový kód</a:t>
            </a:r>
            <a:endParaRPr lang="en-US" sz="2000" dirty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3" name="Rectangle 62"/>
          <p:cNvSpPr>
            <a:spLocks noGrp="1" noChangeArrowheads="1"/>
          </p:cNvSpPr>
          <p:nvPr>
            <p:ph type="title" idx="4294967295"/>
          </p:nvPr>
        </p:nvSpPr>
        <p:spPr>
          <a:xfrm>
            <a:off x="720001" y="72002"/>
            <a:ext cx="6012240" cy="399600"/>
          </a:xfrm>
        </p:spPr>
        <p:txBody>
          <a:bodyPr/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Komparační převodník</a:t>
            </a:r>
          </a:p>
        </p:txBody>
      </p:sp>
      <p:sp>
        <p:nvSpPr>
          <p:cNvPr id="4" name="Tlačítko akce: Vlastní 3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5" name="Tlačítko akce: Vlastní 4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6" name="Tlačítko akce: Vlastní 5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8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384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60001" y="1080000"/>
            <a:ext cx="8784000" cy="1831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marL="504000" indent="-504000" eaLnBrk="1" hangingPunct="1">
              <a:spcBef>
                <a:spcPts val="0"/>
              </a:spcBef>
              <a:spcAft>
                <a:spcPts val="1800"/>
              </a:spcAft>
              <a:buClr>
                <a:srgbClr val="00007D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kern="0" dirty="0">
                <a:solidFill>
                  <a:srgbClr val="000000"/>
                </a:solidFill>
                <a:latin typeface="Verdana" pitchFamily="34" charset="0"/>
              </a:rPr>
              <a:t>Vlastnost převodníku</a:t>
            </a:r>
          </a:p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Clr>
                <a:srgbClr val="00007D"/>
              </a:buClr>
              <a:buSzPct val="75000"/>
              <a:buFont typeface="Wingdings" pitchFamily="2" charset="2"/>
              <a:buChar char="ü"/>
              <a:defRPr/>
            </a:pP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Velmi </a:t>
            </a:r>
            <a:r>
              <a:rPr lang="cs-CZ" sz="2000" dirty="0">
                <a:solidFill>
                  <a:srgbClr val="000000"/>
                </a:solidFill>
                <a:latin typeface="Verdana" pitchFamily="34" charset="0"/>
              </a:rPr>
              <a:t>rychlý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 (pouze kombinační obvod) (GHz)</a:t>
            </a:r>
          </a:p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Clr>
                <a:srgbClr val="00007D"/>
              </a:buClr>
              <a:buSzPct val="75000"/>
              <a:buFont typeface="Wingdings" pitchFamily="2" charset="2"/>
              <a:buChar char="ü"/>
              <a:defRPr/>
            </a:pP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Čím větší </a:t>
            </a:r>
            <a:r>
              <a:rPr lang="cs-CZ" sz="2000" dirty="0">
                <a:solidFill>
                  <a:srgbClr val="000000"/>
                </a:solidFill>
                <a:latin typeface="Verdana" pitchFamily="34" charset="0"/>
              </a:rPr>
              <a:t>rozlišení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, tím větší </a:t>
            </a:r>
            <a:r>
              <a:rPr lang="cs-CZ" sz="2000" dirty="0">
                <a:solidFill>
                  <a:srgbClr val="000000"/>
                </a:solidFill>
                <a:latin typeface="Verdana" pitchFamily="34" charset="0"/>
              </a:rPr>
              <a:t>složitost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 </a:t>
            </a:r>
            <a:br>
              <a:rPr lang="en-US" sz="2000" b="0" dirty="0">
                <a:solidFill>
                  <a:srgbClr val="000000"/>
                </a:solidFill>
                <a:latin typeface="Verdana" pitchFamily="34" charset="0"/>
              </a:rPr>
            </a:b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(závislost 2</a:t>
            </a:r>
            <a:r>
              <a:rPr lang="cs-CZ" sz="2000" b="0" baseline="30000" dirty="0">
                <a:solidFill>
                  <a:srgbClr val="000000"/>
                </a:solidFill>
                <a:latin typeface="Verdana" pitchFamily="34" charset="0"/>
              </a:rPr>
              <a:t>N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)</a:t>
            </a:r>
          </a:p>
        </p:txBody>
      </p:sp>
      <p:sp>
        <p:nvSpPr>
          <p:cNvPr id="5" name="Rectangle 62"/>
          <p:cNvSpPr>
            <a:spLocks noGrp="1" noChangeArrowheads="1"/>
          </p:cNvSpPr>
          <p:nvPr>
            <p:ph type="title" idx="4294967295"/>
          </p:nvPr>
        </p:nvSpPr>
        <p:spPr>
          <a:xfrm>
            <a:off x="720001" y="72002"/>
            <a:ext cx="6012240" cy="399600"/>
          </a:xfrm>
        </p:spPr>
        <p:txBody>
          <a:bodyPr/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Komparační převodník</a:t>
            </a:r>
          </a:p>
        </p:txBody>
      </p:sp>
      <p:sp>
        <p:nvSpPr>
          <p:cNvPr id="4" name="Tlačítko akce: Vlastní 3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0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9407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00" y="1080000"/>
            <a:ext cx="7560000" cy="5143787"/>
          </a:xfrm>
          <a:prstGeom prst="rect">
            <a:avLst/>
          </a:prstGeom>
        </p:spPr>
      </p:pic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2"/>
            <a:ext cx="8229600" cy="720000"/>
          </a:xfrm>
        </p:spPr>
        <p:txBody>
          <a:bodyPr/>
          <a:lstStyle/>
          <a:p>
            <a:pPr eaLnBrk="1" hangingPunct="1"/>
            <a:r>
              <a:rPr lang="cs-C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Zpětnovazební převodník</a:t>
            </a:r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4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2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3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2915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rázek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1" y="720000"/>
            <a:ext cx="7200000" cy="5872842"/>
          </a:xfrm>
          <a:prstGeom prst="rect">
            <a:avLst/>
          </a:prstGeom>
        </p:spPr>
      </p:pic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4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0" name="Rectangle 62"/>
          <p:cNvSpPr>
            <a:spLocks noGrp="1" noChangeArrowheads="1"/>
          </p:cNvSpPr>
          <p:nvPr>
            <p:ph type="title" idx="4294967295"/>
          </p:nvPr>
        </p:nvSpPr>
        <p:spPr>
          <a:xfrm>
            <a:off x="720001" y="72002"/>
            <a:ext cx="6012240" cy="399600"/>
          </a:xfrm>
        </p:spPr>
        <p:txBody>
          <a:bodyPr/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Zpětnovazební převodník</a:t>
            </a:r>
          </a:p>
        </p:txBody>
      </p:sp>
    </p:spTree>
    <p:extLst>
      <p:ext uri="{BB962C8B-B14F-4D97-AF65-F5344CB8AC3E}">
        <p14:creationId xmlns:p14="http://schemas.microsoft.com/office/powerpoint/2010/main" val="17333112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360002" y="1080000"/>
            <a:ext cx="8783998" cy="414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marL="504000" indent="-504000" eaLnBrk="1" hangingPunct="1">
              <a:spcBef>
                <a:spcPts val="0"/>
              </a:spcBef>
              <a:spcAft>
                <a:spcPts val="1800"/>
              </a:spcAft>
              <a:buClr>
                <a:srgbClr val="00007D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kern="0" dirty="0">
                <a:solidFill>
                  <a:srgbClr val="000000"/>
                </a:solidFill>
                <a:latin typeface="Verdana" pitchFamily="34" charset="0"/>
              </a:rPr>
              <a:t>Funkce převodníku</a:t>
            </a:r>
          </a:p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Clr>
                <a:srgbClr val="00007D"/>
              </a:buClr>
              <a:buSzPct val="75000"/>
              <a:buFont typeface="Wingdings" pitchFamily="2" charset="2"/>
              <a:buChar char="ü"/>
              <a:defRPr/>
            </a:pP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V komparátoru se </a:t>
            </a:r>
            <a:r>
              <a:rPr lang="cs-CZ" sz="2000" dirty="0">
                <a:solidFill>
                  <a:srgbClr val="000000"/>
                </a:solidFill>
                <a:latin typeface="Verdana" pitchFamily="34" charset="0"/>
              </a:rPr>
              <a:t>porovnává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 postupně zvyšované </a:t>
            </a:r>
            <a:r>
              <a:rPr lang="cs-CZ" sz="2000" dirty="0">
                <a:solidFill>
                  <a:srgbClr val="000000"/>
                </a:solidFill>
                <a:latin typeface="Verdana" pitchFamily="34" charset="0"/>
              </a:rPr>
              <a:t>napětí z D/A převodníku 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se </a:t>
            </a:r>
            <a:r>
              <a:rPr lang="cs-CZ" sz="2000" dirty="0">
                <a:solidFill>
                  <a:srgbClr val="000000"/>
                </a:solidFill>
                <a:latin typeface="Verdana" pitchFamily="34" charset="0"/>
              </a:rPr>
              <a:t>vstupním napětím </a:t>
            </a:r>
          </a:p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Clr>
                <a:srgbClr val="00007D"/>
              </a:buClr>
              <a:buSzPct val="75000"/>
              <a:buFont typeface="Wingdings" pitchFamily="2" charset="2"/>
              <a:buChar char="ü"/>
              <a:defRPr/>
            </a:pP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Vstup převodníku D/A je napojen na </a:t>
            </a:r>
            <a:r>
              <a:rPr lang="cs-CZ" sz="2000" dirty="0">
                <a:solidFill>
                  <a:srgbClr val="000000"/>
                </a:solidFill>
                <a:latin typeface="Verdana" pitchFamily="34" charset="0"/>
              </a:rPr>
              <a:t>výstup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 </a:t>
            </a:r>
            <a:r>
              <a:rPr lang="cs-CZ" sz="2000" dirty="0">
                <a:solidFill>
                  <a:srgbClr val="000000"/>
                </a:solidFill>
                <a:latin typeface="Verdana" pitchFamily="34" charset="0"/>
              </a:rPr>
              <a:t>čítače</a:t>
            </a:r>
          </a:p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Clr>
                <a:srgbClr val="00007D"/>
              </a:buClr>
              <a:buSzPct val="75000"/>
              <a:buFont typeface="Wingdings" pitchFamily="2" charset="2"/>
              <a:buChar char="ü"/>
              <a:defRPr/>
            </a:pP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Hodinové impulzy se </a:t>
            </a:r>
            <a:r>
              <a:rPr lang="cs-CZ" sz="2000" dirty="0">
                <a:solidFill>
                  <a:srgbClr val="000000"/>
                </a:solidFill>
                <a:latin typeface="Verdana" pitchFamily="34" charset="0"/>
              </a:rPr>
              <a:t>načítávají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 </a:t>
            </a:r>
            <a:r>
              <a:rPr lang="cs-CZ" sz="2000" dirty="0">
                <a:solidFill>
                  <a:srgbClr val="000000"/>
                </a:solidFill>
                <a:latin typeface="Verdana" pitchFamily="34" charset="0"/>
              </a:rPr>
              <a:t>do čítače 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přes hradlo AND, druhý vstup je připojen z komparátoru</a:t>
            </a:r>
          </a:p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Clr>
                <a:srgbClr val="00007D"/>
              </a:buClr>
              <a:buSzPct val="75000"/>
              <a:buFont typeface="Wingdings" pitchFamily="2" charset="2"/>
              <a:buChar char="ü"/>
              <a:defRPr/>
            </a:pP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Dojde-li </a:t>
            </a:r>
            <a:r>
              <a:rPr lang="cs-CZ" sz="2000" dirty="0">
                <a:solidFill>
                  <a:srgbClr val="000000"/>
                </a:solidFill>
                <a:latin typeface="Verdana" pitchFamily="34" charset="0"/>
              </a:rPr>
              <a:t>ke shodě 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napětí (</a:t>
            </a:r>
            <a:r>
              <a:rPr lang="cs-CZ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U</a:t>
            </a:r>
            <a:r>
              <a:rPr lang="cs-CZ" sz="2000" baseline="-25000" dirty="0" err="1">
                <a:solidFill>
                  <a:srgbClr val="000000"/>
                </a:solidFill>
                <a:latin typeface="Consolas" panose="020B0609020204030204" pitchFamily="49" charset="0"/>
              </a:rPr>
              <a:t>vst</a:t>
            </a:r>
            <a:r>
              <a:rPr lang="cs-CZ" sz="2000" dirty="0">
                <a:solidFill>
                  <a:srgbClr val="000000"/>
                </a:solidFill>
                <a:latin typeface="Consolas" panose="020B0609020204030204" pitchFamily="49" charset="0"/>
              </a:rPr>
              <a:t>=U</a:t>
            </a:r>
            <a:r>
              <a:rPr lang="cs-CZ" sz="2000" baseline="-25000" dirty="0">
                <a:solidFill>
                  <a:srgbClr val="000000"/>
                </a:solidFill>
                <a:latin typeface="Consolas" panose="020B0609020204030204" pitchFamily="49" charset="0"/>
              </a:rPr>
              <a:t>DA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) na vstupu komparátoru, </a:t>
            </a:r>
            <a:r>
              <a:rPr lang="cs-CZ" sz="2000" dirty="0">
                <a:solidFill>
                  <a:srgbClr val="000000"/>
                </a:solidFill>
                <a:latin typeface="Verdana" pitchFamily="34" charset="0"/>
              </a:rPr>
              <a:t>zastaví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 se čítání impulzů</a:t>
            </a:r>
          </a:p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Clr>
                <a:srgbClr val="00007D"/>
              </a:buClr>
              <a:buSzPct val="75000"/>
              <a:buFont typeface="Wingdings" pitchFamily="2" charset="2"/>
              <a:buChar char="ü"/>
              <a:defRPr/>
            </a:pP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Na výstupu čítače je právě </a:t>
            </a:r>
            <a:r>
              <a:rPr lang="cs-CZ" sz="2000" dirty="0">
                <a:solidFill>
                  <a:srgbClr val="000000"/>
                </a:solidFill>
                <a:latin typeface="Verdana" pitchFamily="34" charset="0"/>
              </a:rPr>
              <a:t>číslicová 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hodnota analogového napětí na vstupu</a:t>
            </a:r>
            <a:endParaRPr lang="cs-CZ" sz="2000" b="0" dirty="0">
              <a:solidFill>
                <a:srgbClr val="CACAFF">
                  <a:lumMod val="25000"/>
                </a:srgbClr>
              </a:solidFill>
              <a:latin typeface="Arial" charset="0"/>
            </a:endParaRPr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0" name="Rectangle 62"/>
          <p:cNvSpPr>
            <a:spLocks noGrp="1" noChangeArrowheads="1"/>
          </p:cNvSpPr>
          <p:nvPr>
            <p:ph type="title" idx="4294967295"/>
          </p:nvPr>
        </p:nvSpPr>
        <p:spPr>
          <a:xfrm>
            <a:off x="720001" y="72002"/>
            <a:ext cx="6012240" cy="399600"/>
          </a:xfrm>
        </p:spPr>
        <p:txBody>
          <a:bodyPr/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Zpětnovazební převodník</a:t>
            </a:r>
          </a:p>
        </p:txBody>
      </p:sp>
    </p:spTree>
    <p:extLst>
      <p:ext uri="{BB962C8B-B14F-4D97-AF65-F5344CB8AC3E}">
        <p14:creationId xmlns:p14="http://schemas.microsoft.com/office/powerpoint/2010/main" val="2892947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60001" y="1080000"/>
            <a:ext cx="8784000" cy="1985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marL="504000" indent="-504000" eaLnBrk="1" hangingPunct="1">
              <a:spcBef>
                <a:spcPts val="0"/>
              </a:spcBef>
              <a:spcAft>
                <a:spcPts val="1800"/>
              </a:spcAft>
              <a:buClr>
                <a:srgbClr val="00007D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kern="0" dirty="0">
                <a:solidFill>
                  <a:srgbClr val="000000"/>
                </a:solidFill>
                <a:latin typeface="Verdana" pitchFamily="34" charset="0"/>
              </a:rPr>
              <a:t>Vlastnosti převodníku</a:t>
            </a:r>
          </a:p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Clr>
                <a:srgbClr val="00007D"/>
              </a:buClr>
              <a:buSzPct val="75000"/>
              <a:buFont typeface="Wingdings" pitchFamily="2" charset="2"/>
              <a:buChar char="ü"/>
              <a:defRPr/>
            </a:pPr>
            <a:r>
              <a:rPr lang="cs-CZ" sz="2000" dirty="0">
                <a:solidFill>
                  <a:srgbClr val="000000"/>
                </a:solidFill>
                <a:latin typeface="Verdana" pitchFamily="34" charset="0"/>
              </a:rPr>
              <a:t>Pomalý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 (obsahuje sekvenční obvody)</a:t>
            </a:r>
          </a:p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Clr>
                <a:srgbClr val="00007D"/>
              </a:buClr>
              <a:buSzPct val="75000"/>
              <a:buFont typeface="Wingdings" pitchFamily="2" charset="2"/>
              <a:buChar char="ü"/>
              <a:defRPr/>
            </a:pP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Čím </a:t>
            </a:r>
            <a:r>
              <a:rPr lang="cs-CZ" sz="2000" dirty="0">
                <a:solidFill>
                  <a:srgbClr val="000000"/>
                </a:solidFill>
                <a:latin typeface="Verdana" pitchFamily="34" charset="0"/>
              </a:rPr>
              <a:t>větší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 </a:t>
            </a:r>
            <a:r>
              <a:rPr lang="cs-CZ" sz="2000" dirty="0">
                <a:solidFill>
                  <a:srgbClr val="000000"/>
                </a:solidFill>
                <a:latin typeface="Verdana" pitchFamily="34" charset="0"/>
              </a:rPr>
              <a:t>rozlišení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, tím </a:t>
            </a:r>
            <a:r>
              <a:rPr lang="cs-CZ" sz="2000" dirty="0">
                <a:solidFill>
                  <a:srgbClr val="000000"/>
                </a:solidFill>
                <a:latin typeface="Verdana" pitchFamily="34" charset="0"/>
              </a:rPr>
              <a:t>delší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 je </a:t>
            </a:r>
            <a:r>
              <a:rPr lang="cs-CZ" sz="2000" dirty="0">
                <a:solidFill>
                  <a:srgbClr val="000000"/>
                </a:solidFill>
                <a:latin typeface="Verdana" pitchFamily="34" charset="0"/>
              </a:rPr>
              <a:t>převod</a:t>
            </a:r>
          </a:p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Clr>
                <a:srgbClr val="00007D"/>
              </a:buClr>
              <a:buSzPct val="75000"/>
              <a:buFont typeface="Wingdings" pitchFamily="2" charset="2"/>
              <a:buChar char="ü"/>
              <a:defRPr/>
            </a:pPr>
            <a:r>
              <a:rPr lang="cs-CZ" sz="2000" dirty="0">
                <a:solidFill>
                  <a:srgbClr val="000000"/>
                </a:solidFill>
                <a:latin typeface="Verdana" pitchFamily="34" charset="0"/>
              </a:rPr>
              <a:t>Délka převodu </a:t>
            </a:r>
            <a:r>
              <a:rPr lang="cs-CZ" sz="2000" b="0" dirty="0">
                <a:solidFill>
                  <a:srgbClr val="000000"/>
                </a:solidFill>
                <a:latin typeface="Verdana" pitchFamily="34" charset="0"/>
              </a:rPr>
              <a:t>je úměrná </a:t>
            </a:r>
            <a:r>
              <a:rPr lang="cs-CZ" sz="2000" dirty="0">
                <a:solidFill>
                  <a:srgbClr val="000000"/>
                </a:solidFill>
                <a:latin typeface="Verdana" pitchFamily="34" charset="0"/>
              </a:rPr>
              <a:t>velikosti vstupního napětí</a:t>
            </a:r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0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1" name="Rectangle 62"/>
          <p:cNvSpPr>
            <a:spLocks noGrp="1" noChangeArrowheads="1"/>
          </p:cNvSpPr>
          <p:nvPr>
            <p:ph type="title" idx="4294967295"/>
          </p:nvPr>
        </p:nvSpPr>
        <p:spPr>
          <a:xfrm>
            <a:off x="720001" y="72002"/>
            <a:ext cx="6012240" cy="399600"/>
          </a:xfrm>
        </p:spPr>
        <p:txBody>
          <a:bodyPr/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Zpětnovazební převodník</a:t>
            </a:r>
          </a:p>
        </p:txBody>
      </p:sp>
    </p:spTree>
    <p:extLst>
      <p:ext uri="{BB962C8B-B14F-4D97-AF65-F5344CB8AC3E}">
        <p14:creationId xmlns:p14="http://schemas.microsoft.com/office/powerpoint/2010/main" val="4121987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2"/>
            <a:ext cx="8229600" cy="720000"/>
          </a:xfrm>
        </p:spPr>
        <p:txBody>
          <a:bodyPr/>
          <a:lstStyle/>
          <a:p>
            <a:pPr eaLnBrk="1" hangingPunct="1"/>
            <a:r>
              <a:rPr lang="cs-C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Aproximační převodník</a:t>
            </a:r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pic>
        <p:nvPicPr>
          <p:cNvPr id="12" name="Obrázek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000" y="1080000"/>
            <a:ext cx="7740000" cy="4145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8498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1" name="Rectangle 62"/>
          <p:cNvSpPr>
            <a:spLocks noGrp="1" noChangeArrowheads="1"/>
          </p:cNvSpPr>
          <p:nvPr>
            <p:ph type="title" idx="4294967295"/>
          </p:nvPr>
        </p:nvSpPr>
        <p:spPr>
          <a:xfrm>
            <a:off x="720001" y="72002"/>
            <a:ext cx="6012240" cy="399600"/>
          </a:xfrm>
        </p:spPr>
        <p:txBody>
          <a:bodyPr/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Aproximační převodník</a:t>
            </a:r>
          </a:p>
        </p:txBody>
      </p:sp>
      <p:pic>
        <p:nvPicPr>
          <p:cNvPr id="2" name="Obrázek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0" y="1079998"/>
            <a:ext cx="6768000" cy="5593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0469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360002" y="1080000"/>
            <a:ext cx="8783998" cy="44018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marL="504000" indent="-504000" eaLnBrk="1" hangingPunct="1">
              <a:spcBef>
                <a:spcPts val="0"/>
              </a:spcBef>
              <a:spcAft>
                <a:spcPts val="2400"/>
              </a:spcAft>
              <a:buClr>
                <a:srgbClr val="00007D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kern="0" dirty="0">
                <a:solidFill>
                  <a:srgbClr val="000000"/>
                </a:solidFill>
                <a:latin typeface="Verdana" pitchFamily="34" charset="0"/>
              </a:rPr>
              <a:t>Funkce převodníku</a:t>
            </a:r>
          </a:p>
          <a:p>
            <a:pPr marL="504000" indent="-504000" eaLnBrk="1" hangingPunct="1">
              <a:spcBef>
                <a:spcPts val="0"/>
              </a:spcBef>
              <a:spcAft>
                <a:spcPts val="1800"/>
              </a:spcAft>
              <a:buClr>
                <a:srgbClr val="00007D"/>
              </a:buClr>
              <a:buSzPct val="75000"/>
              <a:buFont typeface="Wingdings" pitchFamily="2" charset="2"/>
              <a:buChar char="ü"/>
              <a:defRPr/>
            </a:pP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Místo čítače je </a:t>
            </a: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aproximační</a:t>
            </a: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 </a:t>
            </a: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registr</a:t>
            </a:r>
          </a:p>
          <a:p>
            <a:pPr marL="504000" indent="-504000" eaLnBrk="1" hangingPunct="1">
              <a:spcBef>
                <a:spcPts val="0"/>
              </a:spcBef>
              <a:spcAft>
                <a:spcPts val="1800"/>
              </a:spcAft>
              <a:buClr>
                <a:srgbClr val="00007D"/>
              </a:buClr>
              <a:buSzPct val="75000"/>
              <a:buFont typeface="Wingdings" pitchFamily="2" charset="2"/>
              <a:buChar char="ü"/>
              <a:defRPr/>
            </a:pP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Převod začíná od </a:t>
            </a: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nejvyššího</a:t>
            </a: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 řádu, je-li napětí </a:t>
            </a: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menší</a:t>
            </a: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 v řádu je </a:t>
            </a:r>
            <a:r>
              <a:rPr lang="cs-CZ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1</a:t>
            </a: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 </a:t>
            </a: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jinak</a:t>
            </a:r>
            <a:r>
              <a:rPr lang="cs-CZ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0</a:t>
            </a: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 (napětí </a:t>
            </a:r>
            <a:r>
              <a:rPr lang="cs-CZ" b="0" dirty="0" err="1">
                <a:solidFill>
                  <a:srgbClr val="000000"/>
                </a:solidFill>
                <a:latin typeface="Verdana" pitchFamily="34" charset="0"/>
              </a:rPr>
              <a:t>U</a:t>
            </a:r>
            <a:r>
              <a:rPr lang="cs-CZ" b="0" baseline="-25000" dirty="0" err="1">
                <a:solidFill>
                  <a:srgbClr val="000000"/>
                </a:solidFill>
                <a:latin typeface="Verdana" pitchFamily="34" charset="0"/>
              </a:rPr>
              <a:t>ref</a:t>
            </a: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/2)</a:t>
            </a:r>
          </a:p>
          <a:p>
            <a:pPr marL="504000" indent="-504000" eaLnBrk="1" hangingPunct="1">
              <a:spcBef>
                <a:spcPts val="0"/>
              </a:spcBef>
              <a:spcAft>
                <a:spcPts val="1800"/>
              </a:spcAft>
              <a:buClr>
                <a:srgbClr val="00007D"/>
              </a:buClr>
              <a:buSzPct val="75000"/>
              <a:buFont typeface="Wingdings" pitchFamily="2" charset="2"/>
              <a:buChar char="ü"/>
              <a:defRPr/>
            </a:pP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Pokračuje se </a:t>
            </a: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nižším</a:t>
            </a: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 řádem, napětí se přidává podle </a:t>
            </a: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váhy </a:t>
            </a: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(napětí </a:t>
            </a:r>
            <a:r>
              <a:rPr lang="cs-CZ" b="0" dirty="0" err="1">
                <a:solidFill>
                  <a:srgbClr val="000000"/>
                </a:solidFill>
                <a:latin typeface="Verdana" pitchFamily="34" charset="0"/>
              </a:rPr>
              <a:t>U</a:t>
            </a:r>
            <a:r>
              <a:rPr lang="cs-CZ" b="0" baseline="-25000" dirty="0" err="1">
                <a:solidFill>
                  <a:srgbClr val="000000"/>
                </a:solidFill>
                <a:latin typeface="Verdana" pitchFamily="34" charset="0"/>
              </a:rPr>
              <a:t>ref</a:t>
            </a: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/4, </a:t>
            </a:r>
            <a:r>
              <a:rPr lang="cs-CZ" b="0" dirty="0" err="1">
                <a:solidFill>
                  <a:srgbClr val="000000"/>
                </a:solidFill>
                <a:latin typeface="Verdana" pitchFamily="34" charset="0"/>
              </a:rPr>
              <a:t>U</a:t>
            </a:r>
            <a:r>
              <a:rPr lang="cs-CZ" b="0" baseline="-25000" dirty="0" err="1">
                <a:solidFill>
                  <a:srgbClr val="000000"/>
                </a:solidFill>
                <a:latin typeface="Verdana" pitchFamily="34" charset="0"/>
              </a:rPr>
              <a:t>ref</a:t>
            </a: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/8, </a:t>
            </a:r>
            <a:r>
              <a:rPr lang="cs-CZ" b="0" dirty="0" err="1">
                <a:solidFill>
                  <a:srgbClr val="000000"/>
                </a:solidFill>
                <a:latin typeface="Verdana" pitchFamily="34" charset="0"/>
              </a:rPr>
              <a:t>U</a:t>
            </a:r>
            <a:r>
              <a:rPr lang="cs-CZ" b="0" baseline="-25000" dirty="0" err="1">
                <a:solidFill>
                  <a:srgbClr val="000000"/>
                </a:solidFill>
                <a:latin typeface="Verdana" pitchFamily="34" charset="0"/>
              </a:rPr>
              <a:t>ref</a:t>
            </a: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/16) </a:t>
            </a:r>
          </a:p>
          <a:p>
            <a:pPr marL="504000" indent="-504000" eaLnBrk="1" hangingPunct="1">
              <a:spcBef>
                <a:spcPts val="0"/>
              </a:spcBef>
              <a:spcAft>
                <a:spcPts val="1800"/>
              </a:spcAft>
              <a:buClr>
                <a:srgbClr val="00007D"/>
              </a:buClr>
              <a:buSzPct val="75000"/>
              <a:buFont typeface="Wingdings" pitchFamily="2" charset="2"/>
              <a:buChar char="ü"/>
              <a:defRPr/>
            </a:pP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Převod je dokončen v </a:t>
            </a:r>
            <a:r>
              <a:rPr lang="cs-CZ" i="1" dirty="0">
                <a:solidFill>
                  <a:srgbClr val="000000"/>
                </a:solidFill>
                <a:latin typeface="Verdana" pitchFamily="34" charset="0"/>
              </a:rPr>
              <a:t>n</a:t>
            </a: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-krocích</a:t>
            </a: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 (kde </a:t>
            </a:r>
            <a:r>
              <a:rPr lang="cs-CZ" b="0" i="1" dirty="0">
                <a:solidFill>
                  <a:srgbClr val="000000"/>
                </a:solidFill>
                <a:latin typeface="Verdana" pitchFamily="34" charset="0"/>
              </a:rPr>
              <a:t>n</a:t>
            </a: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 je rozlišení)</a:t>
            </a:r>
          </a:p>
          <a:p>
            <a:pPr marL="504000" indent="-504000" eaLnBrk="1" hangingPunct="1">
              <a:spcBef>
                <a:spcPts val="0"/>
              </a:spcBef>
              <a:spcAft>
                <a:spcPts val="1800"/>
              </a:spcAft>
              <a:buClr>
                <a:srgbClr val="00007D"/>
              </a:buClr>
              <a:buSzPct val="75000"/>
              <a:buFont typeface="Wingdings" pitchFamily="2" charset="2"/>
              <a:buChar char="ü"/>
              <a:defRPr/>
            </a:pP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Doba převodu je </a:t>
            </a: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konstantní</a:t>
            </a:r>
            <a:endParaRPr lang="cs-CZ" b="0" dirty="0">
              <a:solidFill>
                <a:srgbClr val="CACAFF">
                  <a:lumMod val="25000"/>
                </a:srgbClr>
              </a:solidFill>
              <a:latin typeface="Arial" charset="0"/>
            </a:endParaRPr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0" name="Rectangle 62"/>
          <p:cNvSpPr>
            <a:spLocks noGrp="1" noChangeArrowheads="1"/>
          </p:cNvSpPr>
          <p:nvPr>
            <p:ph type="title" idx="4294967295"/>
          </p:nvPr>
        </p:nvSpPr>
        <p:spPr>
          <a:xfrm>
            <a:off x="720001" y="72002"/>
            <a:ext cx="6012240" cy="399600"/>
          </a:xfrm>
        </p:spPr>
        <p:txBody>
          <a:bodyPr/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Aproximační převodník</a:t>
            </a:r>
          </a:p>
        </p:txBody>
      </p:sp>
    </p:spTree>
    <p:extLst>
      <p:ext uri="{BB962C8B-B14F-4D97-AF65-F5344CB8AC3E}">
        <p14:creationId xmlns:p14="http://schemas.microsoft.com/office/powerpoint/2010/main" val="188549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60001" y="1080000"/>
            <a:ext cx="8784000" cy="17857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marL="504000" indent="-504000" eaLnBrk="1" hangingPunct="1">
              <a:spcBef>
                <a:spcPts val="0"/>
              </a:spcBef>
              <a:spcAft>
                <a:spcPts val="1800"/>
              </a:spcAft>
              <a:buClr>
                <a:srgbClr val="00007D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kern="0" dirty="0">
                <a:solidFill>
                  <a:srgbClr val="000000"/>
                </a:solidFill>
                <a:latin typeface="Verdana" pitchFamily="34" charset="0"/>
              </a:rPr>
              <a:t>Vlastnosti převodníku</a:t>
            </a:r>
          </a:p>
          <a:p>
            <a:pPr marL="504000" indent="-504000" eaLnBrk="1" hangingPunct="1">
              <a:spcBef>
                <a:spcPts val="0"/>
              </a:spcBef>
              <a:spcAft>
                <a:spcPts val="1800"/>
              </a:spcAft>
              <a:buClr>
                <a:srgbClr val="00007D"/>
              </a:buClr>
              <a:buSzPct val="75000"/>
              <a:buFont typeface="Wingdings" pitchFamily="2" charset="2"/>
              <a:buChar char="ü"/>
              <a:defRPr/>
            </a:pP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Středně rychlý </a:t>
            </a: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(MHz)</a:t>
            </a:r>
          </a:p>
          <a:p>
            <a:pPr marL="504000" indent="-504000" eaLnBrk="1" hangingPunct="1">
              <a:spcBef>
                <a:spcPts val="0"/>
              </a:spcBef>
              <a:spcAft>
                <a:spcPts val="1800"/>
              </a:spcAft>
              <a:buClr>
                <a:srgbClr val="00007D"/>
              </a:buClr>
              <a:buSzPct val="75000"/>
              <a:buFont typeface="Wingdings" pitchFamily="2" charset="2"/>
              <a:buChar char="ü"/>
              <a:defRPr/>
            </a:pP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Převod v </a:t>
            </a: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n-krocích</a:t>
            </a: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 (kde </a:t>
            </a:r>
            <a:r>
              <a:rPr lang="cs-CZ" b="0" i="1" dirty="0">
                <a:solidFill>
                  <a:srgbClr val="000000"/>
                </a:solidFill>
                <a:latin typeface="Verdana" pitchFamily="34" charset="0"/>
              </a:rPr>
              <a:t>n</a:t>
            </a: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 je rozlišení)</a:t>
            </a:r>
          </a:p>
        </p:txBody>
      </p:sp>
      <p:sp>
        <p:nvSpPr>
          <p:cNvPr id="4" name="Tlačítko akce: Vlastní 3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0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1" name="Rectangle 62"/>
          <p:cNvSpPr>
            <a:spLocks noGrp="1" noChangeArrowheads="1"/>
          </p:cNvSpPr>
          <p:nvPr>
            <p:ph type="title" idx="4294967295"/>
          </p:nvPr>
        </p:nvSpPr>
        <p:spPr>
          <a:xfrm>
            <a:off x="720001" y="72002"/>
            <a:ext cx="6012240" cy="399600"/>
          </a:xfrm>
        </p:spPr>
        <p:txBody>
          <a:bodyPr/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Aproximační převodník</a:t>
            </a:r>
          </a:p>
        </p:txBody>
      </p:sp>
    </p:spTree>
    <p:extLst>
      <p:ext uri="{BB962C8B-B14F-4D97-AF65-F5344CB8AC3E}">
        <p14:creationId xmlns:p14="http://schemas.microsoft.com/office/powerpoint/2010/main" val="3926969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2"/>
            <a:ext cx="8229600" cy="720000"/>
          </a:xfrm>
        </p:spPr>
        <p:txBody>
          <a:bodyPr/>
          <a:lstStyle/>
          <a:p>
            <a:pPr eaLnBrk="1" hangingPunct="1"/>
            <a:r>
              <a:rPr lang="cs-C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D/A převodník 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360001" y="1080001"/>
            <a:ext cx="8784000" cy="26013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marL="504000" indent="-504000" eaLnBrk="1" hangingPunct="1">
              <a:spcBef>
                <a:spcPts val="0"/>
              </a:spcBef>
              <a:spcAft>
                <a:spcPts val="1800"/>
              </a:spcAft>
              <a:buClr>
                <a:srgbClr val="00007D"/>
              </a:buClr>
              <a:buSzPct val="100000"/>
              <a:buFont typeface="Wingdings" pitchFamily="2" charset="2"/>
              <a:buChar char="n"/>
            </a:pPr>
            <a:r>
              <a:rPr lang="cs-CZ" sz="2800" kern="0" dirty="0">
                <a:solidFill>
                  <a:srgbClr val="000000"/>
                </a:solidFill>
                <a:latin typeface="Verdana" pitchFamily="34" charset="0"/>
              </a:rPr>
              <a:t>Funkce</a:t>
            </a:r>
            <a:endParaRPr lang="en-US" sz="2800" dirty="0">
              <a:solidFill>
                <a:srgbClr val="CACAFF">
                  <a:lumMod val="25000"/>
                </a:srgbClr>
              </a:solidFill>
              <a:latin typeface="Verdana" pitchFamily="34" charset="0"/>
            </a:endParaRPr>
          </a:p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Clr>
                <a:srgbClr val="00007D"/>
              </a:buClr>
              <a:buSzPct val="75000"/>
              <a:buFont typeface="Wingdings" pitchFamily="2" charset="2"/>
              <a:buChar char="ü"/>
              <a:defRPr/>
            </a:pP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Převádí n-bitové číslo na </a:t>
            </a: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analogovou</a:t>
            </a: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 veličinu</a:t>
            </a:r>
          </a:p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Clr>
                <a:srgbClr val="00007D"/>
              </a:buClr>
              <a:buSzPct val="75000"/>
              <a:buFont typeface="Wingdings" pitchFamily="2" charset="2"/>
              <a:buChar char="ü"/>
              <a:defRPr/>
            </a:pP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Počet úrovní, které rozlišuje se nazývá </a:t>
            </a: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rozlišení</a:t>
            </a:r>
          </a:p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Clr>
                <a:srgbClr val="00007D"/>
              </a:buClr>
              <a:buSzPct val="75000"/>
              <a:buFont typeface="Wingdings" pitchFamily="2" charset="2"/>
              <a:buChar char="ü"/>
              <a:defRPr/>
            </a:pP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Hodnota </a:t>
            </a: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výstupního napětí</a:t>
            </a: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 je dána </a:t>
            </a: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referenčním</a:t>
            </a: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 napětím</a:t>
            </a:r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3006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360002" y="1080000"/>
            <a:ext cx="8783998" cy="27552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marL="504000" indent="-504000" eaLnBrk="1" hangingPunct="1">
              <a:spcBef>
                <a:spcPts val="0"/>
              </a:spcBef>
              <a:spcAft>
                <a:spcPts val="1800"/>
              </a:spcAft>
              <a:buClr>
                <a:srgbClr val="00007D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kern="0" dirty="0">
                <a:solidFill>
                  <a:srgbClr val="000000"/>
                </a:solidFill>
                <a:latin typeface="Verdana" pitchFamily="34" charset="0"/>
              </a:rPr>
              <a:t>Vlastnosti</a:t>
            </a:r>
            <a:endParaRPr lang="en-US" sz="2800" kern="0" dirty="0">
              <a:solidFill>
                <a:srgbClr val="000000"/>
              </a:solidFill>
              <a:latin typeface="Verdana" pitchFamily="34" charset="0"/>
            </a:endParaRPr>
          </a:p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Clr>
                <a:srgbClr val="00007D"/>
              </a:buClr>
              <a:buSzPct val="75000"/>
              <a:buFont typeface="Wingdings" pitchFamily="2" charset="2"/>
              <a:buChar char="ü"/>
              <a:defRPr/>
            </a:pP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Rozlišení</a:t>
            </a:r>
          </a:p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Clr>
                <a:srgbClr val="00007D"/>
              </a:buClr>
              <a:buSzPct val="75000"/>
              <a:buFont typeface="Wingdings" pitchFamily="2" charset="2"/>
              <a:buChar char="ü"/>
              <a:defRPr/>
            </a:pP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Přesnost</a:t>
            </a:r>
          </a:p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Clr>
                <a:srgbClr val="00007D"/>
              </a:buClr>
              <a:buSzPct val="75000"/>
              <a:buFont typeface="Wingdings" pitchFamily="2" charset="2"/>
              <a:buChar char="ü"/>
              <a:defRPr/>
            </a:pP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Rychlost převodu</a:t>
            </a:r>
          </a:p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Clr>
                <a:srgbClr val="00007D"/>
              </a:buClr>
              <a:buSzPct val="75000"/>
              <a:buFont typeface="Wingdings" pitchFamily="2" charset="2"/>
              <a:buChar char="ü"/>
              <a:defRPr/>
            </a:pP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Velikost a polarita výstupního napětí</a:t>
            </a:r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0" name="Rectangle 62"/>
          <p:cNvSpPr>
            <a:spLocks noGrp="1" noChangeArrowheads="1"/>
          </p:cNvSpPr>
          <p:nvPr>
            <p:ph type="title" idx="4294967295"/>
          </p:nvPr>
        </p:nvSpPr>
        <p:spPr>
          <a:xfrm>
            <a:off x="720001" y="72002"/>
            <a:ext cx="6012240" cy="399600"/>
          </a:xfrm>
        </p:spPr>
        <p:txBody>
          <a:bodyPr/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Aproximační převodník</a:t>
            </a:r>
          </a:p>
        </p:txBody>
      </p:sp>
    </p:spTree>
    <p:extLst>
      <p:ext uri="{BB962C8B-B14F-4D97-AF65-F5344CB8AC3E}">
        <p14:creationId xmlns:p14="http://schemas.microsoft.com/office/powerpoint/2010/main" val="3598186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3420604284"/>
              </p:ext>
            </p:extLst>
          </p:nvPr>
        </p:nvGraphicFramePr>
        <p:xfrm>
          <a:off x="648000" y="1080000"/>
          <a:ext cx="7920000" cy="370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0" name="Tlačítko akce: Vlastní 9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1" name="Tlačítko akce: Vlastní 10">
            <a:hlinkClick r:id="rId8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2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5" name="Rectangle 4"/>
          <p:cNvSpPr>
            <a:spLocks noGrp="1" noChangeArrowheads="1"/>
          </p:cNvSpPr>
          <p:nvPr>
            <p:ph type="title" sz="quarter"/>
          </p:nvPr>
        </p:nvSpPr>
        <p:spPr>
          <a:xfrm>
            <a:off x="468000" y="288000"/>
            <a:ext cx="8229600" cy="720000"/>
          </a:xfrm>
          <a:noFill/>
        </p:spPr>
        <p:txBody>
          <a:bodyPr/>
          <a:lstStyle/>
          <a:p>
            <a:r>
              <a:rPr lang="cs-CZ" sz="3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Typy převodníků D/A</a:t>
            </a:r>
          </a:p>
        </p:txBody>
      </p:sp>
    </p:spTree>
    <p:extLst>
      <p:ext uri="{BB962C8B-B14F-4D97-AF65-F5344CB8AC3E}">
        <p14:creationId xmlns:p14="http://schemas.microsoft.com/office/powerpoint/2010/main" val="24478043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2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2" y="288002"/>
            <a:ext cx="8658196" cy="720000"/>
          </a:xfrm>
        </p:spPr>
        <p:txBody>
          <a:bodyPr/>
          <a:lstStyle/>
          <a:p>
            <a:pPr eaLnBrk="1" hangingPunct="1"/>
            <a:r>
              <a:rPr lang="cs-CZ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Invertující zapojení OZ</a:t>
            </a: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440000"/>
            <a:ext cx="5088992" cy="2725428"/>
          </a:xfrm>
          <a:prstGeom prst="rect">
            <a:avLst/>
          </a:prstGeom>
        </p:spPr>
      </p:pic>
      <p:graphicFrame>
        <p:nvGraphicFramePr>
          <p:cNvPr id="14" name="Objek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9023721"/>
              </p:ext>
            </p:extLst>
          </p:nvPr>
        </p:nvGraphicFramePr>
        <p:xfrm>
          <a:off x="1247775" y="4368800"/>
          <a:ext cx="3552825" cy="177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63280" imgH="431640" progId="Equation.3">
                  <p:embed/>
                </p:oleObj>
              </mc:Choice>
              <mc:Fallback>
                <p:oleObj name="Equation" r:id="rId5" imgW="863280" imgH="431640" progId="Equation.3">
                  <p:embed/>
                  <p:pic>
                    <p:nvPicPr>
                      <p:cNvPr id="11" name="Objek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7775" y="4368800"/>
                        <a:ext cx="3552825" cy="17764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09495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2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pic>
        <p:nvPicPr>
          <p:cNvPr id="3" name="Obrázek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1080001"/>
            <a:ext cx="7704000" cy="3978609"/>
          </a:xfrm>
          <a:prstGeom prst="rect">
            <a:avLst/>
          </a:prstGeom>
        </p:spPr>
      </p:pic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2" y="288002"/>
            <a:ext cx="8658196" cy="720000"/>
          </a:xfrm>
        </p:spPr>
        <p:txBody>
          <a:bodyPr/>
          <a:lstStyle/>
          <a:p>
            <a:pPr eaLnBrk="1" hangingPunct="1"/>
            <a:r>
              <a:rPr lang="cs-CZ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D/A převodník s váhovými rezistory</a:t>
            </a:r>
          </a:p>
        </p:txBody>
      </p:sp>
    </p:spTree>
    <p:extLst>
      <p:ext uri="{BB962C8B-B14F-4D97-AF65-F5344CB8AC3E}">
        <p14:creationId xmlns:p14="http://schemas.microsoft.com/office/powerpoint/2010/main" val="1582793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360001" y="1080002"/>
            <a:ext cx="8784000" cy="11240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marL="504000" indent="-504000" eaLnBrk="1" hangingPunct="1">
              <a:spcBef>
                <a:spcPts val="0"/>
              </a:spcBef>
              <a:spcAft>
                <a:spcPts val="1800"/>
              </a:spcAft>
              <a:buClr>
                <a:srgbClr val="00007D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kern="0" dirty="0">
                <a:solidFill>
                  <a:srgbClr val="000000"/>
                </a:solidFill>
                <a:latin typeface="Verdana" pitchFamily="34" charset="0"/>
              </a:rPr>
              <a:t>Princip</a:t>
            </a:r>
            <a:endParaRPr lang="en-US" sz="2800" kern="0" dirty="0">
              <a:solidFill>
                <a:srgbClr val="000000"/>
              </a:solidFill>
              <a:latin typeface="Verdana" pitchFamily="34" charset="0"/>
            </a:endParaRPr>
          </a:p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Clr>
                <a:srgbClr val="00007D"/>
              </a:buClr>
              <a:buSzPct val="75000"/>
              <a:buFont typeface="Wingdings" pitchFamily="2" charset="2"/>
              <a:buChar char="ü"/>
              <a:defRPr/>
            </a:pP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Použití zapojení OZ jako součtového zesilovače</a:t>
            </a:r>
          </a:p>
        </p:txBody>
      </p:sp>
      <p:sp>
        <p:nvSpPr>
          <p:cNvPr id="4" name="Tlačítko akce: Vlastní 3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5" name="Tlačítko akce: Vlastní 4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6" name="Tlačítko akce: Vlastní 5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8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0" name="Rectangle 62"/>
          <p:cNvSpPr>
            <a:spLocks noGrp="1" noChangeArrowheads="1"/>
          </p:cNvSpPr>
          <p:nvPr>
            <p:ph type="title" idx="4294967295"/>
          </p:nvPr>
        </p:nvSpPr>
        <p:spPr>
          <a:xfrm>
            <a:off x="720000" y="72002"/>
            <a:ext cx="8423999" cy="399600"/>
          </a:xfrm>
        </p:spPr>
        <p:txBody>
          <a:bodyPr/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D/A převodník s váhovými rezistory</a:t>
            </a:r>
          </a:p>
        </p:txBody>
      </p:sp>
      <p:graphicFrame>
        <p:nvGraphicFramePr>
          <p:cNvPr id="11" name="Objek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0311846"/>
              </p:ext>
            </p:extLst>
          </p:nvPr>
        </p:nvGraphicFramePr>
        <p:xfrm>
          <a:off x="346397" y="2649538"/>
          <a:ext cx="8474075" cy="1500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38280" imgH="431640" progId="Equation.3">
                  <p:embed/>
                </p:oleObj>
              </mc:Choice>
              <mc:Fallback>
                <p:oleObj name="Equation" r:id="rId4" imgW="2438280" imgH="431640" progId="Equation.3">
                  <p:embed/>
                  <p:pic>
                    <p:nvPicPr>
                      <p:cNvPr id="14" name="Objek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397" y="2649538"/>
                        <a:ext cx="8474075" cy="1500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57915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360002" y="1080000"/>
            <a:ext cx="8286808" cy="17088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 eaLnBrk="1" hangingPunct="1">
              <a:spcBef>
                <a:spcPts val="0"/>
              </a:spcBef>
              <a:spcAft>
                <a:spcPts val="1800"/>
              </a:spcAft>
              <a:buClr>
                <a:srgbClr val="00007D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kern="0" dirty="0">
                <a:solidFill>
                  <a:srgbClr val="000000"/>
                </a:solidFill>
                <a:latin typeface="Verdana" pitchFamily="34" charset="0"/>
              </a:rPr>
              <a:t>Vlastnosti</a:t>
            </a:r>
            <a:endParaRPr lang="en-US" sz="2800" kern="0" dirty="0">
              <a:solidFill>
                <a:srgbClr val="000000"/>
              </a:solidFill>
              <a:latin typeface="Verdana" pitchFamily="34" charset="0"/>
            </a:endParaRPr>
          </a:p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Clr>
                <a:srgbClr val="00007D"/>
              </a:buClr>
              <a:buSzPct val="75000"/>
              <a:buFont typeface="Wingdings" pitchFamily="2" charset="2"/>
              <a:buChar char="ü"/>
              <a:defRPr/>
            </a:pP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Složitý na realizaci</a:t>
            </a:r>
          </a:p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Clr>
                <a:srgbClr val="00007D"/>
              </a:buClr>
              <a:buSzPct val="75000"/>
              <a:buFont typeface="Wingdings" pitchFamily="2" charset="2"/>
              <a:buChar char="ü"/>
              <a:defRPr/>
            </a:pP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Rezistory mají </a:t>
            </a: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proměnné</a:t>
            </a: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 hodnoty</a:t>
            </a:r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0" name="Rectangle 62"/>
          <p:cNvSpPr>
            <a:spLocks noGrp="1" noChangeArrowheads="1"/>
          </p:cNvSpPr>
          <p:nvPr>
            <p:ph type="title" idx="4294967295"/>
          </p:nvPr>
        </p:nvSpPr>
        <p:spPr>
          <a:xfrm>
            <a:off x="720000" y="72002"/>
            <a:ext cx="8423999" cy="399600"/>
          </a:xfrm>
        </p:spPr>
        <p:txBody>
          <a:bodyPr/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D/A převodník s váhovými rezistory</a:t>
            </a:r>
          </a:p>
        </p:txBody>
      </p:sp>
    </p:spTree>
    <p:extLst>
      <p:ext uri="{BB962C8B-B14F-4D97-AF65-F5344CB8AC3E}">
        <p14:creationId xmlns:p14="http://schemas.microsoft.com/office/powerpoint/2010/main" val="3983896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0" y="1080002"/>
            <a:ext cx="8100000" cy="4747352"/>
          </a:xfrm>
          <a:prstGeom prst="rect">
            <a:avLst/>
          </a:prstGeom>
        </p:spPr>
      </p:pic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2" y="226009"/>
            <a:ext cx="8658196" cy="720000"/>
          </a:xfrm>
        </p:spPr>
        <p:txBody>
          <a:bodyPr/>
          <a:lstStyle/>
          <a:p>
            <a:pPr eaLnBrk="1" hangingPunct="1"/>
            <a:r>
              <a:rPr lang="cs-CZ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D/A převodník s sítí R-2R</a:t>
            </a:r>
          </a:p>
        </p:txBody>
      </p:sp>
      <p:sp>
        <p:nvSpPr>
          <p:cNvPr id="14" name="Tlačítko akce: Vlastní 13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5" name="Tlačítko akce: Vlastní 14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6" name="Tlačítko akce: Vlastní 15">
            <a:hlinkClick r:id="rId4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8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0806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360001" y="1080002"/>
            <a:ext cx="8784000" cy="11240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marL="504000" indent="-504000" eaLnBrk="1" hangingPunct="1">
              <a:spcBef>
                <a:spcPts val="0"/>
              </a:spcBef>
              <a:spcAft>
                <a:spcPts val="1800"/>
              </a:spcAft>
              <a:buClr>
                <a:srgbClr val="00007D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kern="0" dirty="0">
                <a:solidFill>
                  <a:srgbClr val="000000"/>
                </a:solidFill>
                <a:latin typeface="Verdana" pitchFamily="34" charset="0"/>
              </a:rPr>
              <a:t>Princip</a:t>
            </a:r>
            <a:endParaRPr lang="en-US" sz="2800" kern="0" dirty="0">
              <a:solidFill>
                <a:srgbClr val="000000"/>
              </a:solidFill>
              <a:latin typeface="Verdana" pitchFamily="34" charset="0"/>
            </a:endParaRPr>
          </a:p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Clr>
                <a:srgbClr val="00007D"/>
              </a:buClr>
              <a:buSzPct val="75000"/>
              <a:buFont typeface="Wingdings" pitchFamily="2" charset="2"/>
              <a:buChar char="ü"/>
              <a:defRPr/>
            </a:pP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Stejný jako u převodníku s váhovými rezistory</a:t>
            </a:r>
          </a:p>
        </p:txBody>
      </p:sp>
      <p:sp>
        <p:nvSpPr>
          <p:cNvPr id="4" name="Tlačítko akce: Vlastní 3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5" name="Tlačítko akce: Vlastní 4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6" name="Tlačítko akce: Vlastní 5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8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1" name="Rectangle 62"/>
          <p:cNvSpPr>
            <a:spLocks noGrp="1" noChangeArrowheads="1"/>
          </p:cNvSpPr>
          <p:nvPr>
            <p:ph type="title" idx="4294967295"/>
          </p:nvPr>
        </p:nvSpPr>
        <p:spPr>
          <a:xfrm>
            <a:off x="720000" y="72002"/>
            <a:ext cx="8423999" cy="399600"/>
          </a:xfrm>
        </p:spPr>
        <p:txBody>
          <a:bodyPr/>
          <a:lstStyle/>
          <a:p>
            <a:pPr>
              <a:defRPr/>
            </a:pPr>
            <a:r>
              <a:rPr lang="pt-B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D/A převodník s sítí R-2R</a:t>
            </a:r>
            <a:endParaRPr lang="cs-CZ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762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360002" y="1080000"/>
            <a:ext cx="8286808" cy="2078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504000" indent="-504000" eaLnBrk="1" hangingPunct="1">
              <a:spcBef>
                <a:spcPts val="0"/>
              </a:spcBef>
              <a:spcAft>
                <a:spcPts val="1800"/>
              </a:spcAft>
              <a:buClr>
                <a:srgbClr val="00007D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kern="0" dirty="0">
                <a:solidFill>
                  <a:srgbClr val="000000"/>
                </a:solidFill>
                <a:latin typeface="Verdana" pitchFamily="34" charset="0"/>
              </a:rPr>
              <a:t>Vlastnosti</a:t>
            </a:r>
            <a:endParaRPr lang="en-US" sz="2800" kern="0" dirty="0">
              <a:solidFill>
                <a:srgbClr val="000000"/>
              </a:solidFill>
              <a:latin typeface="Verdana" pitchFamily="34" charset="0"/>
            </a:endParaRPr>
          </a:p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Clr>
                <a:srgbClr val="00007D"/>
              </a:buClr>
              <a:buSzPct val="75000"/>
              <a:buFont typeface="Wingdings" pitchFamily="2" charset="2"/>
              <a:buChar char="ü"/>
              <a:defRPr/>
            </a:pP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Jednoduchý na realizaci</a:t>
            </a:r>
          </a:p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Clr>
                <a:srgbClr val="00007D"/>
              </a:buClr>
              <a:buSzPct val="75000"/>
              <a:buFont typeface="Wingdings" pitchFamily="2" charset="2"/>
              <a:buChar char="ü"/>
              <a:defRPr/>
            </a:pP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Rezistory mají </a:t>
            </a: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stejnou</a:t>
            </a: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 hodnotu nebo </a:t>
            </a: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dvojnásobnou</a:t>
            </a: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 hodnotu</a:t>
            </a:r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0" name="Rectangle 62"/>
          <p:cNvSpPr>
            <a:spLocks noGrp="1" noChangeArrowheads="1"/>
          </p:cNvSpPr>
          <p:nvPr>
            <p:ph type="title" idx="4294967295"/>
          </p:nvPr>
        </p:nvSpPr>
        <p:spPr>
          <a:xfrm>
            <a:off x="720000" y="72002"/>
            <a:ext cx="8423999" cy="399600"/>
          </a:xfrm>
        </p:spPr>
        <p:txBody>
          <a:bodyPr/>
          <a:lstStyle/>
          <a:p>
            <a:pPr>
              <a:defRPr/>
            </a:pPr>
            <a:r>
              <a:rPr lang="pt-B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D/A převodník s sítí R-2R</a:t>
            </a:r>
            <a:endParaRPr lang="cs-CZ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576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318791"/>
            <a:ext cx="7834306" cy="707886"/>
          </a:xfrm>
        </p:spPr>
        <p:txBody>
          <a:bodyPr>
            <a:spAutoFit/>
          </a:bodyPr>
          <a:lstStyle/>
          <a:p>
            <a:r>
              <a:rPr lang="cs-CZ" sz="4000" b="1" kern="12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Kontrolní úkoly</a:t>
            </a:r>
            <a:endParaRPr lang="cs-CZ" sz="3600" dirty="0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360026" y="1080036"/>
            <a:ext cx="8783993" cy="5278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dirty="0">
                <a:latin typeface="Verdana" pitchFamily="34" charset="0"/>
              </a:rPr>
              <a:t>Jaké významné vlastnosti má komparační převodník (2)?</a:t>
            </a:r>
            <a:endParaRPr lang="cs-CZ" sz="2400" b="0" kern="1200" dirty="0">
              <a:latin typeface="Verdana" pitchFamily="34" charset="0"/>
            </a:endParaRPr>
          </a:p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pl-PL" sz="2400" b="0" dirty="0">
                <a:latin typeface="Verdana" pitchFamily="34" charset="0"/>
              </a:rPr>
              <a:t>V kolika taktech dojde k převodu </a:t>
            </a:r>
            <a:r>
              <a:rPr lang="pl-PL" sz="2400" dirty="0">
                <a:latin typeface="Verdana" pitchFamily="34" charset="0"/>
              </a:rPr>
              <a:t>v aproximačním převodníku</a:t>
            </a:r>
            <a:r>
              <a:rPr lang="pl-PL" sz="2400" b="0" dirty="0">
                <a:latin typeface="Verdana" pitchFamily="34" charset="0"/>
              </a:rPr>
              <a:t> s rozlišením 10 bitů. Na čem závisí doba převodu?</a:t>
            </a:r>
          </a:p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pl-PL" sz="2400" b="0" dirty="0">
                <a:latin typeface="Verdana" pitchFamily="34" charset="0"/>
              </a:rPr>
              <a:t>Jaký elektronický obvod je použit v </a:t>
            </a:r>
            <a:r>
              <a:rPr lang="pl-PL" sz="2400" dirty="0">
                <a:latin typeface="Verdana" pitchFamily="34" charset="0"/>
              </a:rPr>
              <a:t>DA převodníku</a:t>
            </a:r>
            <a:r>
              <a:rPr lang="pl-PL" sz="2400" b="0" dirty="0">
                <a:latin typeface="Verdana" pitchFamily="34" charset="0"/>
              </a:rPr>
              <a:t>?</a:t>
            </a:r>
          </a:p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dirty="0">
                <a:latin typeface="Verdana" pitchFamily="34" charset="0"/>
              </a:rPr>
              <a:t>V kolika taktech dojde k převodu ve </a:t>
            </a:r>
            <a:r>
              <a:rPr lang="cs-CZ" sz="2400" dirty="0">
                <a:latin typeface="Verdana" pitchFamily="34" charset="0"/>
              </a:rPr>
              <a:t>zpětnovazebním</a:t>
            </a:r>
            <a:r>
              <a:rPr lang="cs-CZ" sz="2400" b="0" dirty="0">
                <a:latin typeface="Verdana" pitchFamily="34" charset="0"/>
              </a:rPr>
              <a:t> převodníku s rozlišením 10 bitů. Na čem ještě závisí doba převodu?</a:t>
            </a:r>
          </a:p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dirty="0">
                <a:latin typeface="Verdana" pitchFamily="34" charset="0"/>
              </a:rPr>
              <a:t>Jaký je maximální a minimální počet taktů převodu ve zpětnovazebním převodníku?</a:t>
            </a:r>
          </a:p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dirty="0">
                <a:latin typeface="Verdana" pitchFamily="34" charset="0"/>
              </a:rPr>
              <a:t>Jaký je maximální a minimální počet taktů převodu v </a:t>
            </a:r>
            <a:r>
              <a:rPr lang="cs-CZ" sz="2400" dirty="0">
                <a:latin typeface="Verdana" pitchFamily="34" charset="0"/>
              </a:rPr>
              <a:t>aproximačním</a:t>
            </a:r>
            <a:r>
              <a:rPr lang="cs-CZ" sz="2400" b="0" dirty="0">
                <a:latin typeface="Verdana" pitchFamily="34" charset="0"/>
              </a:rPr>
              <a:t> převodníku?</a:t>
            </a:r>
          </a:p>
        </p:txBody>
      </p:sp>
      <p:sp>
        <p:nvSpPr>
          <p:cNvPr id="2" name="TextovéPole 1"/>
          <p:cNvSpPr txBox="1"/>
          <p:nvPr/>
        </p:nvSpPr>
        <p:spPr>
          <a:xfrm>
            <a:off x="8172408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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16" y="6300017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15" y="6300017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16" y="6300017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9912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360026" y="1080036"/>
            <a:ext cx="8783993" cy="3647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dirty="0">
                <a:latin typeface="Verdana" pitchFamily="34" charset="0"/>
              </a:rPr>
              <a:t>Jaké významné vlastnosti má </a:t>
            </a:r>
            <a:r>
              <a:rPr lang="cs-CZ" sz="2400" dirty="0">
                <a:latin typeface="Verdana" pitchFamily="34" charset="0"/>
              </a:rPr>
              <a:t>aproximační</a:t>
            </a:r>
            <a:r>
              <a:rPr lang="cs-CZ" sz="2400" b="0" dirty="0">
                <a:latin typeface="Verdana" pitchFamily="34" charset="0"/>
              </a:rPr>
              <a:t> převodník (2)?</a:t>
            </a:r>
            <a:endParaRPr lang="cs-CZ" sz="2400" b="0" kern="1200" dirty="0">
              <a:latin typeface="Verdana" pitchFamily="34" charset="0"/>
            </a:endParaRPr>
          </a:p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pl-PL" sz="2400" b="0" dirty="0">
                <a:latin typeface="Verdana" pitchFamily="34" charset="0"/>
              </a:rPr>
              <a:t>Nakreslete do grafu závislosti rychlost, rozlišení všechny typy AD převodníků.</a:t>
            </a:r>
          </a:p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pl-PL" sz="2400" b="0" dirty="0">
                <a:latin typeface="Verdana" pitchFamily="34" charset="0"/>
              </a:rPr>
              <a:t>Z jakých funkčních bloků se skládá </a:t>
            </a:r>
            <a:r>
              <a:rPr lang="pl-PL" sz="2400" dirty="0">
                <a:latin typeface="Verdana" pitchFamily="34" charset="0"/>
              </a:rPr>
              <a:t>zpětnovazební</a:t>
            </a:r>
            <a:r>
              <a:rPr lang="pl-PL" sz="2400" b="0" dirty="0">
                <a:latin typeface="Verdana" pitchFamily="34" charset="0"/>
              </a:rPr>
              <a:t> převodník?</a:t>
            </a:r>
          </a:p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dirty="0">
                <a:latin typeface="Verdana" pitchFamily="34" charset="0"/>
              </a:rPr>
              <a:t>Převodníky AD a DA potřebují zdroj </a:t>
            </a:r>
            <a:r>
              <a:rPr lang="cs-CZ" sz="2400" dirty="0">
                <a:latin typeface="Verdana" pitchFamily="34" charset="0"/>
              </a:rPr>
              <a:t>referenčního napětí</a:t>
            </a:r>
            <a:r>
              <a:rPr lang="cs-CZ" sz="2400" b="0" dirty="0">
                <a:latin typeface="Verdana" pitchFamily="34" charset="0"/>
              </a:rPr>
              <a:t>, jaká elektronická součástka se používá ve zdroji referenčního napětí?</a:t>
            </a:r>
          </a:p>
        </p:txBody>
      </p:sp>
      <p:sp>
        <p:nvSpPr>
          <p:cNvPr id="2" name="TextovéPole 1"/>
          <p:cNvSpPr txBox="1"/>
          <p:nvPr/>
        </p:nvSpPr>
        <p:spPr>
          <a:xfrm>
            <a:off x="8172408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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16" y="6300017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15" y="6300017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16" y="6300017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4720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360003" y="1295409"/>
            <a:ext cx="8784000" cy="4031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24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b="0" dirty="0">
                <a:latin typeface="Verdana" pitchFamily="34" charset="0"/>
              </a:rPr>
              <a:t>Rozlišení </a:t>
            </a:r>
            <a:r>
              <a:rPr lang="cs-CZ" sz="2800" dirty="0">
                <a:latin typeface="Verdana" pitchFamily="34" charset="0"/>
              </a:rPr>
              <a:t>10 bitů</a:t>
            </a:r>
          </a:p>
          <a:p>
            <a:pPr marL="504000" indent="-504000">
              <a:spcAft>
                <a:spcPts val="24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b="0" dirty="0">
                <a:latin typeface="Verdana" pitchFamily="34" charset="0"/>
              </a:rPr>
              <a:t>Převodník </a:t>
            </a:r>
            <a:r>
              <a:rPr lang="cs-CZ" sz="2800" dirty="0">
                <a:latin typeface="Verdana" pitchFamily="34" charset="0"/>
              </a:rPr>
              <a:t>aproximační</a:t>
            </a:r>
          </a:p>
          <a:p>
            <a:pPr marL="504000" indent="-504000">
              <a:spcAft>
                <a:spcPts val="24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b="0" dirty="0">
                <a:latin typeface="Verdana" pitchFamily="34" charset="0"/>
              </a:rPr>
              <a:t>Analogové vstupy</a:t>
            </a:r>
            <a:br>
              <a:rPr lang="cs-CZ" sz="2800" b="0" dirty="0">
                <a:latin typeface="Verdana" pitchFamily="34" charset="0"/>
              </a:rPr>
            </a:br>
            <a:r>
              <a:rPr lang="cs-CZ" sz="2800" dirty="0">
                <a:latin typeface="Verdana" pitchFamily="34" charset="0"/>
              </a:rPr>
              <a:t>16 single,</a:t>
            </a:r>
            <a:br>
              <a:rPr lang="cs-CZ" sz="2800" dirty="0">
                <a:latin typeface="Verdana" pitchFamily="34" charset="0"/>
              </a:rPr>
            </a:br>
            <a:r>
              <a:rPr lang="cs-CZ" sz="2800" dirty="0">
                <a:latin typeface="Verdana" pitchFamily="34" charset="0"/>
              </a:rPr>
              <a:t>14 diferenciálních</a:t>
            </a:r>
            <a:br>
              <a:rPr lang="cs-CZ" sz="2800" dirty="0">
                <a:latin typeface="Verdana" pitchFamily="34" charset="0"/>
              </a:rPr>
            </a:br>
            <a:r>
              <a:rPr lang="cs-CZ" sz="2800" dirty="0">
                <a:latin typeface="Verdana" pitchFamily="34" charset="0"/>
              </a:rPr>
              <a:t>4 diferenciální se zesílením 10 a 200</a:t>
            </a:r>
          </a:p>
          <a:p>
            <a:pPr marL="504000" indent="-504000">
              <a:spcAft>
                <a:spcPts val="24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b="0" dirty="0">
                <a:latin typeface="Verdana" pitchFamily="34" charset="0"/>
              </a:rPr>
              <a:t>Doba převodu </a:t>
            </a:r>
            <a:r>
              <a:rPr lang="cs-CZ" sz="2800" dirty="0">
                <a:latin typeface="Verdana" pitchFamily="34" charset="0"/>
              </a:rPr>
              <a:t>65-260 </a:t>
            </a:r>
            <a:r>
              <a:rPr lang="el-GR" sz="2800" dirty="0">
                <a:latin typeface="Verdana" pitchFamily="34" charset="0"/>
              </a:rPr>
              <a:t>μ</a:t>
            </a:r>
            <a:r>
              <a:rPr lang="cs-CZ" sz="2800" dirty="0">
                <a:latin typeface="Verdana" pitchFamily="34" charset="0"/>
              </a:rPr>
              <a:t>s</a:t>
            </a:r>
          </a:p>
        </p:txBody>
      </p:sp>
      <p:sp>
        <p:nvSpPr>
          <p:cNvPr id="13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7" y="288005"/>
            <a:ext cx="8104183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ADC AVR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3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3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2213991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8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7" y="288005"/>
            <a:ext cx="8104183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Schéma ADC</a:t>
            </a:r>
          </a:p>
        </p:txBody>
      </p:sp>
      <p:sp>
        <p:nvSpPr>
          <p:cNvPr id="2" name="Obdélník 1"/>
          <p:cNvSpPr/>
          <p:nvPr/>
        </p:nvSpPr>
        <p:spPr>
          <a:xfrm>
            <a:off x="540000" y="1080000"/>
            <a:ext cx="4680072" cy="48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Obdélník 2"/>
          <p:cNvSpPr/>
          <p:nvPr/>
        </p:nvSpPr>
        <p:spPr>
          <a:xfrm>
            <a:off x="827584" y="1332000"/>
            <a:ext cx="2520000" cy="7200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>
                <a:solidFill>
                  <a:schemeClr val="tx1"/>
                </a:solidFill>
                <a:latin typeface="Consolas" panose="020B0609020204030204" pitchFamily="49" charset="0"/>
              </a:rPr>
              <a:t>Datový registr </a:t>
            </a:r>
          </a:p>
        </p:txBody>
      </p:sp>
      <p:sp>
        <p:nvSpPr>
          <p:cNvPr id="8" name="Obdélník 7"/>
          <p:cNvSpPr/>
          <p:nvPr/>
        </p:nvSpPr>
        <p:spPr>
          <a:xfrm>
            <a:off x="6660232" y="1116000"/>
            <a:ext cx="2483768" cy="707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cs-CZ" sz="2000" dirty="0">
                <a:solidFill>
                  <a:schemeClr val="tx1"/>
                </a:solidFill>
              </a:rPr>
              <a:t>16 analogových vstupů</a:t>
            </a:r>
          </a:p>
        </p:txBody>
      </p:sp>
      <p:sp>
        <p:nvSpPr>
          <p:cNvPr id="12" name="Obdélník 11"/>
          <p:cNvSpPr/>
          <p:nvPr/>
        </p:nvSpPr>
        <p:spPr>
          <a:xfrm>
            <a:off x="6516216" y="3669945"/>
            <a:ext cx="2376264" cy="400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r>
              <a:rPr lang="cs-CZ" sz="2000" dirty="0">
                <a:solidFill>
                  <a:schemeClr val="tx1"/>
                </a:solidFill>
              </a:rPr>
              <a:t>Referenční napětí</a:t>
            </a:r>
          </a:p>
        </p:txBody>
      </p:sp>
      <p:sp>
        <p:nvSpPr>
          <p:cNvPr id="20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21" name="Zástupný symbol pro číslo snímku 5"/>
          <p:cNvSpPr txBox="1">
            <a:spLocks/>
          </p:cNvSpPr>
          <p:nvPr/>
        </p:nvSpPr>
        <p:spPr bwMode="auto">
          <a:xfrm>
            <a:off x="3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2" name="Tlačítko akce: Vlastní 21">
            <a:hlinkClick r:id="" action="ppaction://hlinkshowjump?jump=nextslide" highlightClick="1"/>
          </p:cNvPr>
          <p:cNvSpPr/>
          <p:nvPr/>
        </p:nvSpPr>
        <p:spPr>
          <a:xfrm>
            <a:off x="684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3" name="Tlačítko akce: Vlastní 22">
            <a:hlinkClick r:id="" action="ppaction://hlinkshowjump?jump=previousslide" highlightClick="1"/>
          </p:cNvPr>
          <p:cNvSpPr/>
          <p:nvPr/>
        </p:nvSpPr>
        <p:spPr>
          <a:xfrm>
            <a:off x="5760003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4" name="Tlačítko akce: Vlastní 23">
            <a:hlinkClick r:id="rId3" action="ppaction://hlinksldjump" highlightClick="1"/>
          </p:cNvPr>
          <p:cNvSpPr/>
          <p:nvPr/>
        </p:nvSpPr>
        <p:spPr>
          <a:xfrm>
            <a:off x="792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7" name="Šipka: pětiúhelník 16"/>
          <p:cNvSpPr/>
          <p:nvPr/>
        </p:nvSpPr>
        <p:spPr>
          <a:xfrm flipH="1">
            <a:off x="5400000" y="3600000"/>
            <a:ext cx="1080000" cy="540000"/>
          </a:xfrm>
          <a:prstGeom prst="homePlate">
            <a:avLst/>
          </a:prstGeom>
          <a:solidFill>
            <a:srgbClr val="00CC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>
                <a:solidFill>
                  <a:schemeClr val="tx1"/>
                </a:solidFill>
                <a:latin typeface="Consolas" panose="020B0609020204030204" pitchFamily="49" charset="0"/>
              </a:rPr>
              <a:t>AREF</a:t>
            </a:r>
          </a:p>
        </p:txBody>
      </p:sp>
      <p:sp>
        <p:nvSpPr>
          <p:cNvPr id="25" name="Šipka: pětiúhelník 24"/>
          <p:cNvSpPr/>
          <p:nvPr/>
        </p:nvSpPr>
        <p:spPr>
          <a:xfrm flipH="1">
            <a:off x="5400000" y="1199943"/>
            <a:ext cx="1080000" cy="540000"/>
          </a:xfrm>
          <a:prstGeom prst="homePlate">
            <a:avLst/>
          </a:prstGeom>
          <a:solidFill>
            <a:srgbClr val="00CC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</a:rPr>
              <a:t>ADC0</a:t>
            </a:r>
          </a:p>
        </p:txBody>
      </p:sp>
      <p:sp>
        <p:nvSpPr>
          <p:cNvPr id="26" name="Šipka: pětiúhelník 25"/>
          <p:cNvSpPr/>
          <p:nvPr/>
        </p:nvSpPr>
        <p:spPr>
          <a:xfrm flipH="1">
            <a:off x="5400000" y="2520293"/>
            <a:ext cx="1080000" cy="540000"/>
          </a:xfrm>
          <a:prstGeom prst="homePlate">
            <a:avLst/>
          </a:prstGeom>
          <a:solidFill>
            <a:srgbClr val="00CC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</a:rPr>
              <a:t>ADC15</a:t>
            </a:r>
          </a:p>
        </p:txBody>
      </p:sp>
      <p:sp>
        <p:nvSpPr>
          <p:cNvPr id="4" name="TextovéPole 3"/>
          <p:cNvSpPr txBox="1"/>
          <p:nvPr/>
        </p:nvSpPr>
        <p:spPr bwMode="auto">
          <a:xfrm rot="16200000">
            <a:off x="5524666" y="1902024"/>
            <a:ext cx="72008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2400" b="1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…</a:t>
            </a:r>
          </a:p>
        </p:txBody>
      </p:sp>
      <p:sp>
        <p:nvSpPr>
          <p:cNvPr id="27" name="Obdélník 26"/>
          <p:cNvSpPr/>
          <p:nvPr/>
        </p:nvSpPr>
        <p:spPr>
          <a:xfrm>
            <a:off x="828000" y="2376000"/>
            <a:ext cx="2520000" cy="72008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>
                <a:solidFill>
                  <a:schemeClr val="tx1"/>
                </a:solidFill>
                <a:latin typeface="Consolas" panose="020B0609020204030204" pitchFamily="49" charset="0"/>
              </a:rPr>
              <a:t>Řídící registry</a:t>
            </a:r>
          </a:p>
        </p:txBody>
      </p:sp>
      <p:sp>
        <p:nvSpPr>
          <p:cNvPr id="28" name="Šipka: pětiúhelník 27"/>
          <p:cNvSpPr/>
          <p:nvPr/>
        </p:nvSpPr>
        <p:spPr>
          <a:xfrm>
            <a:off x="3780000" y="4473176"/>
            <a:ext cx="1080000" cy="540000"/>
          </a:xfrm>
          <a:prstGeom prst="homePlat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>
                <a:solidFill>
                  <a:schemeClr val="tx1"/>
                </a:solidFill>
                <a:latin typeface="Consolas" panose="020B0609020204030204" pitchFamily="49" charset="0"/>
              </a:rPr>
              <a:t>ADIF</a:t>
            </a:r>
          </a:p>
        </p:txBody>
      </p:sp>
      <p:sp>
        <p:nvSpPr>
          <p:cNvPr id="29" name="Obdélník 28"/>
          <p:cNvSpPr/>
          <p:nvPr/>
        </p:nvSpPr>
        <p:spPr>
          <a:xfrm>
            <a:off x="5400000" y="4543121"/>
            <a:ext cx="3492124" cy="400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cs-CZ" sz="2000" dirty="0">
                <a:solidFill>
                  <a:schemeClr val="tx1"/>
                </a:solidFill>
              </a:rPr>
              <a:t>Převod dokončen</a:t>
            </a:r>
          </a:p>
        </p:txBody>
      </p:sp>
    </p:spTree>
    <p:extLst>
      <p:ext uri="{BB962C8B-B14F-4D97-AF65-F5344CB8AC3E}">
        <p14:creationId xmlns:p14="http://schemas.microsoft.com/office/powerpoint/2010/main" val="675962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8" grpId="0"/>
      <p:bldP spid="12" grpId="0"/>
      <p:bldP spid="20" grpId="0" animBg="1"/>
      <p:bldP spid="21" grpId="0"/>
      <p:bldP spid="17" grpId="0" animBg="1"/>
      <p:bldP spid="25" grpId="0" animBg="1"/>
      <p:bldP spid="26" grpId="0" animBg="1"/>
      <p:bldP spid="4" grpId="0"/>
      <p:bldP spid="27" grpId="0" animBg="1"/>
      <p:bldP spid="28" grpId="0" animBg="1"/>
      <p:bldP spid="2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360003" y="1080007"/>
            <a:ext cx="8784000" cy="4031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24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3200" dirty="0">
                <a:latin typeface="Verdana" pitchFamily="34" charset="0"/>
              </a:rPr>
              <a:t>Princip práce s převodníkem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dirty="0">
                <a:latin typeface="Verdana" pitchFamily="34" charset="0"/>
              </a:rPr>
              <a:t>Volba </a:t>
            </a:r>
            <a:r>
              <a:rPr lang="cs-CZ" b="0" dirty="0">
                <a:latin typeface="Verdana" pitchFamily="34" charset="0"/>
              </a:rPr>
              <a:t>analogového</a:t>
            </a:r>
            <a:r>
              <a:rPr lang="cs-CZ" dirty="0">
                <a:latin typeface="Verdana" pitchFamily="34" charset="0"/>
              </a:rPr>
              <a:t> </a:t>
            </a:r>
            <a:r>
              <a:rPr lang="cs-CZ" b="0" dirty="0">
                <a:latin typeface="Verdana" pitchFamily="34" charset="0"/>
              </a:rPr>
              <a:t>vstupu a referenčního napětí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dirty="0">
                <a:latin typeface="Verdana" pitchFamily="34" charset="0"/>
              </a:rPr>
              <a:t>Naprogramování</a:t>
            </a:r>
            <a:r>
              <a:rPr lang="cs-CZ" b="0" dirty="0">
                <a:latin typeface="Verdana" pitchFamily="34" charset="0"/>
              </a:rPr>
              <a:t> řídících registrů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dirty="0">
                <a:latin typeface="Verdana" pitchFamily="34" charset="0"/>
              </a:rPr>
              <a:t>Start převodu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dirty="0">
                <a:latin typeface="Verdana" pitchFamily="34" charset="0"/>
              </a:rPr>
              <a:t>Čekací smyčka </a:t>
            </a:r>
            <a:r>
              <a:rPr lang="cs-CZ" b="0" dirty="0">
                <a:latin typeface="Verdana" pitchFamily="34" charset="0"/>
              </a:rPr>
              <a:t>na událost, </a:t>
            </a:r>
            <a:r>
              <a:rPr lang="cs-CZ" i="1" dirty="0">
                <a:latin typeface="Verdana" pitchFamily="34" charset="0"/>
              </a:rPr>
              <a:t>dokončení převodu</a:t>
            </a:r>
            <a:r>
              <a:rPr lang="cs-CZ" b="0" dirty="0">
                <a:latin typeface="Verdana" pitchFamily="34" charset="0"/>
              </a:rPr>
              <a:t> nebo 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dirty="0">
                <a:latin typeface="Verdana" pitchFamily="34" charset="0"/>
              </a:rPr>
              <a:t>Obsluha přerušení </a:t>
            </a:r>
            <a:r>
              <a:rPr lang="cs-CZ" b="0" dirty="0">
                <a:latin typeface="Verdana" pitchFamily="34" charset="0"/>
              </a:rPr>
              <a:t>vyvolané touto </a:t>
            </a:r>
            <a:r>
              <a:rPr lang="cs-CZ" dirty="0">
                <a:latin typeface="Verdana" pitchFamily="34" charset="0"/>
              </a:rPr>
              <a:t>událostí 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3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3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7" y="288005"/>
            <a:ext cx="8424475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Použití ADC v aplikaci</a:t>
            </a:r>
          </a:p>
        </p:txBody>
      </p:sp>
    </p:spTree>
    <p:extLst>
      <p:ext uri="{BB962C8B-B14F-4D97-AF65-F5344CB8AC3E}">
        <p14:creationId xmlns:p14="http://schemas.microsoft.com/office/powerpoint/2010/main" val="2232117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8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80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360003" y="1080000"/>
            <a:ext cx="8784000" cy="4909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3200" dirty="0">
                <a:latin typeface="Verdana" pitchFamily="34" charset="0"/>
              </a:rPr>
              <a:t>Popis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  <a:defRPr/>
            </a:pPr>
            <a:r>
              <a:rPr lang="cs-CZ" b="0" dirty="0">
                <a:latin typeface="Verdana" pitchFamily="34" charset="0"/>
              </a:rPr>
              <a:t>Rozlišení </a:t>
            </a:r>
            <a:r>
              <a:rPr lang="cs-CZ" dirty="0">
                <a:latin typeface="Verdana" pitchFamily="34" charset="0"/>
              </a:rPr>
              <a:t>10 bitů </a:t>
            </a:r>
            <a:r>
              <a:rPr lang="cs-CZ" b="0" dirty="0">
                <a:latin typeface="Verdana" pitchFamily="34" charset="0"/>
              </a:rPr>
              <a:t>nebo </a:t>
            </a:r>
            <a:r>
              <a:rPr lang="cs-CZ" dirty="0">
                <a:latin typeface="Verdana" pitchFamily="34" charset="0"/>
              </a:rPr>
              <a:t>8 bitů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  <a:defRPr/>
            </a:pPr>
            <a:r>
              <a:rPr lang="cs-CZ" dirty="0">
                <a:latin typeface="Verdana" pitchFamily="34" charset="0"/>
              </a:rPr>
              <a:t>16 single</a:t>
            </a:r>
            <a:br>
              <a:rPr lang="cs-CZ" dirty="0">
                <a:latin typeface="Verdana" pitchFamily="34" charset="0"/>
              </a:rPr>
            </a:br>
            <a:r>
              <a:rPr lang="cs-CZ" dirty="0">
                <a:latin typeface="Verdana" pitchFamily="34" charset="0"/>
              </a:rPr>
              <a:t>14 diferenciálních</a:t>
            </a:r>
            <a:br>
              <a:rPr lang="cs-CZ" dirty="0">
                <a:latin typeface="Verdana" pitchFamily="34" charset="0"/>
              </a:rPr>
            </a:br>
            <a:r>
              <a:rPr lang="cs-CZ" dirty="0">
                <a:latin typeface="Verdana" pitchFamily="34" charset="0"/>
              </a:rPr>
              <a:t>4 diferenciální se zesílením 10 a 200 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  <a:defRPr/>
            </a:pPr>
            <a:r>
              <a:rPr lang="cs-CZ" b="0" dirty="0">
                <a:latin typeface="Verdana" pitchFamily="34" charset="0"/>
              </a:rPr>
              <a:t>Zdroj </a:t>
            </a:r>
            <a:r>
              <a:rPr lang="cs-CZ" dirty="0">
                <a:latin typeface="Verdana" pitchFamily="34" charset="0"/>
              </a:rPr>
              <a:t>referenčního</a:t>
            </a:r>
            <a:r>
              <a:rPr lang="cs-CZ" b="0" dirty="0">
                <a:latin typeface="Verdana" pitchFamily="34" charset="0"/>
              </a:rPr>
              <a:t> napětí </a:t>
            </a:r>
            <a:r>
              <a:rPr lang="cs-CZ" dirty="0">
                <a:latin typeface="Verdana" pitchFamily="34" charset="0"/>
              </a:rPr>
              <a:t>2,56 V</a:t>
            </a:r>
            <a:r>
              <a:rPr lang="cs-CZ" b="0" dirty="0">
                <a:latin typeface="Verdana" pitchFamily="34" charset="0"/>
              </a:rPr>
              <a:t>, </a:t>
            </a:r>
            <a:r>
              <a:rPr lang="cs-CZ" dirty="0">
                <a:latin typeface="Verdana" pitchFamily="34" charset="0"/>
              </a:rPr>
              <a:t>1,1 V</a:t>
            </a:r>
            <a:r>
              <a:rPr lang="cs-CZ" b="0" dirty="0">
                <a:latin typeface="Verdana" pitchFamily="34" charset="0"/>
              </a:rPr>
              <a:t> nebo </a:t>
            </a:r>
            <a:r>
              <a:rPr lang="cs-CZ" dirty="0">
                <a:latin typeface="Verdana" pitchFamily="34" charset="0"/>
              </a:rPr>
              <a:t>vnější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  <a:defRPr/>
            </a:pPr>
            <a:r>
              <a:rPr lang="cs-CZ" b="0" dirty="0">
                <a:latin typeface="Verdana" pitchFamily="34" charset="0"/>
              </a:rPr>
              <a:t>Spouštění převodu různými událostmi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  <a:defRPr/>
            </a:pPr>
            <a:r>
              <a:rPr lang="cs-CZ" b="0" dirty="0">
                <a:latin typeface="Verdana" pitchFamily="34" charset="0"/>
              </a:rPr>
              <a:t>Nastavení frekvence hodin pro A/D převodník</a:t>
            </a:r>
            <a:endParaRPr lang="cs-CZ" dirty="0">
              <a:latin typeface="Verdana" pitchFamily="34" charset="0"/>
            </a:endParaRP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  <a:defRPr/>
            </a:pPr>
            <a:r>
              <a:rPr lang="cs-CZ" b="0" dirty="0">
                <a:latin typeface="Verdana" pitchFamily="34" charset="0"/>
              </a:rPr>
              <a:t>Událost – </a:t>
            </a:r>
            <a:r>
              <a:rPr lang="cs-CZ" dirty="0">
                <a:latin typeface="Verdana" pitchFamily="34" charset="0"/>
              </a:rPr>
              <a:t>Dokončení převodu</a:t>
            </a:r>
          </a:p>
        </p:txBody>
      </p:sp>
      <p:sp>
        <p:nvSpPr>
          <p:cNvPr id="13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7" y="288005"/>
            <a:ext cx="8104183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ADC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3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3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TextovéPole 8">
            <a:extLst>
              <a:ext uri="{FF2B5EF4-FFF2-40B4-BE49-F238E27FC236}">
                <a16:creationId xmlns:a16="http://schemas.microsoft.com/office/drawing/2014/main" id="{754A11E5-3B91-4226-9107-00CE59468F16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782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8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80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80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360003" y="1080003"/>
            <a:ext cx="8784000" cy="275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3200" dirty="0">
                <a:latin typeface="Verdana" pitchFamily="34" charset="0"/>
              </a:rPr>
              <a:t>Registry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  <a:defRPr/>
            </a:pPr>
            <a:r>
              <a:rPr lang="cs-CZ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ADCH:ADCL</a:t>
            </a:r>
            <a:r>
              <a:rPr lang="cs-CZ" b="0" dirty="0">
                <a:latin typeface="Verdana" pitchFamily="34" charset="0"/>
              </a:rPr>
              <a:t> – převedená hodnota analogového vstupu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  <a:defRPr/>
            </a:pPr>
            <a:r>
              <a:rPr lang="cs-CZ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ADCSRA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cs-CZ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ADCSRB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cs-CZ" b="0" dirty="0">
                <a:latin typeface="Verdana" pitchFamily="34" charset="0"/>
              </a:rPr>
              <a:t>- řídící registry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  <a:defRPr/>
            </a:pPr>
            <a:r>
              <a:rPr lang="cs-CZ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ADMUX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cs-CZ" b="0" dirty="0">
                <a:latin typeface="Verdana" pitchFamily="34" charset="0"/>
              </a:rPr>
              <a:t>– přepojení analogových vstupů a nastavení zdroje referenčního napětí</a:t>
            </a:r>
          </a:p>
        </p:txBody>
      </p:sp>
      <p:sp>
        <p:nvSpPr>
          <p:cNvPr id="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4" name="Zástupný symbol pro číslo snímku 5"/>
          <p:cNvSpPr txBox="1">
            <a:spLocks/>
          </p:cNvSpPr>
          <p:nvPr/>
        </p:nvSpPr>
        <p:spPr bwMode="auto">
          <a:xfrm>
            <a:off x="3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3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ADC</a:t>
            </a:r>
          </a:p>
        </p:txBody>
      </p:sp>
      <p:sp>
        <p:nvSpPr>
          <p:cNvPr id="9" name="TextovéPole 8">
            <a:extLst>
              <a:ext uri="{FF2B5EF4-FFF2-40B4-BE49-F238E27FC236}">
                <a16:creationId xmlns:a16="http://schemas.microsoft.com/office/drawing/2014/main" id="{754A11E5-3B91-4226-9107-00CE59468F16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2887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000" y="1080003"/>
            <a:ext cx="7696476" cy="5228952"/>
          </a:xfrm>
          <a:prstGeom prst="rect">
            <a:avLst/>
          </a:prstGeom>
        </p:spPr>
      </p:pic>
      <p:sp>
        <p:nvSpPr>
          <p:cNvPr id="24" name="Zaoblený obdélník 23"/>
          <p:cNvSpPr/>
          <p:nvPr/>
        </p:nvSpPr>
        <p:spPr>
          <a:xfrm>
            <a:off x="180000" y="5544000"/>
            <a:ext cx="1007623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Vstup analogového signálu</a:t>
            </a:r>
            <a:endParaRPr lang="cs-CZ" sz="800" b="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5" name="Zaoblený obdélník 24"/>
          <p:cNvSpPr/>
          <p:nvPr/>
        </p:nvSpPr>
        <p:spPr>
          <a:xfrm>
            <a:off x="180001" y="2592001"/>
            <a:ext cx="1007622" cy="432048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Vstup referenčního napětí</a:t>
            </a:r>
            <a:endParaRPr lang="cs-CZ" sz="800" b="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6" name="Zaoblený obdélník 25"/>
          <p:cNvSpPr/>
          <p:nvPr/>
        </p:nvSpPr>
        <p:spPr>
          <a:xfrm>
            <a:off x="3203849" y="3501009"/>
            <a:ext cx="936104" cy="432048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DAC převodník</a:t>
            </a:r>
            <a:endParaRPr lang="cs-CZ" sz="800" b="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7" name="Zaoblený obdélník 26"/>
          <p:cNvSpPr/>
          <p:nvPr/>
        </p:nvSpPr>
        <p:spPr>
          <a:xfrm>
            <a:off x="3203849" y="1988842"/>
            <a:ext cx="936104" cy="432048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ADC aproximační převodník</a:t>
            </a:r>
            <a:endParaRPr lang="cs-CZ" sz="800" b="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8" name="Zaoblený obdélník 27"/>
          <p:cNvSpPr/>
          <p:nvPr/>
        </p:nvSpPr>
        <p:spPr>
          <a:xfrm>
            <a:off x="6732241" y="3840089"/>
            <a:ext cx="936104" cy="432048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Řízení spouštění převodu </a:t>
            </a:r>
            <a:endParaRPr lang="cs-CZ" sz="800" b="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9" name="Zaoblený obdélník 28"/>
          <p:cNvSpPr/>
          <p:nvPr/>
        </p:nvSpPr>
        <p:spPr>
          <a:xfrm>
            <a:off x="2111365" y="5949282"/>
            <a:ext cx="1596541" cy="603328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8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Multiplexery</a:t>
            </a:r>
            <a:r>
              <a:rPr lang="cs-CZ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které propojují vstupy podle zvolené konfigurace</a:t>
            </a:r>
            <a:endParaRPr lang="cs-CZ" sz="800" b="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0" name="Zaoblený obdélník 29"/>
          <p:cNvSpPr/>
          <p:nvPr/>
        </p:nvSpPr>
        <p:spPr>
          <a:xfrm>
            <a:off x="7452322" y="2537809"/>
            <a:ext cx="1224136" cy="74717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Výstupní registr s digitální hodnotou analogového signálu</a:t>
            </a:r>
            <a:endParaRPr lang="cs-CZ" sz="800" b="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2" name="Zástupný symbol pro číslo snímku 5"/>
          <p:cNvSpPr txBox="1">
            <a:spLocks/>
          </p:cNvSpPr>
          <p:nvPr/>
        </p:nvSpPr>
        <p:spPr bwMode="auto">
          <a:xfrm>
            <a:off x="3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4" name="Tlačítko akce: Vlastní 13">
            <a:hlinkClick r:id="" action="ppaction://hlinkshowjump?jump=nextslide" highlightClick="1"/>
          </p:cNvPr>
          <p:cNvSpPr/>
          <p:nvPr/>
        </p:nvSpPr>
        <p:spPr>
          <a:xfrm>
            <a:off x="684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5" name="Tlačítko akce: Vlastní 14">
            <a:hlinkClick r:id="" action="ppaction://hlinkshowjump?jump=previousslide" highlightClick="1"/>
          </p:cNvPr>
          <p:cNvSpPr/>
          <p:nvPr/>
        </p:nvSpPr>
        <p:spPr>
          <a:xfrm>
            <a:off x="5760003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6" name="Tlačítko akce: Vlastní 15">
            <a:hlinkClick r:id="rId4" action="ppaction://hlinksldjump" highlightClick="1"/>
          </p:cNvPr>
          <p:cNvSpPr/>
          <p:nvPr/>
        </p:nvSpPr>
        <p:spPr>
          <a:xfrm>
            <a:off x="792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ADC</a:t>
            </a:r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754A11E5-3B91-4226-9107-00CE59468F16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1917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11" grpId="0" animBg="1"/>
      <p:bldP spid="1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7" y="288005"/>
            <a:ext cx="8104183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Registry ADMUX, ADCSRA, B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3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3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pic>
        <p:nvPicPr>
          <p:cNvPr id="2" name="Obrázek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1184995"/>
            <a:ext cx="8460000" cy="3684165"/>
          </a:xfrm>
          <a:prstGeom prst="rect">
            <a:avLst/>
          </a:prstGeom>
        </p:spPr>
      </p:pic>
      <p:sp>
        <p:nvSpPr>
          <p:cNvPr id="9" name="TextovéPole 8">
            <a:extLst>
              <a:ext uri="{FF2B5EF4-FFF2-40B4-BE49-F238E27FC236}">
                <a16:creationId xmlns:a16="http://schemas.microsoft.com/office/drawing/2014/main" id="{754A11E5-3B91-4226-9107-00CE59468F16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4078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8244488" cy="400110"/>
          </a:xfrm>
          <a:noFill/>
          <a:ln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Registry ADMUX, ADCSRA, B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3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3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pic>
        <p:nvPicPr>
          <p:cNvPr id="2" name="Obrázek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1216742"/>
            <a:ext cx="8460000" cy="3508402"/>
          </a:xfrm>
          <a:prstGeom prst="rect">
            <a:avLst/>
          </a:prstGeom>
        </p:spPr>
      </p:pic>
      <p:sp>
        <p:nvSpPr>
          <p:cNvPr id="10" name="TextovéPole 9">
            <a:extLst>
              <a:ext uri="{FF2B5EF4-FFF2-40B4-BE49-F238E27FC236}">
                <a16:creationId xmlns:a16="http://schemas.microsoft.com/office/drawing/2014/main" id="{754A11E5-3B91-4226-9107-00CE59468F16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686105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360003" y="1080000"/>
            <a:ext cx="8784000" cy="2600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latin typeface="Verdana" pitchFamily="34" charset="0"/>
              </a:rPr>
              <a:t>Jednoduchý převod</a:t>
            </a:r>
          </a:p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Clr>
                <a:srgbClr val="00007D"/>
              </a:buClr>
              <a:buSzPct val="75000"/>
              <a:buFont typeface="Wingdings" pitchFamily="2" charset="2"/>
              <a:buChar char="ü"/>
              <a:defRPr/>
            </a:pP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Start</a:t>
            </a: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 jednorázového převodu bitem </a:t>
            </a:r>
            <a:r>
              <a:rPr lang="cs-CZ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ADSC=1</a:t>
            </a:r>
          </a:p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Clr>
                <a:srgbClr val="00007D"/>
              </a:buClr>
              <a:buSzPct val="75000"/>
              <a:buFont typeface="Wingdings" pitchFamily="2" charset="2"/>
              <a:buChar char="ü"/>
              <a:defRPr/>
            </a:pP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Po dokončení převodu se nastaví </a:t>
            </a:r>
            <a:r>
              <a:rPr lang="cs-CZ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ADSC</a:t>
            </a: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 na nulu</a:t>
            </a:r>
          </a:p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Clr>
                <a:srgbClr val="00007D"/>
              </a:buClr>
              <a:buSzPct val="75000"/>
              <a:buFont typeface="Wingdings" pitchFamily="2" charset="2"/>
              <a:buChar char="ü"/>
              <a:defRPr/>
            </a:pP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Během převodu je přepnutý zvolený analogový kanál</a:t>
            </a:r>
          </a:p>
        </p:txBody>
      </p:sp>
      <p:sp>
        <p:nvSpPr>
          <p:cNvPr id="13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7" y="288005"/>
            <a:ext cx="8104183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ADC</a:t>
            </a:r>
            <a:r>
              <a:rPr 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– </a:t>
            </a: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spouštění převodu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3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3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TextovéPole 8">
            <a:extLst>
              <a:ext uri="{FF2B5EF4-FFF2-40B4-BE49-F238E27FC236}">
                <a16:creationId xmlns:a16="http://schemas.microsoft.com/office/drawing/2014/main" id="{754A11E5-3B91-4226-9107-00CE59468F16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S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749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8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360003" y="1080000"/>
            <a:ext cx="8784000" cy="2446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latin typeface="Verdana" pitchFamily="34" charset="0"/>
              </a:rPr>
              <a:t>Automatické spouštění</a:t>
            </a:r>
          </a:p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Clr>
                <a:srgbClr val="00007D"/>
              </a:buClr>
              <a:buSzPct val="75000"/>
              <a:buFont typeface="Wingdings" pitchFamily="2" charset="2"/>
              <a:buChar char="ü"/>
              <a:defRPr/>
            </a:pP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Pro aktivaci režimu nastavíme bit </a:t>
            </a:r>
            <a:r>
              <a:rPr lang="cs-CZ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ADATE=1</a:t>
            </a:r>
            <a:endParaRPr lang="cs-CZ" b="0" dirty="0">
              <a:solidFill>
                <a:srgbClr val="000000"/>
              </a:solidFill>
              <a:latin typeface="Verdana" pitchFamily="34" charset="0"/>
            </a:endParaRPr>
          </a:p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Clr>
                <a:srgbClr val="00007D"/>
              </a:buClr>
              <a:buSzPct val="75000"/>
              <a:buFont typeface="Wingdings" pitchFamily="2" charset="2"/>
              <a:buChar char="ü"/>
              <a:defRPr/>
            </a:pP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Spouštění různými zdroji </a:t>
            </a:r>
            <a:r>
              <a:rPr lang="cs-CZ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ADTS2:ADTS0</a:t>
            </a: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 (časovačem, vnějším vstupem, analogovým komparátorem </a:t>
            </a:r>
            <a:r>
              <a:rPr lang="cs-CZ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001-111</a:t>
            </a: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)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3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3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8244488" cy="400110"/>
          </a:xfrm>
          <a:noFill/>
          <a:ln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ADC – spouštění převodu</a:t>
            </a:r>
          </a:p>
        </p:txBody>
      </p:sp>
      <p:sp>
        <p:nvSpPr>
          <p:cNvPr id="9" name="TextovéPole 8">
            <a:extLst>
              <a:ext uri="{FF2B5EF4-FFF2-40B4-BE49-F238E27FC236}">
                <a16:creationId xmlns:a16="http://schemas.microsoft.com/office/drawing/2014/main" id="{754A11E5-3B91-4226-9107-00CE59468F16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S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7495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360003" y="1080000"/>
            <a:ext cx="8784000" cy="2600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latin typeface="Verdana" pitchFamily="34" charset="0"/>
              </a:rPr>
              <a:t>Volný běh</a:t>
            </a:r>
          </a:p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Clr>
                <a:srgbClr val="00007D"/>
              </a:buClr>
              <a:buSzPct val="75000"/>
              <a:buFont typeface="Wingdings" pitchFamily="2" charset="2"/>
              <a:buChar char="ü"/>
              <a:defRPr/>
            </a:pP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Pro aktivaci režimu nastavíme bit </a:t>
            </a:r>
            <a:r>
              <a:rPr lang="cs-CZ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ADATE=1</a:t>
            </a:r>
          </a:p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Clr>
                <a:srgbClr val="00007D"/>
              </a:buClr>
              <a:buSzPct val="75000"/>
              <a:buFont typeface="Wingdings" pitchFamily="2" charset="2"/>
              <a:buChar char="ü"/>
              <a:defRPr/>
            </a:pPr>
            <a:r>
              <a:rPr lang="cs-CZ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ADTS2:ADTS0 </a:t>
            </a: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nastavíme na </a:t>
            </a:r>
            <a:r>
              <a:rPr lang="cs-CZ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000</a:t>
            </a:r>
          </a:p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Clr>
                <a:srgbClr val="00007D"/>
              </a:buClr>
              <a:buSzPct val="75000"/>
              <a:buFont typeface="Wingdings" pitchFamily="2" charset="2"/>
              <a:buChar char="ü"/>
              <a:defRPr/>
            </a:pP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Převod odstartujeme bitem </a:t>
            </a:r>
            <a:r>
              <a:rPr lang="cs-CZ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ADSC=1</a:t>
            </a: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, dále se spouští příznakem </a:t>
            </a:r>
            <a:r>
              <a:rPr lang="cs-CZ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ADIF=1</a:t>
            </a: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 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3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3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8244488" cy="400110"/>
          </a:xfrm>
          <a:noFill/>
          <a:ln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ADC – spouštění převodu</a:t>
            </a:r>
          </a:p>
        </p:txBody>
      </p:sp>
      <p:sp>
        <p:nvSpPr>
          <p:cNvPr id="9" name="TextovéPole 8">
            <a:extLst>
              <a:ext uri="{FF2B5EF4-FFF2-40B4-BE49-F238E27FC236}">
                <a16:creationId xmlns:a16="http://schemas.microsoft.com/office/drawing/2014/main" id="{754A11E5-3B91-4226-9107-00CE59468F16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S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0467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360003" y="1080000"/>
            <a:ext cx="8784000" cy="2600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latin typeface="Verdana" pitchFamily="34" charset="0"/>
              </a:rPr>
              <a:t>Dělička </a:t>
            </a:r>
          </a:p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Clr>
                <a:srgbClr val="00007D"/>
              </a:buClr>
              <a:buSzPct val="75000"/>
              <a:buFont typeface="Wingdings" pitchFamily="2" charset="2"/>
              <a:buChar char="ü"/>
              <a:defRPr/>
            </a:pP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Maximální přesnost (10 bitů) při kmitočtu od </a:t>
            </a:r>
            <a:br>
              <a:rPr lang="cs-CZ" b="0" dirty="0">
                <a:solidFill>
                  <a:srgbClr val="000000"/>
                </a:solidFill>
                <a:latin typeface="Verdana" pitchFamily="34" charset="0"/>
              </a:rPr>
            </a:br>
            <a:r>
              <a:rPr lang="cs-CZ" dirty="0">
                <a:solidFill>
                  <a:srgbClr val="000000"/>
                </a:solidFill>
                <a:latin typeface="Verdana" pitchFamily="34" charset="0"/>
              </a:rPr>
              <a:t>50–200 kHz</a:t>
            </a:r>
            <a:endParaRPr lang="cs-CZ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Clr>
                <a:srgbClr val="00007D"/>
              </a:buClr>
              <a:buSzPct val="75000"/>
              <a:buFont typeface="Wingdings" pitchFamily="2" charset="2"/>
              <a:buChar char="ü"/>
              <a:defRPr/>
            </a:pP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Při nižším rozlišení (8 bitů) až max. 1MHz</a:t>
            </a:r>
          </a:p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Clr>
                <a:srgbClr val="00007D"/>
              </a:buClr>
              <a:buSzPct val="75000"/>
              <a:buFont typeface="Wingdings" pitchFamily="2" charset="2"/>
              <a:buChar char="ü"/>
              <a:defRPr/>
            </a:pP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Nastavení bitů </a:t>
            </a:r>
            <a:r>
              <a:rPr lang="cs-CZ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ADPS2:ADPS0 </a:t>
            </a:r>
            <a:r>
              <a:rPr lang="cs-CZ" b="0" dirty="0">
                <a:solidFill>
                  <a:srgbClr val="000000"/>
                </a:solidFill>
                <a:latin typeface="Verdana" pitchFamily="34" charset="0"/>
              </a:rPr>
              <a:t>podle tabulky</a:t>
            </a:r>
          </a:p>
        </p:txBody>
      </p:sp>
      <p:sp>
        <p:nvSpPr>
          <p:cNvPr id="13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7" y="288005"/>
            <a:ext cx="8104183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ADC</a:t>
            </a:r>
            <a:r>
              <a:rPr 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– </a:t>
            </a: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časování převodu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3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3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TextovéPole 8">
            <a:extLst>
              <a:ext uri="{FF2B5EF4-FFF2-40B4-BE49-F238E27FC236}">
                <a16:creationId xmlns:a16="http://schemas.microsoft.com/office/drawing/2014/main" id="{754A11E5-3B91-4226-9107-00CE59468F16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S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1747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8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360003" y="1080000"/>
            <a:ext cx="8784000" cy="307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q"/>
              <a:defRPr/>
            </a:pPr>
            <a:r>
              <a:rPr lang="cs-CZ" dirty="0">
                <a:latin typeface="Verdana" pitchFamily="34" charset="0"/>
              </a:rPr>
              <a:t>Nastavení analogového vstupů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q"/>
              <a:defRPr/>
            </a:pPr>
            <a:r>
              <a:rPr lang="cs-CZ" dirty="0">
                <a:latin typeface="Verdana" pitchFamily="34" charset="0"/>
              </a:rPr>
              <a:t>Nastavení referenčního zdroje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q"/>
              <a:defRPr/>
            </a:pPr>
            <a:r>
              <a:rPr lang="cs-CZ" dirty="0">
                <a:latin typeface="Verdana" pitchFamily="34" charset="0"/>
              </a:rPr>
              <a:t>Nastavení děličky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q"/>
              <a:defRPr/>
            </a:pPr>
            <a:r>
              <a:rPr lang="cs-CZ" dirty="0">
                <a:latin typeface="Verdana" pitchFamily="34" charset="0"/>
              </a:rPr>
              <a:t>Automatické spuštění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q"/>
              <a:defRPr/>
            </a:pPr>
            <a:r>
              <a:rPr lang="cs-CZ" dirty="0">
                <a:latin typeface="Verdana" pitchFamily="34" charset="0"/>
              </a:rPr>
              <a:t>Čtení hodnoty napětí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q"/>
              <a:defRPr/>
            </a:pPr>
            <a:r>
              <a:rPr lang="cs-CZ" dirty="0">
                <a:latin typeface="Verdana" pitchFamily="34" charset="0"/>
              </a:rPr>
              <a:t>Testování ukončení převodu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2" y="288005"/>
            <a:ext cx="8675998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Základní operace s ADC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3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3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TextovéPole 8">
            <a:extLst>
              <a:ext uri="{FF2B5EF4-FFF2-40B4-BE49-F238E27FC236}">
                <a16:creationId xmlns:a16="http://schemas.microsoft.com/office/drawing/2014/main" id="{754A11E5-3B91-4226-9107-00CE59468F16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78109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5"/>
            <a:ext cx="8676000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Nastavení analogového vstupu</a:t>
            </a:r>
          </a:p>
        </p:txBody>
      </p:sp>
      <p:sp>
        <p:nvSpPr>
          <p:cNvPr id="9" name="Obdélník 8"/>
          <p:cNvSpPr/>
          <p:nvPr/>
        </p:nvSpPr>
        <p:spPr>
          <a:xfrm>
            <a:off x="360008" y="4293105"/>
            <a:ext cx="8460000" cy="1320289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ADCSRB=1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MUX5;	</a:t>
            </a:r>
          </a:p>
          <a:p>
            <a:pPr eaLnBrk="1" hangingPunct="1"/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ADMUX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=0&lt;&lt;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MUX4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|0&lt;&lt;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MUX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3|0&lt;&lt;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MUX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2|0&lt;&lt;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MUX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1|0&lt;&lt;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MUX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cs-CZ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Obdélník 9"/>
          <p:cNvSpPr/>
          <p:nvPr/>
        </p:nvSpPr>
        <p:spPr>
          <a:xfrm>
            <a:off x="360000" y="1080000"/>
            <a:ext cx="4068000" cy="83366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Analogový signál je připojen na PORTK.0=ADC8</a:t>
            </a:r>
          </a:p>
        </p:txBody>
      </p:sp>
      <p:grpSp>
        <p:nvGrpSpPr>
          <p:cNvPr id="11" name="Group 41"/>
          <p:cNvGrpSpPr>
            <a:grpSpLocks/>
          </p:cNvGrpSpPr>
          <p:nvPr/>
        </p:nvGrpSpPr>
        <p:grpSpPr bwMode="auto">
          <a:xfrm>
            <a:off x="4680004" y="2348845"/>
            <a:ext cx="4224146" cy="859883"/>
            <a:chOff x="407" y="2839"/>
            <a:chExt cx="2696" cy="22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ACME</a:t>
              </a:r>
            </a:p>
          </p:txBody>
        </p:sp>
        <p:sp>
          <p:nvSpPr>
            <p:cNvPr id="15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6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7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MUX5</a:t>
              </a:r>
            </a:p>
          </p:txBody>
        </p:sp>
        <p:sp>
          <p:nvSpPr>
            <p:cNvPr id="18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ADTS2</a:t>
              </a:r>
            </a:p>
          </p:txBody>
        </p:sp>
        <p:sp>
          <p:nvSpPr>
            <p:cNvPr id="19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ADTS1</a:t>
              </a:r>
            </a:p>
          </p:txBody>
        </p:sp>
        <p:sp>
          <p:nvSpPr>
            <p:cNvPr id="20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ADTS0</a:t>
              </a:r>
            </a:p>
          </p:txBody>
        </p:sp>
      </p:grpSp>
      <p:grpSp>
        <p:nvGrpSpPr>
          <p:cNvPr id="21" name="Group 41"/>
          <p:cNvGrpSpPr>
            <a:grpSpLocks/>
          </p:cNvGrpSpPr>
          <p:nvPr/>
        </p:nvGrpSpPr>
        <p:grpSpPr bwMode="auto">
          <a:xfrm>
            <a:off x="180002" y="2348845"/>
            <a:ext cx="4224146" cy="859883"/>
            <a:chOff x="407" y="2839"/>
            <a:chExt cx="2696" cy="22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2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REFS1</a:t>
              </a:r>
            </a:p>
          </p:txBody>
        </p:sp>
        <p:sp>
          <p:nvSpPr>
            <p:cNvPr id="23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REFS0</a:t>
              </a:r>
            </a:p>
          </p:txBody>
        </p:sp>
        <p:sp>
          <p:nvSpPr>
            <p:cNvPr id="24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ADLAR</a:t>
              </a:r>
            </a:p>
          </p:txBody>
        </p:sp>
        <p:sp>
          <p:nvSpPr>
            <p:cNvPr id="25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MUX4</a:t>
              </a:r>
            </a:p>
          </p:txBody>
        </p:sp>
        <p:sp>
          <p:nvSpPr>
            <p:cNvPr id="26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MUX3</a:t>
              </a:r>
            </a:p>
          </p:txBody>
        </p:sp>
        <p:sp>
          <p:nvSpPr>
            <p:cNvPr id="27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MUX2</a:t>
              </a:r>
            </a:p>
          </p:txBody>
        </p:sp>
        <p:sp>
          <p:nvSpPr>
            <p:cNvPr id="28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MUX1</a:t>
              </a:r>
            </a:p>
          </p:txBody>
        </p:sp>
        <p:sp>
          <p:nvSpPr>
            <p:cNvPr id="29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MUX0</a:t>
              </a:r>
            </a:p>
          </p:txBody>
        </p:sp>
      </p:grpSp>
      <p:sp>
        <p:nvSpPr>
          <p:cNvPr id="30" name="Text Box 71"/>
          <p:cNvSpPr txBox="1">
            <a:spLocks noChangeArrowheads="1"/>
          </p:cNvSpPr>
          <p:nvPr/>
        </p:nvSpPr>
        <p:spPr bwMode="auto">
          <a:xfrm>
            <a:off x="180000" y="1988840"/>
            <a:ext cx="185738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0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cs-CZ" dirty="0"/>
              <a:t>ADMUX</a:t>
            </a:r>
          </a:p>
        </p:txBody>
      </p:sp>
      <p:sp>
        <p:nvSpPr>
          <p:cNvPr id="31" name="Text Box 71"/>
          <p:cNvSpPr txBox="1">
            <a:spLocks noChangeArrowheads="1"/>
          </p:cNvSpPr>
          <p:nvPr/>
        </p:nvSpPr>
        <p:spPr bwMode="auto">
          <a:xfrm>
            <a:off x="4680000" y="2020778"/>
            <a:ext cx="185738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0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cs-CZ" dirty="0"/>
              <a:t>ADCSRB</a:t>
            </a:r>
          </a:p>
        </p:txBody>
      </p:sp>
      <p:sp>
        <p:nvSpPr>
          <p:cNvPr id="32" name="Obdélník 31"/>
          <p:cNvSpPr/>
          <p:nvPr/>
        </p:nvSpPr>
        <p:spPr>
          <a:xfrm>
            <a:off x="1764057" y="2348842"/>
            <a:ext cx="2640093" cy="8598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4" name="Obdélník 33"/>
          <p:cNvSpPr/>
          <p:nvPr/>
        </p:nvSpPr>
        <p:spPr>
          <a:xfrm>
            <a:off x="6791586" y="2348841"/>
            <a:ext cx="516173" cy="8598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5" name="TextovéPole 34"/>
          <p:cNvSpPr txBox="1"/>
          <p:nvPr/>
        </p:nvSpPr>
        <p:spPr bwMode="auto">
          <a:xfrm>
            <a:off x="360005" y="1080009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1</a:t>
            </a:r>
          </a:p>
        </p:txBody>
      </p:sp>
      <p:grpSp>
        <p:nvGrpSpPr>
          <p:cNvPr id="36" name="Group 41"/>
          <p:cNvGrpSpPr>
            <a:grpSpLocks/>
          </p:cNvGrpSpPr>
          <p:nvPr/>
        </p:nvGrpSpPr>
        <p:grpSpPr bwMode="auto">
          <a:xfrm>
            <a:off x="4679513" y="3289197"/>
            <a:ext cx="4224146" cy="859883"/>
            <a:chOff x="407" y="2839"/>
            <a:chExt cx="2696" cy="22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7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9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0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42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3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4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8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45" name="Group 41"/>
          <p:cNvGrpSpPr>
            <a:grpSpLocks/>
          </p:cNvGrpSpPr>
          <p:nvPr/>
        </p:nvGrpSpPr>
        <p:grpSpPr bwMode="auto">
          <a:xfrm>
            <a:off x="179512" y="3289197"/>
            <a:ext cx="4224146" cy="859883"/>
            <a:chOff x="407" y="2839"/>
            <a:chExt cx="2696" cy="22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6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7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8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9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51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52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53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sp>
        <p:nvSpPr>
          <p:cNvPr id="5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5" name="Zástupný symbol pro číslo snímku 5"/>
          <p:cNvSpPr txBox="1">
            <a:spLocks/>
          </p:cNvSpPr>
          <p:nvPr/>
        </p:nvSpPr>
        <p:spPr bwMode="auto">
          <a:xfrm>
            <a:off x="3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56" name="Tlačítko akce: Vlastní 55">
            <a:hlinkClick r:id="" action="ppaction://hlinkshowjump?jump=nextslide" highlightClick="1"/>
          </p:cNvPr>
          <p:cNvSpPr/>
          <p:nvPr/>
        </p:nvSpPr>
        <p:spPr>
          <a:xfrm>
            <a:off x="684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57" name="Tlačítko akce: Vlastní 56">
            <a:hlinkClick r:id="" action="ppaction://hlinkshowjump?jump=previousslide" highlightClick="1"/>
          </p:cNvPr>
          <p:cNvSpPr/>
          <p:nvPr/>
        </p:nvSpPr>
        <p:spPr>
          <a:xfrm>
            <a:off x="5760003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58" name="Tlačítko akce: Vlastní 57">
            <a:hlinkClick r:id="rId3" action="ppaction://hlinksldjump" highlightClick="1"/>
          </p:cNvPr>
          <p:cNvSpPr/>
          <p:nvPr/>
        </p:nvSpPr>
        <p:spPr>
          <a:xfrm>
            <a:off x="792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59" name="TextovéPole 58">
            <a:extLst>
              <a:ext uri="{FF2B5EF4-FFF2-40B4-BE49-F238E27FC236}">
                <a16:creationId xmlns:a16="http://schemas.microsoft.com/office/drawing/2014/main" id="{754A11E5-3B91-4226-9107-00CE59468F16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73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30" grpId="0"/>
      <p:bldP spid="31" grpId="0"/>
      <p:bldP spid="32" grpId="0" animBg="1"/>
      <p:bldP spid="34" grpId="0" animBg="1"/>
      <p:bldP spid="35" grpId="0" animBg="1"/>
      <p:bldP spid="54" grpId="0" animBg="1"/>
      <p:bldP spid="5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6" y="476672"/>
            <a:ext cx="4567014" cy="5688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3048" y="692696"/>
            <a:ext cx="4520952" cy="547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9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8244488" cy="400110"/>
          </a:xfrm>
          <a:noFill/>
          <a:ln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Nastavení analogového vstupu</a:t>
            </a:r>
          </a:p>
        </p:txBody>
      </p:sp>
      <p:sp>
        <p:nvSpPr>
          <p:cNvPr id="60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61" name="Zástupný symbol pro číslo snímku 5"/>
          <p:cNvSpPr txBox="1">
            <a:spLocks/>
          </p:cNvSpPr>
          <p:nvPr/>
        </p:nvSpPr>
        <p:spPr bwMode="auto">
          <a:xfrm>
            <a:off x="3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2" name="Tlačítko akce: Vlastní 61">
            <a:hlinkClick r:id="" action="ppaction://hlinkshowjump?jump=nextslide" highlightClick="1"/>
          </p:cNvPr>
          <p:cNvSpPr/>
          <p:nvPr/>
        </p:nvSpPr>
        <p:spPr>
          <a:xfrm>
            <a:off x="684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3" name="Tlačítko akce: Vlastní 62">
            <a:hlinkClick r:id="" action="ppaction://hlinkshowjump?jump=previousslide" highlightClick="1"/>
          </p:cNvPr>
          <p:cNvSpPr/>
          <p:nvPr/>
        </p:nvSpPr>
        <p:spPr>
          <a:xfrm>
            <a:off x="5760003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64" name="Tlačítko akce: Vlastní 63">
            <a:hlinkClick r:id="rId5" action="ppaction://hlinksldjump" highlightClick="1"/>
          </p:cNvPr>
          <p:cNvSpPr/>
          <p:nvPr/>
        </p:nvSpPr>
        <p:spPr>
          <a:xfrm>
            <a:off x="792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422637390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5"/>
            <a:ext cx="8676000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Nastavení referenčního zdroje</a:t>
            </a:r>
          </a:p>
        </p:txBody>
      </p:sp>
      <p:sp>
        <p:nvSpPr>
          <p:cNvPr id="10" name="Obdélník 9"/>
          <p:cNvSpPr/>
          <p:nvPr/>
        </p:nvSpPr>
        <p:spPr>
          <a:xfrm>
            <a:off x="360000" y="1080000"/>
            <a:ext cx="4068000" cy="83366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Nastavte vnitřní zdroj referenčního napětí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2,56V</a:t>
            </a:r>
            <a:endParaRPr lang="cs-CZ" sz="2000" i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5" name="TextovéPole 34"/>
          <p:cNvSpPr txBox="1"/>
          <p:nvPr/>
        </p:nvSpPr>
        <p:spPr bwMode="auto">
          <a:xfrm>
            <a:off x="360005" y="1080009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2</a:t>
            </a:r>
            <a:endParaRPr lang="cs-CZ" sz="1200" dirty="0">
              <a:solidFill>
                <a:schemeClr val="bg1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57" name="Obdélník 56"/>
          <p:cNvSpPr/>
          <p:nvPr/>
        </p:nvSpPr>
        <p:spPr>
          <a:xfrm>
            <a:off x="360008" y="4293105"/>
            <a:ext cx="8460000" cy="950957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0000" tIns="288000" rIns="90000" bIns="288000">
            <a:spAutoFit/>
          </a:bodyPr>
          <a:lstStyle/>
          <a:p>
            <a:pPr lvl="1" eaLnBrk="1" hangingPunct="1"/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ADMUX=1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&lt;&lt;REFS1|1&lt;&lt;REFS0;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endParaRPr lang="cs-CZ" dirty="0">
              <a:solidFill>
                <a:schemeClr val="bg2">
                  <a:lumMod val="60000"/>
                  <a:lumOff val="4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48" name="Zástupný symbol pro číslo snímku 5"/>
          <p:cNvSpPr txBox="1">
            <a:spLocks/>
          </p:cNvSpPr>
          <p:nvPr/>
        </p:nvSpPr>
        <p:spPr bwMode="auto">
          <a:xfrm>
            <a:off x="3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49" name="Tlačítko akce: Vlastní 48">
            <a:hlinkClick r:id="" action="ppaction://hlinkshowjump?jump=nextslide" highlightClick="1"/>
          </p:cNvPr>
          <p:cNvSpPr/>
          <p:nvPr/>
        </p:nvSpPr>
        <p:spPr>
          <a:xfrm>
            <a:off x="684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50" name="Tlačítko akce: Vlastní 49">
            <a:hlinkClick r:id="" action="ppaction://hlinkshowjump?jump=previousslide" highlightClick="1"/>
          </p:cNvPr>
          <p:cNvSpPr/>
          <p:nvPr/>
        </p:nvSpPr>
        <p:spPr>
          <a:xfrm>
            <a:off x="5760003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51" name="Tlačítko akce: Vlastní 50">
            <a:hlinkClick r:id="rId3" action="ppaction://hlinksldjump" highlightClick="1"/>
          </p:cNvPr>
          <p:cNvSpPr/>
          <p:nvPr/>
        </p:nvSpPr>
        <p:spPr>
          <a:xfrm>
            <a:off x="792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grpSp>
        <p:nvGrpSpPr>
          <p:cNvPr id="52" name="Group 41"/>
          <p:cNvGrpSpPr>
            <a:grpSpLocks/>
          </p:cNvGrpSpPr>
          <p:nvPr/>
        </p:nvGrpSpPr>
        <p:grpSpPr bwMode="auto">
          <a:xfrm>
            <a:off x="4680004" y="2348845"/>
            <a:ext cx="4224146" cy="859883"/>
            <a:chOff x="407" y="2839"/>
            <a:chExt cx="2696" cy="22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3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4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ACME</a:t>
              </a:r>
            </a:p>
          </p:txBody>
        </p:sp>
        <p:sp>
          <p:nvSpPr>
            <p:cNvPr id="55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6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9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MUX5</a:t>
              </a:r>
            </a:p>
          </p:txBody>
        </p:sp>
        <p:sp>
          <p:nvSpPr>
            <p:cNvPr id="100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ADTS2</a:t>
              </a:r>
            </a:p>
          </p:txBody>
        </p:sp>
        <p:sp>
          <p:nvSpPr>
            <p:cNvPr id="101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ADTS1</a:t>
              </a:r>
            </a:p>
          </p:txBody>
        </p:sp>
        <p:sp>
          <p:nvSpPr>
            <p:cNvPr id="102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ADTS0</a:t>
              </a:r>
            </a:p>
          </p:txBody>
        </p:sp>
      </p:grpSp>
      <p:grpSp>
        <p:nvGrpSpPr>
          <p:cNvPr id="103" name="Group 41"/>
          <p:cNvGrpSpPr>
            <a:grpSpLocks/>
          </p:cNvGrpSpPr>
          <p:nvPr/>
        </p:nvGrpSpPr>
        <p:grpSpPr bwMode="auto">
          <a:xfrm>
            <a:off x="180002" y="2348845"/>
            <a:ext cx="4224146" cy="859883"/>
            <a:chOff x="407" y="2839"/>
            <a:chExt cx="2696" cy="22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4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REFS1</a:t>
              </a:r>
            </a:p>
          </p:txBody>
        </p:sp>
        <p:sp>
          <p:nvSpPr>
            <p:cNvPr id="105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REFS0</a:t>
              </a:r>
            </a:p>
          </p:txBody>
        </p:sp>
        <p:sp>
          <p:nvSpPr>
            <p:cNvPr id="106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ADLAR</a:t>
              </a:r>
            </a:p>
          </p:txBody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MUX4</a:t>
              </a:r>
            </a:p>
          </p:txBody>
        </p:sp>
        <p:sp>
          <p:nvSpPr>
            <p:cNvPr id="108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MUX3</a:t>
              </a:r>
            </a:p>
          </p:txBody>
        </p:sp>
        <p:sp>
          <p:nvSpPr>
            <p:cNvPr id="109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MUX2</a:t>
              </a:r>
            </a:p>
          </p:txBody>
        </p:sp>
        <p:sp>
          <p:nvSpPr>
            <p:cNvPr id="110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MUX1</a:t>
              </a:r>
            </a:p>
          </p:txBody>
        </p:sp>
        <p:sp>
          <p:nvSpPr>
            <p:cNvPr id="111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MUX0</a:t>
              </a:r>
            </a:p>
          </p:txBody>
        </p:sp>
      </p:grpSp>
      <p:sp>
        <p:nvSpPr>
          <p:cNvPr id="112" name="Text Box 71"/>
          <p:cNvSpPr txBox="1">
            <a:spLocks noChangeArrowheads="1"/>
          </p:cNvSpPr>
          <p:nvPr/>
        </p:nvSpPr>
        <p:spPr bwMode="auto">
          <a:xfrm>
            <a:off x="180000" y="1988840"/>
            <a:ext cx="185738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0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cs-CZ" dirty="0"/>
              <a:t>ADMUX</a:t>
            </a:r>
          </a:p>
        </p:txBody>
      </p:sp>
      <p:sp>
        <p:nvSpPr>
          <p:cNvPr id="113" name="Text Box 71"/>
          <p:cNvSpPr txBox="1">
            <a:spLocks noChangeArrowheads="1"/>
          </p:cNvSpPr>
          <p:nvPr/>
        </p:nvSpPr>
        <p:spPr bwMode="auto">
          <a:xfrm>
            <a:off x="4680000" y="2020778"/>
            <a:ext cx="185738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0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cs-CZ" dirty="0"/>
              <a:t>ADCSRB</a:t>
            </a:r>
          </a:p>
        </p:txBody>
      </p:sp>
      <p:sp>
        <p:nvSpPr>
          <p:cNvPr id="114" name="Obdélník 113"/>
          <p:cNvSpPr/>
          <p:nvPr/>
        </p:nvSpPr>
        <p:spPr>
          <a:xfrm>
            <a:off x="179511" y="2348844"/>
            <a:ext cx="1056038" cy="8598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grpSp>
        <p:nvGrpSpPr>
          <p:cNvPr id="116" name="Group 41"/>
          <p:cNvGrpSpPr>
            <a:grpSpLocks/>
          </p:cNvGrpSpPr>
          <p:nvPr/>
        </p:nvGrpSpPr>
        <p:grpSpPr bwMode="auto">
          <a:xfrm>
            <a:off x="4679513" y="3289197"/>
            <a:ext cx="4224146" cy="859883"/>
            <a:chOff x="407" y="2839"/>
            <a:chExt cx="2696" cy="22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7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8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9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0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1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2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3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4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125" name="Group 41"/>
          <p:cNvGrpSpPr>
            <a:grpSpLocks/>
          </p:cNvGrpSpPr>
          <p:nvPr/>
        </p:nvGrpSpPr>
        <p:grpSpPr bwMode="auto">
          <a:xfrm>
            <a:off x="179512" y="3289197"/>
            <a:ext cx="4224146" cy="859883"/>
            <a:chOff x="407" y="2839"/>
            <a:chExt cx="2696" cy="22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6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127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129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30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31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32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33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8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58" name="TextovéPole 57">
            <a:extLst>
              <a:ext uri="{FF2B5EF4-FFF2-40B4-BE49-F238E27FC236}">
                <a16:creationId xmlns:a16="http://schemas.microsoft.com/office/drawing/2014/main" id="{754A11E5-3B91-4226-9107-00CE59468F16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5461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5" grpId="0" animBg="1"/>
      <p:bldP spid="57" grpId="0" animBg="1"/>
      <p:bldP spid="47" grpId="0" animBg="1"/>
      <p:bldP spid="48" grpId="0"/>
      <p:bldP spid="112" grpId="0"/>
      <p:bldP spid="113" grpId="0"/>
      <p:bldP spid="11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8244488" cy="400110"/>
          </a:xfrm>
          <a:noFill/>
          <a:ln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Nastavení referenčního zdroje</a:t>
            </a:r>
          </a:p>
        </p:txBody>
      </p:sp>
      <p:sp>
        <p:nvSpPr>
          <p:cNvPr id="60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61" name="Zástupný symbol pro číslo snímku 5"/>
          <p:cNvSpPr txBox="1">
            <a:spLocks/>
          </p:cNvSpPr>
          <p:nvPr/>
        </p:nvSpPr>
        <p:spPr bwMode="auto">
          <a:xfrm>
            <a:off x="3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2" name="Tlačítko akce: Vlastní 61">
            <a:hlinkClick r:id="" action="ppaction://hlinkshowjump?jump=nextslide" highlightClick="1"/>
          </p:cNvPr>
          <p:cNvSpPr/>
          <p:nvPr/>
        </p:nvSpPr>
        <p:spPr>
          <a:xfrm>
            <a:off x="684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3" name="Tlačítko akce: Vlastní 62">
            <a:hlinkClick r:id="" action="ppaction://hlinkshowjump?jump=previousslide" highlightClick="1"/>
          </p:cNvPr>
          <p:cNvSpPr/>
          <p:nvPr/>
        </p:nvSpPr>
        <p:spPr>
          <a:xfrm>
            <a:off x="5760003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64" name="Tlačítko akce: Vlastní 63">
            <a:hlinkClick r:id="rId3" action="ppaction://hlinksldjump" highlightClick="1"/>
          </p:cNvPr>
          <p:cNvSpPr/>
          <p:nvPr/>
        </p:nvSpPr>
        <p:spPr>
          <a:xfrm>
            <a:off x="792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00" y="1080000"/>
            <a:ext cx="3436607" cy="1944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30648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5"/>
            <a:ext cx="8676000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Nastavení děličky</a:t>
            </a:r>
          </a:p>
        </p:txBody>
      </p:sp>
      <p:sp>
        <p:nvSpPr>
          <p:cNvPr id="10" name="Obdélník 9"/>
          <p:cNvSpPr/>
          <p:nvPr/>
        </p:nvSpPr>
        <p:spPr>
          <a:xfrm>
            <a:off x="360000" y="1080000"/>
            <a:ext cx="4068000" cy="83366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Nastavte vnitřní zdroj impulzů dělený 128</a:t>
            </a:r>
            <a:endParaRPr lang="cs-CZ" sz="2000" i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5" name="TextovéPole 34"/>
          <p:cNvSpPr txBox="1"/>
          <p:nvPr/>
        </p:nvSpPr>
        <p:spPr bwMode="auto">
          <a:xfrm>
            <a:off x="360005" y="1080009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57" name="Obdélník 56"/>
          <p:cNvSpPr/>
          <p:nvPr/>
        </p:nvSpPr>
        <p:spPr>
          <a:xfrm>
            <a:off x="360008" y="4293105"/>
            <a:ext cx="8460000" cy="950957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ADCSRA=1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ADPS2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ADPS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1|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ADPS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;	</a:t>
            </a:r>
            <a:endParaRPr lang="cs-CZ" dirty="0">
              <a:solidFill>
                <a:schemeClr val="bg2">
                  <a:lumMod val="60000"/>
                  <a:lumOff val="4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48" name="Zástupný symbol pro číslo snímku 5"/>
          <p:cNvSpPr txBox="1">
            <a:spLocks/>
          </p:cNvSpPr>
          <p:nvPr/>
        </p:nvSpPr>
        <p:spPr bwMode="auto">
          <a:xfrm>
            <a:off x="3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49" name="Tlačítko akce: Vlastní 48">
            <a:hlinkClick r:id="" action="ppaction://hlinkshowjump?jump=nextslide" highlightClick="1"/>
          </p:cNvPr>
          <p:cNvSpPr/>
          <p:nvPr/>
        </p:nvSpPr>
        <p:spPr>
          <a:xfrm>
            <a:off x="684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50" name="Tlačítko akce: Vlastní 49">
            <a:hlinkClick r:id="" action="ppaction://hlinkshowjump?jump=previousslide" highlightClick="1"/>
          </p:cNvPr>
          <p:cNvSpPr/>
          <p:nvPr/>
        </p:nvSpPr>
        <p:spPr>
          <a:xfrm>
            <a:off x="5760003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51" name="Tlačítko akce: Vlastní 50">
            <a:hlinkClick r:id="rId3" action="ppaction://hlinksldjump" highlightClick="1"/>
          </p:cNvPr>
          <p:cNvSpPr/>
          <p:nvPr/>
        </p:nvSpPr>
        <p:spPr>
          <a:xfrm>
            <a:off x="792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grpSp>
        <p:nvGrpSpPr>
          <p:cNvPr id="52" name="Group 41"/>
          <p:cNvGrpSpPr>
            <a:grpSpLocks/>
          </p:cNvGrpSpPr>
          <p:nvPr/>
        </p:nvGrpSpPr>
        <p:grpSpPr bwMode="auto">
          <a:xfrm>
            <a:off x="396027" y="2348845"/>
            <a:ext cx="4224146" cy="859883"/>
            <a:chOff x="407" y="2839"/>
            <a:chExt cx="2696" cy="22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3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4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5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6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9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0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ADPS2</a:t>
              </a:r>
            </a:p>
          </p:txBody>
        </p:sp>
        <p:sp>
          <p:nvSpPr>
            <p:cNvPr id="101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ADPS1</a:t>
              </a:r>
            </a:p>
          </p:txBody>
        </p:sp>
        <p:sp>
          <p:nvSpPr>
            <p:cNvPr id="102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ADPS0</a:t>
              </a:r>
            </a:p>
          </p:txBody>
        </p:sp>
      </p:grpSp>
      <p:sp>
        <p:nvSpPr>
          <p:cNvPr id="113" name="Text Box 71"/>
          <p:cNvSpPr txBox="1">
            <a:spLocks noChangeArrowheads="1"/>
          </p:cNvSpPr>
          <p:nvPr/>
        </p:nvSpPr>
        <p:spPr bwMode="auto">
          <a:xfrm>
            <a:off x="396023" y="2020778"/>
            <a:ext cx="185738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0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cs-CZ" dirty="0"/>
              <a:t>ADCSRA</a:t>
            </a:r>
          </a:p>
        </p:txBody>
      </p:sp>
      <p:grpSp>
        <p:nvGrpSpPr>
          <p:cNvPr id="116" name="Group 41"/>
          <p:cNvGrpSpPr>
            <a:grpSpLocks/>
          </p:cNvGrpSpPr>
          <p:nvPr/>
        </p:nvGrpSpPr>
        <p:grpSpPr bwMode="auto">
          <a:xfrm>
            <a:off x="395536" y="3289197"/>
            <a:ext cx="4224146" cy="859883"/>
            <a:chOff x="407" y="2839"/>
            <a:chExt cx="2696" cy="22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7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8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9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0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1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2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123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124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sp>
        <p:nvSpPr>
          <p:cNvPr id="31" name="TextovéPole 30">
            <a:extLst>
              <a:ext uri="{FF2B5EF4-FFF2-40B4-BE49-F238E27FC236}">
                <a16:creationId xmlns:a16="http://schemas.microsoft.com/office/drawing/2014/main" id="{754A11E5-3B91-4226-9107-00CE59468F16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4064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5" grpId="0" animBg="1"/>
      <p:bldP spid="57" grpId="0" animBg="1"/>
      <p:bldP spid="47" grpId="0" animBg="1"/>
      <p:bldP spid="48" grpId="0"/>
      <p:bldP spid="113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5"/>
            <a:ext cx="8676000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Automatické spuštění</a:t>
            </a:r>
          </a:p>
        </p:txBody>
      </p:sp>
      <p:sp>
        <p:nvSpPr>
          <p:cNvPr id="10" name="Obdélník 9"/>
          <p:cNvSpPr/>
          <p:nvPr/>
        </p:nvSpPr>
        <p:spPr>
          <a:xfrm>
            <a:off x="360000" y="1080000"/>
            <a:ext cx="4068000" cy="83366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Nastavte automatické spouštění</a:t>
            </a:r>
          </a:p>
        </p:txBody>
      </p:sp>
      <p:sp>
        <p:nvSpPr>
          <p:cNvPr id="35" name="TextovéPole 34"/>
          <p:cNvSpPr txBox="1"/>
          <p:nvPr/>
        </p:nvSpPr>
        <p:spPr bwMode="auto">
          <a:xfrm>
            <a:off x="360005" y="1080009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4</a:t>
            </a:r>
          </a:p>
        </p:txBody>
      </p:sp>
      <p:sp>
        <p:nvSpPr>
          <p:cNvPr id="57" name="Obdélník 56"/>
          <p:cNvSpPr/>
          <p:nvPr/>
        </p:nvSpPr>
        <p:spPr>
          <a:xfrm>
            <a:off x="360009" y="4293105"/>
            <a:ext cx="8460463" cy="950957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ADCSRA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=1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ADATE</a:t>
            </a:r>
            <a:endParaRPr lang="cs-CZ" dirty="0">
              <a:solidFill>
                <a:schemeClr val="bg2">
                  <a:lumMod val="60000"/>
                  <a:lumOff val="4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48" name="Zástupný symbol pro číslo snímku 5"/>
          <p:cNvSpPr txBox="1">
            <a:spLocks/>
          </p:cNvSpPr>
          <p:nvPr/>
        </p:nvSpPr>
        <p:spPr bwMode="auto">
          <a:xfrm>
            <a:off x="3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49" name="Tlačítko akce: Vlastní 48">
            <a:hlinkClick r:id="" action="ppaction://hlinkshowjump?jump=nextslide" highlightClick="1"/>
          </p:cNvPr>
          <p:cNvSpPr/>
          <p:nvPr/>
        </p:nvSpPr>
        <p:spPr>
          <a:xfrm>
            <a:off x="684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50" name="Tlačítko akce: Vlastní 49">
            <a:hlinkClick r:id="" action="ppaction://hlinkshowjump?jump=previousslide" highlightClick="1"/>
          </p:cNvPr>
          <p:cNvSpPr/>
          <p:nvPr/>
        </p:nvSpPr>
        <p:spPr>
          <a:xfrm>
            <a:off x="5760003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51" name="Tlačítko akce: Vlastní 50">
            <a:hlinkClick r:id="rId3" action="ppaction://hlinksldjump" highlightClick="1"/>
          </p:cNvPr>
          <p:cNvSpPr/>
          <p:nvPr/>
        </p:nvSpPr>
        <p:spPr>
          <a:xfrm>
            <a:off x="792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grpSp>
        <p:nvGrpSpPr>
          <p:cNvPr id="52" name="Group 41"/>
          <p:cNvGrpSpPr>
            <a:grpSpLocks/>
          </p:cNvGrpSpPr>
          <p:nvPr/>
        </p:nvGrpSpPr>
        <p:grpSpPr bwMode="auto">
          <a:xfrm>
            <a:off x="396027" y="2348845"/>
            <a:ext cx="4224146" cy="859883"/>
            <a:chOff x="407" y="2839"/>
            <a:chExt cx="2696" cy="22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3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4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5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ADATE</a:t>
              </a:r>
            </a:p>
          </p:txBody>
        </p:sp>
        <p:sp>
          <p:nvSpPr>
            <p:cNvPr id="56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9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0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1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2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113" name="Text Box 71"/>
          <p:cNvSpPr txBox="1">
            <a:spLocks noChangeArrowheads="1"/>
          </p:cNvSpPr>
          <p:nvPr/>
        </p:nvSpPr>
        <p:spPr bwMode="auto">
          <a:xfrm>
            <a:off x="396023" y="2020778"/>
            <a:ext cx="185738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0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cs-CZ" dirty="0"/>
              <a:t>ADCSRA</a:t>
            </a:r>
          </a:p>
        </p:txBody>
      </p:sp>
      <p:grpSp>
        <p:nvGrpSpPr>
          <p:cNvPr id="116" name="Group 41"/>
          <p:cNvGrpSpPr>
            <a:grpSpLocks/>
          </p:cNvGrpSpPr>
          <p:nvPr/>
        </p:nvGrpSpPr>
        <p:grpSpPr bwMode="auto">
          <a:xfrm>
            <a:off x="395536" y="3289197"/>
            <a:ext cx="4224146" cy="859883"/>
            <a:chOff x="407" y="2839"/>
            <a:chExt cx="2696" cy="22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7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8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9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120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1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2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3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4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30" name="TextovéPole 29">
            <a:extLst>
              <a:ext uri="{FF2B5EF4-FFF2-40B4-BE49-F238E27FC236}">
                <a16:creationId xmlns:a16="http://schemas.microsoft.com/office/drawing/2014/main" id="{754A11E5-3B91-4226-9107-00CE59468F16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470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5" grpId="0" animBg="1"/>
      <p:bldP spid="57" grpId="0" animBg="1"/>
      <p:bldP spid="47" grpId="0" animBg="1"/>
      <p:bldP spid="48" grpId="0"/>
      <p:bldP spid="113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5"/>
            <a:ext cx="8676000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Čtení hodnoty napětí</a:t>
            </a:r>
          </a:p>
        </p:txBody>
      </p:sp>
      <p:sp>
        <p:nvSpPr>
          <p:cNvPr id="9" name="Obdélník 8"/>
          <p:cNvSpPr/>
          <p:nvPr/>
        </p:nvSpPr>
        <p:spPr>
          <a:xfrm>
            <a:off x="360008" y="3068968"/>
            <a:ext cx="8460000" cy="205895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	R16,</a:t>
            </a:r>
            <a:r>
              <a:rPr lang="cs-CZ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ADCL</a:t>
            </a:r>
            <a:endParaRPr 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PORTF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,R16</a:t>
            </a:r>
            <a:endParaRPr lang="cs-CZ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/>
            <a:r>
              <a:rPr lang="cs-CZ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IN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	R16,</a:t>
            </a:r>
            <a:r>
              <a:rPr lang="cs-CZ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ADCH</a:t>
            </a:r>
            <a:endParaRPr 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PORTE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,R16</a:t>
            </a:r>
          </a:p>
        </p:txBody>
      </p:sp>
      <p:sp>
        <p:nvSpPr>
          <p:cNvPr id="10" name="Obdélník 9"/>
          <p:cNvSpPr/>
          <p:nvPr/>
        </p:nvSpPr>
        <p:spPr>
          <a:xfrm>
            <a:off x="360000" y="1080009"/>
            <a:ext cx="4068000" cy="114143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Zobrazte obsah spodní část hodnoty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napětí na portu F a horní část na portu E</a:t>
            </a:r>
          </a:p>
        </p:txBody>
      </p:sp>
      <p:sp>
        <p:nvSpPr>
          <p:cNvPr id="35" name="TextovéPole 34"/>
          <p:cNvSpPr txBox="1"/>
          <p:nvPr/>
        </p:nvSpPr>
        <p:spPr bwMode="auto">
          <a:xfrm>
            <a:off x="4427998" y="1080009"/>
            <a:ext cx="468000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5a</a:t>
            </a:r>
          </a:p>
        </p:txBody>
      </p:sp>
      <p:sp>
        <p:nvSpPr>
          <p:cNvPr id="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3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3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3" action="ppaction://hlinksldjump" highlightClick="1"/>
          </p:cNvPr>
          <p:cNvSpPr/>
          <p:nvPr/>
        </p:nvSpPr>
        <p:spPr>
          <a:xfrm>
            <a:off x="792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4" name="TextovéPole 13"/>
          <p:cNvSpPr txBox="1"/>
          <p:nvPr/>
        </p:nvSpPr>
        <p:spPr bwMode="auto">
          <a:xfrm>
            <a:off x="8111451" y="3073795"/>
            <a:ext cx="708557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</a:rPr>
              <a:t>ASM</a:t>
            </a:r>
            <a:endParaRPr lang="cs-CZ" sz="1200" dirty="0">
              <a:solidFill>
                <a:schemeClr val="bg1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5" name="TextovéPole 14"/>
          <p:cNvSpPr txBox="1"/>
          <p:nvPr/>
        </p:nvSpPr>
        <p:spPr bwMode="auto">
          <a:xfrm>
            <a:off x="7750356" y="417172"/>
            <a:ext cx="1069653" cy="46166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r>
              <a:rPr lang="cs-CZ" sz="2400" b="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Nepsat</a:t>
            </a:r>
          </a:p>
        </p:txBody>
      </p:sp>
    </p:spTree>
    <p:extLst>
      <p:ext uri="{BB962C8B-B14F-4D97-AF65-F5344CB8AC3E}">
        <p14:creationId xmlns:p14="http://schemas.microsoft.com/office/powerpoint/2010/main" val="2304789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35" grpId="0" animBg="1"/>
      <p:bldP spid="6" grpId="0" animBg="1"/>
      <p:bldP spid="7" grpId="0"/>
      <p:bldP spid="1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délník 8"/>
          <p:cNvSpPr/>
          <p:nvPr/>
        </p:nvSpPr>
        <p:spPr>
          <a:xfrm>
            <a:off x="360008" y="3068968"/>
            <a:ext cx="8460000" cy="1320289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unsigned </a:t>
            </a:r>
            <a:r>
              <a:rPr lang="cs-CZ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cs-CZ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cs-CZ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ADC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10" name="Obdélník 9"/>
          <p:cNvSpPr/>
          <p:nvPr/>
        </p:nvSpPr>
        <p:spPr>
          <a:xfrm>
            <a:off x="360000" y="1080009"/>
            <a:ext cx="7200000" cy="83366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Načtěte hodnotu napětí z registru ADC do proměnné typu INT.</a:t>
            </a:r>
          </a:p>
        </p:txBody>
      </p:sp>
      <p:sp>
        <p:nvSpPr>
          <p:cNvPr id="35" name="TextovéPole 34"/>
          <p:cNvSpPr txBox="1"/>
          <p:nvPr/>
        </p:nvSpPr>
        <p:spPr bwMode="auto">
          <a:xfrm>
            <a:off x="7128000" y="1080009"/>
            <a:ext cx="432000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5b</a:t>
            </a:r>
          </a:p>
        </p:txBody>
      </p:sp>
      <p:sp>
        <p:nvSpPr>
          <p:cNvPr id="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3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3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3" action="ppaction://hlinksldjump" highlightClick="1"/>
          </p:cNvPr>
          <p:cNvSpPr/>
          <p:nvPr/>
        </p:nvSpPr>
        <p:spPr>
          <a:xfrm>
            <a:off x="792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8244488" cy="400110"/>
          </a:xfrm>
          <a:noFill/>
          <a:ln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Čtení hodnoty napětí</a:t>
            </a:r>
          </a:p>
        </p:txBody>
      </p:sp>
      <p:sp>
        <p:nvSpPr>
          <p:cNvPr id="15" name="TextovéPole 14"/>
          <p:cNvSpPr txBox="1"/>
          <p:nvPr/>
        </p:nvSpPr>
        <p:spPr bwMode="auto">
          <a:xfrm>
            <a:off x="8468610" y="3068968"/>
            <a:ext cx="360000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</a:rPr>
              <a:t>C</a:t>
            </a:r>
            <a:endParaRPr lang="cs-CZ" sz="1200" dirty="0">
              <a:solidFill>
                <a:schemeClr val="bg1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3" name="TextovéPole 12">
            <a:extLst>
              <a:ext uri="{FF2B5EF4-FFF2-40B4-BE49-F238E27FC236}">
                <a16:creationId xmlns:a16="http://schemas.microsoft.com/office/drawing/2014/main" id="{754A11E5-3B91-4226-9107-00CE59468F16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0540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35" grpId="0" animBg="1"/>
      <p:bldP spid="6" grpId="0" animBg="1"/>
      <p:bldP spid="7" grpId="0"/>
      <p:bldP spid="1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5"/>
            <a:ext cx="8676000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Testování ukončení převodu</a:t>
            </a:r>
          </a:p>
        </p:txBody>
      </p:sp>
      <p:sp>
        <p:nvSpPr>
          <p:cNvPr id="9" name="Obdélník 8"/>
          <p:cNvSpPr/>
          <p:nvPr/>
        </p:nvSpPr>
        <p:spPr>
          <a:xfrm>
            <a:off x="360009" y="4313084"/>
            <a:ext cx="8460000" cy="2428284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CEKEJ:</a:t>
            </a:r>
          </a:p>
          <a:p>
            <a:pPr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	R16,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ADCSRA</a:t>
            </a:r>
          </a:p>
          <a:p>
            <a:pPr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SBRS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R16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ADIF</a:t>
            </a:r>
            <a:r>
              <a:rPr lang="cs-CZ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;Skoč, když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ADIF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=1</a:t>
            </a:r>
          </a:p>
          <a:p>
            <a:pPr eaLnBrk="1" hangingPunct="1"/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RJMP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	CEKEJ</a:t>
            </a:r>
          </a:p>
          <a:p>
            <a:pPr eaLnBrk="1" hangingPunct="1"/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NOP</a:t>
            </a:r>
            <a:endParaRPr lang="en-US" dirty="0">
              <a:solidFill>
                <a:schemeClr val="bg2">
                  <a:lumMod val="60000"/>
                  <a:lumOff val="4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Obdélník 9"/>
          <p:cNvSpPr/>
          <p:nvPr/>
        </p:nvSpPr>
        <p:spPr>
          <a:xfrm>
            <a:off x="359998" y="1080009"/>
            <a:ext cx="7200000" cy="83366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Pokud je bit ADIF=0 tak čekej, jinak pokračuj dále</a:t>
            </a:r>
          </a:p>
        </p:txBody>
      </p:sp>
      <p:sp>
        <p:nvSpPr>
          <p:cNvPr id="35" name="TextovéPole 34"/>
          <p:cNvSpPr txBox="1"/>
          <p:nvPr/>
        </p:nvSpPr>
        <p:spPr bwMode="auto">
          <a:xfrm>
            <a:off x="7200004" y="1087092"/>
            <a:ext cx="360000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6a</a:t>
            </a:r>
          </a:p>
        </p:txBody>
      </p:sp>
      <p:sp>
        <p:nvSpPr>
          <p:cNvPr id="1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20" name="Zástupný symbol pro číslo snímku 5"/>
          <p:cNvSpPr txBox="1">
            <a:spLocks/>
          </p:cNvSpPr>
          <p:nvPr/>
        </p:nvSpPr>
        <p:spPr bwMode="auto">
          <a:xfrm>
            <a:off x="3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1" name="Tlačítko akce: Vlastní 20">
            <a:hlinkClick r:id="" action="ppaction://hlinkshowjump?jump=nextslide" highlightClick="1"/>
          </p:cNvPr>
          <p:cNvSpPr/>
          <p:nvPr/>
        </p:nvSpPr>
        <p:spPr>
          <a:xfrm>
            <a:off x="684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2" name="Tlačítko akce: Vlastní 21">
            <a:hlinkClick r:id="" action="ppaction://hlinkshowjump?jump=previousslide" highlightClick="1"/>
          </p:cNvPr>
          <p:cNvSpPr/>
          <p:nvPr/>
        </p:nvSpPr>
        <p:spPr>
          <a:xfrm>
            <a:off x="5760003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3" name="Tlačítko akce: Vlastní 22">
            <a:hlinkClick r:id="rId3" action="ppaction://hlinksldjump" highlightClick="1"/>
          </p:cNvPr>
          <p:cNvSpPr/>
          <p:nvPr/>
        </p:nvSpPr>
        <p:spPr>
          <a:xfrm>
            <a:off x="792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grpSp>
        <p:nvGrpSpPr>
          <p:cNvPr id="24" name="Group 41"/>
          <p:cNvGrpSpPr>
            <a:grpSpLocks/>
          </p:cNvGrpSpPr>
          <p:nvPr/>
        </p:nvGrpSpPr>
        <p:grpSpPr bwMode="auto">
          <a:xfrm>
            <a:off x="396027" y="2348845"/>
            <a:ext cx="4224146" cy="859883"/>
            <a:chOff x="407" y="2839"/>
            <a:chExt cx="2696" cy="22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5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6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7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8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ADIF</a:t>
              </a:r>
            </a:p>
          </p:txBody>
        </p:sp>
        <p:sp>
          <p:nvSpPr>
            <p:cNvPr id="29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0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1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2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33" name="Text Box 71"/>
          <p:cNvSpPr txBox="1">
            <a:spLocks noChangeArrowheads="1"/>
          </p:cNvSpPr>
          <p:nvPr/>
        </p:nvSpPr>
        <p:spPr bwMode="auto">
          <a:xfrm>
            <a:off x="396023" y="2020778"/>
            <a:ext cx="185738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0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cs-CZ" dirty="0"/>
              <a:t>ADCSRA</a:t>
            </a:r>
          </a:p>
        </p:txBody>
      </p:sp>
      <p:grpSp>
        <p:nvGrpSpPr>
          <p:cNvPr id="34" name="Group 41"/>
          <p:cNvGrpSpPr>
            <a:grpSpLocks/>
          </p:cNvGrpSpPr>
          <p:nvPr/>
        </p:nvGrpSpPr>
        <p:grpSpPr bwMode="auto">
          <a:xfrm>
            <a:off x="395536" y="3289197"/>
            <a:ext cx="4224146" cy="859883"/>
            <a:chOff x="407" y="2839"/>
            <a:chExt cx="2696" cy="22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6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7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8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9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1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2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3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44" name="TextovéPole 43"/>
          <p:cNvSpPr txBox="1"/>
          <p:nvPr/>
        </p:nvSpPr>
        <p:spPr bwMode="auto">
          <a:xfrm>
            <a:off x="8111452" y="4313084"/>
            <a:ext cx="708557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</a:rPr>
              <a:t>ASM</a:t>
            </a:r>
            <a:endParaRPr lang="cs-CZ" sz="1200" dirty="0">
              <a:solidFill>
                <a:schemeClr val="bg1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45" name="TextovéPole 44"/>
          <p:cNvSpPr txBox="1"/>
          <p:nvPr/>
        </p:nvSpPr>
        <p:spPr bwMode="auto">
          <a:xfrm>
            <a:off x="7750356" y="417172"/>
            <a:ext cx="1069653" cy="46166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r>
              <a:rPr lang="cs-CZ" sz="2400" b="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Nepsat</a:t>
            </a:r>
          </a:p>
        </p:txBody>
      </p:sp>
    </p:spTree>
    <p:extLst>
      <p:ext uri="{BB962C8B-B14F-4D97-AF65-F5344CB8AC3E}">
        <p14:creationId xmlns:p14="http://schemas.microsoft.com/office/powerpoint/2010/main" val="1330778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35" grpId="0" animBg="1"/>
      <p:bldP spid="19" grpId="0" animBg="1"/>
      <p:bldP spid="20" grpId="0"/>
      <p:bldP spid="33" grpId="0"/>
      <p:bldP spid="44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délník 8"/>
          <p:cNvSpPr/>
          <p:nvPr/>
        </p:nvSpPr>
        <p:spPr>
          <a:xfrm>
            <a:off x="360009" y="4313084"/>
            <a:ext cx="8460000" cy="205895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cs-CZ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ADCSRA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&amp;1&lt;&lt;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ADIF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{</a:t>
            </a:r>
          </a:p>
          <a:p>
            <a:pPr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dirty="0">
                <a:solidFill>
                  <a:srgbClr val="6666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cs-CZ" dirty="0">
                <a:solidFill>
                  <a:srgbClr val="6666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čtení převedené hodnoty</a:t>
            </a:r>
            <a:endParaRPr lang="en-US" dirty="0">
              <a:solidFill>
                <a:srgbClr val="666633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}	</a:t>
            </a:r>
            <a:endParaRPr lang="cs-CZ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Obdélník 9"/>
          <p:cNvSpPr/>
          <p:nvPr/>
        </p:nvSpPr>
        <p:spPr>
          <a:xfrm>
            <a:off x="360000" y="1080009"/>
            <a:ext cx="7200000" cy="83366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Čti hodnotu napětí, když je ADIF=1, jinak pokračuj dále</a:t>
            </a:r>
          </a:p>
        </p:txBody>
      </p:sp>
      <p:sp>
        <p:nvSpPr>
          <p:cNvPr id="35" name="TextovéPole 34"/>
          <p:cNvSpPr txBox="1"/>
          <p:nvPr/>
        </p:nvSpPr>
        <p:spPr bwMode="auto">
          <a:xfrm>
            <a:off x="7197902" y="1080009"/>
            <a:ext cx="364203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6b</a:t>
            </a:r>
          </a:p>
        </p:txBody>
      </p:sp>
      <p:sp>
        <p:nvSpPr>
          <p:cNvPr id="1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20" name="Zástupný symbol pro číslo snímku 5"/>
          <p:cNvSpPr txBox="1">
            <a:spLocks/>
          </p:cNvSpPr>
          <p:nvPr/>
        </p:nvSpPr>
        <p:spPr bwMode="auto">
          <a:xfrm>
            <a:off x="3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1" name="Tlačítko akce: Vlastní 20">
            <a:hlinkClick r:id="" action="ppaction://hlinkshowjump?jump=nextslide" highlightClick="1"/>
          </p:cNvPr>
          <p:cNvSpPr/>
          <p:nvPr/>
        </p:nvSpPr>
        <p:spPr>
          <a:xfrm>
            <a:off x="684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2" name="Tlačítko akce: Vlastní 21">
            <a:hlinkClick r:id="" action="ppaction://hlinkshowjump?jump=previousslide" highlightClick="1"/>
          </p:cNvPr>
          <p:cNvSpPr/>
          <p:nvPr/>
        </p:nvSpPr>
        <p:spPr>
          <a:xfrm>
            <a:off x="5760003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3" name="Tlačítko akce: Vlastní 22">
            <a:hlinkClick r:id="rId3" action="ppaction://hlinksldjump" highlightClick="1"/>
          </p:cNvPr>
          <p:cNvSpPr/>
          <p:nvPr/>
        </p:nvSpPr>
        <p:spPr>
          <a:xfrm>
            <a:off x="792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grpSp>
        <p:nvGrpSpPr>
          <p:cNvPr id="24" name="Group 41"/>
          <p:cNvGrpSpPr>
            <a:grpSpLocks/>
          </p:cNvGrpSpPr>
          <p:nvPr/>
        </p:nvGrpSpPr>
        <p:grpSpPr bwMode="auto">
          <a:xfrm>
            <a:off x="396027" y="2348845"/>
            <a:ext cx="4224146" cy="859883"/>
            <a:chOff x="407" y="2839"/>
            <a:chExt cx="2696" cy="22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5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6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7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8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ADIF</a:t>
              </a:r>
            </a:p>
          </p:txBody>
        </p:sp>
        <p:sp>
          <p:nvSpPr>
            <p:cNvPr id="29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0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1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2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33" name="Text Box 71"/>
          <p:cNvSpPr txBox="1">
            <a:spLocks noChangeArrowheads="1"/>
          </p:cNvSpPr>
          <p:nvPr/>
        </p:nvSpPr>
        <p:spPr bwMode="auto">
          <a:xfrm>
            <a:off x="396023" y="2020778"/>
            <a:ext cx="185738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0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cs-CZ" dirty="0"/>
              <a:t>ADCSRA</a:t>
            </a:r>
          </a:p>
        </p:txBody>
      </p:sp>
      <p:grpSp>
        <p:nvGrpSpPr>
          <p:cNvPr id="34" name="Group 41"/>
          <p:cNvGrpSpPr>
            <a:grpSpLocks/>
          </p:cNvGrpSpPr>
          <p:nvPr/>
        </p:nvGrpSpPr>
        <p:grpSpPr bwMode="auto">
          <a:xfrm>
            <a:off x="395536" y="3289197"/>
            <a:ext cx="4224146" cy="859883"/>
            <a:chOff x="407" y="2839"/>
            <a:chExt cx="2696" cy="22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6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7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8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9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?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1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2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3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44" name="TextovéPole 43"/>
          <p:cNvSpPr txBox="1"/>
          <p:nvPr/>
        </p:nvSpPr>
        <p:spPr bwMode="auto">
          <a:xfrm>
            <a:off x="8460004" y="4313084"/>
            <a:ext cx="364203" cy="274877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</a:rPr>
              <a:t>C</a:t>
            </a:r>
            <a:endParaRPr lang="cs-CZ" sz="1200" dirty="0">
              <a:solidFill>
                <a:schemeClr val="bg1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45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8244488" cy="400110"/>
          </a:xfrm>
          <a:noFill/>
          <a:ln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Testování ukončení převodu</a:t>
            </a:r>
          </a:p>
        </p:txBody>
      </p:sp>
      <p:sp>
        <p:nvSpPr>
          <p:cNvPr id="46" name="TextovéPole 45">
            <a:extLst>
              <a:ext uri="{FF2B5EF4-FFF2-40B4-BE49-F238E27FC236}">
                <a16:creationId xmlns:a16="http://schemas.microsoft.com/office/drawing/2014/main" id="{754A11E5-3B91-4226-9107-00CE59468F16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0140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35" grpId="0" animBg="1"/>
      <p:bldP spid="19" grpId="0" animBg="1"/>
      <p:bldP spid="20" grpId="0"/>
      <p:bldP spid="33" grpId="0"/>
      <p:bldP spid="4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délník 8"/>
          <p:cNvSpPr/>
          <p:nvPr/>
        </p:nvSpPr>
        <p:spPr>
          <a:xfrm>
            <a:off x="360009" y="2355713"/>
            <a:ext cx="8460000" cy="4274944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main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lvl="2"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lvl="2" eaLnBrk="1" hangingPunct="1"/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ADCSRA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=1&lt;&lt;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ADIE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2" eaLnBrk="1" hangingPunct="1"/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  <a:endParaRPr lang="cs-CZ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/>
            <a:r>
              <a:rPr lang="cs-CZ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//Start převodu</a:t>
            </a:r>
            <a:endParaRPr lang="en-US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eaLnBrk="1" hangingPunct="1"/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ISR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ADC_vect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{</a:t>
            </a:r>
          </a:p>
          <a:p>
            <a:pPr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dirty="0">
                <a:solidFill>
                  <a:srgbClr val="6666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cs-CZ" dirty="0">
                <a:solidFill>
                  <a:srgbClr val="6666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čtení převedené hodnoty</a:t>
            </a:r>
            <a:endParaRPr lang="en-US" dirty="0">
              <a:solidFill>
                <a:srgbClr val="666633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}	</a:t>
            </a:r>
            <a:endParaRPr lang="cs-CZ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Obdélník 9"/>
          <p:cNvSpPr/>
          <p:nvPr/>
        </p:nvSpPr>
        <p:spPr>
          <a:xfrm>
            <a:off x="360000" y="1080009"/>
            <a:ext cx="7200000" cy="83366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Naprogramujte použití přerušení při dokončení převodu</a:t>
            </a:r>
          </a:p>
        </p:txBody>
      </p:sp>
      <p:sp>
        <p:nvSpPr>
          <p:cNvPr id="35" name="TextovéPole 34"/>
          <p:cNvSpPr txBox="1"/>
          <p:nvPr/>
        </p:nvSpPr>
        <p:spPr bwMode="auto">
          <a:xfrm>
            <a:off x="7194245" y="1080009"/>
            <a:ext cx="360000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7</a:t>
            </a:r>
            <a:endParaRPr lang="cs-CZ" sz="1200" dirty="0">
              <a:solidFill>
                <a:schemeClr val="bg1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20" name="Zástupný symbol pro číslo snímku 5"/>
          <p:cNvSpPr txBox="1">
            <a:spLocks/>
          </p:cNvSpPr>
          <p:nvPr/>
        </p:nvSpPr>
        <p:spPr bwMode="auto">
          <a:xfrm>
            <a:off x="3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1" name="Tlačítko akce: Vlastní 20">
            <a:hlinkClick r:id="" action="ppaction://hlinkshowjump?jump=nextslide" highlightClick="1"/>
          </p:cNvPr>
          <p:cNvSpPr/>
          <p:nvPr/>
        </p:nvSpPr>
        <p:spPr>
          <a:xfrm>
            <a:off x="684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2" name="Tlačítko akce: Vlastní 21">
            <a:hlinkClick r:id="" action="ppaction://hlinkshowjump?jump=previousslide" highlightClick="1"/>
          </p:cNvPr>
          <p:cNvSpPr/>
          <p:nvPr/>
        </p:nvSpPr>
        <p:spPr>
          <a:xfrm>
            <a:off x="5760003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3" name="Tlačítko akce: Vlastní 22">
            <a:hlinkClick r:id="rId3" action="ppaction://hlinksldjump" highlightClick="1"/>
          </p:cNvPr>
          <p:cNvSpPr/>
          <p:nvPr/>
        </p:nvSpPr>
        <p:spPr>
          <a:xfrm>
            <a:off x="792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44" name="TextovéPole 43"/>
          <p:cNvSpPr txBox="1"/>
          <p:nvPr/>
        </p:nvSpPr>
        <p:spPr bwMode="auto">
          <a:xfrm>
            <a:off x="8562269" y="2355713"/>
            <a:ext cx="257740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</a:rPr>
              <a:t>C</a:t>
            </a:r>
            <a:endParaRPr lang="cs-CZ" sz="1200" dirty="0">
              <a:solidFill>
                <a:schemeClr val="bg1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45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8244488" cy="400110"/>
          </a:xfrm>
          <a:noFill/>
          <a:ln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Testování ukončení převodu</a:t>
            </a:r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754A11E5-3B91-4226-9107-00CE59468F16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2" name="TextovéPole 1"/>
          <p:cNvSpPr txBox="1"/>
          <p:nvPr/>
        </p:nvSpPr>
        <p:spPr bwMode="auto">
          <a:xfrm>
            <a:off x="3779912" y="419472"/>
            <a:ext cx="3791167" cy="46166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r">
              <a:defRPr b="0" i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cs-CZ" dirty="0"/>
              <a:t>Napište na druhou stranu PL</a:t>
            </a:r>
          </a:p>
        </p:txBody>
      </p:sp>
    </p:spTree>
    <p:extLst>
      <p:ext uri="{BB962C8B-B14F-4D97-AF65-F5344CB8AC3E}">
        <p14:creationId xmlns:p14="http://schemas.microsoft.com/office/powerpoint/2010/main" val="1488434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35" grpId="0" animBg="1"/>
      <p:bldP spid="19" grpId="0" animBg="1"/>
      <p:bldP spid="20" grpId="0"/>
      <p:bldP spid="4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délník 8"/>
          <p:cNvSpPr/>
          <p:nvPr/>
        </p:nvSpPr>
        <p:spPr>
          <a:xfrm>
            <a:off x="360008" y="2355713"/>
            <a:ext cx="8460000" cy="205895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dirty="0" err="1">
                <a:latin typeface="Consolas" panose="020B0609020204030204" pitchFamily="49" charset="0"/>
                <a:cs typeface="Consolas" panose="020B0609020204030204" pitchFamily="49" charset="0"/>
              </a:rPr>
              <a:t>unsigned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cs-CZ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2060"/>
                </a:solidFill>
                <a:latin typeface="Consolas" panose="020B0609020204030204" pitchFamily="49" charset="0"/>
              </a:rPr>
              <a:t>U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eaLnBrk="1" hangingPunct="1"/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dirty="0" err="1"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2060"/>
                </a:solidFill>
                <a:latin typeface="Consolas" panose="020B0609020204030204" pitchFamily="49" charset="0"/>
              </a:rPr>
              <a:t>UF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eaLnBrk="1" hangingPunct="1"/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dirty="0">
                <a:solidFill>
                  <a:srgbClr val="002060"/>
                </a:solidFill>
                <a:latin typeface="Consolas" panose="020B0609020204030204" pitchFamily="49" charset="0"/>
              </a:rPr>
              <a:t>U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cs-CZ" dirty="0">
                <a:solidFill>
                  <a:srgbClr val="FF0000"/>
                </a:solidFill>
                <a:latin typeface="Consolas" panose="020B0609020204030204" pitchFamily="49" charset="0"/>
              </a:rPr>
              <a:t>ADC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eaLnBrk="1" hangingPunct="1"/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dirty="0">
                <a:solidFill>
                  <a:srgbClr val="002060"/>
                </a:solidFill>
                <a:latin typeface="Consolas" panose="020B0609020204030204" pitchFamily="49" charset="0"/>
              </a:rPr>
              <a:t>UF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=(2.56/1024)*(</a:t>
            </a:r>
            <a:r>
              <a:rPr lang="cs-CZ" dirty="0" err="1"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cs-CZ" dirty="0">
                <a:solidFill>
                  <a:srgbClr val="002060"/>
                </a:solidFill>
                <a:latin typeface="Consolas" panose="020B0609020204030204" pitchFamily="49" charset="0"/>
              </a:rPr>
              <a:t>U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10" name="Obdélník 9"/>
          <p:cNvSpPr/>
          <p:nvPr/>
        </p:nvSpPr>
        <p:spPr>
          <a:xfrm>
            <a:off x="360000" y="1080009"/>
            <a:ext cx="7200000" cy="114143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Vypočítejte skutečnou hodnotu napětí, když přesnost převod je deset bitů a referenční zdroj je 2,56V.</a:t>
            </a:r>
          </a:p>
        </p:txBody>
      </p:sp>
      <p:sp>
        <p:nvSpPr>
          <p:cNvPr id="35" name="TextovéPole 34"/>
          <p:cNvSpPr txBox="1"/>
          <p:nvPr/>
        </p:nvSpPr>
        <p:spPr bwMode="auto">
          <a:xfrm>
            <a:off x="7164288" y="1080008"/>
            <a:ext cx="395712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8</a:t>
            </a:r>
          </a:p>
        </p:txBody>
      </p:sp>
      <p:sp>
        <p:nvSpPr>
          <p:cNvPr id="1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20" name="Zástupný symbol pro číslo snímku 5"/>
          <p:cNvSpPr txBox="1">
            <a:spLocks/>
          </p:cNvSpPr>
          <p:nvPr/>
        </p:nvSpPr>
        <p:spPr bwMode="auto">
          <a:xfrm>
            <a:off x="3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1" name="Tlačítko akce: Vlastní 20">
            <a:hlinkClick r:id="" action="ppaction://hlinkshowjump?jump=nextslide" highlightClick="1"/>
          </p:cNvPr>
          <p:cNvSpPr/>
          <p:nvPr/>
        </p:nvSpPr>
        <p:spPr>
          <a:xfrm>
            <a:off x="684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2" name="Tlačítko akce: Vlastní 21">
            <a:hlinkClick r:id="" action="ppaction://hlinkshowjump?jump=previousslide" highlightClick="1"/>
          </p:cNvPr>
          <p:cNvSpPr/>
          <p:nvPr/>
        </p:nvSpPr>
        <p:spPr>
          <a:xfrm>
            <a:off x="5760003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3" name="Tlačítko akce: Vlastní 22">
            <a:hlinkClick r:id="rId3" action="ppaction://hlinksldjump" highlightClick="1"/>
          </p:cNvPr>
          <p:cNvSpPr/>
          <p:nvPr/>
        </p:nvSpPr>
        <p:spPr>
          <a:xfrm>
            <a:off x="792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44" name="TextovéPole 43"/>
          <p:cNvSpPr txBox="1"/>
          <p:nvPr/>
        </p:nvSpPr>
        <p:spPr bwMode="auto">
          <a:xfrm>
            <a:off x="8562268" y="2355395"/>
            <a:ext cx="257740" cy="288032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</a:rPr>
              <a:t>C</a:t>
            </a:r>
            <a:endParaRPr lang="cs-CZ" sz="1200" dirty="0">
              <a:solidFill>
                <a:schemeClr val="bg1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45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8244488" cy="400110"/>
          </a:xfrm>
          <a:noFill/>
          <a:ln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Výpočet skutečné hodnoty</a:t>
            </a:r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754A11E5-3B91-4226-9107-00CE59468F16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0545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35" grpId="0" animBg="1"/>
      <p:bldP spid="19" grpId="0" animBg="1"/>
      <p:bldP spid="20" grpId="0"/>
      <p:bldP spid="4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318791"/>
            <a:ext cx="7834306" cy="707886"/>
          </a:xfrm>
        </p:spPr>
        <p:txBody>
          <a:bodyPr>
            <a:spAutoFit/>
          </a:bodyPr>
          <a:lstStyle/>
          <a:p>
            <a:r>
              <a:rPr lang="cs-CZ" sz="4000" b="1" kern="12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Kontrolní úkoly</a:t>
            </a:r>
            <a:endParaRPr lang="cs-CZ" sz="3600" dirty="0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360026" y="1080036"/>
            <a:ext cx="8783993" cy="4170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dirty="0">
                <a:latin typeface="Verdana" pitchFamily="34" charset="0"/>
              </a:rPr>
              <a:t>Jaké parametry (typ) má převodník ADC v AVR (2)?</a:t>
            </a:r>
            <a:endParaRPr lang="cs-CZ" sz="2400" b="0" kern="1200" dirty="0">
              <a:latin typeface="Verdana" pitchFamily="34" charset="0"/>
            </a:endParaRPr>
          </a:p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pl-PL" sz="2400" b="0" dirty="0">
                <a:latin typeface="Verdana" pitchFamily="34" charset="0"/>
              </a:rPr>
              <a:t>Co nastavujeme v analogové části ADC?</a:t>
            </a:r>
          </a:p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pl-PL" sz="2400" b="0" dirty="0">
                <a:latin typeface="Verdana" pitchFamily="34" charset="0"/>
              </a:rPr>
              <a:t>Jaké možnosti poskytuje analogová část ADC?</a:t>
            </a:r>
          </a:p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dirty="0">
                <a:latin typeface="Verdana" pitchFamily="34" charset="0"/>
              </a:rPr>
              <a:t>Jaké dvojkové číslo bude na výstupu ADC (vnitřní referenční zdroj 2,56V  a rozlišení je 10 bitů), je-li na vstupu napětí 2V?</a:t>
            </a:r>
          </a:p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dirty="0">
                <a:latin typeface="Verdana" pitchFamily="34" charset="0"/>
              </a:rPr>
              <a:t>Jaké napětí je na vstupu, (referenční zdroj je 5,5V, rozlišení je 8bitů) v </a:t>
            </a:r>
            <a:r>
              <a:rPr lang="cs-CZ" sz="2400" b="0">
                <a:latin typeface="Verdana" pitchFamily="34" charset="0"/>
              </a:rPr>
              <a:t>registru </a:t>
            </a:r>
            <a:r>
              <a:rPr lang="cs-CZ" sz="2400" b="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ADCH</a:t>
            </a:r>
            <a:r>
              <a:rPr lang="cs-CZ" sz="2400" b="0">
                <a:latin typeface="Verdana" pitchFamily="34" charset="0"/>
              </a:rPr>
              <a:t> </a:t>
            </a:r>
            <a:r>
              <a:rPr lang="cs-CZ" sz="2400" b="0" dirty="0">
                <a:latin typeface="Verdana" pitchFamily="34" charset="0"/>
              </a:rPr>
              <a:t>je </a:t>
            </a:r>
            <a:r>
              <a:rPr lang="cs-CZ" sz="2400" b="0">
                <a:latin typeface="Verdana" pitchFamily="34" charset="0"/>
              </a:rPr>
              <a:t>hodnota 127?</a:t>
            </a:r>
            <a:endParaRPr lang="cs-CZ" sz="2400" b="0" dirty="0">
              <a:latin typeface="Verdana" pitchFamily="34" charset="0"/>
            </a:endParaRPr>
          </a:p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dirty="0">
                <a:latin typeface="Verdana" pitchFamily="34" charset="0"/>
              </a:rPr>
              <a:t>Uveďte postup inicializace ADC před převodem napětí (4 kroky)?</a:t>
            </a:r>
          </a:p>
        </p:txBody>
      </p:sp>
      <p:sp>
        <p:nvSpPr>
          <p:cNvPr id="2" name="TextovéPole 1"/>
          <p:cNvSpPr txBox="1"/>
          <p:nvPr/>
        </p:nvSpPr>
        <p:spPr>
          <a:xfrm>
            <a:off x="8172408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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16" y="6300017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15" y="6300017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16" y="6300017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547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360026" y="1080036"/>
            <a:ext cx="8783993" cy="1277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dirty="0">
                <a:latin typeface="Verdana" pitchFamily="34" charset="0"/>
              </a:rPr>
              <a:t>Jak poznáme, že je ukončen převod napětí?</a:t>
            </a:r>
            <a:endParaRPr lang="cs-CZ" sz="2400" b="0" kern="1200" dirty="0">
              <a:latin typeface="Verdana" pitchFamily="34" charset="0"/>
            </a:endParaRPr>
          </a:p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pl-PL" sz="2400" b="0" dirty="0">
                <a:latin typeface="Verdana" pitchFamily="34" charset="0"/>
              </a:rPr>
              <a:t>Vytvořte 16 bitové číslo z obsahu registrů ADCH a ADCL.</a:t>
            </a:r>
          </a:p>
        </p:txBody>
      </p:sp>
      <p:sp>
        <p:nvSpPr>
          <p:cNvPr id="2" name="TextovéPole 1"/>
          <p:cNvSpPr txBox="1"/>
          <p:nvPr/>
        </p:nvSpPr>
        <p:spPr>
          <a:xfrm>
            <a:off x="8172408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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16" y="6300017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15" y="6300017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16" y="6300017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3342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360008" y="1080021"/>
            <a:ext cx="8784000" cy="44781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latin typeface="Verdana" pitchFamily="34" charset="0"/>
              </a:rPr>
              <a:t>Zadání:</a:t>
            </a:r>
            <a:br>
              <a:rPr lang="cs-CZ" sz="2800" b="0" dirty="0">
                <a:latin typeface="Verdana" pitchFamily="34" charset="0"/>
              </a:rPr>
            </a:br>
            <a:r>
              <a:rPr lang="cs-CZ" b="0" dirty="0">
                <a:latin typeface="Verdana" pitchFamily="34" charset="0"/>
              </a:rPr>
              <a:t>Naprogramujte voltmetr, který bude zobrazovat na LCD zobrazovači napětí na vstupu ve voltech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b="0" dirty="0">
                <a:latin typeface="Verdana" pitchFamily="34" charset="0"/>
              </a:rPr>
              <a:t>Zdroj referenčního napětí: </a:t>
            </a:r>
            <a:r>
              <a:rPr lang="cs-CZ" dirty="0">
                <a:latin typeface="Verdana" pitchFamily="34" charset="0"/>
              </a:rPr>
              <a:t>vnitřní</a:t>
            </a:r>
            <a:r>
              <a:rPr lang="cs-CZ" b="0" dirty="0">
                <a:latin typeface="Verdana" pitchFamily="34" charset="0"/>
              </a:rPr>
              <a:t> </a:t>
            </a:r>
            <a:r>
              <a:rPr lang="cs-CZ" b="0" dirty="0" err="1">
                <a:latin typeface="Verdana" pitchFamily="34" charset="0"/>
              </a:rPr>
              <a:t>U</a:t>
            </a:r>
            <a:r>
              <a:rPr lang="cs-CZ" b="0" baseline="-25000" dirty="0" err="1">
                <a:latin typeface="Verdana" pitchFamily="34" charset="0"/>
              </a:rPr>
              <a:t>ref</a:t>
            </a:r>
            <a:r>
              <a:rPr lang="cs-CZ" b="0" dirty="0">
                <a:latin typeface="Verdana" pitchFamily="34" charset="0"/>
              </a:rPr>
              <a:t>=2,56V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b="0" dirty="0">
                <a:latin typeface="Verdana" pitchFamily="34" charset="0"/>
              </a:rPr>
              <a:t>Analogový vstup: </a:t>
            </a:r>
            <a:r>
              <a:rPr lang="cs-CZ" dirty="0">
                <a:latin typeface="Verdana" pitchFamily="34" charset="0"/>
              </a:rPr>
              <a:t>č. 8</a:t>
            </a:r>
            <a:endParaRPr lang="cs-CZ" b="0" dirty="0">
              <a:latin typeface="Verdana" pitchFamily="34" charset="0"/>
            </a:endParaRP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b="0" dirty="0">
                <a:latin typeface="Verdana" pitchFamily="34" charset="0"/>
              </a:rPr>
              <a:t>Použijte přerušení (událost </a:t>
            </a:r>
            <a:r>
              <a:rPr lang="cs-CZ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dokončení převodu</a:t>
            </a:r>
            <a:r>
              <a:rPr lang="cs-CZ" b="0" dirty="0">
                <a:latin typeface="Verdana" pitchFamily="34" charset="0"/>
              </a:rPr>
              <a:t>)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b="0" dirty="0">
                <a:latin typeface="Verdana" pitchFamily="34" charset="0"/>
              </a:rPr>
              <a:t>Rozlišení převodníku: </a:t>
            </a:r>
            <a:r>
              <a:rPr lang="cs-CZ" dirty="0">
                <a:latin typeface="Verdana" pitchFamily="34" charset="0"/>
              </a:rPr>
              <a:t>10 bitů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b="0" dirty="0">
                <a:latin typeface="Verdana" pitchFamily="34" charset="0"/>
              </a:rPr>
              <a:t>Dělící poměr:</a:t>
            </a:r>
            <a:r>
              <a:rPr lang="cs-CZ" dirty="0">
                <a:latin typeface="Verdana" pitchFamily="34" charset="0"/>
              </a:rPr>
              <a:t> 128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b="0" dirty="0">
                <a:latin typeface="Verdana" pitchFamily="34" charset="0"/>
              </a:rPr>
              <a:t>Typ spouštění: </a:t>
            </a:r>
            <a:r>
              <a:rPr lang="cs-CZ" dirty="0" err="1">
                <a:latin typeface="Verdana" pitchFamily="34" charset="0"/>
              </a:rPr>
              <a:t>Autospouštění</a:t>
            </a:r>
            <a:endParaRPr lang="cs-CZ" dirty="0">
              <a:latin typeface="Verdana" pitchFamily="34" charset="0"/>
            </a:endParaRP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10"/>
            <a:ext cx="8676000" cy="720000"/>
          </a:xfrm>
        </p:spPr>
        <p:txBody>
          <a:bodyPr/>
          <a:lstStyle/>
          <a:p>
            <a:pPr>
              <a:defRPr/>
            </a:pPr>
            <a:r>
              <a:rPr lang="cs-CZ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Aplikace AD převodníku</a:t>
            </a:r>
          </a:p>
        </p:txBody>
      </p:sp>
      <p:sp>
        <p:nvSpPr>
          <p:cNvPr id="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1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2" name="Tlačítko akce: Vlastní 11">
            <a:hlinkClick r:id="" action="ppaction://hlinkshowjump?jump=nextslide" highlightClick="1"/>
          </p:cNvPr>
          <p:cNvSpPr/>
          <p:nvPr/>
        </p:nvSpPr>
        <p:spPr>
          <a:xfrm>
            <a:off x="6840010" y="630001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3" name="Tlačítko akce: Vlastní 12">
            <a:hlinkClick r:id="" action="ppaction://hlinkshowjump?jump=previousslide" highlightClick="1"/>
          </p:cNvPr>
          <p:cNvSpPr/>
          <p:nvPr/>
        </p:nvSpPr>
        <p:spPr>
          <a:xfrm>
            <a:off x="5760009" y="630001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4" name="Tlačítko akce: Vlastní 13">
            <a:hlinkClick r:id="rId3" action="ppaction://hlinksldjump" highlightClick="1"/>
          </p:cNvPr>
          <p:cNvSpPr/>
          <p:nvPr/>
        </p:nvSpPr>
        <p:spPr>
          <a:xfrm>
            <a:off x="7920010" y="630001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5" name="TextovéPole 14">
            <a:extLst>
              <a:ext uri="{FF2B5EF4-FFF2-40B4-BE49-F238E27FC236}">
                <a16:creationId xmlns:a16="http://schemas.microsoft.com/office/drawing/2014/main" id="{754A11E5-3B91-4226-9107-00CE59468F16}"/>
              </a:ext>
            </a:extLst>
          </p:cNvPr>
          <p:cNvSpPr txBox="1"/>
          <p:nvPr/>
        </p:nvSpPr>
        <p:spPr>
          <a:xfrm>
            <a:off x="6660232" y="188640"/>
            <a:ext cx="223225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 ker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defRPr>
            </a:lvl1pPr>
          </a:lstStyle>
          <a:p>
            <a:r>
              <a:rPr lang="cs-CZ" dirty="0">
                <a:sym typeface="Webdings"/>
              </a:rPr>
              <a:t>PL+S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370087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8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80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80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360008" y="1080021"/>
            <a:ext cx="8784000" cy="38010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latin typeface="Verdana" pitchFamily="34" charset="0"/>
              </a:rPr>
              <a:t>Postup řešení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ü"/>
              <a:defRPr/>
            </a:pPr>
            <a:r>
              <a:rPr lang="cs-CZ" sz="2800" dirty="0">
                <a:latin typeface="Verdana" pitchFamily="34" charset="0"/>
              </a:rPr>
              <a:t>Vstup 8</a:t>
            </a:r>
            <a:r>
              <a:rPr lang="cs-CZ" sz="2800" b="0" dirty="0">
                <a:latin typeface="Verdana" pitchFamily="34" charset="0"/>
              </a:rPr>
              <a:t> je vyveden na </a:t>
            </a:r>
            <a:r>
              <a:rPr lang="cs-CZ" dirty="0">
                <a:latin typeface="Consolas" panose="020B0609020204030204" pitchFamily="49" charset="0"/>
              </a:rPr>
              <a:t>PORTK</a:t>
            </a:r>
            <a:r>
              <a:rPr lang="cs-CZ" sz="2800" dirty="0">
                <a:latin typeface="Verdana" pitchFamily="34" charset="0"/>
              </a:rPr>
              <a:t> bit 0</a:t>
            </a:r>
            <a:r>
              <a:rPr lang="cs-CZ" sz="2800" b="0" dirty="0">
                <a:latin typeface="Verdana" pitchFamily="34" charset="0"/>
              </a:rPr>
              <a:t>, který nastavíme do vstupního režimu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ü"/>
              <a:defRPr/>
            </a:pPr>
            <a:r>
              <a:rPr lang="cs-CZ" sz="28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Hlavní program </a:t>
            </a:r>
            <a:r>
              <a:rPr lang="cs-CZ" sz="2800" b="0" dirty="0">
                <a:latin typeface="Verdana" pitchFamily="34" charset="0"/>
              </a:rPr>
              <a:t>bude zobrazovat skutečnou hodnotu napětí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ü"/>
              <a:defRPr/>
            </a:pPr>
            <a:r>
              <a:rPr lang="cs-CZ" sz="28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Obslužný program </a:t>
            </a:r>
            <a:r>
              <a:rPr lang="cs-CZ" sz="2800" b="0" dirty="0">
                <a:latin typeface="Verdana" pitchFamily="34" charset="0"/>
              </a:rPr>
              <a:t>bude číst hodnotu z </a:t>
            </a:r>
            <a:r>
              <a:rPr lang="cs-CZ" sz="2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AD</a:t>
            </a:r>
            <a:r>
              <a:rPr lang="cs-CZ" sz="2800" b="0" dirty="0">
                <a:latin typeface="Verdana" pitchFamily="34" charset="0"/>
              </a:rPr>
              <a:t> převodníku</a:t>
            </a:r>
            <a:endParaRPr lang="cs-CZ" sz="2800" dirty="0">
              <a:latin typeface="Verdana" pitchFamily="34" charset="0"/>
            </a:endParaRPr>
          </a:p>
        </p:txBody>
      </p:sp>
      <p:sp>
        <p:nvSpPr>
          <p:cNvPr id="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1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2" name="Tlačítko akce: Vlastní 11">
            <a:hlinkClick r:id="" action="ppaction://hlinkshowjump?jump=nextslide" highlightClick="1"/>
          </p:cNvPr>
          <p:cNvSpPr/>
          <p:nvPr/>
        </p:nvSpPr>
        <p:spPr>
          <a:xfrm>
            <a:off x="6840010" y="630001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3" name="Tlačítko akce: Vlastní 12">
            <a:hlinkClick r:id="" action="ppaction://hlinkshowjump?jump=previousslide" highlightClick="1"/>
          </p:cNvPr>
          <p:cNvSpPr/>
          <p:nvPr/>
        </p:nvSpPr>
        <p:spPr>
          <a:xfrm>
            <a:off x="5760009" y="630001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4" name="Tlačítko akce: Vlastní 13">
            <a:hlinkClick r:id="rId3" action="ppaction://hlinksldjump" highlightClick="1"/>
          </p:cNvPr>
          <p:cNvSpPr/>
          <p:nvPr/>
        </p:nvSpPr>
        <p:spPr>
          <a:xfrm>
            <a:off x="7920010" y="630001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8244488" cy="400110"/>
          </a:xfrm>
          <a:noFill/>
          <a:ln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Aplikace AD převodníku</a:t>
            </a:r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754A11E5-3B91-4226-9107-00CE59468F16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 ker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defRPr>
            </a:lvl1pPr>
          </a:lstStyle>
          <a:p>
            <a:r>
              <a:rPr lang="cs-CZ" dirty="0">
                <a:sym typeface="Webdings"/>
              </a:rPr>
              <a:t>S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774880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360008" y="1080021"/>
            <a:ext cx="8784000" cy="3739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latin typeface="Verdana" pitchFamily="34" charset="0"/>
              </a:rPr>
              <a:t>Co nastavíme v řídících registrech?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b="0" dirty="0">
                <a:latin typeface="Verdana" pitchFamily="34" charset="0"/>
              </a:rPr>
              <a:t>Volba způsobu měření: </a:t>
            </a:r>
            <a:r>
              <a:rPr lang="cs-CZ" dirty="0">
                <a:latin typeface="Verdana" pitchFamily="34" charset="0"/>
              </a:rPr>
              <a:t>single ze vstupu ADC8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b="0" dirty="0">
                <a:latin typeface="Verdana" pitchFamily="34" charset="0"/>
              </a:rPr>
              <a:t>Volba zdroje referenčního napětí: </a:t>
            </a:r>
            <a:r>
              <a:rPr lang="cs-CZ" dirty="0">
                <a:latin typeface="Verdana" pitchFamily="34" charset="0"/>
              </a:rPr>
              <a:t>2,56V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b="0" dirty="0">
                <a:latin typeface="Verdana" pitchFamily="34" charset="0"/>
              </a:rPr>
              <a:t>Zapnutí ADC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b="0" dirty="0">
                <a:latin typeface="Verdana" pitchFamily="34" charset="0"/>
              </a:rPr>
              <a:t>Dělící poměr: </a:t>
            </a:r>
            <a:r>
              <a:rPr lang="cs-CZ" dirty="0">
                <a:latin typeface="Verdana" pitchFamily="34" charset="0"/>
              </a:rPr>
              <a:t>128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b="0" dirty="0">
                <a:latin typeface="Verdana" pitchFamily="34" charset="0"/>
              </a:rPr>
              <a:t>Spuštění: </a:t>
            </a:r>
            <a:r>
              <a:rPr lang="cs-CZ" dirty="0">
                <a:latin typeface="Verdana" pitchFamily="34" charset="0"/>
              </a:rPr>
              <a:t>Auto, Free </a:t>
            </a:r>
            <a:r>
              <a:rPr lang="cs-CZ" dirty="0" err="1">
                <a:latin typeface="Verdana" pitchFamily="34" charset="0"/>
              </a:rPr>
              <a:t>Running</a:t>
            </a:r>
            <a:r>
              <a:rPr lang="cs-CZ" dirty="0">
                <a:latin typeface="Verdana" pitchFamily="34" charset="0"/>
              </a:rPr>
              <a:t> Mode</a:t>
            </a: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b="0" dirty="0">
                <a:latin typeface="Verdana" pitchFamily="34" charset="0"/>
              </a:rPr>
              <a:t>Povolení přerušení: (událost </a:t>
            </a:r>
            <a:r>
              <a:rPr lang="cs-CZ" dirty="0">
                <a:latin typeface="Verdana" pitchFamily="34" charset="0"/>
              </a:rPr>
              <a:t>„převod dokončen</a:t>
            </a:r>
            <a:r>
              <a:rPr lang="en-US" dirty="0">
                <a:latin typeface="Verdana" pitchFamily="34" charset="0"/>
              </a:rPr>
              <a:t>”</a:t>
            </a:r>
            <a:r>
              <a:rPr lang="cs-CZ" b="0" dirty="0">
                <a:latin typeface="Verdana" pitchFamily="34" charset="0"/>
              </a:rPr>
              <a:t>)</a:t>
            </a:r>
          </a:p>
        </p:txBody>
      </p:sp>
      <p:sp>
        <p:nvSpPr>
          <p:cNvPr id="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1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2" name="Tlačítko akce: Vlastní 11">
            <a:hlinkClick r:id="" action="ppaction://hlinkshowjump?jump=nextslide" highlightClick="1"/>
          </p:cNvPr>
          <p:cNvSpPr/>
          <p:nvPr/>
        </p:nvSpPr>
        <p:spPr>
          <a:xfrm>
            <a:off x="6840010" y="630001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3" name="Tlačítko akce: Vlastní 12">
            <a:hlinkClick r:id="" action="ppaction://hlinkshowjump?jump=previousslide" highlightClick="1"/>
          </p:cNvPr>
          <p:cNvSpPr/>
          <p:nvPr/>
        </p:nvSpPr>
        <p:spPr>
          <a:xfrm>
            <a:off x="5760009" y="630001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4" name="Tlačítko akce: Vlastní 13">
            <a:hlinkClick r:id="rId3" action="ppaction://hlinksldjump" highlightClick="1"/>
          </p:cNvPr>
          <p:cNvSpPr/>
          <p:nvPr/>
        </p:nvSpPr>
        <p:spPr>
          <a:xfrm>
            <a:off x="7920010" y="630001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8244488" cy="400110"/>
          </a:xfrm>
          <a:noFill/>
          <a:ln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Aplikace AD převodníku</a:t>
            </a:r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754A11E5-3B91-4226-9107-00CE59468F16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 ker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defRPr>
            </a:lvl1pPr>
          </a:lstStyle>
          <a:p>
            <a:r>
              <a:rPr lang="cs-CZ" dirty="0">
                <a:sym typeface="Webdings"/>
              </a:rPr>
              <a:t>PL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69143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80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80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6" y="476672"/>
            <a:ext cx="4567014" cy="5688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3048" y="692696"/>
            <a:ext cx="4520952" cy="547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0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61" name="Zástupný symbol pro číslo snímku 5"/>
          <p:cNvSpPr txBox="1">
            <a:spLocks/>
          </p:cNvSpPr>
          <p:nvPr/>
        </p:nvSpPr>
        <p:spPr bwMode="auto">
          <a:xfrm>
            <a:off x="3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2" name="Tlačítko akce: Vlastní 61">
            <a:hlinkClick r:id="" action="ppaction://hlinkshowjump?jump=nextslide" highlightClick="1"/>
          </p:cNvPr>
          <p:cNvSpPr/>
          <p:nvPr/>
        </p:nvSpPr>
        <p:spPr>
          <a:xfrm>
            <a:off x="684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3" name="Tlačítko akce: Vlastní 62">
            <a:hlinkClick r:id="" action="ppaction://hlinkshowjump?jump=previousslide" highlightClick="1"/>
          </p:cNvPr>
          <p:cNvSpPr/>
          <p:nvPr/>
        </p:nvSpPr>
        <p:spPr>
          <a:xfrm>
            <a:off x="5760003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64" name="Tlačítko akce: Vlastní 63">
            <a:hlinkClick r:id="rId5" action="ppaction://hlinksldjump" highlightClick="1"/>
          </p:cNvPr>
          <p:cNvSpPr/>
          <p:nvPr/>
        </p:nvSpPr>
        <p:spPr>
          <a:xfrm>
            <a:off x="792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8244488" cy="400110"/>
          </a:xfrm>
          <a:noFill/>
          <a:ln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Aplikace AD převodníku</a:t>
            </a:r>
          </a:p>
        </p:txBody>
      </p:sp>
    </p:spTree>
    <p:extLst>
      <p:ext uri="{BB962C8B-B14F-4D97-AF65-F5344CB8AC3E}">
        <p14:creationId xmlns:p14="http://schemas.microsoft.com/office/powerpoint/2010/main" val="67206272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:\lj\prezentace\MIT\AVR\ADC převodník\ACD_AVRmega_b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080002"/>
            <a:ext cx="9144000" cy="3984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3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3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4" action="ppaction://hlinksldjump" highlightClick="1"/>
          </p:cNvPr>
          <p:cNvSpPr/>
          <p:nvPr/>
        </p:nvSpPr>
        <p:spPr>
          <a:xfrm>
            <a:off x="7920004" y="6300005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720000" y="69946"/>
            <a:ext cx="824448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defRPr/>
            </a:pPr>
            <a:r>
              <a:rPr lang="cs-CZ" sz="2000" b="0" ker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Aplikace AD převodníku</a:t>
            </a:r>
            <a:endParaRPr lang="cs-CZ" sz="2000" b="0" kern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3091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48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49" name="Tlačítko akce: Vlastní 48">
            <a:hlinkClick r:id="" action="ppaction://hlinkshowjump?jump=nextslide" highlightClick="1"/>
          </p:cNvPr>
          <p:cNvSpPr/>
          <p:nvPr/>
        </p:nvSpPr>
        <p:spPr>
          <a:xfrm>
            <a:off x="6840010" y="630001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50" name="Tlačítko akce: Vlastní 49">
            <a:hlinkClick r:id="" action="ppaction://hlinkshowjump?jump=previousslide" highlightClick="1"/>
          </p:cNvPr>
          <p:cNvSpPr/>
          <p:nvPr/>
        </p:nvSpPr>
        <p:spPr>
          <a:xfrm>
            <a:off x="5760009" y="630001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51" name="Tlačítko akce: Vlastní 50">
            <a:hlinkClick r:id="rId3" action="ppaction://hlinksldjump" highlightClick="1"/>
          </p:cNvPr>
          <p:cNvSpPr/>
          <p:nvPr/>
        </p:nvSpPr>
        <p:spPr>
          <a:xfrm>
            <a:off x="7920010" y="630001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grpSp>
        <p:nvGrpSpPr>
          <p:cNvPr id="52" name="Skupina 51">
            <a:extLst>
              <a:ext uri="{FF2B5EF4-FFF2-40B4-BE49-F238E27FC236}">
                <a16:creationId xmlns:a16="http://schemas.microsoft.com/office/drawing/2014/main" id="{875F2B2F-261A-4AA3-9319-3A9BCB92B88A}"/>
              </a:ext>
            </a:extLst>
          </p:cNvPr>
          <p:cNvGrpSpPr/>
          <p:nvPr/>
        </p:nvGrpSpPr>
        <p:grpSpPr>
          <a:xfrm>
            <a:off x="180000" y="1196754"/>
            <a:ext cx="2880000" cy="1331999"/>
            <a:chOff x="180000" y="1908000"/>
            <a:chExt cx="2880000" cy="1331999"/>
          </a:xfrm>
        </p:grpSpPr>
        <p:sp>
          <p:nvSpPr>
            <p:cNvPr id="54" name="Rectangle 42">
              <a:extLst>
                <a:ext uri="{FF2B5EF4-FFF2-40B4-BE49-F238E27FC236}">
                  <a16:creationId xmlns:a16="http://schemas.microsoft.com/office/drawing/2014/main" id="{817B787A-9352-493A-89F2-5B920C33F1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002" y="2339999"/>
              <a:ext cx="360000" cy="900000"/>
            </a:xfrm>
            <a:prstGeom prst="rect">
              <a:avLst/>
            </a:prstGeom>
            <a:solidFill>
              <a:srgbClr val="FF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REFS1</a:t>
              </a:r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5" name="Rectangle 43">
              <a:extLst>
                <a:ext uri="{FF2B5EF4-FFF2-40B4-BE49-F238E27FC236}">
                  <a16:creationId xmlns:a16="http://schemas.microsoft.com/office/drawing/2014/main" id="{E8FE6D48-BB75-4EA7-9095-4FCB26BEF5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552" y="2339999"/>
              <a:ext cx="360000" cy="900000"/>
            </a:xfrm>
            <a:prstGeom prst="rect">
              <a:avLst/>
            </a:prstGeom>
            <a:solidFill>
              <a:srgbClr val="FF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REFS0</a:t>
              </a:r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6" name="Rectangle 44">
              <a:extLst>
                <a:ext uri="{FF2B5EF4-FFF2-40B4-BE49-F238E27FC236}">
                  <a16:creationId xmlns:a16="http://schemas.microsoft.com/office/drawing/2014/main" id="{85A300C2-889D-4142-BE66-45A5381A79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0000" y="2339999"/>
              <a:ext cx="360000" cy="90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ADLAR</a:t>
              </a:r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7" name="Rectangle 45">
              <a:extLst>
                <a:ext uri="{FF2B5EF4-FFF2-40B4-BE49-F238E27FC236}">
                  <a16:creationId xmlns:a16="http://schemas.microsoft.com/office/drawing/2014/main" id="{EFBEFAEC-9515-4339-AA9A-909CC378A6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0000" y="2339999"/>
              <a:ext cx="360000" cy="900000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MUX4</a:t>
              </a:r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9" name="Rectangle 46">
              <a:extLst>
                <a:ext uri="{FF2B5EF4-FFF2-40B4-BE49-F238E27FC236}">
                  <a16:creationId xmlns:a16="http://schemas.microsoft.com/office/drawing/2014/main" id="{406D7EA8-C5E6-4A4C-AE84-95F780B932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0000" y="2339999"/>
              <a:ext cx="360000" cy="900000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MUX3</a:t>
              </a:r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0" name="Rectangle 47">
              <a:extLst>
                <a:ext uri="{FF2B5EF4-FFF2-40B4-BE49-F238E27FC236}">
                  <a16:creationId xmlns:a16="http://schemas.microsoft.com/office/drawing/2014/main" id="{D0782313-1E24-48D4-AB10-5F2AF20066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0000" y="2339999"/>
              <a:ext cx="360000" cy="900000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MUX2</a:t>
              </a:r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1" name="Rectangle 48">
              <a:extLst>
                <a:ext uri="{FF2B5EF4-FFF2-40B4-BE49-F238E27FC236}">
                  <a16:creationId xmlns:a16="http://schemas.microsoft.com/office/drawing/2014/main" id="{99756BA6-2356-435C-9E46-2D33FF33DE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0000" y="2339999"/>
              <a:ext cx="360000" cy="900000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MUX1</a:t>
              </a:r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2" name="Rectangle 49">
              <a:extLst>
                <a:ext uri="{FF2B5EF4-FFF2-40B4-BE49-F238E27FC236}">
                  <a16:creationId xmlns:a16="http://schemas.microsoft.com/office/drawing/2014/main" id="{CF1ED37A-BE89-4804-979C-241C91BFE4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0000" y="2339999"/>
              <a:ext cx="360000" cy="900000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MUX0</a:t>
              </a:r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3" name="Text Box 71">
              <a:extLst>
                <a:ext uri="{FF2B5EF4-FFF2-40B4-BE49-F238E27FC236}">
                  <a16:creationId xmlns:a16="http://schemas.microsoft.com/office/drawing/2014/main" id="{FE6F5495-7B92-4CCD-8133-1A65716576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000" y="1908000"/>
              <a:ext cx="1857388" cy="40011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spcBef>
                  <a:spcPct val="50000"/>
                </a:spcBef>
                <a:defRPr sz="2000">
                  <a:latin typeface="Consolas" panose="020B0609020204030204" pitchFamily="49" charset="0"/>
                  <a:cs typeface="Consolas" panose="020B0609020204030204" pitchFamily="49" charset="0"/>
                </a:defRPr>
              </a:lvl1pPr>
            </a:lstStyle>
            <a:p>
              <a:r>
                <a:rPr lang="cs-CZ" dirty="0"/>
                <a:t>ADMUX</a:t>
              </a:r>
            </a:p>
          </p:txBody>
        </p:sp>
      </p:grpSp>
      <p:grpSp>
        <p:nvGrpSpPr>
          <p:cNvPr id="104" name="Skupina 103">
            <a:extLst>
              <a:ext uri="{FF2B5EF4-FFF2-40B4-BE49-F238E27FC236}">
                <a16:creationId xmlns:a16="http://schemas.microsoft.com/office/drawing/2014/main" id="{8D21B553-317A-4205-A47C-AEF0313151EC}"/>
              </a:ext>
            </a:extLst>
          </p:cNvPr>
          <p:cNvGrpSpPr/>
          <p:nvPr/>
        </p:nvGrpSpPr>
        <p:grpSpPr>
          <a:xfrm>
            <a:off x="179518" y="2528750"/>
            <a:ext cx="2880488" cy="859884"/>
            <a:chOff x="179512" y="3239999"/>
            <a:chExt cx="2880488" cy="859884"/>
          </a:xfrm>
        </p:grpSpPr>
        <p:sp>
          <p:nvSpPr>
            <p:cNvPr id="105" name="Rectangle 42">
              <a:extLst>
                <a:ext uri="{FF2B5EF4-FFF2-40B4-BE49-F238E27FC236}">
                  <a16:creationId xmlns:a16="http://schemas.microsoft.com/office/drawing/2014/main" id="{D99416EA-2556-4CEA-BE69-9F8E2CC5FE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512" y="3240000"/>
              <a:ext cx="360000" cy="85988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6" name="Rectangle 43">
              <a:extLst>
                <a:ext uri="{FF2B5EF4-FFF2-40B4-BE49-F238E27FC236}">
                  <a16:creationId xmlns:a16="http://schemas.microsoft.com/office/drawing/2014/main" id="{0C9169A9-4C76-41FC-83C8-4A70E5E025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000" y="3240000"/>
              <a:ext cx="360000" cy="85988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7" name="Rectangle 44">
              <a:extLst>
                <a:ext uri="{FF2B5EF4-FFF2-40B4-BE49-F238E27FC236}">
                  <a16:creationId xmlns:a16="http://schemas.microsoft.com/office/drawing/2014/main" id="{07356ED2-F0A7-45F2-B920-33F04B1F40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552" y="3240000"/>
              <a:ext cx="360000" cy="85988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8" name="Rectangle 45">
              <a:extLst>
                <a:ext uri="{FF2B5EF4-FFF2-40B4-BE49-F238E27FC236}">
                  <a16:creationId xmlns:a16="http://schemas.microsoft.com/office/drawing/2014/main" id="{8FB93394-4193-4600-BC94-E446F6BE85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0000" y="3240000"/>
              <a:ext cx="360000" cy="85988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9" name="Rectangle 46">
              <a:extLst>
                <a:ext uri="{FF2B5EF4-FFF2-40B4-BE49-F238E27FC236}">
                  <a16:creationId xmlns:a16="http://schemas.microsoft.com/office/drawing/2014/main" id="{AAC41283-313A-401E-ACB7-7E08F2E305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0000" y="3240000"/>
              <a:ext cx="360000" cy="85988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0" name="Rectangle 47">
              <a:extLst>
                <a:ext uri="{FF2B5EF4-FFF2-40B4-BE49-F238E27FC236}">
                  <a16:creationId xmlns:a16="http://schemas.microsoft.com/office/drawing/2014/main" id="{04005894-0302-4178-9266-801DD71D57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9581" y="3240000"/>
              <a:ext cx="360000" cy="85988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1" name="Rectangle 48">
              <a:extLst>
                <a:ext uri="{FF2B5EF4-FFF2-40B4-BE49-F238E27FC236}">
                  <a16:creationId xmlns:a16="http://schemas.microsoft.com/office/drawing/2014/main" id="{0757A6DC-1D7F-4BD3-B7FF-D1BA1D795D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0000" y="3239999"/>
              <a:ext cx="360000" cy="85988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2" name="Rectangle 49">
              <a:extLst>
                <a:ext uri="{FF2B5EF4-FFF2-40B4-BE49-F238E27FC236}">
                  <a16:creationId xmlns:a16="http://schemas.microsoft.com/office/drawing/2014/main" id="{F37A554A-E5C9-4571-83A1-16121D34C7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0000" y="3240000"/>
              <a:ext cx="360000" cy="85988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113" name="Skupina 112">
            <a:extLst>
              <a:ext uri="{FF2B5EF4-FFF2-40B4-BE49-F238E27FC236}">
                <a16:creationId xmlns:a16="http://schemas.microsoft.com/office/drawing/2014/main" id="{FE724DD0-AE30-450C-B724-E3EF890BAC3F}"/>
              </a:ext>
            </a:extLst>
          </p:cNvPr>
          <p:cNvGrpSpPr/>
          <p:nvPr/>
        </p:nvGrpSpPr>
        <p:grpSpPr>
          <a:xfrm>
            <a:off x="3132488" y="1196752"/>
            <a:ext cx="2880000" cy="1332000"/>
            <a:chOff x="3132488" y="1908000"/>
            <a:chExt cx="2880000" cy="1332000"/>
          </a:xfrm>
        </p:grpSpPr>
        <p:sp>
          <p:nvSpPr>
            <p:cNvPr id="114" name="Rectangle 42">
              <a:extLst>
                <a:ext uri="{FF2B5EF4-FFF2-40B4-BE49-F238E27FC236}">
                  <a16:creationId xmlns:a16="http://schemas.microsoft.com/office/drawing/2014/main" id="{B89C5321-700E-4C5C-8458-5FF81068C1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2490" y="2340000"/>
              <a:ext cx="360000" cy="90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5" name="Rectangle 43">
              <a:extLst>
                <a:ext uri="{FF2B5EF4-FFF2-40B4-BE49-F238E27FC236}">
                  <a16:creationId xmlns:a16="http://schemas.microsoft.com/office/drawing/2014/main" id="{94ED08B2-C921-48D7-85FD-0D94E4E690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2040" y="2340000"/>
              <a:ext cx="360000" cy="90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6" name="Rectangle 44">
              <a:extLst>
                <a:ext uri="{FF2B5EF4-FFF2-40B4-BE49-F238E27FC236}">
                  <a16:creationId xmlns:a16="http://schemas.microsoft.com/office/drawing/2014/main" id="{B1CD135F-8A07-4A25-B03A-775BB53D7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488" y="2340000"/>
              <a:ext cx="360000" cy="90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7" name="Rectangle 45">
              <a:extLst>
                <a:ext uri="{FF2B5EF4-FFF2-40B4-BE49-F238E27FC236}">
                  <a16:creationId xmlns:a16="http://schemas.microsoft.com/office/drawing/2014/main" id="{84920BA0-F8F7-4848-9C38-FAB0E7CD5F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488" y="2340000"/>
              <a:ext cx="360000" cy="900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8" name="Rectangle 46">
              <a:extLst>
                <a:ext uri="{FF2B5EF4-FFF2-40B4-BE49-F238E27FC236}">
                  <a16:creationId xmlns:a16="http://schemas.microsoft.com/office/drawing/2014/main" id="{E15307E1-533D-4831-BF71-34DFE6F66A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488" y="2340000"/>
              <a:ext cx="360000" cy="900000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MUX5</a:t>
              </a:r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9" name="Rectangle 47">
              <a:extLst>
                <a:ext uri="{FF2B5EF4-FFF2-40B4-BE49-F238E27FC236}">
                  <a16:creationId xmlns:a16="http://schemas.microsoft.com/office/drawing/2014/main" id="{96DD1508-47CD-42A2-BB12-E24CAC3DA0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2488" y="2340000"/>
              <a:ext cx="360000" cy="900000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ADTS2</a:t>
              </a:r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0" name="Rectangle 48">
              <a:extLst>
                <a:ext uri="{FF2B5EF4-FFF2-40B4-BE49-F238E27FC236}">
                  <a16:creationId xmlns:a16="http://schemas.microsoft.com/office/drawing/2014/main" id="{016A3CC7-36F9-4869-8125-D6E31571EB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2488" y="2340000"/>
              <a:ext cx="360000" cy="900000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ADTS1</a:t>
              </a:r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1" name="Rectangle 49">
              <a:extLst>
                <a:ext uri="{FF2B5EF4-FFF2-40B4-BE49-F238E27FC236}">
                  <a16:creationId xmlns:a16="http://schemas.microsoft.com/office/drawing/2014/main" id="{B3531A38-06C8-4CB5-AE26-4C9BFB7C76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2488" y="2340000"/>
              <a:ext cx="360000" cy="900000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ADTS0</a:t>
              </a:r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2" name="Text Box 71">
              <a:extLst>
                <a:ext uri="{FF2B5EF4-FFF2-40B4-BE49-F238E27FC236}">
                  <a16:creationId xmlns:a16="http://schemas.microsoft.com/office/drawing/2014/main" id="{2D3D339F-DA52-47C9-AFB3-CBE3E6B6FF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2488" y="1908000"/>
              <a:ext cx="1857388" cy="40011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spcBef>
                  <a:spcPct val="50000"/>
                </a:spcBef>
                <a:defRPr sz="2000">
                  <a:latin typeface="Consolas" panose="020B0609020204030204" pitchFamily="49" charset="0"/>
                  <a:cs typeface="Consolas" panose="020B0609020204030204" pitchFamily="49" charset="0"/>
                </a:defRPr>
              </a:lvl1pPr>
            </a:lstStyle>
            <a:p>
              <a:r>
                <a:rPr lang="cs-CZ" dirty="0"/>
                <a:t>ADCSRB</a:t>
              </a:r>
            </a:p>
          </p:txBody>
        </p:sp>
      </p:grpSp>
      <p:grpSp>
        <p:nvGrpSpPr>
          <p:cNvPr id="123" name="Skupina 122">
            <a:extLst>
              <a:ext uri="{FF2B5EF4-FFF2-40B4-BE49-F238E27FC236}">
                <a16:creationId xmlns:a16="http://schemas.microsoft.com/office/drawing/2014/main" id="{35CC6B5A-2BED-4A30-85E9-F15DD90414B0}"/>
              </a:ext>
            </a:extLst>
          </p:cNvPr>
          <p:cNvGrpSpPr/>
          <p:nvPr/>
        </p:nvGrpSpPr>
        <p:grpSpPr>
          <a:xfrm>
            <a:off x="3132005" y="2528745"/>
            <a:ext cx="2880488" cy="859883"/>
            <a:chOff x="3132000" y="3240000"/>
            <a:chExt cx="2880488" cy="859883"/>
          </a:xfrm>
        </p:grpSpPr>
        <p:sp>
          <p:nvSpPr>
            <p:cNvPr id="124" name="Rectangle 42">
              <a:extLst>
                <a:ext uri="{FF2B5EF4-FFF2-40B4-BE49-F238E27FC236}">
                  <a16:creationId xmlns:a16="http://schemas.microsoft.com/office/drawing/2014/main" id="{2633D430-466C-4B0D-912F-8AD14C997A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2000" y="3240000"/>
              <a:ext cx="360000" cy="85988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5" name="Rectangle 43">
              <a:extLst>
                <a:ext uri="{FF2B5EF4-FFF2-40B4-BE49-F238E27FC236}">
                  <a16:creationId xmlns:a16="http://schemas.microsoft.com/office/drawing/2014/main" id="{1D15035A-EB6B-4C86-86A5-5C1AF97F61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2488" y="3240000"/>
              <a:ext cx="360000" cy="85988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6" name="Rectangle 44">
              <a:extLst>
                <a:ext uri="{FF2B5EF4-FFF2-40B4-BE49-F238E27FC236}">
                  <a16:creationId xmlns:a16="http://schemas.microsoft.com/office/drawing/2014/main" id="{24486390-338D-453A-B123-FE1584F174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040" y="3240000"/>
              <a:ext cx="360000" cy="85988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7" name="Rectangle 45">
              <a:extLst>
                <a:ext uri="{FF2B5EF4-FFF2-40B4-BE49-F238E27FC236}">
                  <a16:creationId xmlns:a16="http://schemas.microsoft.com/office/drawing/2014/main" id="{AD972107-BFB9-4956-B659-5F702794C5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488" y="3240000"/>
              <a:ext cx="360000" cy="85988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8" name="Rectangle 46">
              <a:extLst>
                <a:ext uri="{FF2B5EF4-FFF2-40B4-BE49-F238E27FC236}">
                  <a16:creationId xmlns:a16="http://schemas.microsoft.com/office/drawing/2014/main" id="{52DFF59A-F57D-4363-B438-DE84B42C00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488" y="3240000"/>
              <a:ext cx="360000" cy="85988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9" name="Rectangle 47">
              <a:extLst>
                <a:ext uri="{FF2B5EF4-FFF2-40B4-BE49-F238E27FC236}">
                  <a16:creationId xmlns:a16="http://schemas.microsoft.com/office/drawing/2014/main" id="{4A689BA9-22C6-4E0E-90A1-FE4FB6396C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2069" y="3240000"/>
              <a:ext cx="360000" cy="85988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130" name="Rectangle 48">
              <a:extLst>
                <a:ext uri="{FF2B5EF4-FFF2-40B4-BE49-F238E27FC236}">
                  <a16:creationId xmlns:a16="http://schemas.microsoft.com/office/drawing/2014/main" id="{B1F5BBDB-6559-47FE-A2A1-8E90EBA626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2488" y="3240000"/>
              <a:ext cx="360000" cy="85988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31" name="Rectangle 49">
              <a:extLst>
                <a:ext uri="{FF2B5EF4-FFF2-40B4-BE49-F238E27FC236}">
                  <a16:creationId xmlns:a16="http://schemas.microsoft.com/office/drawing/2014/main" id="{94619916-1B02-4601-AF48-CB758345B4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2488" y="3240000"/>
              <a:ext cx="360000" cy="85988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132" name="Skupina 131">
            <a:extLst>
              <a:ext uri="{FF2B5EF4-FFF2-40B4-BE49-F238E27FC236}">
                <a16:creationId xmlns:a16="http://schemas.microsoft.com/office/drawing/2014/main" id="{8DD080CC-FA63-4B39-9F18-F3814C76F15E}"/>
              </a:ext>
            </a:extLst>
          </p:cNvPr>
          <p:cNvGrpSpPr/>
          <p:nvPr/>
        </p:nvGrpSpPr>
        <p:grpSpPr>
          <a:xfrm>
            <a:off x="6084656" y="1196752"/>
            <a:ext cx="2880000" cy="1332000"/>
            <a:chOff x="6084656" y="1908000"/>
            <a:chExt cx="2880000" cy="1332000"/>
          </a:xfrm>
        </p:grpSpPr>
        <p:grpSp>
          <p:nvGrpSpPr>
            <p:cNvPr id="133" name="Skupina 132">
              <a:extLst>
                <a:ext uri="{FF2B5EF4-FFF2-40B4-BE49-F238E27FC236}">
                  <a16:creationId xmlns:a16="http://schemas.microsoft.com/office/drawing/2014/main" id="{42A1877B-F0F5-4106-9CD7-7EE8B84A78CE}"/>
                </a:ext>
              </a:extLst>
            </p:cNvPr>
            <p:cNvGrpSpPr/>
            <p:nvPr/>
          </p:nvGrpSpPr>
          <p:grpSpPr>
            <a:xfrm>
              <a:off x="6084658" y="2340000"/>
              <a:ext cx="2879998" cy="900000"/>
              <a:chOff x="6084658" y="2340000"/>
              <a:chExt cx="2879998" cy="900000"/>
            </a:xfrm>
          </p:grpSpPr>
          <p:sp>
            <p:nvSpPr>
              <p:cNvPr id="135" name="Rectangle 42">
                <a:extLst>
                  <a:ext uri="{FF2B5EF4-FFF2-40B4-BE49-F238E27FC236}">
                    <a16:creationId xmlns:a16="http://schemas.microsoft.com/office/drawing/2014/main" id="{85147CAA-6361-4246-B83F-534B3C764D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84658" y="2340000"/>
                <a:ext cx="360000" cy="900000"/>
              </a:xfrm>
              <a:prstGeom prst="rect">
                <a:avLst/>
              </a:prstGeom>
              <a:solidFill>
                <a:srgbClr val="CC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vert270" wrap="none" lIns="90000" tIns="46800" rIns="90000" bIns="46800" anchor="ctr"/>
              <a:lstStyle/>
              <a:p>
                <a:pPr algn="ctr" eaLnBrk="1" hangingPunct="1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ADEN</a:t>
                </a:r>
                <a:endParaRPr lang="cs-CZ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136" name="Rectangle 43">
                <a:extLst>
                  <a:ext uri="{FF2B5EF4-FFF2-40B4-BE49-F238E27FC236}">
                    <a16:creationId xmlns:a16="http://schemas.microsoft.com/office/drawing/2014/main" id="{D68755F6-AF7C-4750-9008-93B3934FD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44208" y="2340000"/>
                <a:ext cx="360000" cy="900000"/>
              </a:xfrm>
              <a:prstGeom prst="rect">
                <a:avLst/>
              </a:prstGeom>
              <a:solidFill>
                <a:srgbClr val="00B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vert270" wrap="none" lIns="90000" tIns="46800" rIns="90000" bIns="46800" anchor="ctr"/>
              <a:lstStyle/>
              <a:p>
                <a:pPr algn="ctr" eaLnBrk="1" hangingPunct="1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ADSC</a:t>
                </a:r>
                <a:endParaRPr lang="cs-CZ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137" name="Rectangle 44">
                <a:extLst>
                  <a:ext uri="{FF2B5EF4-FFF2-40B4-BE49-F238E27FC236}">
                    <a16:creationId xmlns:a16="http://schemas.microsoft.com/office/drawing/2014/main" id="{8414B3D6-AB65-4CAA-8733-2B8311D64F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04656" y="2340000"/>
                <a:ext cx="360000" cy="900000"/>
              </a:xfrm>
              <a:prstGeom prst="rect">
                <a:avLst/>
              </a:prstGeom>
              <a:solidFill>
                <a:srgbClr val="00B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vert270" wrap="none" lIns="90000" tIns="46800" rIns="90000" bIns="46800" anchor="ctr"/>
              <a:lstStyle/>
              <a:p>
                <a:pPr algn="ctr" eaLnBrk="1" hangingPunct="1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ADATE</a:t>
                </a:r>
                <a:endParaRPr lang="cs-CZ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138" name="Rectangle 45">
                <a:extLst>
                  <a:ext uri="{FF2B5EF4-FFF2-40B4-BE49-F238E27FC236}">
                    <a16:creationId xmlns:a16="http://schemas.microsoft.com/office/drawing/2014/main" id="{E4DE3165-1811-4FC8-8612-7746705CAF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4656" y="2340000"/>
                <a:ext cx="360000" cy="900000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vert270" wrap="none" lIns="90000" tIns="46800" rIns="90000" bIns="46800" anchor="ctr"/>
              <a:lstStyle/>
              <a:p>
                <a:pPr algn="ctr" eaLnBrk="1" hangingPunct="1"/>
                <a:r>
                  <a:rPr lang="cs-CZ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ADIF</a:t>
                </a:r>
              </a:p>
            </p:txBody>
          </p:sp>
          <p:sp>
            <p:nvSpPr>
              <p:cNvPr id="139" name="Rectangle 46">
                <a:extLst>
                  <a:ext uri="{FF2B5EF4-FFF2-40B4-BE49-F238E27FC236}">
                    <a16:creationId xmlns:a16="http://schemas.microsoft.com/office/drawing/2014/main" id="{BF236484-8452-4AD5-A9B5-B22C7484F9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24656" y="2340000"/>
                <a:ext cx="360000" cy="900000"/>
              </a:xfrm>
              <a:prstGeom prst="rect">
                <a:avLst/>
              </a:prstGeom>
              <a:solidFill>
                <a:srgbClr val="00B0F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vert270" wrap="none" lIns="90000" tIns="46800" rIns="90000" bIns="46800" anchor="ctr"/>
              <a:lstStyle/>
              <a:p>
                <a:pPr algn="ctr" eaLnBrk="1" hangingPunct="1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ADIE</a:t>
                </a:r>
                <a:endParaRPr lang="cs-CZ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140" name="Rectangle 47">
                <a:extLst>
                  <a:ext uri="{FF2B5EF4-FFF2-40B4-BE49-F238E27FC236}">
                    <a16:creationId xmlns:a16="http://schemas.microsoft.com/office/drawing/2014/main" id="{E76ACAC3-AEE0-4C76-96EC-48C08433A8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84656" y="2340000"/>
                <a:ext cx="360000" cy="9000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vert270" wrap="none" lIns="90000" tIns="46800" rIns="90000" bIns="46800" anchor="ctr"/>
              <a:lstStyle/>
              <a:p>
                <a:pPr algn="ctr" eaLnBrk="1" hangingPunct="1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ADPS2</a:t>
                </a:r>
                <a:endParaRPr lang="cs-CZ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141" name="Rectangle 48">
                <a:extLst>
                  <a:ext uri="{FF2B5EF4-FFF2-40B4-BE49-F238E27FC236}">
                    <a16:creationId xmlns:a16="http://schemas.microsoft.com/office/drawing/2014/main" id="{1C060E1D-C7FC-425A-A07F-08E5305582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44656" y="2340000"/>
                <a:ext cx="360000" cy="9000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vert270" wrap="none" lIns="90000" tIns="46800" rIns="90000" bIns="46800" anchor="ctr"/>
              <a:lstStyle/>
              <a:p>
                <a:pPr algn="ctr" eaLnBrk="1" hangingPunct="1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ADPS1</a:t>
                </a:r>
                <a:endParaRPr lang="cs-CZ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142" name="Rectangle 49">
                <a:extLst>
                  <a:ext uri="{FF2B5EF4-FFF2-40B4-BE49-F238E27FC236}">
                    <a16:creationId xmlns:a16="http://schemas.microsoft.com/office/drawing/2014/main" id="{61972702-78A7-40DF-97DB-F67C206B02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04656" y="2340000"/>
                <a:ext cx="360000" cy="9000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vert270" wrap="none" lIns="90000" tIns="46800" rIns="90000" bIns="46800" anchor="ctr"/>
              <a:lstStyle/>
              <a:p>
                <a:pPr algn="ctr" eaLnBrk="1" hangingPunct="1"/>
                <a:r>
                  <a:rPr lang="en-US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ADPS0</a:t>
                </a:r>
                <a:endParaRPr lang="cs-CZ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134" name="Text Box 71">
              <a:extLst>
                <a:ext uri="{FF2B5EF4-FFF2-40B4-BE49-F238E27FC236}">
                  <a16:creationId xmlns:a16="http://schemas.microsoft.com/office/drawing/2014/main" id="{CB55C7F2-F0B7-449A-B1E7-865FD0B633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4656" y="1908000"/>
              <a:ext cx="1857388" cy="40011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spcBef>
                  <a:spcPct val="50000"/>
                </a:spcBef>
                <a:defRPr sz="2000">
                  <a:latin typeface="Consolas" panose="020B0609020204030204" pitchFamily="49" charset="0"/>
                  <a:cs typeface="Consolas" panose="020B0609020204030204" pitchFamily="49" charset="0"/>
                </a:defRPr>
              </a:lvl1pPr>
            </a:lstStyle>
            <a:p>
              <a:r>
                <a:rPr lang="cs-CZ" dirty="0"/>
                <a:t>ADCSRA</a:t>
              </a:r>
            </a:p>
          </p:txBody>
        </p:sp>
      </p:grpSp>
      <p:grpSp>
        <p:nvGrpSpPr>
          <p:cNvPr id="143" name="Skupina 142">
            <a:extLst>
              <a:ext uri="{FF2B5EF4-FFF2-40B4-BE49-F238E27FC236}">
                <a16:creationId xmlns:a16="http://schemas.microsoft.com/office/drawing/2014/main" id="{55874A81-2C73-4963-8977-19EC05C883D2}"/>
              </a:ext>
            </a:extLst>
          </p:cNvPr>
          <p:cNvGrpSpPr/>
          <p:nvPr/>
        </p:nvGrpSpPr>
        <p:grpSpPr>
          <a:xfrm>
            <a:off x="6084007" y="2528745"/>
            <a:ext cx="2880656" cy="859883"/>
            <a:chOff x="6084000" y="3240000"/>
            <a:chExt cx="2880656" cy="859883"/>
          </a:xfrm>
        </p:grpSpPr>
        <p:sp>
          <p:nvSpPr>
            <p:cNvPr id="144" name="Rectangle 45">
              <a:extLst>
                <a:ext uri="{FF2B5EF4-FFF2-40B4-BE49-F238E27FC236}">
                  <a16:creationId xmlns:a16="http://schemas.microsoft.com/office/drawing/2014/main" id="{B41ABED0-6C68-45C3-9AF4-1DC6C81364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4656" y="3240000"/>
              <a:ext cx="360000" cy="85988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5" name="Rectangle 46">
              <a:extLst>
                <a:ext uri="{FF2B5EF4-FFF2-40B4-BE49-F238E27FC236}">
                  <a16:creationId xmlns:a16="http://schemas.microsoft.com/office/drawing/2014/main" id="{311312F9-B73E-4D76-B2D9-18FDC2948A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4656" y="3240000"/>
              <a:ext cx="360000" cy="85988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6" name="Rectangle 47">
              <a:extLst>
                <a:ext uri="{FF2B5EF4-FFF2-40B4-BE49-F238E27FC236}">
                  <a16:creationId xmlns:a16="http://schemas.microsoft.com/office/drawing/2014/main" id="{327539AF-64C9-4EFD-A3FF-D165491098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4237" y="3240000"/>
              <a:ext cx="360000" cy="85988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147" name="Rectangle 48">
              <a:extLst>
                <a:ext uri="{FF2B5EF4-FFF2-40B4-BE49-F238E27FC236}">
                  <a16:creationId xmlns:a16="http://schemas.microsoft.com/office/drawing/2014/main" id="{830A013F-5531-49BB-8045-CBC90FA46C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44656" y="3240000"/>
              <a:ext cx="360000" cy="85988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148" name="Rectangle 49">
              <a:extLst>
                <a:ext uri="{FF2B5EF4-FFF2-40B4-BE49-F238E27FC236}">
                  <a16:creationId xmlns:a16="http://schemas.microsoft.com/office/drawing/2014/main" id="{86C8E8B2-6694-4E96-8D6D-043113A09A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04656" y="3240000"/>
              <a:ext cx="360000" cy="85988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9" name="Rectangle 42">
              <a:extLst>
                <a:ext uri="{FF2B5EF4-FFF2-40B4-BE49-F238E27FC236}">
                  <a16:creationId xmlns:a16="http://schemas.microsoft.com/office/drawing/2014/main" id="{61213968-AC1D-4FAD-A39B-075908D36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84000" y="3240000"/>
              <a:ext cx="360000" cy="85988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50" name="Rectangle 43">
              <a:extLst>
                <a:ext uri="{FF2B5EF4-FFF2-40B4-BE49-F238E27FC236}">
                  <a16:creationId xmlns:a16="http://schemas.microsoft.com/office/drawing/2014/main" id="{2FEA571F-8486-45E4-A3A5-08869EE868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4000" y="3240000"/>
              <a:ext cx="360000" cy="85988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51" name="Rectangle 44">
              <a:extLst>
                <a:ext uri="{FF2B5EF4-FFF2-40B4-BE49-F238E27FC236}">
                  <a16:creationId xmlns:a16="http://schemas.microsoft.com/office/drawing/2014/main" id="{C4919923-0FED-4FD0-AC69-1C7DE5AC7C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4000" y="3240000"/>
              <a:ext cx="360000" cy="85988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66" name="TextovéPole 65">
            <a:extLst>
              <a:ext uri="{FF2B5EF4-FFF2-40B4-BE49-F238E27FC236}">
                <a16:creationId xmlns:a16="http://schemas.microsoft.com/office/drawing/2014/main" id="{754A11E5-3B91-4226-9107-00CE59468F16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 ker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defRPr>
            </a:lvl1pPr>
          </a:lstStyle>
          <a:p>
            <a:r>
              <a:rPr lang="cs-CZ" dirty="0">
                <a:sym typeface="Webdings"/>
              </a:rPr>
              <a:t>PL</a:t>
            </a:r>
            <a:endParaRPr lang="cs-CZ" dirty="0"/>
          </a:p>
        </p:txBody>
      </p:sp>
      <p:sp>
        <p:nvSpPr>
          <p:cNvPr id="67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8244488" cy="400110"/>
          </a:xfrm>
          <a:noFill/>
          <a:ln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Aplikace AD převodníku</a:t>
            </a:r>
          </a:p>
        </p:txBody>
      </p:sp>
    </p:spTree>
    <p:extLst>
      <p:ext uri="{BB962C8B-B14F-4D97-AF65-F5344CB8AC3E}">
        <p14:creationId xmlns:p14="http://schemas.microsoft.com/office/powerpoint/2010/main" val="4216989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8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2"/>
          <p:cNvSpPr>
            <a:spLocks noChangeArrowheads="1"/>
          </p:cNvSpPr>
          <p:nvPr/>
        </p:nvSpPr>
        <p:spPr bwMode="auto">
          <a:xfrm>
            <a:off x="360008" y="1080011"/>
            <a:ext cx="8784000" cy="46782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latin typeface="Verdana" pitchFamily="34" charset="0"/>
              </a:rPr>
              <a:t>Postup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  <a:defRPr/>
            </a:pPr>
            <a:r>
              <a:rPr lang="cs-CZ" sz="2000" b="0" dirty="0">
                <a:latin typeface="Verdana" pitchFamily="34" charset="0"/>
              </a:rPr>
              <a:t>Zobrazení na LCD, inicializace LCD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  <a:defRPr/>
            </a:pPr>
            <a:r>
              <a:rPr lang="cs-CZ" sz="2000" b="0" dirty="0">
                <a:latin typeface="Verdana" pitchFamily="34" charset="0"/>
              </a:rPr>
              <a:t>Nastavíme registry portů </a:t>
            </a:r>
            <a:r>
              <a:rPr lang="cs-CZ" sz="2000" dirty="0">
                <a:latin typeface="Consolas" panose="020B0609020204030204" pitchFamily="49" charset="0"/>
              </a:rPr>
              <a:t>DDRK</a:t>
            </a:r>
            <a:r>
              <a:rPr lang="cs-CZ" sz="2000" b="0" dirty="0">
                <a:latin typeface="Verdana" pitchFamily="34" charset="0"/>
              </a:rPr>
              <a:t> a </a:t>
            </a:r>
            <a:r>
              <a:rPr lang="cs-CZ" sz="2000" dirty="0">
                <a:latin typeface="Consolas" panose="020B0609020204030204" pitchFamily="49" charset="0"/>
              </a:rPr>
              <a:t>PORTK</a:t>
            </a:r>
            <a:r>
              <a:rPr lang="cs-CZ" sz="2000" b="0" dirty="0">
                <a:latin typeface="Verdana" pitchFamily="34" charset="0"/>
              </a:rPr>
              <a:t> 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  <a:defRPr/>
            </a:pPr>
            <a:r>
              <a:rPr lang="cs-CZ" sz="2000" b="0" dirty="0">
                <a:latin typeface="Verdana" pitchFamily="34" charset="0"/>
              </a:rPr>
              <a:t>Nastavíme řídící registry </a:t>
            </a:r>
            <a:r>
              <a:rPr lang="cs-CZ" sz="2000" dirty="0">
                <a:latin typeface="Consolas" panose="020B0609020204030204" pitchFamily="49" charset="0"/>
              </a:rPr>
              <a:t>ADMUX</a:t>
            </a:r>
            <a:r>
              <a:rPr lang="cs-CZ" sz="2000" b="0" dirty="0">
                <a:latin typeface="Verdana" pitchFamily="34" charset="0"/>
              </a:rPr>
              <a:t>, </a:t>
            </a:r>
            <a:r>
              <a:rPr lang="cs-CZ" sz="2000" dirty="0">
                <a:latin typeface="Consolas" panose="020B0609020204030204" pitchFamily="49" charset="0"/>
              </a:rPr>
              <a:t>ADCSRA</a:t>
            </a:r>
            <a:r>
              <a:rPr lang="cs-CZ" sz="2000" b="0" dirty="0">
                <a:latin typeface="Verdana" pitchFamily="34" charset="0"/>
              </a:rPr>
              <a:t>, </a:t>
            </a:r>
            <a:r>
              <a:rPr lang="cs-CZ" sz="2000" dirty="0">
                <a:latin typeface="Consolas" panose="020B0609020204030204" pitchFamily="49" charset="0"/>
              </a:rPr>
              <a:t>ADCSRB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  <a:defRPr/>
            </a:pPr>
            <a:r>
              <a:rPr lang="cs-CZ" sz="2000" b="0" dirty="0">
                <a:latin typeface="Verdana" pitchFamily="34" charset="0"/>
              </a:rPr>
              <a:t>Povolíme globální přerušení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  <a:defRPr/>
            </a:pPr>
            <a:r>
              <a:rPr lang="cs-CZ" sz="2000" b="0" dirty="0">
                <a:latin typeface="Verdana" pitchFamily="34" charset="0"/>
              </a:rPr>
              <a:t>V </a:t>
            </a:r>
            <a:r>
              <a:rPr lang="cs-CZ" sz="2000" b="0" u="sng" dirty="0">
                <a:latin typeface="Verdana" pitchFamily="34" charset="0"/>
              </a:rPr>
              <a:t>hlavní programu </a:t>
            </a:r>
            <a:r>
              <a:rPr lang="cs-CZ" sz="2000" b="0" dirty="0">
                <a:latin typeface="Verdana" pitchFamily="34" charset="0"/>
              </a:rPr>
              <a:t>budeme zobrazovat lokální proměnnou </a:t>
            </a:r>
            <a:r>
              <a:rPr lang="cs-CZ" sz="2000" dirty="0">
                <a:latin typeface="Consolas" panose="020B0609020204030204" pitchFamily="49" charset="0"/>
              </a:rPr>
              <a:t>UF, </a:t>
            </a:r>
            <a:r>
              <a:rPr lang="cs-CZ" sz="2000" b="0" dirty="0">
                <a:latin typeface="Verdana" pitchFamily="34" charset="0"/>
              </a:rPr>
              <a:t>kterou vypočítáme z referenčního napětí a rozlišení a globální proměnné </a:t>
            </a:r>
            <a:r>
              <a:rPr lang="cs-CZ" sz="2000" dirty="0">
                <a:latin typeface="Consolas" panose="020B0609020204030204" pitchFamily="49" charset="0"/>
              </a:rPr>
              <a:t>U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  <a:defRPr/>
            </a:pPr>
            <a:r>
              <a:rPr lang="cs-CZ" sz="2000" b="0" u="sng" dirty="0">
                <a:latin typeface="Verdana" pitchFamily="34" charset="0"/>
              </a:rPr>
              <a:t>Obslužný program</a:t>
            </a:r>
            <a:r>
              <a:rPr lang="cs-CZ" sz="2000" b="0" dirty="0">
                <a:latin typeface="Verdana" pitchFamily="34" charset="0"/>
              </a:rPr>
              <a:t>: </a:t>
            </a:r>
            <a:r>
              <a:rPr lang="cs-CZ" sz="2000" dirty="0">
                <a:latin typeface="Verdana" pitchFamily="34" charset="0"/>
              </a:rPr>
              <a:t>„napětí je převedeno</a:t>
            </a:r>
            <a:r>
              <a:rPr lang="en-US" sz="2000" dirty="0">
                <a:latin typeface="Verdana" pitchFamily="34" charset="0"/>
              </a:rPr>
              <a:t>”</a:t>
            </a:r>
            <a:r>
              <a:rPr lang="cs-CZ" sz="2000" dirty="0">
                <a:latin typeface="Verdana" pitchFamily="34" charset="0"/>
              </a:rPr>
              <a:t> </a:t>
            </a:r>
            <a:r>
              <a:rPr lang="cs-CZ" sz="2000" b="0" dirty="0">
                <a:latin typeface="Verdana" pitchFamily="34" charset="0"/>
              </a:rPr>
              <a:t>– hodnotu z registru </a:t>
            </a:r>
            <a:r>
              <a:rPr lang="cs-CZ" sz="2000" dirty="0">
                <a:latin typeface="Consolas" panose="020B0609020204030204" pitchFamily="49" charset="0"/>
              </a:rPr>
              <a:t>ADC</a:t>
            </a:r>
            <a:r>
              <a:rPr lang="cs-CZ" sz="2000" b="0" dirty="0">
                <a:latin typeface="Verdana" pitchFamily="34" charset="0"/>
              </a:rPr>
              <a:t> přečteme do globální proměnné </a:t>
            </a:r>
            <a:r>
              <a:rPr lang="cs-CZ" sz="2000" dirty="0">
                <a:latin typeface="Consolas" panose="020B0609020204030204" pitchFamily="49" charset="0"/>
              </a:rPr>
              <a:t>U</a:t>
            </a:r>
            <a:r>
              <a:rPr lang="cs-CZ" sz="2000" b="0" dirty="0">
                <a:latin typeface="Verdana" pitchFamily="34" charset="0"/>
              </a:rPr>
              <a:t> </a:t>
            </a:r>
          </a:p>
        </p:txBody>
      </p:sp>
      <p:sp>
        <p:nvSpPr>
          <p:cNvPr id="6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70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1" name="Tlačítko akce: Vlastní 70">
            <a:hlinkClick r:id="" action="ppaction://hlinkshowjump?jump=nextslide" highlightClick="1"/>
          </p:cNvPr>
          <p:cNvSpPr/>
          <p:nvPr/>
        </p:nvSpPr>
        <p:spPr>
          <a:xfrm>
            <a:off x="6840010" y="630001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2" name="Tlačítko akce: Vlastní 71">
            <a:hlinkClick r:id="" action="ppaction://hlinkshowjump?jump=previousslide" highlightClick="1"/>
          </p:cNvPr>
          <p:cNvSpPr/>
          <p:nvPr/>
        </p:nvSpPr>
        <p:spPr>
          <a:xfrm>
            <a:off x="5760009" y="630001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3" name="Tlačítko akce: Vlastní 72">
            <a:hlinkClick r:id="rId3" action="ppaction://hlinksldjump" highlightClick="1"/>
          </p:cNvPr>
          <p:cNvSpPr/>
          <p:nvPr/>
        </p:nvSpPr>
        <p:spPr>
          <a:xfrm>
            <a:off x="7920010" y="630001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74" name="TextovéPole 73">
            <a:extLst>
              <a:ext uri="{FF2B5EF4-FFF2-40B4-BE49-F238E27FC236}">
                <a16:creationId xmlns:a16="http://schemas.microsoft.com/office/drawing/2014/main" id="{754A11E5-3B91-4226-9107-00CE59468F16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S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8244488" cy="400110"/>
          </a:xfrm>
          <a:noFill/>
          <a:ln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Aplikace AD převodníku</a:t>
            </a:r>
          </a:p>
        </p:txBody>
      </p:sp>
    </p:spTree>
    <p:extLst>
      <p:ext uri="{BB962C8B-B14F-4D97-AF65-F5344CB8AC3E}">
        <p14:creationId xmlns:p14="http://schemas.microsoft.com/office/powerpoint/2010/main" val="306567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70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360008" y="1080021"/>
            <a:ext cx="8784000" cy="1600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latin typeface="Verdana" pitchFamily="34" charset="0"/>
              </a:rPr>
              <a:t>Proměnné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ü"/>
              <a:defRPr/>
            </a:pPr>
            <a:r>
              <a:rPr lang="cs-CZ" sz="2000" b="0" dirty="0">
                <a:latin typeface="Verdana" pitchFamily="34" charset="0"/>
              </a:rPr>
              <a:t>Globální proměnná</a:t>
            </a:r>
            <a:r>
              <a:rPr lang="en-US" sz="2000" b="0" dirty="0">
                <a:latin typeface="Verdana" pitchFamily="34" charset="0"/>
              </a:rPr>
              <a:t> </a:t>
            </a:r>
            <a:r>
              <a:rPr lang="en-US" sz="2000" dirty="0">
                <a:latin typeface="Consolas" panose="020B0609020204030204" pitchFamily="49" charset="0"/>
              </a:rPr>
              <a:t>U</a:t>
            </a:r>
            <a:endParaRPr lang="cs-CZ" sz="2000" dirty="0">
              <a:latin typeface="Consolas" panose="020B0609020204030204" pitchFamily="49" charset="0"/>
            </a:endParaRP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ü"/>
              <a:defRPr/>
            </a:pPr>
            <a:r>
              <a:rPr lang="cs-CZ" sz="2000" b="0" dirty="0">
                <a:latin typeface="Verdana" pitchFamily="34" charset="0"/>
              </a:rPr>
              <a:t>Proměnné v hlavním programu</a:t>
            </a:r>
            <a:r>
              <a:rPr lang="en-US" sz="2000" b="0" dirty="0">
                <a:latin typeface="Verdana" pitchFamily="34" charset="0"/>
              </a:rPr>
              <a:t> </a:t>
            </a:r>
            <a:r>
              <a:rPr lang="en-US" sz="2000" dirty="0">
                <a:latin typeface="Consolas" panose="020B0609020204030204" pitchFamily="49" charset="0"/>
              </a:rPr>
              <a:t>TEXT</a:t>
            </a:r>
            <a:r>
              <a:rPr lang="en-US" sz="2000" b="0" dirty="0">
                <a:latin typeface="Verdana" pitchFamily="34" charset="0"/>
              </a:rPr>
              <a:t>, </a:t>
            </a:r>
            <a:r>
              <a:rPr lang="en-US" sz="2000" dirty="0">
                <a:latin typeface="Consolas" panose="020B0609020204030204" pitchFamily="49" charset="0"/>
              </a:rPr>
              <a:t>UF</a:t>
            </a:r>
            <a:endParaRPr lang="cs-CZ" sz="2000" dirty="0">
              <a:latin typeface="Consolas" panose="020B0609020204030204" pitchFamily="49" charset="0"/>
            </a:endParaRPr>
          </a:p>
        </p:txBody>
      </p:sp>
      <p:sp>
        <p:nvSpPr>
          <p:cNvPr id="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1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2" name="Tlačítko akce: Vlastní 11">
            <a:hlinkClick r:id="" action="ppaction://hlinkshowjump?jump=nextslide" highlightClick="1"/>
          </p:cNvPr>
          <p:cNvSpPr/>
          <p:nvPr/>
        </p:nvSpPr>
        <p:spPr>
          <a:xfrm>
            <a:off x="6840010" y="630001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3" name="Tlačítko akce: Vlastní 12">
            <a:hlinkClick r:id="" action="ppaction://hlinkshowjump?jump=previousslide" highlightClick="1"/>
          </p:cNvPr>
          <p:cNvSpPr/>
          <p:nvPr/>
        </p:nvSpPr>
        <p:spPr>
          <a:xfrm>
            <a:off x="5760009" y="630001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4" name="Tlačítko akce: Vlastní 13">
            <a:hlinkClick r:id="rId3" action="ppaction://hlinksldjump" highlightClick="1"/>
          </p:cNvPr>
          <p:cNvSpPr/>
          <p:nvPr/>
        </p:nvSpPr>
        <p:spPr>
          <a:xfrm>
            <a:off x="7920010" y="630001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8244488" cy="400110"/>
          </a:xfrm>
          <a:noFill/>
          <a:ln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Aplikace AD převodníku</a:t>
            </a:r>
          </a:p>
        </p:txBody>
      </p:sp>
    </p:spTree>
    <p:extLst>
      <p:ext uri="{BB962C8B-B14F-4D97-AF65-F5344CB8AC3E}">
        <p14:creationId xmlns:p14="http://schemas.microsoft.com/office/powerpoint/2010/main" val="588565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8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888651"/>
            <a:ext cx="6588304" cy="5563056"/>
          </a:xfrm>
          <a:prstGeom prst="rect">
            <a:avLst/>
          </a:prstGeom>
        </p:spPr>
      </p:pic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8244488" cy="400110"/>
          </a:xfrm>
          <a:noFill/>
          <a:ln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Aplikace AD převodníku</a:t>
            </a:r>
          </a:p>
        </p:txBody>
      </p:sp>
      <p:sp>
        <p:nvSpPr>
          <p:cNvPr id="10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6" name="Tlačítko akce: Vlastní 15">
            <a:hlinkClick r:id="" action="ppaction://hlinkshowjump?jump=nextslide" highlightClick="1"/>
          </p:cNvPr>
          <p:cNvSpPr/>
          <p:nvPr/>
        </p:nvSpPr>
        <p:spPr>
          <a:xfrm>
            <a:off x="6840010" y="630001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7" name="Tlačítko akce: Vlastní 16">
            <a:hlinkClick r:id="" action="ppaction://hlinkshowjump?jump=previousslide" highlightClick="1"/>
          </p:cNvPr>
          <p:cNvSpPr/>
          <p:nvPr/>
        </p:nvSpPr>
        <p:spPr>
          <a:xfrm>
            <a:off x="5760009" y="630001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8" name="Tlačítko akce: Vlastní 17">
            <a:hlinkClick r:id="rId4" action="ppaction://hlinksldjump" highlightClick="1"/>
          </p:cNvPr>
          <p:cNvSpPr/>
          <p:nvPr/>
        </p:nvSpPr>
        <p:spPr>
          <a:xfrm>
            <a:off x="7920010" y="630001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754A11E5-3B91-4226-9107-00CE59468F16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 ker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defRPr>
            </a:lvl1pPr>
          </a:lstStyle>
          <a:p>
            <a:r>
              <a:rPr lang="cs-CZ" dirty="0">
                <a:sym typeface="Webdings"/>
              </a:rPr>
              <a:t>PL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790299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5" grpId="0"/>
    </p:bldLst>
  </p:timing>
</p:sld>
</file>

<file path=ppt/theme/theme1.xml><?xml version="1.0" encoding="utf-8"?>
<a:theme xmlns:a="http://schemas.openxmlformats.org/drawingml/2006/main" name="Pixel">
  <a:themeElements>
    <a:clrScheme name="MIT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666699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 w="9525">
          <a:noFill/>
          <a:miter lim="800000"/>
          <a:headEnd/>
          <a:tailEnd/>
        </a:ln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algn="r" rtl="0" fontAlgn="base">
          <a:spcBef>
            <a:spcPct val="0"/>
          </a:spcBef>
          <a:spcAft>
            <a:spcPct val="0"/>
          </a:spcAft>
          <a:defRPr sz="2400" b="1" dirty="0">
            <a:solidFill>
              <a:srgbClr val="000000"/>
            </a:solidFill>
            <a:latin typeface="Arial"/>
            <a:ea typeface="+mn-ea"/>
            <a:cs typeface="+mn-cs"/>
          </a:defRPr>
        </a:defPPr>
      </a:lstStyle>
    </a:tx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Pixel">
  <a:themeElements>
    <a:clrScheme name="MIT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666699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Pixel">
  <a:themeElements>
    <a:clrScheme name="MIT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666699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45458</TotalTime>
  <Words>2487</Words>
  <Application>Microsoft Office PowerPoint</Application>
  <PresentationFormat>Předvádění na obrazovce (4:3)</PresentationFormat>
  <Paragraphs>874</Paragraphs>
  <Slides>73</Slides>
  <Notes>73</Notes>
  <HiddenSlides>0</HiddenSlides>
  <MMClips>0</MMClips>
  <ScaleCrop>false</ScaleCrop>
  <HeadingPairs>
    <vt:vector size="8" baseType="variant">
      <vt:variant>
        <vt:lpstr>Použitá písma</vt:lpstr>
      </vt:variant>
      <vt:variant>
        <vt:i4>8</vt:i4>
      </vt:variant>
      <vt:variant>
        <vt:lpstr>Motiv</vt:lpstr>
      </vt:variant>
      <vt:variant>
        <vt:i4>3</vt:i4>
      </vt:variant>
      <vt:variant>
        <vt:lpstr>Vložené servery OLE</vt:lpstr>
      </vt:variant>
      <vt:variant>
        <vt:i4>1</vt:i4>
      </vt:variant>
      <vt:variant>
        <vt:lpstr>Nadpisy snímků</vt:lpstr>
      </vt:variant>
      <vt:variant>
        <vt:i4>73</vt:i4>
      </vt:variant>
    </vt:vector>
  </HeadingPairs>
  <TitlesOfParts>
    <vt:vector size="85" baseType="lpstr">
      <vt:lpstr>Arial</vt:lpstr>
      <vt:lpstr>Arial Black</vt:lpstr>
      <vt:lpstr>Calibri</vt:lpstr>
      <vt:lpstr>Consolas</vt:lpstr>
      <vt:lpstr>Times New Roman</vt:lpstr>
      <vt:lpstr>Verdana</vt:lpstr>
      <vt:lpstr>Webdings</vt:lpstr>
      <vt:lpstr>Wingdings</vt:lpstr>
      <vt:lpstr>Pixel</vt:lpstr>
      <vt:lpstr>1_Pixel</vt:lpstr>
      <vt:lpstr>2_Pixel</vt:lpstr>
      <vt:lpstr>Equation</vt:lpstr>
      <vt:lpstr>MIT AVR ADC převodník</vt:lpstr>
      <vt:lpstr>Mikroprocesorová technika</vt:lpstr>
      <vt:lpstr>Index</vt:lpstr>
      <vt:lpstr>Zdroje</vt:lpstr>
      <vt:lpstr>Analogové  rozhraní</vt:lpstr>
      <vt:lpstr>Regulátor</vt:lpstr>
      <vt:lpstr>Regulátor</vt:lpstr>
      <vt:lpstr>Regulátor</vt:lpstr>
      <vt:lpstr>Regulátor</vt:lpstr>
      <vt:lpstr>A/D převodník</vt:lpstr>
      <vt:lpstr>A/D převodník</vt:lpstr>
      <vt:lpstr>A/D převodník</vt:lpstr>
      <vt:lpstr>A/D převodník</vt:lpstr>
      <vt:lpstr>Typy A/D převodníků</vt:lpstr>
      <vt:lpstr>Komparační převodník</vt:lpstr>
      <vt:lpstr>Komparační převodník</vt:lpstr>
      <vt:lpstr>Komparační převodník</vt:lpstr>
      <vt:lpstr>Zpětnovazební převodník</vt:lpstr>
      <vt:lpstr>Zpětnovazební převodník</vt:lpstr>
      <vt:lpstr>Zpětnovazební převodník</vt:lpstr>
      <vt:lpstr>Zpětnovazební převodník</vt:lpstr>
      <vt:lpstr>Aproximační převodník</vt:lpstr>
      <vt:lpstr>Aproximační převodník</vt:lpstr>
      <vt:lpstr>Aproximační převodník</vt:lpstr>
      <vt:lpstr>Aproximační převodník</vt:lpstr>
      <vt:lpstr>D/A převodník </vt:lpstr>
      <vt:lpstr>Aproximační převodník</vt:lpstr>
      <vt:lpstr>Typy převodníků D/A</vt:lpstr>
      <vt:lpstr>Invertující zapojení OZ</vt:lpstr>
      <vt:lpstr>D/A převodník s váhovými rezistory</vt:lpstr>
      <vt:lpstr>D/A převodník s váhovými rezistory</vt:lpstr>
      <vt:lpstr>D/A převodník s váhovými rezistory</vt:lpstr>
      <vt:lpstr>D/A převodník s sítí R-2R</vt:lpstr>
      <vt:lpstr>D/A převodník s sítí R-2R</vt:lpstr>
      <vt:lpstr>D/A převodník s sítí R-2R</vt:lpstr>
      <vt:lpstr>Kontrolní úkoly</vt:lpstr>
      <vt:lpstr>Prezentace aplikace PowerPoint</vt:lpstr>
      <vt:lpstr>ADC AVR</vt:lpstr>
      <vt:lpstr>Schéma ADC</vt:lpstr>
      <vt:lpstr>Použití ADC v aplikaci</vt:lpstr>
      <vt:lpstr>ADC</vt:lpstr>
      <vt:lpstr>ADC</vt:lpstr>
      <vt:lpstr>ADC</vt:lpstr>
      <vt:lpstr>Registry ADMUX, ADCSRA, B</vt:lpstr>
      <vt:lpstr>Registry ADMUX, ADCSRA, B</vt:lpstr>
      <vt:lpstr>ADC – spouštění převodu</vt:lpstr>
      <vt:lpstr>ADC – spouštění převodu</vt:lpstr>
      <vt:lpstr>ADC – spouštění převodu</vt:lpstr>
      <vt:lpstr>ADC – časování převodu</vt:lpstr>
      <vt:lpstr>Základní operace s ADC</vt:lpstr>
      <vt:lpstr>Nastavení analogového vstupu</vt:lpstr>
      <vt:lpstr>Nastavení analogového vstupu</vt:lpstr>
      <vt:lpstr>Nastavení referenčního zdroje</vt:lpstr>
      <vt:lpstr>Nastavení referenčního zdroje</vt:lpstr>
      <vt:lpstr>Nastavení děličky</vt:lpstr>
      <vt:lpstr>Automatické spuštění</vt:lpstr>
      <vt:lpstr>Čtení hodnoty napětí</vt:lpstr>
      <vt:lpstr>Čtení hodnoty napětí</vt:lpstr>
      <vt:lpstr>Testování ukončení převodu</vt:lpstr>
      <vt:lpstr>Testování ukončení převodu</vt:lpstr>
      <vt:lpstr>Testování ukončení převodu</vt:lpstr>
      <vt:lpstr>Výpočet skutečné hodnoty</vt:lpstr>
      <vt:lpstr>Kontrolní úkoly</vt:lpstr>
      <vt:lpstr>Prezentace aplikace PowerPoint</vt:lpstr>
      <vt:lpstr>Aplikace AD převodníku</vt:lpstr>
      <vt:lpstr>Aplikace AD převodníku</vt:lpstr>
      <vt:lpstr>Aplikace AD převodníku</vt:lpstr>
      <vt:lpstr>Aplikace AD převodníku</vt:lpstr>
      <vt:lpstr>Prezentace aplikace PowerPoint</vt:lpstr>
      <vt:lpstr>Aplikace AD převodníku</vt:lpstr>
      <vt:lpstr>Aplikace AD převodníku</vt:lpstr>
      <vt:lpstr>Aplikace AD převodníku</vt:lpstr>
      <vt:lpstr>Aplikace AD převodníku</vt:lpstr>
    </vt:vector>
  </TitlesOfParts>
  <Company>SŠE Frenštát p.R.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Analogové rozhraní</dc:title>
  <dc:subject>MIT</dc:subject>
  <dc:creator>Juránek Leoš Ing.</dc:creator>
  <dc:description>ADC, aproximační, modul AVR</dc:description>
  <cp:lastModifiedBy>Petr Juránek</cp:lastModifiedBy>
  <cp:revision>1012</cp:revision>
  <cp:lastPrinted>2022-04-01T17:23:43Z</cp:lastPrinted>
  <dcterms:created xsi:type="dcterms:W3CDTF">2001-09-22T14:04:06Z</dcterms:created>
  <dcterms:modified xsi:type="dcterms:W3CDTF">2024-05-23T09:07:46Z</dcterms:modified>
</cp:coreProperties>
</file>