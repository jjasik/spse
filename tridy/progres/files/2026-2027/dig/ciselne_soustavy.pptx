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61"/>
  </p:notesMasterIdLst>
  <p:handoutMasterIdLst>
    <p:handoutMasterId r:id="rId62"/>
  </p:handoutMasterIdLst>
  <p:sldIdLst>
    <p:sldId id="390" r:id="rId2"/>
    <p:sldId id="396" r:id="rId3"/>
    <p:sldId id="397" r:id="rId4"/>
    <p:sldId id="351" r:id="rId5"/>
    <p:sldId id="353" r:id="rId6"/>
    <p:sldId id="344" r:id="rId7"/>
    <p:sldId id="341" r:id="rId8"/>
    <p:sldId id="339" r:id="rId9"/>
    <p:sldId id="394" r:id="rId10"/>
    <p:sldId id="340" r:id="rId11"/>
    <p:sldId id="338" r:id="rId12"/>
    <p:sldId id="401" r:id="rId13"/>
    <p:sldId id="398" r:id="rId14"/>
    <p:sldId id="402" r:id="rId15"/>
    <p:sldId id="400" r:id="rId16"/>
    <p:sldId id="346" r:id="rId17"/>
    <p:sldId id="345" r:id="rId18"/>
    <p:sldId id="349" r:id="rId19"/>
    <p:sldId id="367" r:id="rId20"/>
    <p:sldId id="350" r:id="rId21"/>
    <p:sldId id="368" r:id="rId22"/>
    <p:sldId id="354" r:id="rId23"/>
    <p:sldId id="355" r:id="rId24"/>
    <p:sldId id="356" r:id="rId25"/>
    <p:sldId id="403" r:id="rId26"/>
    <p:sldId id="405" r:id="rId27"/>
    <p:sldId id="404" r:id="rId28"/>
    <p:sldId id="406" r:id="rId29"/>
    <p:sldId id="407" r:id="rId30"/>
    <p:sldId id="395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70" r:id="rId42"/>
    <p:sldId id="371" r:id="rId43"/>
    <p:sldId id="372" r:id="rId44"/>
    <p:sldId id="374" r:id="rId45"/>
    <p:sldId id="375" r:id="rId46"/>
    <p:sldId id="376" r:id="rId47"/>
    <p:sldId id="377" r:id="rId48"/>
    <p:sldId id="409" r:id="rId49"/>
    <p:sldId id="411" r:id="rId50"/>
    <p:sldId id="412" r:id="rId51"/>
    <p:sldId id="413" r:id="rId52"/>
    <p:sldId id="414" r:id="rId53"/>
    <p:sldId id="415" r:id="rId54"/>
    <p:sldId id="382" r:id="rId55"/>
    <p:sldId id="389" r:id="rId56"/>
    <p:sldId id="332" r:id="rId57"/>
    <p:sldId id="378" r:id="rId58"/>
    <p:sldId id="381" r:id="rId59"/>
    <p:sldId id="299" r:id="rId60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01202E44-1A20-4C9D-9F80-9B046EC2327F}">
          <p14:sldIdLst/>
        </p14:section>
        <p14:section name="Číselné soustavy" id="{5DA80D2E-6A46-4AA9-9563-A566B7CC8A83}">
          <p14:sldIdLst>
            <p14:sldId id="390"/>
            <p14:sldId id="396"/>
            <p14:sldId id="397"/>
            <p14:sldId id="351"/>
            <p14:sldId id="353"/>
            <p14:sldId id="344"/>
            <p14:sldId id="341"/>
            <p14:sldId id="339"/>
            <p14:sldId id="394"/>
            <p14:sldId id="340"/>
            <p14:sldId id="338"/>
            <p14:sldId id="401"/>
          </p14:sldIdLst>
        </p14:section>
        <p14:section name="Tabulka BIN-DEC-HEX" id="{F4CF50EC-73CC-41A7-B4F7-C94981D72B23}">
          <p14:sldIdLst>
            <p14:sldId id="398"/>
            <p14:sldId id="402"/>
          </p14:sldIdLst>
        </p14:section>
        <p14:section name="Převody mezi soustavami" id="{EF3006B1-0882-4D2F-BE1F-836DC4D9B8E5}">
          <p14:sldIdLst>
            <p14:sldId id="400"/>
            <p14:sldId id="346"/>
            <p14:sldId id="345"/>
            <p14:sldId id="349"/>
            <p14:sldId id="367"/>
            <p14:sldId id="350"/>
            <p14:sldId id="368"/>
            <p14:sldId id="354"/>
            <p14:sldId id="355"/>
            <p14:sldId id="356"/>
          </p14:sldIdLst>
        </p14:section>
        <p14:section name="Příklady" id="{EAA745CD-0578-47F2-892F-8954EB27BF11}">
          <p14:sldIdLst>
            <p14:sldId id="403"/>
          </p14:sldIdLst>
        </p14:section>
        <p14:section name="Příklady převody" id="{66B2DDDF-F99E-44FB-9B0C-DBD591FD18B2}">
          <p14:sldIdLst>
            <p14:sldId id="405"/>
            <p14:sldId id="404"/>
            <p14:sldId id="406"/>
            <p14:sldId id="407"/>
          </p14:sldIdLst>
        </p14:section>
        <p14:section name="Aritmetické operace" id="{3FEF1756-E6D8-43BB-83C6-79B831CDCF2A}">
          <p14:sldIdLst>
            <p14:sldId id="395"/>
          </p14:sldIdLst>
        </p14:section>
        <p14:section name="Sčítání" id="{E4B421DF-9F95-419B-A7E1-E40336563C6A}">
          <p14:sldIdLst>
            <p14:sldId id="357"/>
            <p14:sldId id="358"/>
            <p14:sldId id="359"/>
            <p14:sldId id="360"/>
            <p14:sldId id="361"/>
          </p14:sldIdLst>
        </p14:section>
        <p14:section name="Odečítání" id="{7EAC22C4-17FE-4B06-A603-EC66635C41E2}">
          <p14:sldIdLst>
            <p14:sldId id="362"/>
            <p14:sldId id="363"/>
            <p14:sldId id="364"/>
            <p14:sldId id="365"/>
            <p14:sldId id="366"/>
          </p14:sldIdLst>
        </p14:section>
        <p14:section name="Oddíl bez názvu" id="{E08BAB2C-A02C-46EC-815D-9E4505F10F73}">
          <p14:sldIdLst>
            <p14:sldId id="370"/>
            <p14:sldId id="371"/>
            <p14:sldId id="372"/>
            <p14:sldId id="374"/>
            <p14:sldId id="375"/>
            <p14:sldId id="376"/>
            <p14:sldId id="377"/>
            <p14:sldId id="409"/>
            <p14:sldId id="411"/>
            <p14:sldId id="412"/>
            <p14:sldId id="413"/>
            <p14:sldId id="414"/>
            <p14:sldId id="415"/>
            <p14:sldId id="382"/>
            <p14:sldId id="389"/>
            <p14:sldId id="332"/>
          </p14:sldIdLst>
        </p14:section>
        <p14:section name="Oddíl bez názvu" id="{68AFC28B-9638-431B-9A73-3D80B72BB790}">
          <p14:sldIdLst>
            <p14:sldId id="378"/>
            <p14:sldId id="381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CC99"/>
    <a:srgbClr val="66CCFF"/>
    <a:srgbClr val="EAEAEA"/>
    <a:srgbClr val="996600"/>
    <a:srgbClr val="0000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Střední styl 1 – zvýraznění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Světlý styl 3 – zvýraznění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10972" autoAdjust="0"/>
    <p:restoredTop sz="86387" autoAdjust="0"/>
  </p:normalViewPr>
  <p:slideViewPr>
    <p:cSldViewPr>
      <p:cViewPr varScale="1">
        <p:scale>
          <a:sx n="82" d="100"/>
          <a:sy n="82" d="100"/>
        </p:scale>
        <p:origin x="16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4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49C5E0-3FA6-4EBD-9229-F8649C17EFD1}" type="doc">
      <dgm:prSet loTypeId="urn:microsoft.com/office/officeart/2005/8/layout/hierarchy2" loCatId="hierarchy" qsTypeId="urn:microsoft.com/office/officeart/2005/8/quickstyle/simple3#1" qsCatId="simple" csTypeId="urn:microsoft.com/office/officeart/2005/8/colors/colorful1#1" csCatId="colorful" phldr="1"/>
      <dgm:spPr/>
      <dgm:t>
        <a:bodyPr/>
        <a:lstStyle/>
        <a:p>
          <a:endParaRPr lang="cs-CZ"/>
        </a:p>
      </dgm:t>
    </dgm:pt>
    <dgm:pt modelId="{381072E9-A3DB-4A49-B289-F000D278E4A4}">
      <dgm:prSet phldrT="[Text]"/>
      <dgm:spPr>
        <a:solidFill>
          <a:schemeClr val="bg2"/>
        </a:solidFill>
      </dgm:spPr>
      <dgm:t>
        <a:bodyPr/>
        <a:lstStyle/>
        <a:p>
          <a:r>
            <a:rPr lang="cs-CZ" b="0" dirty="0">
              <a:solidFill>
                <a:schemeClr val="bg1"/>
              </a:solidFill>
              <a:latin typeface="+mn-lt"/>
            </a:rPr>
            <a:t>Převod</a:t>
          </a:r>
        </a:p>
      </dgm:t>
    </dgm:pt>
    <dgm:pt modelId="{367DD1EC-4DDC-456B-9D05-F49E088EA07E}" type="par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9862B23E-3E9D-4354-92A3-E75F1BE514C5}" type="sib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BA1F6FB8-4B31-4413-B821-42B35D20C46C}">
      <dgm:prSet phldrT="[Text]"/>
      <dgm:spPr/>
      <dgm:t>
        <a:bodyPr/>
        <a:lstStyle/>
        <a:p>
          <a:r>
            <a:rPr lang="cs-CZ" dirty="0">
              <a:latin typeface="+mn-lt"/>
            </a:rPr>
            <a:t>dekadická </a:t>
          </a:r>
          <a:r>
            <a:rPr lang="cs-CZ" dirty="0">
              <a:latin typeface="+mn-lt"/>
              <a:sym typeface="Wingdings"/>
            </a:rPr>
            <a:t> binární, hexadecimální</a:t>
          </a:r>
          <a:endParaRPr lang="cs-CZ" dirty="0">
            <a:latin typeface="+mn-lt"/>
          </a:endParaRPr>
        </a:p>
      </dgm:t>
    </dgm:pt>
    <dgm:pt modelId="{84C2AF6F-7161-43EE-869A-F69FF843122C}" type="parTrans" cxnId="{84FC2009-7D8F-4B2C-BDF5-B148C1B0EA22}">
      <dgm:prSet/>
      <dgm:spPr/>
      <dgm:t>
        <a:bodyPr/>
        <a:lstStyle/>
        <a:p>
          <a:endParaRPr lang="cs-CZ"/>
        </a:p>
      </dgm:t>
    </dgm:pt>
    <dgm:pt modelId="{005E4BA6-AC1D-4593-81DB-D79A418E320E}" type="sibTrans" cxnId="{84FC2009-7D8F-4B2C-BDF5-B148C1B0EA22}">
      <dgm:prSet/>
      <dgm:spPr/>
      <dgm:t>
        <a:bodyPr/>
        <a:lstStyle/>
        <a:p>
          <a:endParaRPr lang="cs-CZ"/>
        </a:p>
      </dgm:t>
    </dgm:pt>
    <dgm:pt modelId="{D4A5E16B-9891-49B2-8EB3-896F0EF95A1A}">
      <dgm:prSet phldrT="[Text]"/>
      <dgm:spPr/>
      <dgm:t>
        <a:bodyPr/>
        <a:lstStyle/>
        <a:p>
          <a:r>
            <a:rPr lang="cs-CZ" dirty="0">
              <a:latin typeface="+mn-lt"/>
            </a:rPr>
            <a:t>binární </a:t>
          </a:r>
          <a:r>
            <a:rPr lang="cs-CZ" dirty="0">
              <a:latin typeface="+mn-lt"/>
              <a:sym typeface="Wingdings"/>
            </a:rPr>
            <a:t> hexadecimální</a:t>
          </a:r>
          <a:endParaRPr lang="cs-CZ" dirty="0">
            <a:latin typeface="+mn-lt"/>
          </a:endParaRPr>
        </a:p>
      </dgm:t>
    </dgm:pt>
    <dgm:pt modelId="{F445255D-186C-48CB-965F-759DFB0B98C7}" type="parTrans" cxnId="{1278BA04-7FCF-4D3F-A318-F2A314A3D6C7}">
      <dgm:prSet/>
      <dgm:spPr/>
      <dgm:t>
        <a:bodyPr/>
        <a:lstStyle/>
        <a:p>
          <a:endParaRPr lang="cs-CZ"/>
        </a:p>
      </dgm:t>
    </dgm:pt>
    <dgm:pt modelId="{1382833A-1869-4A6E-B120-445431F25197}" type="sibTrans" cxnId="{1278BA04-7FCF-4D3F-A318-F2A314A3D6C7}">
      <dgm:prSet/>
      <dgm:spPr/>
      <dgm:t>
        <a:bodyPr/>
        <a:lstStyle/>
        <a:p>
          <a:endParaRPr lang="cs-CZ"/>
        </a:p>
      </dgm:t>
    </dgm:pt>
    <dgm:pt modelId="{D7ED9693-0360-460E-964C-14377F9BEA86}">
      <dgm:prSet phldrT="[Text]"/>
      <dgm:spPr/>
      <dgm:t>
        <a:bodyPr/>
        <a:lstStyle/>
        <a:p>
          <a:r>
            <a:rPr lang="cs-CZ" dirty="0">
              <a:latin typeface="+mn-lt"/>
              <a:sym typeface="Wingdings"/>
            </a:rPr>
            <a:t>binární, hexadecimální  </a:t>
          </a:r>
          <a:r>
            <a:rPr lang="cs-CZ" dirty="0">
              <a:latin typeface="+mn-lt"/>
            </a:rPr>
            <a:t>dekadická</a:t>
          </a:r>
        </a:p>
      </dgm:t>
    </dgm:pt>
    <dgm:pt modelId="{2028D063-14A5-4899-9F6E-09DC10A44A75}" type="parTrans" cxnId="{0B27408E-A8CA-4344-8978-EA018E29B194}">
      <dgm:prSet/>
      <dgm:spPr/>
      <dgm:t>
        <a:bodyPr/>
        <a:lstStyle/>
        <a:p>
          <a:endParaRPr lang="cs-CZ"/>
        </a:p>
      </dgm:t>
    </dgm:pt>
    <dgm:pt modelId="{E18CDEAF-15C4-43D8-BF1B-36F0B383245F}" type="sibTrans" cxnId="{0B27408E-A8CA-4344-8978-EA018E29B194}">
      <dgm:prSet/>
      <dgm:spPr/>
      <dgm:t>
        <a:bodyPr/>
        <a:lstStyle/>
        <a:p>
          <a:endParaRPr lang="cs-CZ"/>
        </a:p>
      </dgm:t>
    </dgm:pt>
    <dgm:pt modelId="{DE442A96-F736-42CC-A010-93970526242A}" type="pres">
      <dgm:prSet presAssocID="{6D49C5E0-3FA6-4EBD-9229-F8649C17EF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4EEB2D-925C-4B4D-8EFD-E212FF3D73EB}" type="pres">
      <dgm:prSet presAssocID="{381072E9-A3DB-4A49-B289-F000D278E4A4}" presName="root1" presStyleCnt="0"/>
      <dgm:spPr/>
    </dgm:pt>
    <dgm:pt modelId="{2FDA1297-9925-4CEA-9767-12F27B10941B}" type="pres">
      <dgm:prSet presAssocID="{381072E9-A3DB-4A49-B289-F000D278E4A4}" presName="LevelOneTextNode" presStyleLbl="node0" presStyleIdx="0" presStyleCnt="1" custLinFactNeighborX="-36722" custLinFactNeighborY="419">
        <dgm:presLayoutVars>
          <dgm:chPref val="3"/>
        </dgm:presLayoutVars>
      </dgm:prSet>
      <dgm:spPr/>
    </dgm:pt>
    <dgm:pt modelId="{42445695-10AF-4913-9731-1AE565818E62}" type="pres">
      <dgm:prSet presAssocID="{381072E9-A3DB-4A49-B289-F000D278E4A4}" presName="level2hierChild" presStyleCnt="0"/>
      <dgm:spPr/>
    </dgm:pt>
    <dgm:pt modelId="{90DE735E-82E3-42FC-8AB4-5CE20C1F1293}" type="pres">
      <dgm:prSet presAssocID="{2028D063-14A5-4899-9F6E-09DC10A44A75}" presName="conn2-1" presStyleLbl="parChTrans1D2" presStyleIdx="0" presStyleCnt="3"/>
      <dgm:spPr/>
    </dgm:pt>
    <dgm:pt modelId="{390F02D7-E6A3-47AB-AE56-373A960FE67C}" type="pres">
      <dgm:prSet presAssocID="{2028D063-14A5-4899-9F6E-09DC10A44A75}" presName="connTx" presStyleLbl="parChTrans1D2" presStyleIdx="0" presStyleCnt="3"/>
      <dgm:spPr/>
    </dgm:pt>
    <dgm:pt modelId="{9E806AB1-842D-4A00-A853-9DC20E6A49C3}" type="pres">
      <dgm:prSet presAssocID="{D7ED9693-0360-460E-964C-14377F9BEA86}" presName="root2" presStyleCnt="0"/>
      <dgm:spPr/>
    </dgm:pt>
    <dgm:pt modelId="{29045744-0553-4FCB-806B-3838D8C83377}" type="pres">
      <dgm:prSet presAssocID="{D7ED9693-0360-460E-964C-14377F9BEA86}" presName="LevelTwoTextNode" presStyleLbl="node2" presStyleIdx="0" presStyleCnt="3" custScaleX="305787">
        <dgm:presLayoutVars>
          <dgm:chPref val="3"/>
        </dgm:presLayoutVars>
      </dgm:prSet>
      <dgm:spPr/>
    </dgm:pt>
    <dgm:pt modelId="{95D28C1F-ACED-43D8-81A0-B3A04F91F2C5}" type="pres">
      <dgm:prSet presAssocID="{D7ED9693-0360-460E-964C-14377F9BEA86}" presName="level3hierChild" presStyleCnt="0"/>
      <dgm:spPr/>
    </dgm:pt>
    <dgm:pt modelId="{848B5032-6AF2-4913-9045-DDA1B05C8E1F}" type="pres">
      <dgm:prSet presAssocID="{84C2AF6F-7161-43EE-869A-F69FF843122C}" presName="conn2-1" presStyleLbl="parChTrans1D2" presStyleIdx="1" presStyleCnt="3"/>
      <dgm:spPr/>
    </dgm:pt>
    <dgm:pt modelId="{1000D6A3-C2E8-423C-8319-FBD46C491D8B}" type="pres">
      <dgm:prSet presAssocID="{84C2AF6F-7161-43EE-869A-F69FF843122C}" presName="connTx" presStyleLbl="parChTrans1D2" presStyleIdx="1" presStyleCnt="3"/>
      <dgm:spPr/>
    </dgm:pt>
    <dgm:pt modelId="{3927AE85-4E28-4F88-8359-B954E69A30B1}" type="pres">
      <dgm:prSet presAssocID="{BA1F6FB8-4B31-4413-B821-42B35D20C46C}" presName="root2" presStyleCnt="0"/>
      <dgm:spPr/>
    </dgm:pt>
    <dgm:pt modelId="{5C3F74F2-B247-4890-AFB4-7B2C47DE65AA}" type="pres">
      <dgm:prSet presAssocID="{BA1F6FB8-4B31-4413-B821-42B35D20C46C}" presName="LevelTwoTextNode" presStyleLbl="node2" presStyleIdx="1" presStyleCnt="3" custScaleX="305787">
        <dgm:presLayoutVars>
          <dgm:chPref val="3"/>
        </dgm:presLayoutVars>
      </dgm:prSet>
      <dgm:spPr/>
    </dgm:pt>
    <dgm:pt modelId="{455973BD-847E-4A29-9359-BEF75303010F}" type="pres">
      <dgm:prSet presAssocID="{BA1F6FB8-4B31-4413-B821-42B35D20C46C}" presName="level3hierChild" presStyleCnt="0"/>
      <dgm:spPr/>
    </dgm:pt>
    <dgm:pt modelId="{11235CC9-45A5-4D47-88B2-8214B1CCDA54}" type="pres">
      <dgm:prSet presAssocID="{F445255D-186C-48CB-965F-759DFB0B98C7}" presName="conn2-1" presStyleLbl="parChTrans1D2" presStyleIdx="2" presStyleCnt="3"/>
      <dgm:spPr/>
    </dgm:pt>
    <dgm:pt modelId="{70F1FA87-F114-4646-B0DA-EB7034F8C1C3}" type="pres">
      <dgm:prSet presAssocID="{F445255D-186C-48CB-965F-759DFB0B98C7}" presName="connTx" presStyleLbl="parChTrans1D2" presStyleIdx="2" presStyleCnt="3"/>
      <dgm:spPr/>
    </dgm:pt>
    <dgm:pt modelId="{F4086D76-96DE-4104-B4AE-F763E1E741CB}" type="pres">
      <dgm:prSet presAssocID="{D4A5E16B-9891-49B2-8EB3-896F0EF95A1A}" presName="root2" presStyleCnt="0"/>
      <dgm:spPr/>
    </dgm:pt>
    <dgm:pt modelId="{FBDFBE8A-69B3-4B71-B4C8-7DF931ECD551}" type="pres">
      <dgm:prSet presAssocID="{D4A5E16B-9891-49B2-8EB3-896F0EF95A1A}" presName="LevelTwoTextNode" presStyleLbl="node2" presStyleIdx="2" presStyleCnt="3" custScaleX="305787">
        <dgm:presLayoutVars>
          <dgm:chPref val="3"/>
        </dgm:presLayoutVars>
      </dgm:prSet>
      <dgm:spPr/>
    </dgm:pt>
    <dgm:pt modelId="{07788296-3E55-4D12-9CF0-3B7788BBE4F0}" type="pres">
      <dgm:prSet presAssocID="{D4A5E16B-9891-49B2-8EB3-896F0EF95A1A}" presName="level3hierChild" presStyleCnt="0"/>
      <dgm:spPr/>
    </dgm:pt>
  </dgm:ptLst>
  <dgm:cxnLst>
    <dgm:cxn modelId="{1278BA04-7FCF-4D3F-A318-F2A314A3D6C7}" srcId="{381072E9-A3DB-4A49-B289-F000D278E4A4}" destId="{D4A5E16B-9891-49B2-8EB3-896F0EF95A1A}" srcOrd="2" destOrd="0" parTransId="{F445255D-186C-48CB-965F-759DFB0B98C7}" sibTransId="{1382833A-1869-4A6E-B120-445431F25197}"/>
    <dgm:cxn modelId="{84FC2009-7D8F-4B2C-BDF5-B148C1B0EA22}" srcId="{381072E9-A3DB-4A49-B289-F000D278E4A4}" destId="{BA1F6FB8-4B31-4413-B821-42B35D20C46C}" srcOrd="1" destOrd="0" parTransId="{84C2AF6F-7161-43EE-869A-F69FF843122C}" sibTransId="{005E4BA6-AC1D-4593-81DB-D79A418E320E}"/>
    <dgm:cxn modelId="{D7460A0D-B934-43D1-A168-FCAE19FE1A18}" type="presOf" srcId="{381072E9-A3DB-4A49-B289-F000D278E4A4}" destId="{2FDA1297-9925-4CEA-9767-12F27B10941B}" srcOrd="0" destOrd="0" presId="urn:microsoft.com/office/officeart/2005/8/layout/hierarchy2"/>
    <dgm:cxn modelId="{41E43E21-6EBA-4CE8-AF06-5717DCF87739}" type="presOf" srcId="{F445255D-186C-48CB-965F-759DFB0B98C7}" destId="{70F1FA87-F114-4646-B0DA-EB7034F8C1C3}" srcOrd="1" destOrd="0" presId="urn:microsoft.com/office/officeart/2005/8/layout/hierarchy2"/>
    <dgm:cxn modelId="{CD71372F-5770-4546-9F5E-EBDADE0FD419}" type="presOf" srcId="{2028D063-14A5-4899-9F6E-09DC10A44A75}" destId="{390F02D7-E6A3-47AB-AE56-373A960FE67C}" srcOrd="1" destOrd="0" presId="urn:microsoft.com/office/officeart/2005/8/layout/hierarchy2"/>
    <dgm:cxn modelId="{86D03042-F8A8-457C-8D24-31708C763011}" type="presOf" srcId="{2028D063-14A5-4899-9F6E-09DC10A44A75}" destId="{90DE735E-82E3-42FC-8AB4-5CE20C1F1293}" srcOrd="0" destOrd="0" presId="urn:microsoft.com/office/officeart/2005/8/layout/hierarchy2"/>
    <dgm:cxn modelId="{9A1D0D72-0659-46FE-B6F9-CAB5621B41AD}" type="presOf" srcId="{84C2AF6F-7161-43EE-869A-F69FF843122C}" destId="{848B5032-6AF2-4913-9045-DDA1B05C8E1F}" srcOrd="0" destOrd="0" presId="urn:microsoft.com/office/officeart/2005/8/layout/hierarchy2"/>
    <dgm:cxn modelId="{59E5CE7D-014F-4DA2-9F72-209EAD8EF57F}" srcId="{6D49C5E0-3FA6-4EBD-9229-F8649C17EFD1}" destId="{381072E9-A3DB-4A49-B289-F000D278E4A4}" srcOrd="0" destOrd="0" parTransId="{367DD1EC-4DDC-456B-9D05-F49E088EA07E}" sibTransId="{9862B23E-3E9D-4354-92A3-E75F1BE514C5}"/>
    <dgm:cxn modelId="{0B27408E-A8CA-4344-8978-EA018E29B194}" srcId="{381072E9-A3DB-4A49-B289-F000D278E4A4}" destId="{D7ED9693-0360-460E-964C-14377F9BEA86}" srcOrd="0" destOrd="0" parTransId="{2028D063-14A5-4899-9F6E-09DC10A44A75}" sibTransId="{E18CDEAF-15C4-43D8-BF1B-36F0B383245F}"/>
    <dgm:cxn modelId="{FF94BB8F-4DB3-480C-B16D-D3738F106682}" type="presOf" srcId="{BA1F6FB8-4B31-4413-B821-42B35D20C46C}" destId="{5C3F74F2-B247-4890-AFB4-7B2C47DE65AA}" srcOrd="0" destOrd="0" presId="urn:microsoft.com/office/officeart/2005/8/layout/hierarchy2"/>
    <dgm:cxn modelId="{74F376A4-3941-45AA-8266-2CC38FAE5FC2}" type="presOf" srcId="{D7ED9693-0360-460E-964C-14377F9BEA86}" destId="{29045744-0553-4FCB-806B-3838D8C83377}" srcOrd="0" destOrd="0" presId="urn:microsoft.com/office/officeart/2005/8/layout/hierarchy2"/>
    <dgm:cxn modelId="{EC8D39C0-4804-4CC9-9447-79E4DCFC4CC1}" type="presOf" srcId="{84C2AF6F-7161-43EE-869A-F69FF843122C}" destId="{1000D6A3-C2E8-423C-8319-FBD46C491D8B}" srcOrd="1" destOrd="0" presId="urn:microsoft.com/office/officeart/2005/8/layout/hierarchy2"/>
    <dgm:cxn modelId="{817A1ED6-54B1-497A-A07A-5FA2969AAB6B}" type="presOf" srcId="{D4A5E16B-9891-49B2-8EB3-896F0EF95A1A}" destId="{FBDFBE8A-69B3-4B71-B4C8-7DF931ECD551}" srcOrd="0" destOrd="0" presId="urn:microsoft.com/office/officeart/2005/8/layout/hierarchy2"/>
    <dgm:cxn modelId="{9ADC6DE2-C5C0-436C-AA9A-9EDA65831345}" type="presOf" srcId="{F445255D-186C-48CB-965F-759DFB0B98C7}" destId="{11235CC9-45A5-4D47-88B2-8214B1CCDA54}" srcOrd="0" destOrd="0" presId="urn:microsoft.com/office/officeart/2005/8/layout/hierarchy2"/>
    <dgm:cxn modelId="{6D4C6DE5-F348-4654-95BE-3819090A3105}" type="presOf" srcId="{6D49C5E0-3FA6-4EBD-9229-F8649C17EFD1}" destId="{DE442A96-F736-42CC-A010-93970526242A}" srcOrd="0" destOrd="0" presId="urn:microsoft.com/office/officeart/2005/8/layout/hierarchy2"/>
    <dgm:cxn modelId="{92876253-5A31-4A57-B377-AF7878029A2A}" type="presParOf" srcId="{DE442A96-F736-42CC-A010-93970526242A}" destId="{C84EEB2D-925C-4B4D-8EFD-E212FF3D73EB}" srcOrd="0" destOrd="0" presId="urn:microsoft.com/office/officeart/2005/8/layout/hierarchy2"/>
    <dgm:cxn modelId="{BB1210E5-E771-4CE5-92F3-10FFEB638EE8}" type="presParOf" srcId="{C84EEB2D-925C-4B4D-8EFD-E212FF3D73EB}" destId="{2FDA1297-9925-4CEA-9767-12F27B10941B}" srcOrd="0" destOrd="0" presId="urn:microsoft.com/office/officeart/2005/8/layout/hierarchy2"/>
    <dgm:cxn modelId="{758CEED2-4E0D-429F-91A8-702D2BF9835C}" type="presParOf" srcId="{C84EEB2D-925C-4B4D-8EFD-E212FF3D73EB}" destId="{42445695-10AF-4913-9731-1AE565818E62}" srcOrd="1" destOrd="0" presId="urn:microsoft.com/office/officeart/2005/8/layout/hierarchy2"/>
    <dgm:cxn modelId="{8F3074E9-EF57-4E43-A026-D6393FC8A248}" type="presParOf" srcId="{42445695-10AF-4913-9731-1AE565818E62}" destId="{90DE735E-82E3-42FC-8AB4-5CE20C1F1293}" srcOrd="0" destOrd="0" presId="urn:microsoft.com/office/officeart/2005/8/layout/hierarchy2"/>
    <dgm:cxn modelId="{230C67F8-9A7F-4523-95A9-6B7983A076CE}" type="presParOf" srcId="{90DE735E-82E3-42FC-8AB4-5CE20C1F1293}" destId="{390F02D7-E6A3-47AB-AE56-373A960FE67C}" srcOrd="0" destOrd="0" presId="urn:microsoft.com/office/officeart/2005/8/layout/hierarchy2"/>
    <dgm:cxn modelId="{675DBB8F-96E2-4213-B55F-503A18ADA087}" type="presParOf" srcId="{42445695-10AF-4913-9731-1AE565818E62}" destId="{9E806AB1-842D-4A00-A853-9DC20E6A49C3}" srcOrd="1" destOrd="0" presId="urn:microsoft.com/office/officeart/2005/8/layout/hierarchy2"/>
    <dgm:cxn modelId="{4B1465D7-0F69-432E-83C6-F43B769D4EE1}" type="presParOf" srcId="{9E806AB1-842D-4A00-A853-9DC20E6A49C3}" destId="{29045744-0553-4FCB-806B-3838D8C83377}" srcOrd="0" destOrd="0" presId="urn:microsoft.com/office/officeart/2005/8/layout/hierarchy2"/>
    <dgm:cxn modelId="{6E5C977A-4120-4DFB-A2D5-6152E0D4DCD1}" type="presParOf" srcId="{9E806AB1-842D-4A00-A853-9DC20E6A49C3}" destId="{95D28C1F-ACED-43D8-81A0-B3A04F91F2C5}" srcOrd="1" destOrd="0" presId="urn:microsoft.com/office/officeart/2005/8/layout/hierarchy2"/>
    <dgm:cxn modelId="{394FD635-91BE-463A-9B2E-A5DA19406C39}" type="presParOf" srcId="{42445695-10AF-4913-9731-1AE565818E62}" destId="{848B5032-6AF2-4913-9045-DDA1B05C8E1F}" srcOrd="2" destOrd="0" presId="urn:microsoft.com/office/officeart/2005/8/layout/hierarchy2"/>
    <dgm:cxn modelId="{64D210D4-DB2C-43EB-856E-67C4F4218496}" type="presParOf" srcId="{848B5032-6AF2-4913-9045-DDA1B05C8E1F}" destId="{1000D6A3-C2E8-423C-8319-FBD46C491D8B}" srcOrd="0" destOrd="0" presId="urn:microsoft.com/office/officeart/2005/8/layout/hierarchy2"/>
    <dgm:cxn modelId="{9F2DDDE4-34B6-427A-A821-EC0ABA24DC34}" type="presParOf" srcId="{42445695-10AF-4913-9731-1AE565818E62}" destId="{3927AE85-4E28-4F88-8359-B954E69A30B1}" srcOrd="3" destOrd="0" presId="urn:microsoft.com/office/officeart/2005/8/layout/hierarchy2"/>
    <dgm:cxn modelId="{F0C64337-507F-4267-B8DF-2C6A60D61B87}" type="presParOf" srcId="{3927AE85-4E28-4F88-8359-B954E69A30B1}" destId="{5C3F74F2-B247-4890-AFB4-7B2C47DE65AA}" srcOrd="0" destOrd="0" presId="urn:microsoft.com/office/officeart/2005/8/layout/hierarchy2"/>
    <dgm:cxn modelId="{0E92355D-A4F7-4346-A6CC-F6DF9295B7A8}" type="presParOf" srcId="{3927AE85-4E28-4F88-8359-B954E69A30B1}" destId="{455973BD-847E-4A29-9359-BEF75303010F}" srcOrd="1" destOrd="0" presId="urn:microsoft.com/office/officeart/2005/8/layout/hierarchy2"/>
    <dgm:cxn modelId="{080A3B89-827D-49C8-9880-0C47EDEC54A2}" type="presParOf" srcId="{42445695-10AF-4913-9731-1AE565818E62}" destId="{11235CC9-45A5-4D47-88B2-8214B1CCDA54}" srcOrd="4" destOrd="0" presId="urn:microsoft.com/office/officeart/2005/8/layout/hierarchy2"/>
    <dgm:cxn modelId="{96717AB8-6E41-4350-8117-E15B17F56680}" type="presParOf" srcId="{11235CC9-45A5-4D47-88B2-8214B1CCDA54}" destId="{70F1FA87-F114-4646-B0DA-EB7034F8C1C3}" srcOrd="0" destOrd="0" presId="urn:microsoft.com/office/officeart/2005/8/layout/hierarchy2"/>
    <dgm:cxn modelId="{D79F6F18-36D4-4E0E-BF8E-178BAEC2C436}" type="presParOf" srcId="{42445695-10AF-4913-9731-1AE565818E62}" destId="{F4086D76-96DE-4104-B4AE-F763E1E741CB}" srcOrd="5" destOrd="0" presId="urn:microsoft.com/office/officeart/2005/8/layout/hierarchy2"/>
    <dgm:cxn modelId="{7E913998-8E31-45DD-99F5-73BAECA142B6}" type="presParOf" srcId="{F4086D76-96DE-4104-B4AE-F763E1E741CB}" destId="{FBDFBE8A-69B3-4B71-B4C8-7DF931ECD551}" srcOrd="0" destOrd="0" presId="urn:microsoft.com/office/officeart/2005/8/layout/hierarchy2"/>
    <dgm:cxn modelId="{42D295A7-6B6D-4664-8626-101C67F7757D}" type="presParOf" srcId="{F4086D76-96DE-4104-B4AE-F763E1E741CB}" destId="{07788296-3E55-4D12-9CF0-3B7788BBE4F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1297-9925-4CEA-9767-12F27B10941B}">
      <dsp:nvSpPr>
        <dsp:cNvPr id="0" name=""/>
        <dsp:cNvSpPr/>
      </dsp:nvSpPr>
      <dsp:spPr>
        <a:xfrm>
          <a:off x="0" y="1495826"/>
          <a:ext cx="1695299" cy="847649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0" kern="1200" dirty="0">
              <a:solidFill>
                <a:schemeClr val="bg1"/>
              </a:solidFill>
              <a:latin typeface="+mn-lt"/>
            </a:rPr>
            <a:t>Převod</a:t>
          </a:r>
        </a:p>
      </dsp:txBody>
      <dsp:txXfrm>
        <a:off x="24827" y="1520653"/>
        <a:ext cx="1645645" cy="797995"/>
      </dsp:txXfrm>
    </dsp:sp>
    <dsp:sp modelId="{90DE735E-82E3-42FC-8AB4-5CE20C1F1293}">
      <dsp:nvSpPr>
        <dsp:cNvPr id="0" name=""/>
        <dsp:cNvSpPr/>
      </dsp:nvSpPr>
      <dsp:spPr>
        <a:xfrm rot="18286667">
          <a:off x="1439444" y="1410570"/>
          <a:ext cx="1191117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1117" y="1990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005225" y="1400699"/>
        <a:ext cx="59555" cy="59555"/>
      </dsp:txXfrm>
    </dsp:sp>
    <dsp:sp modelId="{29045744-0553-4FCB-806B-3838D8C83377}">
      <dsp:nvSpPr>
        <dsp:cNvPr id="0" name=""/>
        <dsp:cNvSpPr/>
      </dsp:nvSpPr>
      <dsp:spPr>
        <a:xfrm>
          <a:off x="2374706" y="517477"/>
          <a:ext cx="5184005" cy="8476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>
              <a:latin typeface="+mn-lt"/>
              <a:sym typeface="Wingdings"/>
            </a:rPr>
            <a:t>binární, hexadecimální  </a:t>
          </a:r>
          <a:r>
            <a:rPr lang="cs-CZ" sz="2500" kern="1200" dirty="0">
              <a:latin typeface="+mn-lt"/>
            </a:rPr>
            <a:t>dekadická</a:t>
          </a:r>
        </a:p>
      </dsp:txBody>
      <dsp:txXfrm>
        <a:off x="2399533" y="542304"/>
        <a:ext cx="5134351" cy="797995"/>
      </dsp:txXfrm>
    </dsp:sp>
    <dsp:sp modelId="{848B5032-6AF2-4913-9045-DDA1B05C8E1F}">
      <dsp:nvSpPr>
        <dsp:cNvPr id="0" name=""/>
        <dsp:cNvSpPr/>
      </dsp:nvSpPr>
      <dsp:spPr>
        <a:xfrm rot="21582029">
          <a:off x="1695294" y="1897968"/>
          <a:ext cx="679416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679416" y="1990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018017" y="1900890"/>
        <a:ext cx="33970" cy="33970"/>
      </dsp:txXfrm>
    </dsp:sp>
    <dsp:sp modelId="{5C3F74F2-B247-4890-AFB4-7B2C47DE65AA}">
      <dsp:nvSpPr>
        <dsp:cNvPr id="0" name=""/>
        <dsp:cNvSpPr/>
      </dsp:nvSpPr>
      <dsp:spPr>
        <a:xfrm>
          <a:off x="2374706" y="1492275"/>
          <a:ext cx="5184005" cy="8476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>
              <a:latin typeface="+mn-lt"/>
            </a:rPr>
            <a:t>dekadická </a:t>
          </a:r>
          <a:r>
            <a:rPr lang="cs-CZ" sz="2500" kern="1200" dirty="0">
              <a:latin typeface="+mn-lt"/>
              <a:sym typeface="Wingdings"/>
            </a:rPr>
            <a:t> binární, hexadecimální</a:t>
          </a:r>
          <a:endParaRPr lang="cs-CZ" sz="2500" kern="1200" dirty="0">
            <a:latin typeface="+mn-lt"/>
          </a:endParaRPr>
        </a:p>
      </dsp:txBody>
      <dsp:txXfrm>
        <a:off x="2399533" y="1517102"/>
        <a:ext cx="5134351" cy="797995"/>
      </dsp:txXfrm>
    </dsp:sp>
    <dsp:sp modelId="{11235CC9-45A5-4D47-88B2-8214B1CCDA54}">
      <dsp:nvSpPr>
        <dsp:cNvPr id="0" name=""/>
        <dsp:cNvSpPr/>
      </dsp:nvSpPr>
      <dsp:spPr>
        <a:xfrm rot="3301582">
          <a:off x="1442358" y="2385367"/>
          <a:ext cx="118529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85290" y="1990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005370" y="2375642"/>
        <a:ext cx="59264" cy="59264"/>
      </dsp:txXfrm>
    </dsp:sp>
    <dsp:sp modelId="{FBDFBE8A-69B3-4B71-B4C8-7DF931ECD551}">
      <dsp:nvSpPr>
        <dsp:cNvPr id="0" name=""/>
        <dsp:cNvSpPr/>
      </dsp:nvSpPr>
      <dsp:spPr>
        <a:xfrm>
          <a:off x="2374706" y="2467072"/>
          <a:ext cx="5184005" cy="8476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>
              <a:latin typeface="+mn-lt"/>
            </a:rPr>
            <a:t>binární </a:t>
          </a:r>
          <a:r>
            <a:rPr lang="cs-CZ" sz="2400" kern="1200" dirty="0">
              <a:latin typeface="+mn-lt"/>
              <a:sym typeface="Wingdings"/>
            </a:rPr>
            <a:t> hexadecimální</a:t>
          </a:r>
          <a:endParaRPr lang="cs-CZ" sz="2400" kern="1200" dirty="0">
            <a:latin typeface="+mn-lt"/>
          </a:endParaRPr>
        </a:p>
      </dsp:txBody>
      <dsp:txXfrm>
        <a:off x="2399533" y="2491899"/>
        <a:ext cx="5134351" cy="797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8762" cy="5120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16" tIns="47709" rIns="95416" bIns="47709" numCol="1" anchor="t" anchorCtr="0" compatLnSpc="1">
            <a:prstTxWarp prst="textNoShape">
              <a:avLst/>
            </a:prstTxWarp>
          </a:bodyPr>
          <a:lstStyle>
            <a:lvl1pPr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304" y="2"/>
            <a:ext cx="3078761" cy="5120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16" tIns="47709" rIns="95416" bIns="47709" numCol="1" anchor="t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557"/>
            <a:ext cx="3078762" cy="512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16" tIns="47709" rIns="95416" bIns="47709" numCol="1" anchor="b" anchorCtr="0" compatLnSpc="1">
            <a:prstTxWarp prst="textNoShape">
              <a:avLst/>
            </a:prstTxWarp>
          </a:bodyPr>
          <a:lstStyle>
            <a:lvl1pPr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304" y="9722557"/>
            <a:ext cx="3078761" cy="512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16" tIns="47709" rIns="95416" bIns="47709" numCol="1" anchor="b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fld id="{2081B34B-3610-4123-AE16-D3137D4DC872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1578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6" tIns="47709" rIns="95416" bIns="47709" numCol="1" anchor="t" anchorCtr="0" compatLnSpc="1">
            <a:prstTxWarp prst="textNoShape">
              <a:avLst/>
            </a:prstTxWarp>
          </a:bodyPr>
          <a:lstStyle>
            <a:lvl1pPr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630" y="2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6" tIns="47709" rIns="95416" bIns="47709" numCol="1" anchor="t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9687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0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742" y="4862101"/>
            <a:ext cx="5682582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6" tIns="47709" rIns="95416" bIns="47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180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907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6" tIns="47709" rIns="95416" bIns="47709" numCol="1" anchor="b" anchorCtr="0" compatLnSpc="1">
            <a:prstTxWarp prst="textNoShape">
              <a:avLst/>
            </a:prstTxWarp>
          </a:bodyPr>
          <a:lstStyle>
            <a:lvl1pPr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80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630" y="9720907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6" tIns="47709" rIns="95416" bIns="47709" numCol="1" anchor="b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fld id="{848DDB5E-92C7-41CD-9A3A-2624E489E43D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8210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1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950863-C817-4552-9A30-7E253C89AEAC}" type="slidenum">
              <a:rPr lang="cs-CZ"/>
              <a:pPr/>
              <a:t>2</a:t>
            </a:fld>
            <a:endParaRPr lang="cs-CZ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950863-C817-4552-9A30-7E253C89AEAC}" type="slidenum">
              <a:rPr lang="cs-CZ"/>
              <a:pPr/>
              <a:t>3</a:t>
            </a:fld>
            <a:endParaRPr lang="cs-CZ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C670AF-6BA4-4B1D-B5DD-EC0368A5ED23}" type="slidenum">
              <a:rPr lang="cs-CZ"/>
              <a:pPr/>
              <a:t>4</a:t>
            </a:fld>
            <a:endParaRPr lang="cs-CZ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143199-A2A2-4A0B-9D88-67AF1ED62CA4}" type="slidenum">
              <a:rPr lang="cs-CZ"/>
              <a:pPr/>
              <a:t>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A39534-B378-42F9-81F6-0DC1AB7CA7A3}" type="slidenum">
              <a:rPr lang="cs-CZ"/>
              <a:pPr/>
              <a:t>6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8F4AD7-C85E-4B45-8725-4189CDDD98B2}" type="slidenum">
              <a:rPr lang="cs-CZ"/>
              <a:pPr/>
              <a:t>7</a:t>
            </a:fld>
            <a:endParaRPr lang="cs-CZ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C4967E-D604-4C5C-87AA-6A4F8AEAC335}" type="slidenum">
              <a:rPr lang="cs-CZ"/>
              <a:pPr/>
              <a:t>8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C4967E-D604-4C5C-87AA-6A4F8AEAC335}" type="slidenum">
              <a:rPr lang="cs-CZ"/>
              <a:pPr/>
              <a:t>9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FF807-5B44-45CE-8F10-E074D5B51352}" type="slidenum">
              <a:rPr lang="cs-CZ"/>
              <a:pPr/>
              <a:t>10</a:t>
            </a:fld>
            <a:endParaRPr lang="cs-CZ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4F663-5D5C-4887-A1C9-A702598896B8}" type="slidenum">
              <a:rPr lang="cs-CZ"/>
              <a:pPr/>
              <a:t>11</a:t>
            </a:fld>
            <a:endParaRPr lang="cs-CZ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143199-A2A2-4A0B-9D88-67AF1ED62CA4}" type="slidenum">
              <a:rPr lang="cs-CZ"/>
              <a:pPr/>
              <a:t>12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C4BCF1-E75D-4FCF-83CD-CCE245D2951D}" type="slidenum">
              <a:rPr lang="cs-CZ"/>
              <a:pPr/>
              <a:t>13</a:t>
            </a:fld>
            <a:endParaRPr lang="cs-CZ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C4BCF1-E75D-4FCF-83CD-CCE245D2951D}" type="slidenum">
              <a:rPr lang="cs-CZ"/>
              <a:pPr/>
              <a:t>14</a:t>
            </a:fld>
            <a:endParaRPr lang="cs-CZ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62D6BE-CAD5-4D98-8000-AEC63D664855}" type="slidenum">
              <a:rPr lang="cs-CZ"/>
              <a:pPr/>
              <a:t>15</a:t>
            </a:fld>
            <a:endParaRPr lang="cs-CZ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62D6BE-CAD5-4D98-8000-AEC63D664855}" type="slidenum">
              <a:rPr lang="cs-CZ"/>
              <a:pPr/>
              <a:t>16</a:t>
            </a:fld>
            <a:endParaRPr lang="cs-CZ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1408C3-9EB4-49E6-94AB-7B120820FB16}" type="slidenum">
              <a:rPr lang="cs-CZ"/>
              <a:pPr/>
              <a:t>17</a:t>
            </a:fld>
            <a:endParaRPr lang="cs-CZ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B9726F-CF8A-40AA-B92D-39663A982536}" type="slidenum">
              <a:rPr lang="cs-CZ"/>
              <a:pPr/>
              <a:t>18</a:t>
            </a:fld>
            <a:endParaRPr lang="cs-CZ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1A4BF-4698-44E3-AA37-FCC75702F21B}" type="slidenum">
              <a:rPr lang="cs-CZ"/>
              <a:pPr/>
              <a:t>19</a:t>
            </a:fld>
            <a:endParaRPr lang="cs-CZ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356F50-BE14-4E9B-A185-DD03C0C625D8}" type="slidenum">
              <a:rPr lang="cs-CZ"/>
              <a:pPr/>
              <a:t>20</a:t>
            </a:fld>
            <a:endParaRPr lang="cs-CZ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38E653-BC55-47C8-B8A6-9FEF7F42622D}" type="slidenum">
              <a:rPr lang="cs-CZ"/>
              <a:pPr/>
              <a:t>21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F54B29-099A-4913-A2E4-A49D9AF31C38}" type="slidenum">
              <a:rPr lang="cs-CZ"/>
              <a:pPr/>
              <a:t>22</a:t>
            </a:fld>
            <a:endParaRPr lang="cs-CZ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81CBFB-85F4-4246-B993-E84B7D622C38}" type="slidenum">
              <a:rPr lang="cs-CZ"/>
              <a:pPr/>
              <a:t>23</a:t>
            </a:fld>
            <a:endParaRPr lang="cs-CZ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E6545-5F12-440D-B411-F423C21AD430}" type="slidenum">
              <a:rPr lang="cs-CZ"/>
              <a:pPr/>
              <a:t>24</a:t>
            </a:fld>
            <a:endParaRPr lang="cs-CZ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4F663-5D5C-4887-A1C9-A702598896B8}" type="slidenum">
              <a:rPr lang="cs-CZ"/>
              <a:pPr/>
              <a:t>25</a:t>
            </a:fld>
            <a:endParaRPr lang="cs-CZ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4F663-5D5C-4887-A1C9-A702598896B8}" type="slidenum">
              <a:rPr lang="cs-CZ"/>
              <a:pPr/>
              <a:t>26</a:t>
            </a:fld>
            <a:endParaRPr lang="cs-CZ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4F663-5D5C-4887-A1C9-A702598896B8}" type="slidenum">
              <a:rPr lang="cs-CZ"/>
              <a:pPr/>
              <a:t>27</a:t>
            </a:fld>
            <a:endParaRPr lang="cs-CZ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4F663-5D5C-4887-A1C9-A702598896B8}" type="slidenum">
              <a:rPr lang="cs-CZ"/>
              <a:pPr/>
              <a:t>28</a:t>
            </a:fld>
            <a:endParaRPr lang="cs-CZ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4F663-5D5C-4887-A1C9-A702598896B8}" type="slidenum">
              <a:rPr lang="cs-CZ"/>
              <a:pPr/>
              <a:t>29</a:t>
            </a:fld>
            <a:endParaRPr lang="cs-CZ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30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E77D54-7DD9-4EC8-9D51-05AEF9A1D789}" type="slidenum">
              <a:rPr lang="cs-CZ"/>
              <a:pPr/>
              <a:t>31</a:t>
            </a:fld>
            <a:endParaRPr lang="cs-CZ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5EE2DD-0213-4BFB-B561-D1D616F93EFD}" type="slidenum">
              <a:rPr lang="cs-CZ"/>
              <a:pPr/>
              <a:t>32</a:t>
            </a:fld>
            <a:endParaRPr lang="cs-CZ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3950A9-15CD-4DC2-8743-27377B0D15F4}" type="slidenum">
              <a:rPr lang="cs-CZ"/>
              <a:pPr/>
              <a:t>33</a:t>
            </a:fld>
            <a:endParaRPr lang="cs-CZ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E88F77-C9EB-4FD5-88A7-BCF0B246948D}" type="slidenum">
              <a:rPr lang="cs-CZ"/>
              <a:pPr/>
              <a:t>34</a:t>
            </a:fld>
            <a:endParaRPr lang="cs-CZ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76220D-DED2-4529-ABB1-98C29C21CB96}" type="slidenum">
              <a:rPr lang="cs-CZ"/>
              <a:pPr/>
              <a:t>35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E44125-BE39-446B-8E66-64E917574711}" type="slidenum">
              <a:rPr lang="cs-CZ"/>
              <a:pPr/>
              <a:t>36</a:t>
            </a:fld>
            <a:endParaRPr lang="cs-CZ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CBF0EA-26F9-4D68-8922-08446E1FC823}" type="slidenum">
              <a:rPr lang="cs-CZ"/>
              <a:pPr/>
              <a:t>37</a:t>
            </a:fld>
            <a:endParaRPr lang="cs-CZ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B280EA-2364-435E-8FDA-D732481095E3}" type="slidenum">
              <a:rPr lang="cs-CZ"/>
              <a:pPr/>
              <a:t>38</a:t>
            </a:fld>
            <a:endParaRPr lang="cs-CZ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6D0FC6-0938-42A4-916D-F9EF1A95C753}" type="slidenum">
              <a:rPr lang="cs-CZ"/>
              <a:pPr/>
              <a:t>39</a:t>
            </a:fld>
            <a:endParaRPr lang="cs-CZ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41E088-7260-4330-8A5F-B0EA787CD8A4}" type="slidenum">
              <a:rPr lang="cs-CZ"/>
              <a:pPr/>
              <a:t>40</a:t>
            </a:fld>
            <a:endParaRPr lang="cs-CZ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A83385-CD4C-4E55-9EC1-3E50D53C7290}" type="slidenum">
              <a:rPr lang="cs-CZ"/>
              <a:pPr/>
              <a:t>41</a:t>
            </a:fld>
            <a:endParaRPr lang="cs-CZ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6A651F-C121-4F9F-9CF7-966F702439C9}" type="slidenum">
              <a:rPr lang="cs-CZ"/>
              <a:pPr/>
              <a:t>42</a:t>
            </a:fld>
            <a:endParaRPr lang="cs-CZ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EF9BA8-5EDB-4288-A139-0074D90B7800}" type="slidenum">
              <a:rPr lang="cs-CZ"/>
              <a:pPr/>
              <a:t>43</a:t>
            </a:fld>
            <a:endParaRPr lang="cs-CZ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0C72E7-C924-4C3C-B2DB-A228077D34A4}" type="slidenum">
              <a:rPr lang="cs-CZ"/>
              <a:pPr/>
              <a:t>44</a:t>
            </a:fld>
            <a:endParaRPr lang="cs-CZ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3726A9-FAE0-4C66-947C-2FF22617CA44}" type="slidenum">
              <a:rPr lang="cs-CZ"/>
              <a:pPr/>
              <a:t>45</a:t>
            </a:fld>
            <a:endParaRPr lang="cs-CZ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402441-D17B-442A-9A2E-7FCE069DECAB}" type="slidenum">
              <a:rPr lang="cs-CZ"/>
              <a:pPr/>
              <a:t>46</a:t>
            </a:fld>
            <a:endParaRPr lang="cs-CZ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BC10A4-E020-4E30-9538-419EDF5EA327}" type="slidenum">
              <a:rPr lang="cs-CZ"/>
              <a:pPr/>
              <a:t>47</a:t>
            </a:fld>
            <a:endParaRPr lang="cs-CZ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BC10A4-E020-4E30-9538-419EDF5EA327}" type="slidenum">
              <a:rPr lang="cs-CZ"/>
              <a:pPr/>
              <a:t>48</a:t>
            </a:fld>
            <a:endParaRPr lang="cs-CZ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2C4FB2-50CC-4724-8498-779A99E5B69D}" type="slidenum">
              <a:rPr lang="cs-CZ"/>
              <a:pPr/>
              <a:t>49</a:t>
            </a:fld>
            <a:endParaRPr lang="cs-CZ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2C4FB2-50CC-4724-8498-779A99E5B69D}" type="slidenum">
              <a:rPr lang="cs-CZ"/>
              <a:pPr/>
              <a:t>50</a:t>
            </a:fld>
            <a:endParaRPr lang="cs-CZ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A79E44-2587-4374-9952-EB5163905B4D}" type="slidenum">
              <a:rPr lang="cs-CZ"/>
              <a:pPr/>
              <a:t>51</a:t>
            </a:fld>
            <a:endParaRPr lang="cs-CZ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A79E44-2587-4374-9952-EB5163905B4D}" type="slidenum">
              <a:rPr lang="cs-CZ"/>
              <a:pPr/>
              <a:t>52</a:t>
            </a:fld>
            <a:endParaRPr lang="cs-CZ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39ED88-1D74-4FB1-9BCE-2EFFC832384D}" type="slidenum">
              <a:rPr lang="cs-CZ"/>
              <a:pPr/>
              <a:t>54</a:t>
            </a:fld>
            <a:endParaRPr lang="cs-CZ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39ED88-1D74-4FB1-9BCE-2EFFC832384D}" type="slidenum">
              <a:rPr lang="cs-CZ"/>
              <a:pPr/>
              <a:t>55</a:t>
            </a:fld>
            <a:endParaRPr lang="cs-CZ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17123A-2912-49B9-97F4-0E883EEA3338}" type="slidenum">
              <a:rPr lang="cs-CZ"/>
              <a:pPr/>
              <a:t>56</a:t>
            </a:fld>
            <a:endParaRPr lang="cs-CZ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B8379E-18FB-4E72-B00D-0E8DAEDA2EAD}" type="slidenum">
              <a:rPr lang="cs-CZ"/>
              <a:pPr/>
              <a:t>57</a:t>
            </a:fld>
            <a:endParaRPr lang="cs-CZ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4803A6-9CD8-49B7-BCDD-A7FB31ABABCC}" type="slidenum">
              <a:rPr lang="cs-CZ"/>
              <a:pPr/>
              <a:t>58</a:t>
            </a:fld>
            <a:endParaRPr lang="cs-CZ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950863-C817-4552-9A30-7E253C89AEAC}" type="slidenum">
              <a:rPr lang="cs-CZ"/>
              <a:pPr/>
              <a:t>59</a:t>
            </a:fld>
            <a:endParaRPr lang="cs-CZ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 dirty="0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000000"/>
                </a:solidFill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>
                  <a:defRPr/>
                </a:pPr>
                <a:endParaRPr lang="cs-CZ" sz="240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257F9-887C-45AE-98AA-F2D4B1195451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232A6-8D3E-4FDE-9089-685E66ECEB42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48C03C7C-558C-4F69-9D8D-F7BF16316EF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D9631-C35B-4C3A-84D7-4542A4FEFC8A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4814FA16-5153-4E07-87D8-318E6E17B673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F0F08-5E9C-4793-A20E-21DA6213FE05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96BC7325-7A58-4BA4-BF49-B118816F5C6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33F53-D168-4A82-A4BF-9C0830F1636C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7614EEC1-693E-4060-AF4E-07DAB23F8DFB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7E4B6-552A-4C3A-99CE-D1BE0A7779C8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6FF081FC-95A5-42DC-B98D-5B6F77DA3DA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DC11C-32AF-48E2-A70C-B2D91E0BFE69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8EC67556-30E3-4821-813A-6B05A2EF2675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53B37-FA81-4307-8C3A-3C4D7B6566AD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A3BA3CB0-A265-4801-BE69-56227B0B6294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6F76F-9683-4BB8-8456-3677C51D5D96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7B9C6F08-0551-47E0-B594-42A7BDFB552E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A798C-2A66-42E8-9378-C4F5E1AA657C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D4592FB4-54BD-4ED0-9D50-523119EF302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3D620-EF1C-4A60-AC42-84641E29C1E2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F25ECC30-41E3-4933-B1D6-025C9FBF05C2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6BCB6-899E-4D2A-81D4-29BD657C3D7A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F51CFFA5-F3D1-44E1-9169-126B3F6990E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2B68C-B877-4B70-99CB-ED0F03AD1F76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1F079119-1E05-4294-8328-D289EFC6FE67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ED879-F7D0-4D3F-A3C0-9AC64BC1E2F1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 </a:t>
            </a:r>
            <a:fld id="{BF6A1D32-C128-49B2-A479-A41A9ED09E1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cs-CZ"/>
              <a:t> </a:t>
            </a:r>
            <a:fld id="{6E929270-1C9B-46A6-B17A-EE6E448C61CB}" type="slidenum">
              <a:rPr lang="cs-CZ"/>
              <a:pPr>
                <a:defRPr/>
              </a:pPr>
              <a:t>‹#›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C948C-50A3-463A-AE9B-84CEA11371A9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4C0A8425-5BC2-422D-BEAF-35A438BF6DF0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 dirty="0">
                <a:solidFill>
                  <a:srgbClr val="000000"/>
                </a:solidFill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000000"/>
                </a:solidFill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663300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663300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CC6600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663300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000000"/>
                </a:solidFill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CC6600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>
                <a:defRPr/>
              </a:pPr>
              <a:endParaRPr lang="cs-CZ" sz="2400" dirty="0">
                <a:solidFill>
                  <a:srgbClr val="CC6600"/>
                </a:solidFill>
                <a:latin typeface="Arial" pitchFamily="34" charset="0"/>
              </a:endParaRPr>
            </a:p>
          </p:txBody>
        </p:sp>
      </p:grpSp>
      <p:sp>
        <p:nvSpPr>
          <p:cNvPr id="512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51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cs-CZ"/>
              <a:t> </a:t>
            </a:r>
            <a:fld id="{6F7CE035-CAAF-4425-BD8C-ACF6CAF060A7}" type="slidenum">
              <a:rPr lang="cs-CZ"/>
              <a:pPr>
                <a:defRPr/>
              </a:pPr>
              <a:t>‹#›</a:t>
            </a:fld>
            <a:endParaRPr lang="cs-CZ"/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cs-CZ" sz="2400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7" r:id="rId15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slide" Target="slide3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720000" y="71414"/>
            <a:ext cx="2632376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88714"/>
            <a:ext cx="9144000" cy="3046988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Číselné</a:t>
            </a:r>
            <a:br>
              <a:rPr lang="cs-CZ" sz="9600" dirty="0">
                <a:latin typeface="Arial Black" pitchFamily="34" charset="0"/>
              </a:rPr>
            </a:br>
            <a:r>
              <a:rPr lang="cs-CZ" sz="9600" dirty="0">
                <a:latin typeface="Arial Black" pitchFamily="34" charset="0"/>
              </a:rPr>
              <a:t>soustavy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Hornerovo schéma</a:t>
            </a: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Číslo</a:t>
            </a:r>
            <a:r>
              <a:rPr lang="cs-CZ" sz="2800" dirty="0">
                <a:latin typeface="Verdana" pitchFamily="34" charset="0"/>
              </a:rPr>
              <a:t> o </a:t>
            </a:r>
            <a:r>
              <a:rPr lang="cs-CZ" sz="2800" b="1" dirty="0">
                <a:latin typeface="Verdana" pitchFamily="34" charset="0"/>
              </a:rPr>
              <a:t>základu </a:t>
            </a:r>
            <a:r>
              <a:rPr lang="cs-CZ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</a:t>
            </a:r>
            <a:r>
              <a:rPr lang="cs-CZ" sz="2800" dirty="0">
                <a:latin typeface="Verdana" pitchFamily="34" charset="0"/>
              </a:rPr>
              <a:t> lze vyjádřit </a:t>
            </a:r>
            <a:r>
              <a:rPr lang="cs-CZ" sz="2800" b="1" dirty="0">
                <a:latin typeface="Verdana" pitchFamily="34" charset="0"/>
              </a:rPr>
              <a:t>mnohočlenem</a:t>
            </a:r>
            <a:r>
              <a:rPr lang="cs-CZ" sz="2800" dirty="0">
                <a:latin typeface="Verdana" pitchFamily="34" charset="0"/>
              </a:rPr>
              <a:t> o </a:t>
            </a:r>
            <a:r>
              <a:rPr lang="cs-CZ" sz="2800" b="1" dirty="0">
                <a:latin typeface="Verdana" pitchFamily="34" charset="0"/>
              </a:rPr>
              <a:t>základu </a:t>
            </a:r>
            <a:r>
              <a:rPr lang="cs-CZ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</a:t>
            </a:r>
          </a:p>
        </p:txBody>
      </p:sp>
      <p:graphicFrame>
        <p:nvGraphicFramePr>
          <p:cNvPr id="665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633874"/>
              </p:ext>
            </p:extLst>
          </p:nvPr>
        </p:nvGraphicFramePr>
        <p:xfrm>
          <a:off x="900000" y="2636912"/>
          <a:ext cx="60833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2019240" imgH="241200" progId="Equation.3">
                  <p:embed/>
                </p:oleObj>
              </mc:Choice>
              <mc:Fallback>
                <p:oleObj name="Rovnice" r:id="rId3" imgW="2019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2636912"/>
                        <a:ext cx="6083300" cy="72866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720000" y="4005064"/>
            <a:ext cx="8640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dirty="0">
                <a:latin typeface="Verdana" pitchFamily="34" charset="0"/>
              </a:rPr>
              <a:t>Čísla zapíšeme v dané soustavě pomocí koeficientů </a:t>
            </a:r>
            <a:r>
              <a:rPr lang="cs-CZ" sz="2400" i="1" dirty="0" err="1">
                <a:latin typeface="Verdana" pitchFamily="34" charset="0"/>
              </a:rPr>
              <a:t>a</a:t>
            </a:r>
            <a:r>
              <a:rPr lang="cs-CZ" sz="2400" i="1" baseline="-25000" dirty="0" err="1">
                <a:latin typeface="Verdana" pitchFamily="34" charset="0"/>
              </a:rPr>
              <a:t>i</a:t>
            </a:r>
            <a:endParaRPr lang="cs-CZ" sz="2400" dirty="0">
              <a:latin typeface="Verdana" pitchFamily="34" charset="0"/>
            </a:endParaRPr>
          </a:p>
        </p:txBody>
      </p:sp>
      <p:graphicFrame>
        <p:nvGraphicFramePr>
          <p:cNvPr id="66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226775"/>
              </p:ext>
            </p:extLst>
          </p:nvPr>
        </p:nvGraphicFramePr>
        <p:xfrm>
          <a:off x="900000" y="4869160"/>
          <a:ext cx="330041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1104840" imgH="228600" progId="Equation.3">
                  <p:embed/>
                </p:oleObj>
              </mc:Choice>
              <mc:Fallback>
                <p:oleObj name="Rovnice" r:id="rId5" imgW="1104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4869160"/>
                        <a:ext cx="3300413" cy="684213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2537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71" grpId="0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dirty="0">
                <a:latin typeface="Verdana" pitchFamily="34" charset="0"/>
              </a:rPr>
              <a:t>Rozepište číslo </a:t>
            </a:r>
            <a:r>
              <a:rPr lang="cs-CZ" sz="2800" b="1" dirty="0">
                <a:solidFill>
                  <a:schemeClr val="accent2"/>
                </a:solidFill>
                <a:latin typeface="Consolas" panose="020B0609020204030204" pitchFamily="49" charset="0"/>
              </a:rPr>
              <a:t>8120</a:t>
            </a:r>
            <a:r>
              <a:rPr lang="cs-CZ" sz="2800" b="1" baseline="-25000" dirty="0">
                <a:solidFill>
                  <a:schemeClr val="accent2"/>
                </a:solidFill>
                <a:latin typeface="Consolas" panose="020B0609020204030204" pitchFamily="49" charset="0"/>
              </a:rPr>
              <a:t>10</a:t>
            </a:r>
            <a:r>
              <a:rPr lang="cs-CZ" sz="2800" b="1" baseline="-25000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cs-CZ" sz="2800" dirty="0">
                <a:latin typeface="Verdana" pitchFamily="34" charset="0"/>
              </a:rPr>
              <a:t>podle </a:t>
            </a:r>
            <a:r>
              <a:rPr lang="cs-CZ" sz="2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Hornerova</a:t>
            </a:r>
            <a:r>
              <a:rPr lang="cs-CZ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cs-CZ" sz="2800" dirty="0">
                <a:latin typeface="Verdana" pitchFamily="34" charset="0"/>
              </a:rPr>
              <a:t>schématu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Hornerovo schéma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60000" y="2446331"/>
            <a:ext cx="8460000" cy="646331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3600" b="1" dirty="0">
                <a:solidFill>
                  <a:schemeClr val="accent2"/>
                </a:solidFill>
                <a:latin typeface="Consolas" panose="020B0609020204030204" pitchFamily="49" charset="0"/>
              </a:rPr>
              <a:t>8120</a:t>
            </a:r>
            <a:r>
              <a:rPr lang="cs-CZ" sz="3600" b="1" baseline="-25000" dirty="0">
                <a:solidFill>
                  <a:schemeClr val="accent2"/>
                </a:solidFill>
                <a:latin typeface="Consolas" panose="020B0609020204030204" pitchFamily="49" charset="0"/>
              </a:rPr>
              <a:t>10</a:t>
            </a:r>
            <a:r>
              <a:rPr lang="cs-CZ" sz="3600" b="1" dirty="0">
                <a:latin typeface="Consolas" panose="020B0609020204030204" pitchFamily="49" charset="0"/>
              </a:rPr>
              <a:t>=</a:t>
            </a:r>
            <a:r>
              <a:rPr lang="cs-CZ" sz="3600" b="1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cs-CZ" sz="3600" b="1" dirty="0">
                <a:latin typeface="Consolas" panose="020B0609020204030204" pitchFamily="49" charset="0"/>
              </a:rPr>
              <a:t>.10</a:t>
            </a:r>
            <a:r>
              <a:rPr lang="cs-CZ" sz="3600" b="1" baseline="30000" dirty="0">
                <a:latin typeface="Consolas" panose="020B0609020204030204" pitchFamily="49" charset="0"/>
              </a:rPr>
              <a:t>3</a:t>
            </a:r>
            <a:r>
              <a:rPr lang="cs-CZ" sz="3600" b="1" dirty="0">
                <a:latin typeface="Consolas" panose="020B0609020204030204" pitchFamily="49" charset="0"/>
              </a:rPr>
              <a:t>+</a:t>
            </a:r>
            <a:r>
              <a:rPr lang="cs-CZ" sz="36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cs-CZ" sz="3600" b="1" dirty="0">
                <a:latin typeface="Consolas" panose="020B0609020204030204" pitchFamily="49" charset="0"/>
              </a:rPr>
              <a:t>.10</a:t>
            </a:r>
            <a:r>
              <a:rPr lang="cs-CZ" sz="3600" b="1" baseline="30000" dirty="0">
                <a:latin typeface="Consolas" panose="020B0609020204030204" pitchFamily="49" charset="0"/>
              </a:rPr>
              <a:t>2</a:t>
            </a:r>
            <a:r>
              <a:rPr lang="cs-CZ" sz="3600" b="1" dirty="0">
                <a:latin typeface="Consolas" panose="020B0609020204030204" pitchFamily="49" charset="0"/>
              </a:rPr>
              <a:t>+</a:t>
            </a:r>
            <a:r>
              <a:rPr lang="cs-CZ" sz="36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cs-CZ" sz="3600" b="1" dirty="0">
                <a:latin typeface="Consolas" panose="020B0609020204030204" pitchFamily="49" charset="0"/>
              </a:rPr>
              <a:t>.10</a:t>
            </a:r>
            <a:r>
              <a:rPr lang="cs-CZ" sz="3600" b="1" baseline="30000" dirty="0">
                <a:latin typeface="Consolas" panose="020B0609020204030204" pitchFamily="49" charset="0"/>
              </a:rPr>
              <a:t>1</a:t>
            </a:r>
            <a:r>
              <a:rPr lang="cs-CZ" sz="3600" b="1" dirty="0">
                <a:latin typeface="Consolas" panose="020B0609020204030204" pitchFamily="49" charset="0"/>
              </a:rPr>
              <a:t>+</a:t>
            </a:r>
            <a:r>
              <a:rPr lang="cs-CZ" sz="36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cs-CZ" sz="3600" b="1" dirty="0">
                <a:latin typeface="Consolas" panose="020B0609020204030204" pitchFamily="49" charset="0"/>
              </a:rPr>
              <a:t>.10</a:t>
            </a:r>
            <a:r>
              <a:rPr lang="cs-CZ" sz="3600" b="1" baseline="3000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0" name="TextovéPole 1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08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13" grpId="0" animBg="1"/>
      <p:bldP spid="14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43" name="Picture 11" descr="ciselne_soustavy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0000" y="1440000"/>
            <a:ext cx="5084638" cy="508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610600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Znázorněte číslo 75</a:t>
            </a:r>
            <a:r>
              <a:rPr lang="cs-CZ" sz="3200" b="1" baseline="-25000" dirty="0">
                <a:latin typeface="Verdana" pitchFamily="34" charset="0"/>
              </a:rPr>
              <a:t>10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Grafické znázornění čísla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610600" cy="642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Znázorněte číslo 4B</a:t>
            </a:r>
            <a:r>
              <a:rPr lang="cs-CZ" sz="3200" b="1" baseline="-25000" dirty="0">
                <a:latin typeface="Verdana" pitchFamily="34" charset="0"/>
              </a:rPr>
              <a:t>16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2291" name="Picture 8" descr="ciselne_soustavy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0000" y="1874757"/>
            <a:ext cx="8001056" cy="4002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Grafické znázornění čísla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6" name="Text Box 12"/>
          <p:cNvSpPr txBox="1">
            <a:spLocks noChangeArrowheads="1"/>
          </p:cNvSpPr>
          <p:nvPr/>
        </p:nvSpPr>
        <p:spPr bwMode="auto">
          <a:xfrm>
            <a:off x="360000" y="1080000"/>
            <a:ext cx="8784000" cy="1785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je </a:t>
            </a:r>
            <a:r>
              <a:rPr lang="cs-CZ" sz="3200" b="1" dirty="0">
                <a:latin typeface="Verdana" pitchFamily="34" charset="0"/>
              </a:rPr>
              <a:t>množina znaků</a:t>
            </a:r>
            <a:r>
              <a:rPr lang="cs-CZ" sz="3200" dirty="0">
                <a:latin typeface="Verdana" pitchFamily="34" charset="0"/>
              </a:rPr>
              <a:t>, kterou potřebujeme k vytvoření </a:t>
            </a:r>
            <a:r>
              <a:rPr lang="cs-CZ" sz="3200" b="1" dirty="0">
                <a:latin typeface="Verdana" pitchFamily="34" charset="0"/>
              </a:rPr>
              <a:t>čísel</a:t>
            </a:r>
            <a:r>
              <a:rPr lang="cs-CZ" sz="3200" dirty="0">
                <a:latin typeface="Verdana" pitchFamily="34" charset="0"/>
              </a:rPr>
              <a:t> dané </a:t>
            </a:r>
            <a:r>
              <a:rPr lang="cs-CZ" sz="3200" b="1" dirty="0">
                <a:latin typeface="Verdana" pitchFamily="34" charset="0"/>
              </a:rPr>
              <a:t>soustavy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Abeceda soustavy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6" grpId="0"/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03" name="Text Box 2059"/>
          <p:cNvSpPr txBox="1">
            <a:spLocks noChangeArrowheads="1"/>
          </p:cNvSpPr>
          <p:nvPr/>
        </p:nvSpPr>
        <p:spPr bwMode="auto">
          <a:xfrm>
            <a:off x="360000" y="1080000"/>
            <a:ext cx="8784000" cy="35394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lvl="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Soustava o stejném základě</a:t>
            </a:r>
          </a:p>
          <a:p>
            <a:pPr marL="495300" lvl="0" indent="-495300">
              <a:buClr>
                <a:srgbClr val="C00000"/>
              </a:buClr>
            </a:pPr>
            <a:r>
              <a:rPr lang="cs-CZ" sz="3200" dirty="0">
                <a:latin typeface="Arial" charset="0"/>
              </a:rPr>
              <a:t>	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Z=10</a:t>
            </a:r>
            <a:r>
              <a:rPr lang="cs-CZ" sz="28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cs-CZ" sz="2800" dirty="0">
                <a:latin typeface="Arial" charset="0"/>
              </a:rPr>
              <a:t>	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- </a:t>
            </a: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desítková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soustava</a:t>
            </a:r>
          </a:p>
          <a:p>
            <a:pPr marL="495300" lvl="0" indent="-495300">
              <a:buClr>
                <a:srgbClr val="C00000"/>
              </a:buClr>
            </a:pPr>
            <a:r>
              <a:rPr lang="cs-CZ" sz="2800" dirty="0">
                <a:latin typeface="Arial" charset="0"/>
              </a:rPr>
              <a:t>	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Z= 2 </a:t>
            </a:r>
            <a:r>
              <a:rPr lang="cs-CZ" sz="2800" dirty="0">
                <a:latin typeface="Arial" charset="0"/>
              </a:rPr>
              <a:t>	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- </a:t>
            </a: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dvojková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soustava</a:t>
            </a:r>
          </a:p>
          <a:p>
            <a:pPr marL="495300" lvl="0" indent="-495300">
              <a:buClr>
                <a:srgbClr val="C00000"/>
              </a:buClr>
            </a:pPr>
            <a:r>
              <a:rPr lang="cs-CZ" sz="2800" dirty="0">
                <a:latin typeface="Arial" charset="0"/>
              </a:rPr>
              <a:t>	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Z=16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dirty="0">
                <a:latin typeface="Arial" charset="0"/>
              </a:rPr>
              <a:t>	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- </a:t>
            </a: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šestnáctková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soustava</a:t>
            </a:r>
          </a:p>
          <a:p>
            <a:pPr marL="504000" indent="-504000">
              <a:spcBef>
                <a:spcPts val="2400"/>
              </a:spcBef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Soustava o nestejném základě</a:t>
            </a:r>
          </a:p>
          <a:p>
            <a:pPr marL="444500" lvl="0" indent="-444500">
              <a:buClr>
                <a:srgbClr val="C00000"/>
              </a:buClr>
            </a:pPr>
            <a:r>
              <a:rPr lang="cs-CZ" sz="3200" dirty="0">
                <a:solidFill>
                  <a:srgbClr val="000000"/>
                </a:solidFill>
                <a:latin typeface="Arial" charset="0"/>
              </a:rPr>
              <a:t>	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cs-CZ" sz="2800" b="1" baseline="-25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=60, Z</a:t>
            </a:r>
            <a:r>
              <a:rPr lang="cs-CZ" sz="2800" b="1" baseline="-25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=60, Z</a:t>
            </a:r>
            <a:r>
              <a:rPr lang="cs-CZ" sz="2800" b="1" baseline="-25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=24, Z</a:t>
            </a:r>
            <a:r>
              <a:rPr lang="cs-CZ" sz="2800" b="1" baseline="-25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=7</a:t>
            </a:r>
            <a:endParaRPr lang="cs-CZ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 lvl="0" eaLnBrk="1" hangingPunct="1"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Druhy číselných soustav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6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6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6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6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6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Text Box 12"/>
          <p:cNvSpPr txBox="1">
            <a:spLocks noChangeArrowheads="1"/>
          </p:cNvSpPr>
          <p:nvPr/>
        </p:nvSpPr>
        <p:spPr bwMode="auto">
          <a:xfrm>
            <a:off x="358775" y="1080000"/>
            <a:ext cx="8785225" cy="36471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Soustava desítková 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Z=10 </a:t>
            </a:r>
            <a:r>
              <a:rPr lang="cs-CZ" sz="3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cs-CZ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dekadická</a:t>
            </a:r>
            <a:r>
              <a:rPr lang="cs-CZ" sz="3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504000" lvl="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ü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Přirozená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soustava lidí</a:t>
            </a:r>
          </a:p>
          <a:p>
            <a:pPr marL="504000" lvl="0" indent="-504000">
              <a:spcAft>
                <a:spcPts val="3600"/>
              </a:spcAft>
              <a:buClr>
                <a:srgbClr val="C00000"/>
              </a:buClr>
              <a:buFont typeface="Wingdings" pitchFamily="2" charset="2"/>
              <a:buChar char="ü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Vychází ze skutečnosti, že člověk má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deset prstů</a:t>
            </a:r>
            <a:endParaRPr lang="cs-CZ" sz="2800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 algn="ctr">
              <a:spcAft>
                <a:spcPts val="1200"/>
              </a:spcAft>
              <a:buClr>
                <a:srgbClr val="C00000"/>
              </a:buClr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Abeceda soustavy </a:t>
            </a:r>
            <a:endParaRPr lang="cs-CZ" sz="4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Druhy číselných soustav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0" y="4737338"/>
            <a:ext cx="91440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buClr>
                <a:schemeClr val="folHlink"/>
              </a:buClr>
              <a:buFont typeface="Wingdings" pitchFamily="2" charset="2"/>
              <a:buNone/>
            </a:pPr>
            <a:r>
              <a:rPr lang="en-US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US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cs-CZ" sz="4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4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Text Box 12"/>
          <p:cNvSpPr txBox="1">
            <a:spLocks noChangeArrowheads="1"/>
          </p:cNvSpPr>
          <p:nvPr/>
        </p:nvSpPr>
        <p:spPr bwMode="auto">
          <a:xfrm>
            <a:off x="358775" y="1080000"/>
            <a:ext cx="8785225" cy="30777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Soustava dvojková Z=2 </a:t>
            </a:r>
            <a:r>
              <a:rPr lang="cs-CZ" sz="3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cs-CZ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binární</a:t>
            </a:r>
            <a:r>
              <a:rPr lang="cs-CZ" sz="3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cs-CZ" sz="3200" b="1" dirty="0">
              <a:latin typeface="Verdana" pitchFamily="34" charset="0"/>
            </a:endParaRPr>
          </a:p>
          <a:p>
            <a:pPr marL="504000" indent="-504000">
              <a:spcAft>
                <a:spcPts val="4200"/>
              </a:spcAft>
              <a:buClr>
                <a:srgbClr val="C00000"/>
              </a:buClr>
              <a:buFont typeface="Wingdings" pitchFamily="2" charset="2"/>
              <a:buChar char="ü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Používá ve výpočetní technice, protože elektronické součástky mohou mít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dva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stavy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zapnuto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vypnuto</a:t>
            </a:r>
          </a:p>
          <a:p>
            <a:pPr lvl="0" algn="ctr">
              <a:spcAft>
                <a:spcPts val="1200"/>
              </a:spcAft>
              <a:buClr>
                <a:srgbClr val="C00000"/>
              </a:buClr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Abeceda soustavy </a:t>
            </a:r>
            <a:endParaRPr lang="cs-CZ" sz="4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Druhy číselných soustav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0" y="4221088"/>
            <a:ext cx="91440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buClr>
                <a:schemeClr val="folHlink"/>
              </a:buClr>
              <a:buFont typeface="Wingdings" pitchFamily="2" charset="2"/>
              <a:buNone/>
            </a:pPr>
            <a:r>
              <a:rPr lang="en-US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cs-CZ" sz="40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10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360000" y="1080000"/>
            <a:ext cx="8784000" cy="333937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Soustava šestnáctková Z=16 </a:t>
            </a:r>
            <a:r>
              <a:rPr lang="cs-CZ" sz="3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cs-CZ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hexadecimální</a:t>
            </a:r>
            <a:r>
              <a:rPr lang="cs-CZ" sz="3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cs-CZ" sz="3200" b="1" dirty="0">
              <a:latin typeface="Verdana" pitchFamily="34" charset="0"/>
            </a:endParaRPr>
          </a:p>
          <a:p>
            <a:pPr marL="504000" lvl="0" indent="-504000">
              <a:spcAft>
                <a:spcPts val="2400"/>
              </a:spcAft>
              <a:buClr>
                <a:srgbClr val="C00000"/>
              </a:buClr>
              <a:buFont typeface="Wingdings" pitchFamily="2" charset="2"/>
              <a:buChar char="ü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Tato soustava se používá k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zjednodušenému zobrazení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čísel ve dvojkové soustavě</a:t>
            </a:r>
          </a:p>
          <a:p>
            <a:pPr lvl="0" algn="ctr">
              <a:spcAft>
                <a:spcPts val="1200"/>
              </a:spcAft>
              <a:buClr>
                <a:srgbClr val="C00000"/>
              </a:buClr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Abeceda soustavy</a:t>
            </a:r>
            <a:endParaRPr lang="cs-CZ" sz="28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Druhy číselných soustav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0" y="4509120"/>
            <a:ext cx="9144000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buClr>
                <a:schemeClr val="folHlink"/>
              </a:buClr>
              <a:buFont typeface="Wingdings" pitchFamily="2" charset="2"/>
              <a:buNone/>
            </a:pPr>
            <a:r>
              <a:rPr lang="en-US" sz="3600" dirty="0">
                <a:solidFill>
                  <a:srgbClr val="000000"/>
                </a:solidFill>
                <a:latin typeface="Arial" charset="0"/>
              </a:rPr>
              <a:t>{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3600" b="1" u="sng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3600" dirty="0">
                <a:solidFill>
                  <a:srgbClr val="000000"/>
                </a:solidFill>
                <a:latin typeface="Arial" charset="0"/>
              </a:rPr>
              <a:t>}</a:t>
            </a:r>
            <a:endParaRPr lang="cs-CZ" sz="36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5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Rozepište číslo </a:t>
            </a:r>
            <a:r>
              <a:rPr 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9302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v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desítkové soustavě</a:t>
            </a:r>
          </a:p>
        </p:txBody>
      </p:sp>
      <p:sp>
        <p:nvSpPr>
          <p:cNvPr id="133132" name="Text Box 12"/>
          <p:cNvSpPr txBox="1">
            <a:spLocks noChangeArrowheads="1"/>
          </p:cNvSpPr>
          <p:nvPr/>
        </p:nvSpPr>
        <p:spPr bwMode="auto">
          <a:xfrm>
            <a:off x="360000" y="270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Rozepište číslo </a:t>
            </a:r>
            <a:r>
              <a:rPr 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711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v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šestnáckové soustavě</a:t>
            </a:r>
          </a:p>
        </p:txBody>
      </p:sp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360000" y="450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Rozepište číslo </a:t>
            </a:r>
            <a:r>
              <a:rPr 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1011010101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ve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dvojkové soustavě</a:t>
            </a:r>
          </a:p>
        </p:txBody>
      </p:sp>
      <p:sp>
        <p:nvSpPr>
          <p:cNvPr id="133135" name="Text Box 15"/>
          <p:cNvSpPr txBox="1">
            <a:spLocks noChangeArrowheads="1"/>
          </p:cNvSpPr>
          <p:nvPr/>
        </p:nvSpPr>
        <p:spPr bwMode="auto">
          <a:xfrm>
            <a:off x="360000" y="1800000"/>
            <a:ext cx="8460000" cy="646331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3600" b="1" dirty="0">
                <a:solidFill>
                  <a:schemeClr val="accent2"/>
                </a:solidFill>
                <a:latin typeface="Consolas" panose="020B0609020204030204" pitchFamily="49" charset="0"/>
              </a:rPr>
              <a:t>9302</a:t>
            </a:r>
            <a:r>
              <a:rPr lang="cs-CZ" sz="3600" b="1" baseline="-25000" dirty="0">
                <a:solidFill>
                  <a:schemeClr val="accent2"/>
                </a:solidFill>
                <a:latin typeface="Consolas" panose="020B0609020204030204" pitchFamily="49" charset="0"/>
              </a:rPr>
              <a:t>10</a:t>
            </a:r>
            <a:r>
              <a:rPr lang="cs-CZ" sz="3600" b="1" dirty="0">
                <a:latin typeface="Consolas" panose="020B0609020204030204" pitchFamily="49" charset="0"/>
              </a:rPr>
              <a:t>=9.10</a:t>
            </a:r>
            <a:r>
              <a:rPr lang="cs-CZ" sz="3600" b="1" baseline="30000" dirty="0">
                <a:latin typeface="Consolas" panose="020B0609020204030204" pitchFamily="49" charset="0"/>
              </a:rPr>
              <a:t>3</a:t>
            </a:r>
            <a:r>
              <a:rPr lang="cs-CZ" sz="3600" b="1" dirty="0">
                <a:latin typeface="Consolas" panose="020B0609020204030204" pitchFamily="49" charset="0"/>
              </a:rPr>
              <a:t>+3.10</a:t>
            </a:r>
            <a:r>
              <a:rPr lang="cs-CZ" sz="3600" b="1" baseline="30000" dirty="0">
                <a:latin typeface="Consolas" panose="020B0609020204030204" pitchFamily="49" charset="0"/>
              </a:rPr>
              <a:t>2</a:t>
            </a:r>
            <a:r>
              <a:rPr lang="cs-CZ" sz="3600" b="1" dirty="0">
                <a:latin typeface="Consolas" panose="020B0609020204030204" pitchFamily="49" charset="0"/>
              </a:rPr>
              <a:t>+0.10</a:t>
            </a:r>
            <a:r>
              <a:rPr lang="cs-CZ" sz="3600" b="1" baseline="30000" dirty="0">
                <a:latin typeface="Consolas" panose="020B0609020204030204" pitchFamily="49" charset="0"/>
              </a:rPr>
              <a:t>1</a:t>
            </a:r>
            <a:r>
              <a:rPr lang="cs-CZ" sz="3600" b="1" dirty="0">
                <a:latin typeface="Consolas" panose="020B0609020204030204" pitchFamily="49" charset="0"/>
              </a:rPr>
              <a:t>+2.10</a:t>
            </a:r>
            <a:r>
              <a:rPr lang="cs-CZ" sz="3600" b="1" baseline="3000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33136" name="Text Box 16"/>
          <p:cNvSpPr txBox="1">
            <a:spLocks noChangeArrowheads="1"/>
          </p:cNvSpPr>
          <p:nvPr/>
        </p:nvSpPr>
        <p:spPr bwMode="auto">
          <a:xfrm>
            <a:off x="360000" y="3420000"/>
            <a:ext cx="6804288" cy="646331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3600" b="1" dirty="0">
                <a:solidFill>
                  <a:schemeClr val="accent2"/>
                </a:solidFill>
                <a:latin typeface="Consolas" panose="020B0609020204030204" pitchFamily="49" charset="0"/>
              </a:rPr>
              <a:t>711</a:t>
            </a:r>
            <a:r>
              <a:rPr lang="cs-CZ" sz="3600" b="1" baseline="-25000" dirty="0">
                <a:solidFill>
                  <a:schemeClr val="accent2"/>
                </a:solidFill>
                <a:latin typeface="Consolas" panose="020B0609020204030204" pitchFamily="49" charset="0"/>
              </a:rPr>
              <a:t>16</a:t>
            </a:r>
            <a:r>
              <a:rPr lang="cs-CZ" sz="3600" b="1" dirty="0">
                <a:latin typeface="Consolas" panose="020B0609020204030204" pitchFamily="49" charset="0"/>
              </a:rPr>
              <a:t>=7.16</a:t>
            </a:r>
            <a:r>
              <a:rPr lang="cs-CZ" sz="3600" b="1" baseline="30000" dirty="0">
                <a:latin typeface="Consolas" panose="020B0609020204030204" pitchFamily="49" charset="0"/>
              </a:rPr>
              <a:t>2</a:t>
            </a:r>
            <a:r>
              <a:rPr lang="cs-CZ" sz="3600" b="1" dirty="0">
                <a:latin typeface="Consolas" panose="020B0609020204030204" pitchFamily="49" charset="0"/>
              </a:rPr>
              <a:t>+1.16</a:t>
            </a:r>
            <a:r>
              <a:rPr lang="cs-CZ" sz="3600" b="1" baseline="30000" dirty="0">
                <a:latin typeface="Consolas" panose="020B0609020204030204" pitchFamily="49" charset="0"/>
              </a:rPr>
              <a:t>1</a:t>
            </a:r>
            <a:r>
              <a:rPr lang="cs-CZ" sz="3600" b="1" dirty="0">
                <a:latin typeface="Consolas" panose="020B0609020204030204" pitchFamily="49" charset="0"/>
              </a:rPr>
              <a:t>+1.16</a:t>
            </a:r>
            <a:r>
              <a:rPr lang="cs-CZ" sz="3600" b="1" baseline="3000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TextovéPole 1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2" grpId="0"/>
      <p:bldP spid="133134" grpId="0"/>
      <p:bldP spid="133135" grpId="0" animBg="1"/>
      <p:bldP spid="133136" grpId="0" animBg="1"/>
      <p:bldP spid="8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610600" cy="642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Znázorněte graficky číslo 1011</a:t>
            </a:r>
            <a:r>
              <a:rPr lang="cs-CZ" sz="3200" b="1" baseline="-25000" dirty="0">
                <a:latin typeface="Verdana" pitchFamily="34" charset="0"/>
              </a:rPr>
              <a:t>2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TextovéPole 14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62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99" y="539999"/>
            <a:ext cx="512396" cy="59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00" y="540000"/>
            <a:ext cx="512395" cy="59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000" y="540000"/>
            <a:ext cx="1992648" cy="59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Převod desítkového čísla  na hexadecimální nebo binární</a:t>
            </a:r>
          </a:p>
        </p:txBody>
      </p:sp>
    </p:spTree>
    <p:extLst>
      <p:ext uri="{BB962C8B-B14F-4D97-AF65-F5344CB8AC3E}">
        <p14:creationId xmlns:p14="http://schemas.microsoft.com/office/powerpoint/2010/main" val="370669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540000"/>
            <a:ext cx="751900" cy="59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409" y="539998"/>
            <a:ext cx="1259431" cy="59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Mocniny o základu 2</a:t>
            </a:r>
          </a:p>
        </p:txBody>
      </p:sp>
    </p:spTree>
    <p:extLst>
      <p:ext uri="{BB962C8B-B14F-4D97-AF65-F5344CB8AC3E}">
        <p14:creationId xmlns:p14="http://schemas.microsoft.com/office/powerpoint/2010/main" val="17393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10008656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Převod čísel mezi různými soustavami</a:t>
            </a:r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710261861"/>
              </p:ext>
            </p:extLst>
          </p:nvPr>
        </p:nvGraphicFramePr>
        <p:xfrm>
          <a:off x="900000" y="1080000"/>
          <a:ext cx="7560000" cy="38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32502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one"/>
        </p:bldSub>
      </p:bldGraphic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9432592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Převod čísla do dekadické soustavy</a:t>
            </a:r>
          </a:p>
        </p:txBody>
      </p:sp>
      <p:sp>
        <p:nvSpPr>
          <p:cNvPr id="141320" name="Text Box 8"/>
          <p:cNvSpPr txBox="1">
            <a:spLocks noChangeArrowheads="1"/>
          </p:cNvSpPr>
          <p:nvPr/>
        </p:nvSpPr>
        <p:spPr bwMode="auto">
          <a:xfrm>
            <a:off x="540001" y="1980000"/>
            <a:ext cx="6984750" cy="7694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400" b="1" i="1" dirty="0">
                <a:solidFill>
                  <a:srgbClr val="00CC00"/>
                </a:solidFill>
              </a:rPr>
              <a:t>F</a:t>
            </a:r>
            <a:r>
              <a:rPr lang="cs-CZ" sz="4400" b="1" i="1" baseline="-25000" dirty="0">
                <a:solidFill>
                  <a:srgbClr val="00CC00"/>
                </a:solidFill>
              </a:rPr>
              <a:t>10</a:t>
            </a:r>
            <a:r>
              <a:rPr lang="cs-CZ" sz="4400" b="1" i="1" dirty="0"/>
              <a:t>=</a:t>
            </a:r>
            <a:r>
              <a:rPr lang="cs-CZ" sz="4400" b="1" i="1" dirty="0">
                <a:solidFill>
                  <a:schemeClr val="folHlink"/>
                </a:solidFill>
              </a:rPr>
              <a:t>a</a:t>
            </a:r>
            <a:r>
              <a:rPr lang="cs-CZ" sz="4400" b="1" i="1" baseline="-25000" dirty="0">
                <a:solidFill>
                  <a:schemeClr val="folHlink"/>
                </a:solidFill>
              </a:rPr>
              <a:t>m</a:t>
            </a:r>
            <a:r>
              <a:rPr lang="cs-CZ" sz="4400" b="1" i="1" dirty="0">
                <a:solidFill>
                  <a:schemeClr val="folHlink"/>
                </a:solidFill>
              </a:rPr>
              <a:t>Z</a:t>
            </a:r>
            <a:r>
              <a:rPr lang="cs-CZ" sz="4400" b="1" i="1" baseline="30000" dirty="0">
                <a:solidFill>
                  <a:schemeClr val="folHlink"/>
                </a:solidFill>
              </a:rPr>
              <a:t>m</a:t>
            </a:r>
            <a:r>
              <a:rPr lang="cs-CZ" sz="4400" b="1" i="1" dirty="0"/>
              <a:t>+</a:t>
            </a:r>
            <a:r>
              <a:rPr lang="cs-CZ" sz="4400" b="1" i="1" dirty="0">
                <a:solidFill>
                  <a:schemeClr val="folHlink"/>
                </a:solidFill>
              </a:rPr>
              <a:t>a</a:t>
            </a:r>
            <a:r>
              <a:rPr lang="cs-CZ" sz="4400" b="1" i="1" baseline="-25000" dirty="0">
                <a:solidFill>
                  <a:schemeClr val="folHlink"/>
                </a:solidFill>
              </a:rPr>
              <a:t>m-1</a:t>
            </a:r>
            <a:r>
              <a:rPr lang="cs-CZ" sz="4400" b="1" i="1" dirty="0">
                <a:solidFill>
                  <a:schemeClr val="folHlink"/>
                </a:solidFill>
              </a:rPr>
              <a:t>Z</a:t>
            </a:r>
            <a:r>
              <a:rPr lang="cs-CZ" sz="4400" b="1" i="1" baseline="30000" dirty="0">
                <a:solidFill>
                  <a:schemeClr val="folHlink"/>
                </a:solidFill>
              </a:rPr>
              <a:t>m-1</a:t>
            </a:r>
            <a:r>
              <a:rPr lang="cs-CZ" sz="4400" b="1" i="1" dirty="0"/>
              <a:t>+…+</a:t>
            </a:r>
            <a:r>
              <a:rPr lang="cs-CZ" sz="4400" b="1" i="1" dirty="0">
                <a:solidFill>
                  <a:schemeClr val="folHlink"/>
                </a:solidFill>
              </a:rPr>
              <a:t>a</a:t>
            </a:r>
            <a:r>
              <a:rPr lang="cs-CZ" sz="4400" b="1" i="1" baseline="-25000" dirty="0">
                <a:solidFill>
                  <a:schemeClr val="folHlink"/>
                </a:solidFill>
              </a:rPr>
              <a:t>0</a:t>
            </a:r>
            <a:r>
              <a:rPr lang="cs-CZ" sz="4400" b="1" i="1" dirty="0">
                <a:solidFill>
                  <a:schemeClr val="folHlink"/>
                </a:solidFill>
              </a:rPr>
              <a:t>Z</a:t>
            </a:r>
            <a:r>
              <a:rPr lang="cs-CZ" sz="4400" b="1" i="1" baseline="30000" dirty="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540000" y="3060000"/>
            <a:ext cx="8280000" cy="2554545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4000" b="1" u="sng" baseline="-25000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=11011</a:t>
            </a:r>
            <a:endParaRPr lang="cs-CZ" sz="4000" b="1" u="sng" baseline="30000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4000" b="1" baseline="-25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=1.2</a:t>
            </a:r>
            <a:r>
              <a:rPr lang="cs-CZ" sz="40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+1.2</a:t>
            </a:r>
            <a:r>
              <a:rPr lang="cs-CZ" sz="40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+0.2</a:t>
            </a:r>
            <a:r>
              <a:rPr lang="cs-CZ" sz="40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+1.2</a:t>
            </a:r>
            <a:r>
              <a:rPr lang="cs-CZ" sz="40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+1.2</a:t>
            </a:r>
            <a:r>
              <a:rPr lang="cs-CZ" sz="40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4000" b="1" baseline="-25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=16+8+0+2+1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u="sng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4000" b="1" u="sng" baseline="-25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4000" b="1" u="sng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=27</a:t>
            </a:r>
          </a:p>
        </p:txBody>
      </p:sp>
      <p:graphicFrame>
        <p:nvGraphicFramePr>
          <p:cNvPr id="141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321488"/>
              </p:ext>
            </p:extLst>
          </p:nvPr>
        </p:nvGraphicFramePr>
        <p:xfrm>
          <a:off x="540000" y="1080000"/>
          <a:ext cx="205105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228600" progId="Equation.3">
                  <p:embed/>
                </p:oleObj>
              </mc:Choice>
              <mc:Fallback>
                <p:oleObj name="Equation" r:id="rId3" imgW="6858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00" y="1080000"/>
                        <a:ext cx="2051050" cy="684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81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3269131" y="980728"/>
            <a:ext cx="4399213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i="1" dirty="0">
                <a:solidFill>
                  <a:srgbClr val="FF0000"/>
                </a:solidFill>
              </a:rPr>
              <a:t>F</a:t>
            </a:r>
            <a:r>
              <a:rPr lang="cs-CZ" sz="4000" b="1" i="1" baseline="-25000" dirty="0">
                <a:solidFill>
                  <a:srgbClr val="FF0000"/>
                </a:solidFill>
              </a:rPr>
              <a:t>Z</a:t>
            </a:r>
            <a:r>
              <a:rPr lang="cs-CZ" sz="4000" b="1" i="1" dirty="0">
                <a:solidFill>
                  <a:srgbClr val="FF0000"/>
                </a:solidFill>
              </a:rPr>
              <a:t>=a</a:t>
            </a:r>
            <a:r>
              <a:rPr lang="cs-CZ" sz="4000" b="1" i="1" baseline="-25000" dirty="0">
                <a:solidFill>
                  <a:srgbClr val="FF0000"/>
                </a:solidFill>
              </a:rPr>
              <a:t>m</a:t>
            </a:r>
            <a:r>
              <a:rPr lang="cs-CZ" sz="4000" b="1" i="1" dirty="0">
                <a:solidFill>
                  <a:srgbClr val="FF0000"/>
                </a:solidFill>
              </a:rPr>
              <a:t>a</a:t>
            </a:r>
            <a:r>
              <a:rPr lang="cs-CZ" sz="4000" b="1" i="1" baseline="-25000" dirty="0">
                <a:solidFill>
                  <a:srgbClr val="FF0000"/>
                </a:solidFill>
              </a:rPr>
              <a:t>m-1</a:t>
            </a:r>
            <a:r>
              <a:rPr lang="cs-CZ" sz="4000" b="1" i="1" dirty="0">
                <a:solidFill>
                  <a:srgbClr val="FF0000"/>
                </a:solidFill>
              </a:rPr>
              <a:t>…a</a:t>
            </a:r>
            <a:r>
              <a:rPr lang="cs-CZ" sz="4000" b="1" i="1" baseline="-25000" dirty="0">
                <a:solidFill>
                  <a:srgbClr val="FF0000"/>
                </a:solidFill>
              </a:rPr>
              <a:t>0</a:t>
            </a:r>
            <a:endParaRPr lang="cs-CZ" sz="4000" b="1" i="1" baseline="30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1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1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1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1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0" grpId="0"/>
      <p:bldP spid="12" grpId="0" animBg="1"/>
      <p:bldP spid="13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92853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Převod čísla z dekadické soustavy</a:t>
            </a:r>
          </a:p>
        </p:txBody>
      </p:sp>
      <p:sp>
        <p:nvSpPr>
          <p:cNvPr id="140296" name="Text Box 8"/>
          <p:cNvSpPr txBox="1">
            <a:spLocks noChangeArrowheads="1"/>
          </p:cNvSpPr>
          <p:nvPr/>
        </p:nvSpPr>
        <p:spPr bwMode="auto">
          <a:xfrm>
            <a:off x="540000" y="3240000"/>
            <a:ext cx="8604000" cy="1308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solidFill>
                  <a:schemeClr val="bg1">
                    <a:lumMod val="65000"/>
                  </a:schemeClr>
                </a:solidFill>
                <a:latin typeface="Verdana" pitchFamily="34" charset="0"/>
              </a:rPr>
              <a:t>Metoda postupného odečítání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Metoda postupného dělení</a:t>
            </a:r>
            <a:endParaRPr lang="cs-CZ" sz="3200" b="1" dirty="0">
              <a:latin typeface="Verdana" pitchFamily="34" charset="0"/>
              <a:hlinkClick r:id="rId3" action="ppaction://hlinksldjump"/>
            </a:endParaRPr>
          </a:p>
        </p:txBody>
      </p:sp>
      <p:graphicFrame>
        <p:nvGraphicFramePr>
          <p:cNvPr id="1402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898852"/>
              </p:ext>
            </p:extLst>
          </p:nvPr>
        </p:nvGraphicFramePr>
        <p:xfrm>
          <a:off x="540000" y="1080000"/>
          <a:ext cx="178435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28600" progId="Equation.3">
                  <p:embed/>
                </p:oleObj>
              </mc:Choice>
              <mc:Fallback>
                <p:oleObj name="Equation" r:id="rId4" imgW="59688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00" y="1080000"/>
                        <a:ext cx="1784350" cy="684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81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540000" y="1980000"/>
            <a:ext cx="7718425" cy="7694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400" b="1" i="1" dirty="0">
                <a:solidFill>
                  <a:schemeClr val="folHlink"/>
                </a:solidFill>
              </a:rPr>
              <a:t>F</a:t>
            </a:r>
            <a:r>
              <a:rPr lang="cs-CZ" sz="4400" b="1" i="1" baseline="-25000" dirty="0">
                <a:solidFill>
                  <a:schemeClr val="folHlink"/>
                </a:solidFill>
              </a:rPr>
              <a:t>10</a:t>
            </a:r>
            <a:r>
              <a:rPr lang="cs-CZ" sz="4400" b="1" i="1" dirty="0"/>
              <a:t>=</a:t>
            </a:r>
            <a:r>
              <a:rPr lang="cs-CZ" sz="4400" b="1" i="1" dirty="0">
                <a:solidFill>
                  <a:srgbClr val="00CC00"/>
                </a:solidFill>
              </a:rPr>
              <a:t>a</a:t>
            </a:r>
            <a:r>
              <a:rPr lang="cs-CZ" sz="4400" b="1" i="1" baseline="-25000" dirty="0">
                <a:solidFill>
                  <a:srgbClr val="00CC00"/>
                </a:solidFill>
              </a:rPr>
              <a:t>m</a:t>
            </a:r>
            <a:r>
              <a:rPr lang="cs-CZ" sz="4400" b="1" i="1" dirty="0">
                <a:solidFill>
                  <a:schemeClr val="folHlink"/>
                </a:solidFill>
              </a:rPr>
              <a:t>Z</a:t>
            </a:r>
            <a:r>
              <a:rPr lang="cs-CZ" sz="4400" b="1" i="1" baseline="30000" dirty="0">
                <a:solidFill>
                  <a:schemeClr val="folHlink"/>
                </a:solidFill>
              </a:rPr>
              <a:t>m</a:t>
            </a:r>
            <a:r>
              <a:rPr lang="cs-CZ" sz="4400" b="1" i="1" dirty="0"/>
              <a:t>+</a:t>
            </a:r>
            <a:r>
              <a:rPr lang="cs-CZ" sz="4400" b="1" i="1" dirty="0">
                <a:solidFill>
                  <a:srgbClr val="00CC00"/>
                </a:solidFill>
              </a:rPr>
              <a:t>a</a:t>
            </a:r>
            <a:r>
              <a:rPr lang="cs-CZ" sz="4400" b="1" i="1" baseline="-25000" dirty="0">
                <a:solidFill>
                  <a:srgbClr val="00CC00"/>
                </a:solidFill>
              </a:rPr>
              <a:t>m-1</a:t>
            </a:r>
            <a:r>
              <a:rPr lang="cs-CZ" sz="4400" b="1" i="1" dirty="0">
                <a:solidFill>
                  <a:schemeClr val="folHlink"/>
                </a:solidFill>
              </a:rPr>
              <a:t>Z</a:t>
            </a:r>
            <a:r>
              <a:rPr lang="cs-CZ" sz="4400" b="1" i="1" baseline="30000" dirty="0">
                <a:solidFill>
                  <a:schemeClr val="folHlink"/>
                </a:solidFill>
              </a:rPr>
              <a:t>m-1</a:t>
            </a:r>
            <a:r>
              <a:rPr lang="cs-CZ" sz="4400" b="1" i="1" dirty="0"/>
              <a:t>+…+</a:t>
            </a:r>
            <a:r>
              <a:rPr lang="cs-CZ" sz="4400" b="1" i="1" dirty="0">
                <a:solidFill>
                  <a:srgbClr val="00CC00"/>
                </a:solidFill>
              </a:rPr>
              <a:t>a</a:t>
            </a:r>
            <a:r>
              <a:rPr lang="cs-CZ" sz="4400" b="1" i="1" baseline="-25000" dirty="0">
                <a:solidFill>
                  <a:srgbClr val="00CC00"/>
                </a:solidFill>
              </a:rPr>
              <a:t>0</a:t>
            </a:r>
            <a:r>
              <a:rPr lang="cs-CZ" sz="4400" b="1" i="1" dirty="0">
                <a:solidFill>
                  <a:schemeClr val="folHlink"/>
                </a:solidFill>
              </a:rPr>
              <a:t>Z</a:t>
            </a:r>
            <a:r>
              <a:rPr lang="cs-CZ" sz="4400" b="1" i="1" baseline="30000" dirty="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3269131" y="980728"/>
            <a:ext cx="4399213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i="1" dirty="0">
                <a:solidFill>
                  <a:srgbClr val="00B050"/>
                </a:solidFill>
              </a:rPr>
              <a:t>F</a:t>
            </a:r>
            <a:r>
              <a:rPr lang="cs-CZ" sz="4000" b="1" i="1" baseline="-25000" dirty="0">
                <a:solidFill>
                  <a:srgbClr val="00B050"/>
                </a:solidFill>
              </a:rPr>
              <a:t>Z</a:t>
            </a:r>
            <a:r>
              <a:rPr lang="cs-CZ" sz="4000" b="1" i="1" dirty="0">
                <a:solidFill>
                  <a:srgbClr val="00B050"/>
                </a:solidFill>
              </a:rPr>
              <a:t>=a</a:t>
            </a:r>
            <a:r>
              <a:rPr lang="cs-CZ" sz="4000" b="1" i="1" baseline="-25000" dirty="0">
                <a:solidFill>
                  <a:srgbClr val="00B050"/>
                </a:solidFill>
              </a:rPr>
              <a:t>m</a:t>
            </a:r>
            <a:r>
              <a:rPr lang="cs-CZ" sz="4000" b="1" i="1" dirty="0">
                <a:solidFill>
                  <a:srgbClr val="00B050"/>
                </a:solidFill>
              </a:rPr>
              <a:t>a</a:t>
            </a:r>
            <a:r>
              <a:rPr lang="cs-CZ" sz="4000" b="1" i="1" baseline="-25000" dirty="0">
                <a:solidFill>
                  <a:srgbClr val="00B050"/>
                </a:solidFill>
              </a:rPr>
              <a:t>m-1</a:t>
            </a:r>
            <a:r>
              <a:rPr lang="cs-CZ" sz="4000" b="1" i="1" dirty="0">
                <a:solidFill>
                  <a:srgbClr val="00B050"/>
                </a:solidFill>
              </a:rPr>
              <a:t>…a</a:t>
            </a:r>
            <a:r>
              <a:rPr lang="cs-CZ" sz="4000" b="1" i="1" baseline="-25000" dirty="0">
                <a:solidFill>
                  <a:srgbClr val="00B050"/>
                </a:solidFill>
              </a:rPr>
              <a:t>0</a:t>
            </a:r>
            <a:endParaRPr lang="cs-CZ" sz="4000" b="1" i="1" baseline="30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6" grpId="0"/>
      <p:bldP spid="140299" grpId="0"/>
      <p:bldP spid="13" grpId="0" animBg="1"/>
      <p:bldP spid="14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40000" y="1080000"/>
            <a:ext cx="4953000" cy="5257800"/>
            <a:chOff x="240" y="864"/>
            <a:chExt cx="3120" cy="3312"/>
          </a:xfrm>
        </p:grpSpPr>
        <p:sp>
          <p:nvSpPr>
            <p:cNvPr id="144397" name="Text Box 13"/>
            <p:cNvSpPr txBox="1">
              <a:spLocks noChangeArrowheads="1"/>
            </p:cNvSpPr>
            <p:nvPr/>
          </p:nvSpPr>
          <p:spPr bwMode="auto">
            <a:xfrm>
              <a:off x="240" y="864"/>
              <a:ext cx="3120" cy="3312"/>
            </a:xfrm>
            <a:prstGeom prst="rect">
              <a:avLst/>
            </a:prstGeom>
            <a:noFill/>
            <a:ln w="63500">
              <a:solidFill>
                <a:srgbClr val="00CC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en-US" sz="3200" b="1" u="sng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  <a:r>
                <a:rPr lang="en-US" sz="3200" b="1" baseline="-250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en-US" sz="3200" b="1" u="sng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=190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256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  <a:r>
                <a:rPr lang="en-US" sz="2800" b="1" u="sng" dirty="0">
                  <a:solidFill>
                    <a:schemeClr val="folHlin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&gt;128</a:t>
              </a:r>
              <a:endParaRPr lang="cs-CZ" sz="28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190-2</a:t>
              </a:r>
              <a:r>
                <a:rPr lang="en-US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=190-128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=+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62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64=- 2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32=+30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6=+14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14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14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8=+ 6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6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6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4=+ 2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2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2=+ 0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  <a:r>
                <a:rPr lang="cs-CZ" sz="2800" b="1" baseline="30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0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1=- 1</a:t>
              </a:r>
              <a:r>
                <a:rPr lang="en-US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sz="28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cs-CZ" sz="28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endParaRPr lang="cs-CZ" sz="20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	 </a:t>
              </a:r>
              <a:r>
                <a:rPr lang="cs-CZ" sz="32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  <a:r>
                <a:rPr lang="cs-CZ" sz="3200" b="1" baseline="-25000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cs-CZ" sz="3200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=1011 1110</a:t>
              </a:r>
              <a:endParaRPr lang="en-US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69" name="Oval 14"/>
            <p:cNvSpPr>
              <a:spLocks noChangeArrowheads="1"/>
            </p:cNvSpPr>
            <p:nvPr/>
          </p:nvSpPr>
          <p:spPr bwMode="auto">
            <a:xfrm>
              <a:off x="2089" y="3344"/>
              <a:ext cx="164" cy="273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70" name="Freeform 17"/>
            <p:cNvSpPr>
              <a:spLocks/>
            </p:cNvSpPr>
            <p:nvPr/>
          </p:nvSpPr>
          <p:spPr bwMode="auto">
            <a:xfrm>
              <a:off x="2185" y="1248"/>
              <a:ext cx="776" cy="224"/>
            </a:xfrm>
            <a:custGeom>
              <a:avLst/>
              <a:gdLst>
                <a:gd name="T0" fmla="*/ 0 w 672"/>
                <a:gd name="T1" fmla="*/ 192 h 192"/>
                <a:gd name="T2" fmla="*/ 384 w 672"/>
                <a:gd name="T3" fmla="*/ 0 h 192"/>
                <a:gd name="T4" fmla="*/ 672 w 672"/>
                <a:gd name="T5" fmla="*/ 192 h 192"/>
                <a:gd name="T6" fmla="*/ 0 60000 65536"/>
                <a:gd name="T7" fmla="*/ 0 60000 65536"/>
                <a:gd name="T8" fmla="*/ 0 60000 65536"/>
                <a:gd name="T9" fmla="*/ 0 w 672"/>
                <a:gd name="T10" fmla="*/ 0 h 192"/>
                <a:gd name="T11" fmla="*/ 672 w 67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92">
                  <a:moveTo>
                    <a:pt x="0" y="192"/>
                  </a:moveTo>
                  <a:cubicBezTo>
                    <a:pt x="136" y="96"/>
                    <a:pt x="272" y="0"/>
                    <a:pt x="384" y="0"/>
                  </a:cubicBezTo>
                  <a:cubicBezTo>
                    <a:pt x="496" y="0"/>
                    <a:pt x="632" y="160"/>
                    <a:pt x="672" y="192"/>
                  </a:cubicBezTo>
                </a:path>
              </a:pathLst>
            </a:custGeom>
            <a:noFill/>
            <a:ln w="50800">
              <a:solidFill>
                <a:schemeClr val="folHlink"/>
              </a:solidFill>
              <a:round/>
              <a:headEnd type="none" w="sm" len="sm"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71" name="Oval 18"/>
            <p:cNvSpPr>
              <a:spLocks noChangeArrowheads="1"/>
            </p:cNvSpPr>
            <p:nvPr/>
          </p:nvSpPr>
          <p:spPr bwMode="auto">
            <a:xfrm>
              <a:off x="2089" y="1472"/>
              <a:ext cx="192" cy="273"/>
            </a:xfrm>
            <a:prstGeom prst="ellipse">
              <a:avLst/>
            </a:prstGeom>
            <a:noFill/>
            <a:ln w="508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square" anchor="ctr"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72" name="Freeform 19"/>
            <p:cNvSpPr>
              <a:spLocks/>
            </p:cNvSpPr>
            <p:nvPr/>
          </p:nvSpPr>
          <p:spPr bwMode="auto">
            <a:xfrm flipV="1">
              <a:off x="2253" y="3600"/>
              <a:ext cx="708" cy="192"/>
            </a:xfrm>
            <a:custGeom>
              <a:avLst/>
              <a:gdLst>
                <a:gd name="T0" fmla="*/ 0 w 672"/>
                <a:gd name="T1" fmla="*/ 192 h 192"/>
                <a:gd name="T2" fmla="*/ 384 w 672"/>
                <a:gd name="T3" fmla="*/ 0 h 192"/>
                <a:gd name="T4" fmla="*/ 672 w 672"/>
                <a:gd name="T5" fmla="*/ 192 h 192"/>
                <a:gd name="T6" fmla="*/ 0 60000 65536"/>
                <a:gd name="T7" fmla="*/ 0 60000 65536"/>
                <a:gd name="T8" fmla="*/ 0 60000 65536"/>
                <a:gd name="T9" fmla="*/ 0 w 672"/>
                <a:gd name="T10" fmla="*/ 0 h 192"/>
                <a:gd name="T11" fmla="*/ 672 w 67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92">
                  <a:moveTo>
                    <a:pt x="0" y="192"/>
                  </a:moveTo>
                  <a:cubicBezTo>
                    <a:pt x="136" y="96"/>
                    <a:pt x="272" y="0"/>
                    <a:pt x="384" y="0"/>
                  </a:cubicBezTo>
                  <a:cubicBezTo>
                    <a:pt x="496" y="0"/>
                    <a:pt x="632" y="160"/>
                    <a:pt x="672" y="192"/>
                  </a:cubicBezTo>
                </a:path>
              </a:pathLst>
            </a:cu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44406" name="Freeform 22"/>
          <p:cNvSpPr>
            <a:spLocks/>
          </p:cNvSpPr>
          <p:nvPr/>
        </p:nvSpPr>
        <p:spPr bwMode="auto">
          <a:xfrm>
            <a:off x="1981200" y="2478588"/>
            <a:ext cx="2878388" cy="3398684"/>
          </a:xfrm>
          <a:custGeom>
            <a:avLst/>
            <a:gdLst>
              <a:gd name="T0" fmla="*/ 1680 w 1680"/>
              <a:gd name="T1" fmla="*/ 0 h 2112"/>
              <a:gd name="T2" fmla="*/ 0 w 1680"/>
              <a:gd name="T3" fmla="*/ 2112 h 2112"/>
              <a:gd name="T4" fmla="*/ 0 60000 65536"/>
              <a:gd name="T5" fmla="*/ 0 60000 65536"/>
              <a:gd name="T6" fmla="*/ 0 w 1680"/>
              <a:gd name="T7" fmla="*/ 0 h 2112"/>
              <a:gd name="T8" fmla="*/ 1680 w 1680"/>
              <a:gd name="T9" fmla="*/ 2112 h 21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80" h="2112">
                <a:moveTo>
                  <a:pt x="1680" y="0"/>
                </a:moveTo>
                <a:cubicBezTo>
                  <a:pt x="1012" y="896"/>
                  <a:pt x="344" y="1792"/>
                  <a:pt x="0" y="2112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Metoda</a:t>
            </a: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postupného odečítání Z=2</a:t>
            </a: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6480000" y="1080000"/>
            <a:ext cx="1562100" cy="4038600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 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 2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 4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 8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16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32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 64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u="sng" baseline="30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2800" b="1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=128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baseline="30000"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cs-CZ" sz="2800" b="1">
                <a:latin typeface="Consolas" panose="020B0609020204030204" pitchFamily="49" charset="0"/>
                <a:cs typeface="Consolas" panose="020B0609020204030204" pitchFamily="49" charset="0"/>
              </a:rPr>
              <a:t>=256</a:t>
            </a:r>
          </a:p>
        </p:txBody>
      </p:sp>
      <p:sp>
        <p:nvSpPr>
          <p:cNvPr id="2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7" name="Tlačítko akce: Vlastní 2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8" name="Tlačítko akce: Vlastní 2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9" name="Tlačítko akce: Vlastní 2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06" grpId="0" animBg="1"/>
      <p:bldP spid="144404" grpId="0" animBg="1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15312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Metoda postupného dělení Z=2</a:t>
            </a:r>
          </a:p>
        </p:txBody>
      </p:sp>
      <p:graphicFrame>
        <p:nvGraphicFramePr>
          <p:cNvPr id="162889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77536"/>
              </p:ext>
            </p:extLst>
          </p:nvPr>
        </p:nvGraphicFramePr>
        <p:xfrm>
          <a:off x="6480000" y="1080000"/>
          <a:ext cx="1295400" cy="3960816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190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95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47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23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2823" name="Text Box 7"/>
          <p:cNvSpPr txBox="1">
            <a:spLocks noChangeArrowheads="1"/>
          </p:cNvSpPr>
          <p:nvPr/>
        </p:nvSpPr>
        <p:spPr bwMode="auto">
          <a:xfrm>
            <a:off x="540000" y="1080000"/>
            <a:ext cx="4953000" cy="4953000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sz="3200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32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3200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=190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190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2=9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95: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47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47: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23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23: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11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11: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 5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cs-CZ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5: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cs-CZ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2: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1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1: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0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endParaRPr lang="cs-CZ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defRPr/>
            </a:pPr>
            <a:r>
              <a:rPr lang="cs-CZ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32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=1011 1110</a:t>
            </a:r>
            <a:endParaRPr lang="en-US" sz="32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516" name="Freeform 8"/>
          <p:cNvSpPr>
            <a:spLocks/>
          </p:cNvSpPr>
          <p:nvPr/>
        </p:nvSpPr>
        <p:spPr bwMode="auto">
          <a:xfrm>
            <a:off x="4114800" y="1844824"/>
            <a:ext cx="952500" cy="3672408"/>
          </a:xfrm>
          <a:custGeom>
            <a:avLst/>
            <a:gdLst>
              <a:gd name="T0" fmla="*/ 144 w 600"/>
              <a:gd name="T1" fmla="*/ 0 h 2304"/>
              <a:gd name="T2" fmla="*/ 576 w 600"/>
              <a:gd name="T3" fmla="*/ 1248 h 2304"/>
              <a:gd name="T4" fmla="*/ 0 w 600"/>
              <a:gd name="T5" fmla="*/ 2304 h 2304"/>
              <a:gd name="T6" fmla="*/ 0 60000 65536"/>
              <a:gd name="T7" fmla="*/ 0 60000 65536"/>
              <a:gd name="T8" fmla="*/ 0 60000 65536"/>
              <a:gd name="T9" fmla="*/ 0 w 600"/>
              <a:gd name="T10" fmla="*/ 0 h 2304"/>
              <a:gd name="T11" fmla="*/ 600 w 600"/>
              <a:gd name="T12" fmla="*/ 2304 h 23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0" h="2304">
                <a:moveTo>
                  <a:pt x="144" y="0"/>
                </a:moveTo>
                <a:cubicBezTo>
                  <a:pt x="372" y="432"/>
                  <a:pt x="600" y="864"/>
                  <a:pt x="576" y="1248"/>
                </a:cubicBezTo>
                <a:cubicBezTo>
                  <a:pt x="552" y="1632"/>
                  <a:pt x="96" y="2128"/>
                  <a:pt x="0" y="2304"/>
                </a:cubicBezTo>
              </a:path>
            </a:pathLst>
          </a:custGeom>
          <a:noFill/>
          <a:ln w="50800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>
            <a:noAutofit/>
          </a:bodyPr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28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28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28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28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28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28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28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28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6" grpId="0" animBg="1"/>
      <p:bldP spid="14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15312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Metoda</a:t>
            </a: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postupného dělení Z=8</a:t>
            </a:r>
          </a:p>
        </p:txBody>
      </p:sp>
      <p:graphicFrame>
        <p:nvGraphicFramePr>
          <p:cNvPr id="145423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158956"/>
              </p:ext>
            </p:extLst>
          </p:nvPr>
        </p:nvGraphicFramePr>
        <p:xfrm>
          <a:off x="6480000" y="1080000"/>
          <a:ext cx="1295400" cy="3960816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190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23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5416" name="Text Box 8"/>
          <p:cNvSpPr txBox="1">
            <a:spLocks noChangeArrowheads="1"/>
          </p:cNvSpPr>
          <p:nvPr/>
        </p:nvSpPr>
        <p:spPr bwMode="auto">
          <a:xfrm>
            <a:off x="539751" y="1079496"/>
            <a:ext cx="4953000" cy="2678113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sz="3200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32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3200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=190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190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:8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23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=6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endParaRPr lang="en-US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23:8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endParaRPr lang="en-US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2:8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0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endParaRPr lang="cs-CZ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cs-CZ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32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cs-CZ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=276</a:t>
            </a:r>
            <a:endParaRPr lang="en-US" sz="32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541" name="Line 60"/>
          <p:cNvSpPr>
            <a:spLocks noChangeShapeType="1"/>
          </p:cNvSpPr>
          <p:nvPr/>
        </p:nvSpPr>
        <p:spPr bwMode="auto">
          <a:xfrm flipH="1">
            <a:off x="1284625" y="3212976"/>
            <a:ext cx="1368425" cy="0"/>
          </a:xfrm>
          <a:prstGeom prst="line">
            <a:avLst/>
          </a:prstGeom>
          <a:noFill/>
          <a:ln w="508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lIns="92075" tIns="46038" rIns="92075" bIns="46038" anchor="ctr">
            <a:spAutoFit/>
          </a:bodyPr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1542" name="Freeform 10"/>
          <p:cNvSpPr>
            <a:spLocks/>
          </p:cNvSpPr>
          <p:nvPr/>
        </p:nvSpPr>
        <p:spPr bwMode="auto">
          <a:xfrm>
            <a:off x="2843808" y="1842488"/>
            <a:ext cx="2209800" cy="1586511"/>
          </a:xfrm>
          <a:custGeom>
            <a:avLst/>
            <a:gdLst>
              <a:gd name="T0" fmla="*/ 1056 w 1520"/>
              <a:gd name="T1" fmla="*/ 0 h 1136"/>
              <a:gd name="T2" fmla="*/ 1344 w 1520"/>
              <a:gd name="T3" fmla="*/ 960 h 1136"/>
              <a:gd name="T4" fmla="*/ 0 w 1520"/>
              <a:gd name="T5" fmla="*/ 1056 h 1136"/>
              <a:gd name="T6" fmla="*/ 0 60000 65536"/>
              <a:gd name="T7" fmla="*/ 0 60000 65536"/>
              <a:gd name="T8" fmla="*/ 0 60000 65536"/>
              <a:gd name="T9" fmla="*/ 0 w 1520"/>
              <a:gd name="T10" fmla="*/ 0 h 1136"/>
              <a:gd name="T11" fmla="*/ 1520 w 1520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0" h="1136">
                <a:moveTo>
                  <a:pt x="1056" y="0"/>
                </a:moveTo>
                <a:cubicBezTo>
                  <a:pt x="1288" y="392"/>
                  <a:pt x="1520" y="784"/>
                  <a:pt x="1344" y="960"/>
                </a:cubicBezTo>
                <a:cubicBezTo>
                  <a:pt x="1168" y="1136"/>
                  <a:pt x="224" y="1040"/>
                  <a:pt x="0" y="1056"/>
                </a:cubicBezTo>
              </a:path>
            </a:pathLst>
          </a:custGeom>
          <a:noFill/>
          <a:ln w="63500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>
            <a:noAutofit/>
          </a:bodyPr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5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5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5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5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1" grpId="0" animBg="1"/>
      <p:bldP spid="17" grpId="0" animBg="1"/>
      <p:bldP spid="18" grpId="0"/>
      <p:bldP spid="2154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540000" y="1080000"/>
            <a:ext cx="4953000" cy="2246313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32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=190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190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:16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11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=14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11:16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0 </a:t>
            </a:r>
            <a:r>
              <a:rPr lang="cs-CZ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zb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=11 a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endParaRPr lang="cs-CZ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cs-CZ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32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cs-CZ" sz="3200" b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=BE</a:t>
            </a:r>
            <a:endParaRPr lang="en-US" sz="3200" b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567" name="Freeform 9"/>
          <p:cNvSpPr>
            <a:spLocks/>
          </p:cNvSpPr>
          <p:nvPr/>
        </p:nvSpPr>
        <p:spPr bwMode="auto">
          <a:xfrm>
            <a:off x="2549775" y="1876925"/>
            <a:ext cx="2895600" cy="1143000"/>
          </a:xfrm>
          <a:custGeom>
            <a:avLst/>
            <a:gdLst>
              <a:gd name="T0" fmla="*/ 1440 w 1824"/>
              <a:gd name="T1" fmla="*/ 0 h 720"/>
              <a:gd name="T2" fmla="*/ 1584 w 1824"/>
              <a:gd name="T3" fmla="*/ 432 h 720"/>
              <a:gd name="T4" fmla="*/ 0 w 1824"/>
              <a:gd name="T5" fmla="*/ 720 h 720"/>
              <a:gd name="T6" fmla="*/ 0 60000 65536"/>
              <a:gd name="T7" fmla="*/ 0 60000 65536"/>
              <a:gd name="T8" fmla="*/ 0 60000 65536"/>
              <a:gd name="T9" fmla="*/ 0 w 1824"/>
              <a:gd name="T10" fmla="*/ 0 h 720"/>
              <a:gd name="T11" fmla="*/ 1824 w 1824"/>
              <a:gd name="T12" fmla="*/ 720 h 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720">
                <a:moveTo>
                  <a:pt x="1440" y="0"/>
                </a:moveTo>
                <a:cubicBezTo>
                  <a:pt x="1632" y="156"/>
                  <a:pt x="1824" y="312"/>
                  <a:pt x="1584" y="432"/>
                </a:cubicBezTo>
                <a:cubicBezTo>
                  <a:pt x="1344" y="552"/>
                  <a:pt x="256" y="664"/>
                  <a:pt x="0" y="720"/>
                </a:cubicBezTo>
              </a:path>
            </a:pathLst>
          </a:custGeom>
          <a:noFill/>
          <a:ln w="63500">
            <a:solidFill>
              <a:srgbClr val="00008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15312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Metoda</a:t>
            </a: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postupného dělení Z=16</a:t>
            </a:r>
          </a:p>
        </p:txBody>
      </p:sp>
      <p:graphicFrame>
        <p:nvGraphicFramePr>
          <p:cNvPr id="164931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64036"/>
              </p:ext>
            </p:extLst>
          </p:nvPr>
        </p:nvGraphicFramePr>
        <p:xfrm>
          <a:off x="6480000" y="1080000"/>
          <a:ext cx="1584325" cy="3960816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190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14(E)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11(B)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565" name="Line 69"/>
          <p:cNvSpPr>
            <a:spLocks noChangeShapeType="1"/>
          </p:cNvSpPr>
          <p:nvPr/>
        </p:nvSpPr>
        <p:spPr bwMode="auto">
          <a:xfrm flipH="1">
            <a:off x="1341688" y="2705600"/>
            <a:ext cx="1225550" cy="0"/>
          </a:xfrm>
          <a:prstGeom prst="line">
            <a:avLst/>
          </a:prstGeom>
          <a:noFill/>
          <a:ln w="508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lIns="92075" tIns="46038" rIns="92075" bIns="46038" anchor="ctr"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4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4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8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67" grpId="0" animBg="1"/>
      <p:bldP spid="22565" grpId="0" animBg="1"/>
      <p:bldP spid="17" grpId="0" animBg="1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748712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Převody</a:t>
            </a: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mezi obecnými soustavami</a:t>
            </a:r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18158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Hexadecimální číslo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převedeme na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binární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tak, že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každou cifru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hexadecimálního čísla napíšeme v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binárním tvaru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(čtyři místa)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720000" y="3060000"/>
            <a:ext cx="7848600" cy="2554288"/>
            <a:chOff x="408" y="1824"/>
            <a:chExt cx="4944" cy="1609"/>
          </a:xfrm>
        </p:grpSpPr>
        <p:sp>
          <p:nvSpPr>
            <p:cNvPr id="149513" name="Text Box 9"/>
            <p:cNvSpPr txBox="1">
              <a:spLocks noChangeArrowheads="1"/>
            </p:cNvSpPr>
            <p:nvPr/>
          </p:nvSpPr>
          <p:spPr bwMode="auto">
            <a:xfrm>
              <a:off x="408" y="1824"/>
              <a:ext cx="4944" cy="1609"/>
            </a:xfrm>
            <a:prstGeom prst="rect">
              <a:avLst/>
            </a:prstGeom>
            <a:noFill/>
            <a:ln w="63500">
              <a:solidFill>
                <a:srgbClr val="00CC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 u="sng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Z=16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  <a:r>
                <a:rPr lang="cs-CZ" sz="4000" b="1" baseline="-25000"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=  A    9    4    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 u="sng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Z=2</a:t>
              </a:r>
              <a:endParaRPr lang="cs-CZ" sz="4000" b="1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  <a:r>
                <a:rPr lang="cs-CZ" sz="4000" b="1" baseline="-25000">
                  <a:latin typeface="Consolas" panose="020B0609020204030204" pitchFamily="49" charset="0"/>
                  <a:cs typeface="Consolas" panose="020B0609020204030204" pitchFamily="49" charset="0"/>
                </a:rPr>
                <a:t>2 </a:t>
              </a: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=1010 1001 0100 0001</a:t>
              </a:r>
            </a:p>
          </p:txBody>
        </p:sp>
        <p:sp>
          <p:nvSpPr>
            <p:cNvPr id="23562" name="Line 11"/>
            <p:cNvSpPr>
              <a:spLocks noChangeShapeType="1"/>
            </p:cNvSpPr>
            <p:nvPr/>
          </p:nvSpPr>
          <p:spPr bwMode="auto">
            <a:xfrm flipH="1">
              <a:off x="1338" y="2544"/>
              <a:ext cx="144" cy="528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563" name="Line 12"/>
            <p:cNvSpPr>
              <a:spLocks noChangeShapeType="1"/>
            </p:cNvSpPr>
            <p:nvPr/>
          </p:nvSpPr>
          <p:spPr bwMode="auto">
            <a:xfrm flipH="1">
              <a:off x="2199" y="2544"/>
              <a:ext cx="144" cy="528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564" name="Line 13"/>
            <p:cNvSpPr>
              <a:spLocks noChangeShapeType="1"/>
            </p:cNvSpPr>
            <p:nvPr/>
          </p:nvSpPr>
          <p:spPr bwMode="auto">
            <a:xfrm flipH="1">
              <a:off x="3107" y="2544"/>
              <a:ext cx="144" cy="528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565" name="Line 14"/>
            <p:cNvSpPr>
              <a:spLocks noChangeShapeType="1"/>
            </p:cNvSpPr>
            <p:nvPr/>
          </p:nvSpPr>
          <p:spPr bwMode="auto">
            <a:xfrm flipH="1">
              <a:off x="3968" y="2544"/>
              <a:ext cx="144" cy="528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2" grpId="0"/>
      <p:bldP spid="17" grpId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358775" y="1080000"/>
            <a:ext cx="8785225" cy="18158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Binární číslo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převedeme na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hexadecimální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tak, že číslo si rozdělíme do skupin po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čtyřech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 tyto napíšeme v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hexadecimálním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kódu (čtyři místa). 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720000" y="3060000"/>
            <a:ext cx="7848600" cy="2554288"/>
            <a:chOff x="408" y="1824"/>
            <a:chExt cx="4944" cy="1609"/>
          </a:xfrm>
        </p:grpSpPr>
        <p:sp>
          <p:nvSpPr>
            <p:cNvPr id="150537" name="Text Box 9"/>
            <p:cNvSpPr txBox="1">
              <a:spLocks noChangeArrowheads="1"/>
            </p:cNvSpPr>
            <p:nvPr/>
          </p:nvSpPr>
          <p:spPr bwMode="auto">
            <a:xfrm>
              <a:off x="408" y="1824"/>
              <a:ext cx="4944" cy="1609"/>
            </a:xfrm>
            <a:prstGeom prst="rect">
              <a:avLst/>
            </a:prstGeom>
            <a:noFill/>
            <a:ln w="63500">
              <a:solidFill>
                <a:srgbClr val="00CC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 u="sng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Z=2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  <a:r>
                <a:rPr lang="cs-CZ" sz="40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=1010 1001 0100 0001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 u="sng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Z=16</a:t>
              </a:r>
              <a:endParaRPr lang="cs-CZ" sz="40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  <a:defRPr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  <a:r>
                <a:rPr lang="en-US" sz="4000" b="1" baseline="-2500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4000" b="1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=   </a:t>
              </a: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    9    4    1</a:t>
              </a:r>
            </a:p>
          </p:txBody>
        </p:sp>
        <p:sp>
          <p:nvSpPr>
            <p:cNvPr id="24587" name="Line 17"/>
            <p:cNvSpPr>
              <a:spLocks noChangeShapeType="1"/>
            </p:cNvSpPr>
            <p:nvPr/>
          </p:nvSpPr>
          <p:spPr bwMode="auto">
            <a:xfrm>
              <a:off x="1551" y="2640"/>
              <a:ext cx="0" cy="38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588" name="Line 18"/>
            <p:cNvSpPr>
              <a:spLocks noChangeShapeType="1"/>
            </p:cNvSpPr>
            <p:nvPr/>
          </p:nvSpPr>
          <p:spPr bwMode="auto">
            <a:xfrm>
              <a:off x="2426" y="2640"/>
              <a:ext cx="0" cy="38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589" name="Line 19"/>
            <p:cNvSpPr>
              <a:spLocks noChangeShapeType="1"/>
            </p:cNvSpPr>
            <p:nvPr/>
          </p:nvSpPr>
          <p:spPr bwMode="auto">
            <a:xfrm>
              <a:off x="3333" y="2640"/>
              <a:ext cx="0" cy="38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590" name="Line 20"/>
            <p:cNvSpPr>
              <a:spLocks noChangeShapeType="1"/>
            </p:cNvSpPr>
            <p:nvPr/>
          </p:nvSpPr>
          <p:spPr bwMode="auto">
            <a:xfrm>
              <a:off x="4195" y="2640"/>
              <a:ext cx="0" cy="38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Převody mezi obecnými soustavami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6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6" y="288000"/>
            <a:ext cx="8677274" cy="720000"/>
          </a:xfrm>
        </p:spPr>
        <p:txBody>
          <a:bodyPr/>
          <a:lstStyle/>
          <a:p>
            <a:pPr>
              <a:defRPr/>
            </a:pPr>
            <a:r>
              <a:rPr lang="cs-CZ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Převod desetinných čísel do dvojkové soustavy</a:t>
            </a:r>
          </a:p>
        </p:txBody>
      </p:sp>
      <p:sp>
        <p:nvSpPr>
          <p:cNvPr id="151565" name="Freeform 13"/>
          <p:cNvSpPr>
            <a:spLocks/>
          </p:cNvSpPr>
          <p:nvPr/>
        </p:nvSpPr>
        <p:spPr bwMode="auto">
          <a:xfrm>
            <a:off x="4284663" y="1844824"/>
            <a:ext cx="1976437" cy="1574800"/>
          </a:xfrm>
          <a:custGeom>
            <a:avLst/>
            <a:gdLst>
              <a:gd name="T0" fmla="*/ 912 w 1208"/>
              <a:gd name="T1" fmla="*/ 0 h 1104"/>
              <a:gd name="T2" fmla="*/ 1056 w 1208"/>
              <a:gd name="T3" fmla="*/ 816 h 1104"/>
              <a:gd name="T4" fmla="*/ 0 w 1208"/>
              <a:gd name="T5" fmla="*/ 1104 h 1104"/>
              <a:gd name="T6" fmla="*/ 0 60000 65536"/>
              <a:gd name="T7" fmla="*/ 0 60000 65536"/>
              <a:gd name="T8" fmla="*/ 0 60000 65536"/>
              <a:gd name="T9" fmla="*/ 0 w 1208"/>
              <a:gd name="T10" fmla="*/ 0 h 1104"/>
              <a:gd name="T11" fmla="*/ 1208 w 1208"/>
              <a:gd name="T12" fmla="*/ 1104 h 11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8" h="1104">
                <a:moveTo>
                  <a:pt x="912" y="0"/>
                </a:moveTo>
                <a:cubicBezTo>
                  <a:pt x="1060" y="316"/>
                  <a:pt x="1208" y="632"/>
                  <a:pt x="1056" y="816"/>
                </a:cubicBezTo>
                <a:cubicBezTo>
                  <a:pt x="904" y="1000"/>
                  <a:pt x="168" y="1064"/>
                  <a:pt x="0" y="1104"/>
                </a:cubicBezTo>
              </a:path>
            </a:pathLst>
          </a:custGeom>
          <a:noFill/>
          <a:ln w="50800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/>
          </a:p>
        </p:txBody>
      </p:sp>
      <p:sp>
        <p:nvSpPr>
          <p:cNvPr id="151564" name="Text Box 12"/>
          <p:cNvSpPr txBox="1">
            <a:spLocks noChangeArrowheads="1"/>
          </p:cNvSpPr>
          <p:nvPr/>
        </p:nvSpPr>
        <p:spPr bwMode="auto">
          <a:xfrm>
            <a:off x="540000" y="1080000"/>
            <a:ext cx="5791200" cy="3352800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3200" b="1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3200" b="1" baseline="-25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3200" b="1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0,625</a:t>
            </a:r>
            <a:endParaRPr lang="en-US" sz="3200" b="1" u="sng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   0,625.2</a:t>
            </a:r>
            <a:r>
              <a:rPr lang="en-US" sz="3200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,25</a:t>
            </a:r>
            <a:r>
              <a:rPr lang="en-US" sz="3200" b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3200" b="1" baseline="-2500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(1,25-1).2</a:t>
            </a:r>
            <a:r>
              <a:rPr lang="en-US" sz="3200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,5</a:t>
            </a:r>
            <a:r>
              <a:rPr lang="en-US" sz="3200" b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  <a:r>
              <a:rPr lang="cs-CZ" sz="3200" b="1" baseline="-25000">
                <a:latin typeface="Consolas" panose="020B0609020204030204" pitchFamily="49" charset="0"/>
                <a:cs typeface="Consolas" panose="020B0609020204030204" pitchFamily="49" charset="0"/>
              </a:rPr>
              <a:t>-2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     0,5.2</a:t>
            </a:r>
            <a:r>
              <a:rPr lang="en-US" sz="3200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,0</a:t>
            </a:r>
            <a:r>
              <a:rPr lang="en-US" sz="3200" b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  <a:r>
              <a:rPr lang="cs-CZ" sz="3200" b="1" baseline="-25000"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  <a:r>
              <a:rPr lang="cs-CZ" sz="3200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32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cs-CZ" sz="3200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endParaRPr lang="cs-CZ" sz="3200" b="1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cs-CZ" sz="32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32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32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=0,101</a:t>
            </a:r>
            <a:endParaRPr lang="en-US" sz="3200" b="1" u="sng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1574" name="Line 22"/>
          <p:cNvSpPr>
            <a:spLocks noChangeShapeType="1"/>
          </p:cNvSpPr>
          <p:nvPr/>
        </p:nvSpPr>
        <p:spPr bwMode="auto">
          <a:xfrm>
            <a:off x="4211638" y="3564087"/>
            <a:ext cx="647700" cy="0"/>
          </a:xfrm>
          <a:prstGeom prst="line">
            <a:avLst/>
          </a:prstGeom>
          <a:noFill/>
          <a:ln w="508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lIns="92075" tIns="46038" rIns="92075" bIns="46038" anchor="ctr"/>
          <a:lstStyle/>
          <a:p>
            <a:endParaRPr lang="cs-CZ"/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5" grpId="0" animBg="1"/>
      <p:bldP spid="151564" grpId="0" animBg="1"/>
      <p:bldP spid="151574" grpId="0" animBg="1"/>
      <p:bldP spid="19" grpId="0" animBg="1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Rozepište 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9302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v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desítkové soustavě</a:t>
            </a:r>
          </a:p>
        </p:txBody>
      </p:sp>
      <p:sp>
        <p:nvSpPr>
          <p:cNvPr id="133132" name="Text Box 12"/>
          <p:cNvSpPr txBox="1">
            <a:spLocks noChangeArrowheads="1"/>
          </p:cNvSpPr>
          <p:nvPr/>
        </p:nvSpPr>
        <p:spPr bwMode="auto">
          <a:xfrm>
            <a:off x="360000" y="270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Rozepište 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711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v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šestnáckové soustavě</a:t>
            </a:r>
          </a:p>
        </p:txBody>
      </p:sp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360000" y="450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Rozepište 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1011010101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ve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dvojkové soustavě</a:t>
            </a:r>
          </a:p>
        </p:txBody>
      </p:sp>
      <p:sp>
        <p:nvSpPr>
          <p:cNvPr id="133135" name="Text Box 15"/>
          <p:cNvSpPr txBox="1">
            <a:spLocks noChangeArrowheads="1"/>
          </p:cNvSpPr>
          <p:nvPr/>
        </p:nvSpPr>
        <p:spPr bwMode="auto">
          <a:xfrm>
            <a:off x="360000" y="1800000"/>
            <a:ext cx="8460000" cy="646331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3600" b="1" dirty="0">
                <a:solidFill>
                  <a:schemeClr val="accent2"/>
                </a:solidFill>
                <a:latin typeface="Courier New" pitchFamily="49" charset="0"/>
              </a:rPr>
              <a:t>9302</a:t>
            </a:r>
            <a:r>
              <a:rPr lang="cs-CZ" sz="3600" b="1" baseline="-25000" dirty="0">
                <a:solidFill>
                  <a:schemeClr val="accent2"/>
                </a:solidFill>
                <a:latin typeface="Courier New" pitchFamily="49" charset="0"/>
              </a:rPr>
              <a:t>10</a:t>
            </a:r>
            <a:r>
              <a:rPr lang="cs-CZ" sz="3600" b="1" dirty="0">
                <a:latin typeface="Courier New" pitchFamily="49" charset="0"/>
              </a:rPr>
              <a:t>=9.10</a:t>
            </a:r>
            <a:r>
              <a:rPr lang="cs-CZ" sz="3600" b="1" baseline="30000" dirty="0">
                <a:latin typeface="Courier New" pitchFamily="49" charset="0"/>
              </a:rPr>
              <a:t>3</a:t>
            </a:r>
            <a:r>
              <a:rPr lang="cs-CZ" sz="3600" b="1" dirty="0">
                <a:latin typeface="Courier New" pitchFamily="49" charset="0"/>
              </a:rPr>
              <a:t>+3.10</a:t>
            </a:r>
            <a:r>
              <a:rPr lang="cs-CZ" sz="3600" b="1" baseline="30000" dirty="0">
                <a:latin typeface="Courier New" pitchFamily="49" charset="0"/>
              </a:rPr>
              <a:t>2</a:t>
            </a:r>
            <a:r>
              <a:rPr lang="cs-CZ" sz="3600" b="1" dirty="0">
                <a:latin typeface="Courier New" pitchFamily="49" charset="0"/>
              </a:rPr>
              <a:t>+0.10</a:t>
            </a:r>
            <a:r>
              <a:rPr lang="cs-CZ" sz="3600" b="1" baseline="30000" dirty="0">
                <a:latin typeface="Courier New" pitchFamily="49" charset="0"/>
              </a:rPr>
              <a:t>1</a:t>
            </a:r>
            <a:r>
              <a:rPr lang="cs-CZ" sz="3600" b="1" dirty="0">
                <a:latin typeface="Courier New" pitchFamily="49" charset="0"/>
              </a:rPr>
              <a:t>+2.10</a:t>
            </a:r>
            <a:r>
              <a:rPr lang="cs-CZ" sz="3600" b="1" baseline="30000" dirty="0">
                <a:latin typeface="Courier New" pitchFamily="49" charset="0"/>
              </a:rPr>
              <a:t>0</a:t>
            </a:r>
          </a:p>
        </p:txBody>
      </p:sp>
      <p:sp>
        <p:nvSpPr>
          <p:cNvPr id="133136" name="Text Box 16"/>
          <p:cNvSpPr txBox="1">
            <a:spLocks noChangeArrowheads="1"/>
          </p:cNvSpPr>
          <p:nvPr/>
        </p:nvSpPr>
        <p:spPr bwMode="auto">
          <a:xfrm>
            <a:off x="360000" y="3420000"/>
            <a:ext cx="6804288" cy="646331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3600" b="1" dirty="0">
                <a:solidFill>
                  <a:schemeClr val="accent2"/>
                </a:solidFill>
                <a:latin typeface="Courier New" pitchFamily="49" charset="0"/>
              </a:rPr>
              <a:t>711</a:t>
            </a:r>
            <a:r>
              <a:rPr lang="cs-CZ" sz="3600" b="1" baseline="-25000" dirty="0">
                <a:solidFill>
                  <a:schemeClr val="accent2"/>
                </a:solidFill>
                <a:latin typeface="Courier New" pitchFamily="49" charset="0"/>
              </a:rPr>
              <a:t>16</a:t>
            </a:r>
            <a:r>
              <a:rPr lang="cs-CZ" sz="3600" b="1" dirty="0">
                <a:latin typeface="Courier New" pitchFamily="49" charset="0"/>
              </a:rPr>
              <a:t>=7.16</a:t>
            </a:r>
            <a:r>
              <a:rPr lang="cs-CZ" sz="3600" b="1" baseline="30000" dirty="0">
                <a:latin typeface="Courier New" pitchFamily="49" charset="0"/>
              </a:rPr>
              <a:t>2</a:t>
            </a:r>
            <a:r>
              <a:rPr lang="cs-CZ" sz="3600" b="1" dirty="0">
                <a:latin typeface="Courier New" pitchFamily="49" charset="0"/>
              </a:rPr>
              <a:t>+1.16</a:t>
            </a:r>
            <a:r>
              <a:rPr lang="cs-CZ" sz="3600" b="1" baseline="30000" dirty="0">
                <a:latin typeface="Courier New" pitchFamily="49" charset="0"/>
              </a:rPr>
              <a:t>1</a:t>
            </a:r>
            <a:r>
              <a:rPr lang="cs-CZ" sz="3600" b="1" dirty="0">
                <a:latin typeface="Courier New" pitchFamily="49" charset="0"/>
              </a:rPr>
              <a:t>+1.16</a:t>
            </a:r>
            <a:r>
              <a:rPr lang="cs-CZ" sz="3600" b="1" baseline="30000" dirty="0">
                <a:latin typeface="Courier New" pitchFamily="49" charset="0"/>
              </a:rPr>
              <a:t>0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TextovéPole 1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059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2" grpId="0"/>
      <p:bldP spid="133134" grpId="0"/>
      <p:bldP spid="133135" grpId="0" animBg="1"/>
      <p:bldP spid="133136" grpId="0" animBg="1"/>
      <p:bldP spid="8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TextovéPole 1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>
              <a:buClr>
                <a:srgbClr val="C00000"/>
              </a:buClr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Převeďte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binární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1011 0100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na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dekadické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60000" y="117233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360000" y="1916832"/>
            <a:ext cx="67037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Řešení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2880000"/>
            <a:ext cx="7920000" cy="79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133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TextovéPole 1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>
              <a:buClr>
                <a:srgbClr val="C00000"/>
              </a:buClr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Převeďte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dekadické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1029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na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binární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60000" y="117233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360000" y="1916832"/>
            <a:ext cx="67037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Řešení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1979999"/>
            <a:ext cx="6589646" cy="3846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618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TextovéPole 1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>
              <a:buClr>
                <a:srgbClr val="C00000"/>
              </a:buClr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Převeďte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hexadecimální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1A9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na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dekadické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60000" y="117233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360000" y="1916832"/>
            <a:ext cx="67037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Řešení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2880000"/>
            <a:ext cx="7920000" cy="939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330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TextovéPole 1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>
              <a:buClr>
                <a:srgbClr val="C00000"/>
              </a:buClr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Převeďte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dekadické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číslo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127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na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hexadecimální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60000" y="117233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360000" y="1916832"/>
            <a:ext cx="67037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Řešení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999" y="1980000"/>
            <a:ext cx="6646680" cy="1968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14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720000" y="71414"/>
            <a:ext cx="2632376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88714"/>
            <a:ext cx="9144000" cy="3046988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Aritmetické</a:t>
            </a:r>
            <a:br>
              <a:rPr lang="cs-CZ" sz="9600" dirty="0">
                <a:latin typeface="Arial Black" pitchFamily="34" charset="0"/>
              </a:rPr>
            </a:br>
            <a:r>
              <a:rPr lang="cs-CZ" sz="9600" dirty="0">
                <a:latin typeface="Arial Black" pitchFamily="34" charset="0"/>
              </a:rPr>
              <a:t>operace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1394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962894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Sčítání</a:t>
            </a:r>
          </a:p>
        </p:txBody>
      </p:sp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32778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Postup</a:t>
            </a:r>
          </a:p>
          <a:p>
            <a:pPr marL="504000" indent="-504000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Sečteme cifry v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nejnižším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řádu</a:t>
            </a:r>
          </a:p>
          <a:p>
            <a:pPr marL="504000" indent="-504000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Pokud je součet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větší než zákla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 soustavy, vznikne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přenos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</a:t>
            </a:r>
            <a:r>
              <a:rPr lang="cs-CZ" sz="28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carry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 do vyššího řádu</a:t>
            </a:r>
          </a:p>
          <a:p>
            <a:pPr marL="504000" indent="-504000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Přenos sečteme se součtem cifer vyššího řádu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2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2" name="Text Box 12"/>
          <p:cNvSpPr txBox="1">
            <a:spLocks noChangeArrowheads="1"/>
          </p:cNvSpPr>
          <p:nvPr/>
        </p:nvSpPr>
        <p:spPr bwMode="auto">
          <a:xfrm>
            <a:off x="2160000" y="1440000"/>
            <a:ext cx="6248400" cy="3046988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48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=14=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+1c=12=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 9=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 3=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cs-CZ" sz="4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3616" name="Line 16"/>
          <p:cNvSpPr>
            <a:spLocks noChangeShapeType="1"/>
          </p:cNvSpPr>
          <p:nvPr/>
        </p:nvSpPr>
        <p:spPr bwMode="auto">
          <a:xfrm flipH="1">
            <a:off x="4644008" y="2057400"/>
            <a:ext cx="2880320" cy="23624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034332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Z=10</a:t>
            </a:r>
          </a:p>
        </p:txBody>
      </p:sp>
      <p:sp>
        <p:nvSpPr>
          <p:cNvPr id="153610" name="Text Box 10"/>
          <p:cNvSpPr txBox="1">
            <a:spLocks noChangeArrowheads="1"/>
          </p:cNvSpPr>
          <p:nvPr/>
        </p:nvSpPr>
        <p:spPr bwMode="auto">
          <a:xfrm>
            <a:off x="360000" y="1980000"/>
            <a:ext cx="1676400" cy="263149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1025</a:t>
            </a:r>
          </a:p>
          <a:p>
            <a:pPr marL="444500" indent="-444500">
              <a:spcAft>
                <a:spcPts val="5400"/>
              </a:spcAft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2899</a:t>
            </a:r>
            <a:endParaRPr lang="cs-CZ" sz="4000" b="1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3924</a:t>
            </a:r>
            <a:endParaRPr lang="cs-CZ" sz="36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3611" name="Line 11"/>
          <p:cNvSpPr>
            <a:spLocks noChangeShapeType="1"/>
          </p:cNvSpPr>
          <p:nvPr/>
        </p:nvSpPr>
        <p:spPr bwMode="auto">
          <a:xfrm>
            <a:off x="304800" y="3429000"/>
            <a:ext cx="1524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3618" name="Line 18"/>
          <p:cNvSpPr>
            <a:spLocks noChangeShapeType="1"/>
          </p:cNvSpPr>
          <p:nvPr/>
        </p:nvSpPr>
        <p:spPr bwMode="auto">
          <a:xfrm flipH="1">
            <a:off x="4788024" y="2784182"/>
            <a:ext cx="2736304" cy="284778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3622" name="Text Box 22"/>
          <p:cNvSpPr txBox="1">
            <a:spLocks noChangeArrowheads="1"/>
          </p:cNvSpPr>
          <p:nvPr/>
        </p:nvSpPr>
        <p:spPr bwMode="auto">
          <a:xfrm>
            <a:off x="1044501" y="3501256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3623" name="Text Box 23"/>
          <p:cNvSpPr txBox="1">
            <a:spLocks noChangeArrowheads="1"/>
          </p:cNvSpPr>
          <p:nvPr/>
        </p:nvSpPr>
        <p:spPr bwMode="auto">
          <a:xfrm>
            <a:off x="755576" y="3501256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3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3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6" grpId="0" animBg="1"/>
      <p:bldP spid="153611" grpId="0" animBg="1"/>
      <p:bldP spid="153618" grpId="0" animBg="1"/>
      <p:bldP spid="153622" grpId="0"/>
      <p:bldP spid="153623" grpId="0"/>
      <p:bldP spid="11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572428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Z=2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04800" y="2057400"/>
            <a:ext cx="1911351" cy="1371600"/>
            <a:chOff x="192" y="1296"/>
            <a:chExt cx="1204" cy="864"/>
          </a:xfrm>
        </p:grpSpPr>
        <p:sp>
          <p:nvSpPr>
            <p:cNvPr id="29711" name="Text Box 7"/>
            <p:cNvSpPr txBox="1">
              <a:spLocks noChangeArrowheads="1"/>
            </p:cNvSpPr>
            <p:nvPr/>
          </p:nvSpPr>
          <p:spPr bwMode="auto">
            <a:xfrm>
              <a:off x="340" y="1296"/>
              <a:ext cx="1056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1011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1001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endParaRPr lang="cs-CZ" sz="3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712" name="Line 8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4633" name="Text Box 9"/>
          <p:cNvSpPr txBox="1">
            <a:spLocks noChangeArrowheads="1"/>
          </p:cNvSpPr>
          <p:nvPr/>
        </p:nvSpPr>
        <p:spPr bwMode="auto">
          <a:xfrm>
            <a:off x="2160000" y="1440000"/>
            <a:ext cx="6019800" cy="3785652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=10=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+1c=10=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 1=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=10=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    1c=01=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4634" name="Text Box 10"/>
          <p:cNvSpPr txBox="1">
            <a:spLocks noChangeArrowheads="1"/>
          </p:cNvSpPr>
          <p:nvPr/>
        </p:nvSpPr>
        <p:spPr bwMode="auto">
          <a:xfrm>
            <a:off x="324000" y="3600000"/>
            <a:ext cx="18288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10100</a:t>
            </a:r>
            <a:endParaRPr lang="cs-CZ" sz="3600" b="1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4635" name="Line 11"/>
          <p:cNvSpPr>
            <a:spLocks noChangeShapeType="1"/>
          </p:cNvSpPr>
          <p:nvPr/>
        </p:nvSpPr>
        <p:spPr bwMode="auto">
          <a:xfrm flipH="1">
            <a:off x="4786314" y="2139292"/>
            <a:ext cx="2666006" cy="281596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4636" name="Line 12"/>
          <p:cNvSpPr>
            <a:spLocks noChangeShapeType="1"/>
          </p:cNvSpPr>
          <p:nvPr/>
        </p:nvSpPr>
        <p:spPr bwMode="auto">
          <a:xfrm flipH="1">
            <a:off x="4786314" y="2782234"/>
            <a:ext cx="2666006" cy="286726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4637" name="Line 13"/>
          <p:cNvSpPr>
            <a:spLocks noChangeShapeType="1"/>
          </p:cNvSpPr>
          <p:nvPr/>
        </p:nvSpPr>
        <p:spPr bwMode="auto">
          <a:xfrm flipH="1">
            <a:off x="4786314" y="4365104"/>
            <a:ext cx="2666006" cy="144016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4642" name="Text Box 18"/>
          <p:cNvSpPr txBox="1">
            <a:spLocks noChangeArrowheads="1"/>
          </p:cNvSpPr>
          <p:nvPr/>
        </p:nvSpPr>
        <p:spPr bwMode="auto">
          <a:xfrm>
            <a:off x="1116013" y="3357563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4643" name="Text Box 19"/>
          <p:cNvSpPr txBox="1">
            <a:spLocks noChangeArrowheads="1"/>
          </p:cNvSpPr>
          <p:nvPr/>
        </p:nvSpPr>
        <p:spPr bwMode="auto">
          <a:xfrm>
            <a:off x="828675" y="3357563"/>
            <a:ext cx="287338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4644" name="Text Box 20"/>
          <p:cNvSpPr txBox="1">
            <a:spLocks noChangeArrowheads="1"/>
          </p:cNvSpPr>
          <p:nvPr/>
        </p:nvSpPr>
        <p:spPr bwMode="auto">
          <a:xfrm>
            <a:off x="179388" y="3357563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46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46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46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46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5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4" grpId="0"/>
      <p:bldP spid="154635" grpId="0" animBg="1"/>
      <p:bldP spid="154636" grpId="0" animBg="1"/>
      <p:bldP spid="154637" grpId="0" animBg="1"/>
      <p:bldP spid="154642" grpId="0"/>
      <p:bldP spid="154643" grpId="0"/>
      <p:bldP spid="154644" grpId="0"/>
      <p:bldP spid="14" grpId="0" animBg="1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748712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Z=8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04800" y="2057400"/>
            <a:ext cx="1752600" cy="1371600"/>
            <a:chOff x="192" y="1296"/>
            <a:chExt cx="1104" cy="864"/>
          </a:xfrm>
        </p:grpSpPr>
        <p:sp>
          <p:nvSpPr>
            <p:cNvPr id="30736" name="Text Box 7"/>
            <p:cNvSpPr txBox="1">
              <a:spLocks noChangeArrowheads="1"/>
            </p:cNvSpPr>
            <p:nvPr/>
          </p:nvSpPr>
          <p:spPr bwMode="auto">
            <a:xfrm>
              <a:off x="240" y="1296"/>
              <a:ext cx="1056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1717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2677</a:t>
              </a:r>
              <a:endParaRPr lang="cs-CZ" sz="3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737" name="Line 8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5657" name="Text Box 9"/>
          <p:cNvSpPr txBox="1">
            <a:spLocks noChangeArrowheads="1"/>
          </p:cNvSpPr>
          <p:nvPr/>
        </p:nvSpPr>
        <p:spPr bwMode="auto">
          <a:xfrm>
            <a:off x="2160000" y="1440000"/>
            <a:ext cx="6019800" cy="3046988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48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=16=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+1c=11=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+1c=16=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  <a:endParaRPr lang="cs-CZ" sz="4800" b="1" u="sng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 4=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cs-CZ" sz="4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381000" y="3794125"/>
            <a:ext cx="14478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4616</a:t>
            </a:r>
            <a:endParaRPr lang="cs-CZ" sz="3600" b="1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5659" name="Line 11"/>
          <p:cNvSpPr>
            <a:spLocks noChangeShapeType="1"/>
          </p:cNvSpPr>
          <p:nvPr/>
        </p:nvSpPr>
        <p:spPr bwMode="auto">
          <a:xfrm flipH="1">
            <a:off x="4857752" y="2069232"/>
            <a:ext cx="2594568" cy="351656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5660" name="Line 12"/>
          <p:cNvSpPr>
            <a:spLocks noChangeShapeType="1"/>
          </p:cNvSpPr>
          <p:nvPr/>
        </p:nvSpPr>
        <p:spPr bwMode="auto">
          <a:xfrm flipH="1">
            <a:off x="4786314" y="2793136"/>
            <a:ext cx="2666006" cy="407264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5661" name="Line 13"/>
          <p:cNvSpPr>
            <a:spLocks noChangeShapeType="1"/>
          </p:cNvSpPr>
          <p:nvPr/>
        </p:nvSpPr>
        <p:spPr bwMode="auto">
          <a:xfrm flipH="1">
            <a:off x="4857752" y="3573461"/>
            <a:ext cx="2594568" cy="359594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5666" name="Text Box 18"/>
          <p:cNvSpPr txBox="1">
            <a:spLocks noChangeArrowheads="1"/>
          </p:cNvSpPr>
          <p:nvPr/>
        </p:nvSpPr>
        <p:spPr bwMode="auto">
          <a:xfrm>
            <a:off x="1042988" y="3357563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5667" name="Text Box 19"/>
          <p:cNvSpPr txBox="1">
            <a:spLocks noChangeArrowheads="1"/>
          </p:cNvSpPr>
          <p:nvPr/>
        </p:nvSpPr>
        <p:spPr bwMode="auto">
          <a:xfrm>
            <a:off x="755650" y="3357563"/>
            <a:ext cx="287338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5668" name="Text Box 20"/>
          <p:cNvSpPr txBox="1">
            <a:spLocks noChangeArrowheads="1"/>
          </p:cNvSpPr>
          <p:nvPr/>
        </p:nvSpPr>
        <p:spPr bwMode="auto">
          <a:xfrm>
            <a:off x="468313" y="3357563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6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56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56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5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8" grpId="0"/>
      <p:bldP spid="155659" grpId="0" animBg="1"/>
      <p:bldP spid="155660" grpId="0" animBg="1"/>
      <p:bldP spid="155661" grpId="0" animBg="1"/>
      <p:bldP spid="155666" grpId="0"/>
      <p:bldP spid="155667" grpId="0"/>
      <p:bldP spid="155668" grpId="0"/>
      <p:bldP spid="14" grpId="0" animBg="1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89" name="Text Box 17"/>
          <p:cNvSpPr txBox="1">
            <a:spLocks noChangeArrowheads="1"/>
          </p:cNvSpPr>
          <p:nvPr/>
        </p:nvSpPr>
        <p:spPr bwMode="auto">
          <a:xfrm>
            <a:off x="755650" y="3357563"/>
            <a:ext cx="287338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07886"/>
          </a:xfrm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Z=16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04800" y="2057400"/>
            <a:ext cx="1524000" cy="1371600"/>
            <a:chOff x="192" y="1296"/>
            <a:chExt cx="960" cy="864"/>
          </a:xfrm>
        </p:grpSpPr>
        <p:sp>
          <p:nvSpPr>
            <p:cNvPr id="31758" name="Text Box 7"/>
            <p:cNvSpPr txBox="1">
              <a:spLocks noChangeArrowheads="1"/>
            </p:cNvSpPr>
            <p:nvPr/>
          </p:nvSpPr>
          <p:spPr bwMode="auto">
            <a:xfrm>
              <a:off x="240" y="1296"/>
              <a:ext cx="816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2AB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1EF</a:t>
              </a:r>
              <a:endParaRPr lang="cs-CZ" sz="3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759" name="Line 8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2160000" y="1440000"/>
            <a:ext cx="6019800" cy="2308324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48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=1A=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+1c=19=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800" b="1" dirty="0">
                <a:latin typeface="Consolas" panose="020B0609020204030204" pitchFamily="49" charset="0"/>
                <a:cs typeface="Consolas" panose="020B0609020204030204" pitchFamily="49" charset="0"/>
              </a:rPr>
              <a:t>+1c= 4=</a:t>
            </a:r>
            <a:r>
              <a:rPr lang="cs-CZ" sz="48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56682" name="Text Box 10"/>
          <p:cNvSpPr txBox="1">
            <a:spLocks noChangeArrowheads="1"/>
          </p:cNvSpPr>
          <p:nvPr/>
        </p:nvSpPr>
        <p:spPr bwMode="auto">
          <a:xfrm>
            <a:off x="381000" y="3721100"/>
            <a:ext cx="12192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49A</a:t>
            </a:r>
            <a:endParaRPr lang="cs-CZ" sz="3600" b="1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 flipH="1">
            <a:off x="4788024" y="2057400"/>
            <a:ext cx="2591976" cy="363488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6684" name="Line 12"/>
          <p:cNvSpPr>
            <a:spLocks noChangeShapeType="1"/>
          </p:cNvSpPr>
          <p:nvPr/>
        </p:nvSpPr>
        <p:spPr bwMode="auto">
          <a:xfrm flipH="1">
            <a:off x="4788024" y="2852936"/>
            <a:ext cx="2591976" cy="347464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6690" name="Text Box 18"/>
          <p:cNvSpPr txBox="1">
            <a:spLocks noChangeArrowheads="1"/>
          </p:cNvSpPr>
          <p:nvPr/>
        </p:nvSpPr>
        <p:spPr bwMode="auto">
          <a:xfrm>
            <a:off x="468313" y="3357563"/>
            <a:ext cx="287337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6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6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9" grpId="0"/>
      <p:bldP spid="156682" grpId="0"/>
      <p:bldP spid="156683" grpId="0" animBg="1"/>
      <p:bldP spid="156684" grpId="0" animBg="1"/>
      <p:bldP spid="156690" grpId="0"/>
      <p:bldP spid="12" grpId="0" animBg="1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4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Odečítání</a:t>
            </a: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393733" y="1295400"/>
            <a:ext cx="8750267" cy="469359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Postup</a:t>
            </a: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Odečteme cifry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(menšenec-menšitel) v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nejnižším řádu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Pokud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rozdíl menší než 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+mj-ea"/>
                <a:cs typeface="+mj-cs"/>
              </a:rPr>
              <a:t>0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potom vznikne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výpůjčka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borrow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 vyššího řádu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;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odečteme rozdíl od čísla 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+mj-ea"/>
                <a:cs typeface="+mj-cs"/>
              </a:rPr>
              <a:t>10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(v</a:t>
            </a:r>
            <a:r>
              <a:rPr lang="cs-CZ" dirty="0"/>
              <a:t>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dané soustavě)</a:t>
            </a: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Tuto výpůjčku odečteme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od rozdílu cifer vyššího řádu</a:t>
            </a:r>
            <a:endParaRPr lang="cs-CZ" sz="2800" dirty="0">
              <a:solidFill>
                <a:srgbClr val="000000"/>
              </a:solidFill>
              <a:latin typeface="Verdana" pitchFamily="34" charset="0"/>
              <a:hlinkClick r:id="rId3" action="ppaction://hlinksldjump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7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7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7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58246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Odečítání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Z=10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52400" y="2057400"/>
            <a:ext cx="1828800" cy="1371600"/>
            <a:chOff x="96" y="1296"/>
            <a:chExt cx="1152" cy="864"/>
          </a:xfrm>
        </p:grpSpPr>
        <p:sp>
          <p:nvSpPr>
            <p:cNvPr id="33806" name="Text Box 7"/>
            <p:cNvSpPr txBox="1">
              <a:spLocks noChangeArrowheads="1"/>
            </p:cNvSpPr>
            <p:nvPr/>
          </p:nvSpPr>
          <p:spPr bwMode="auto">
            <a:xfrm>
              <a:off x="96" y="1296"/>
              <a:ext cx="1152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2924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-1025</a:t>
              </a:r>
              <a:endParaRPr lang="cs-CZ" sz="3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807" name="Line 8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8729" name="Text Box 9"/>
          <p:cNvSpPr txBox="1">
            <a:spLocks noChangeArrowheads="1"/>
          </p:cNvSpPr>
          <p:nvPr/>
        </p:nvSpPr>
        <p:spPr bwMode="auto">
          <a:xfrm>
            <a:off x="2209800" y="1600200"/>
            <a:ext cx="6400800" cy="2554545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=-1+10=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-1b=-1+10=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      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      </a:t>
            </a:r>
            <a:r>
              <a:rPr lang="cs-CZ" sz="4000" b="1" u="sng" dirty="0" err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cs-CZ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8730" name="Text Box 10"/>
          <p:cNvSpPr txBox="1">
            <a:spLocks noChangeArrowheads="1"/>
          </p:cNvSpPr>
          <p:nvPr/>
        </p:nvSpPr>
        <p:spPr bwMode="auto">
          <a:xfrm>
            <a:off x="457200" y="3794125"/>
            <a:ext cx="15240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1899</a:t>
            </a:r>
            <a:endParaRPr lang="cs-CZ" sz="3600" b="1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8731" name="Line 11"/>
          <p:cNvSpPr>
            <a:spLocks noChangeShapeType="1"/>
          </p:cNvSpPr>
          <p:nvPr/>
        </p:nvSpPr>
        <p:spPr bwMode="auto">
          <a:xfrm flipH="1">
            <a:off x="4857752" y="2224078"/>
            <a:ext cx="2666998" cy="15240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8732" name="Line 12"/>
          <p:cNvSpPr>
            <a:spLocks noChangeShapeType="1"/>
          </p:cNvSpPr>
          <p:nvPr/>
        </p:nvSpPr>
        <p:spPr bwMode="auto">
          <a:xfrm flipH="1">
            <a:off x="4857752" y="2827412"/>
            <a:ext cx="2666998" cy="19050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8737" name="Text Box 17"/>
          <p:cNvSpPr txBox="1">
            <a:spLocks noChangeArrowheads="1"/>
          </p:cNvSpPr>
          <p:nvPr/>
        </p:nvSpPr>
        <p:spPr bwMode="auto">
          <a:xfrm>
            <a:off x="971550" y="3357563"/>
            <a:ext cx="576263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58738" name="Text Box 18"/>
          <p:cNvSpPr txBox="1">
            <a:spLocks noChangeArrowheads="1"/>
          </p:cNvSpPr>
          <p:nvPr/>
        </p:nvSpPr>
        <p:spPr bwMode="auto">
          <a:xfrm>
            <a:off x="684213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8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30" grpId="0"/>
      <p:bldP spid="158731" grpId="0" animBg="1"/>
      <p:bldP spid="158732" grpId="0" animBg="1"/>
      <p:bldP spid="158737" grpId="0"/>
      <p:bldP spid="158738" grpId="0"/>
      <p:bldP spid="13" grpId="0" animBg="1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072494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Odečítání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Z=2</a:t>
            </a:r>
          </a:p>
        </p:txBody>
      </p:sp>
      <p:grpSp>
        <p:nvGrpSpPr>
          <p:cNvPr id="2" name="Group 1041"/>
          <p:cNvGrpSpPr>
            <a:grpSpLocks/>
          </p:cNvGrpSpPr>
          <p:nvPr/>
        </p:nvGrpSpPr>
        <p:grpSpPr bwMode="auto">
          <a:xfrm>
            <a:off x="304800" y="2057400"/>
            <a:ext cx="1752600" cy="1371600"/>
            <a:chOff x="192" y="1296"/>
            <a:chExt cx="1104" cy="864"/>
          </a:xfrm>
        </p:grpSpPr>
        <p:sp>
          <p:nvSpPr>
            <p:cNvPr id="34832" name="Text Box 1031"/>
            <p:cNvSpPr txBox="1">
              <a:spLocks noChangeArrowheads="1"/>
            </p:cNvSpPr>
            <p:nvPr/>
          </p:nvSpPr>
          <p:spPr bwMode="auto">
            <a:xfrm>
              <a:off x="240" y="1296"/>
              <a:ext cx="1056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1100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-111</a:t>
              </a:r>
              <a:endParaRPr lang="cs-CZ" sz="3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833" name="Line 1032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9753" name="Text Box 1033"/>
          <p:cNvSpPr txBox="1">
            <a:spLocks noChangeArrowheads="1"/>
          </p:cNvSpPr>
          <p:nvPr/>
        </p:nvSpPr>
        <p:spPr bwMode="auto">
          <a:xfrm>
            <a:off x="2209800" y="1600200"/>
            <a:ext cx="6705600" cy="2554545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=-1+10 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-1b=-10+10=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-1b=-1+10 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  <a:endParaRPr lang="cs-CZ" sz="4000" b="1" u="sng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       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9754" name="Text Box 1034"/>
          <p:cNvSpPr txBox="1">
            <a:spLocks noChangeArrowheads="1"/>
          </p:cNvSpPr>
          <p:nvPr/>
        </p:nvSpPr>
        <p:spPr bwMode="auto">
          <a:xfrm>
            <a:off x="685800" y="3860800"/>
            <a:ext cx="11430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endParaRPr lang="cs-CZ" sz="3600" b="1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9755" name="Line 1035"/>
          <p:cNvSpPr>
            <a:spLocks noChangeShapeType="1"/>
          </p:cNvSpPr>
          <p:nvPr/>
        </p:nvSpPr>
        <p:spPr bwMode="auto">
          <a:xfrm flipH="1">
            <a:off x="4427984" y="2786058"/>
            <a:ext cx="3312368" cy="11430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9756" name="Line 1036"/>
          <p:cNvSpPr>
            <a:spLocks noChangeShapeType="1"/>
          </p:cNvSpPr>
          <p:nvPr/>
        </p:nvSpPr>
        <p:spPr bwMode="auto">
          <a:xfrm flipH="1">
            <a:off x="4427984" y="3429000"/>
            <a:ext cx="3312368" cy="144463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9757" name="Line 1037"/>
          <p:cNvSpPr>
            <a:spLocks noChangeShapeType="1"/>
          </p:cNvSpPr>
          <p:nvPr/>
        </p:nvSpPr>
        <p:spPr bwMode="auto">
          <a:xfrm flipH="1">
            <a:off x="4427984" y="2185978"/>
            <a:ext cx="3312368" cy="5715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59762" name="Text Box 1042"/>
          <p:cNvSpPr txBox="1">
            <a:spLocks noChangeArrowheads="1"/>
          </p:cNvSpPr>
          <p:nvPr/>
        </p:nvSpPr>
        <p:spPr bwMode="auto">
          <a:xfrm>
            <a:off x="539750" y="3357563"/>
            <a:ext cx="576263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59763" name="Text Box 1043"/>
          <p:cNvSpPr txBox="1">
            <a:spLocks noChangeArrowheads="1"/>
          </p:cNvSpPr>
          <p:nvPr/>
        </p:nvSpPr>
        <p:spPr bwMode="auto">
          <a:xfrm>
            <a:off x="179388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59764" name="Text Box 1044"/>
          <p:cNvSpPr txBox="1">
            <a:spLocks noChangeArrowheads="1"/>
          </p:cNvSpPr>
          <p:nvPr/>
        </p:nvSpPr>
        <p:spPr bwMode="auto">
          <a:xfrm>
            <a:off x="900113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9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9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9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9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4" grpId="0"/>
      <p:bldP spid="159755" grpId="0" animBg="1"/>
      <p:bldP spid="159756" grpId="0" animBg="1"/>
      <p:bldP spid="159757" grpId="0" animBg="1"/>
      <p:bldP spid="159762" grpId="0"/>
      <p:bldP spid="159763" grpId="0"/>
      <p:bldP spid="159764" grpId="0"/>
      <p:bldP spid="14" grpId="0" animBg="1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748712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Odečítání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Z=8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04800" y="2057400"/>
            <a:ext cx="1752600" cy="1371600"/>
            <a:chOff x="192" y="1296"/>
            <a:chExt cx="1104" cy="864"/>
          </a:xfrm>
        </p:grpSpPr>
        <p:sp>
          <p:nvSpPr>
            <p:cNvPr id="35856" name="Text Box 7"/>
            <p:cNvSpPr txBox="1">
              <a:spLocks noChangeArrowheads="1"/>
            </p:cNvSpPr>
            <p:nvPr/>
          </p:nvSpPr>
          <p:spPr bwMode="auto">
            <a:xfrm>
              <a:off x="240" y="1296"/>
              <a:ext cx="1056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2300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>
                  <a:latin typeface="Consolas" panose="020B0609020204030204" pitchFamily="49" charset="0"/>
                  <a:cs typeface="Consolas" panose="020B0609020204030204" pitchFamily="49" charset="0"/>
                </a:rPr>
                <a:t>-574</a:t>
              </a:r>
              <a:endParaRPr lang="cs-CZ" sz="36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857" name="Line 8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60777" name="Text Box 9"/>
          <p:cNvSpPr txBox="1">
            <a:spLocks noChangeArrowheads="1"/>
          </p:cNvSpPr>
          <p:nvPr/>
        </p:nvSpPr>
        <p:spPr bwMode="auto">
          <a:xfrm>
            <a:off x="2209800" y="1600200"/>
            <a:ext cx="6705600" cy="2554545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=-4+10 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-1b=-10+10=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-1b=-3+10 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  <a:endParaRPr lang="cs-CZ" sz="4000" b="1" u="sng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       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60778" name="Text Box 10"/>
          <p:cNvSpPr txBox="1">
            <a:spLocks noChangeArrowheads="1"/>
          </p:cNvSpPr>
          <p:nvPr/>
        </p:nvSpPr>
        <p:spPr bwMode="auto">
          <a:xfrm>
            <a:off x="381000" y="3860800"/>
            <a:ext cx="16764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1504</a:t>
            </a:r>
            <a:endParaRPr lang="cs-CZ" sz="3600" b="1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0779" name="Line 11"/>
          <p:cNvSpPr>
            <a:spLocks noChangeShapeType="1"/>
          </p:cNvSpPr>
          <p:nvPr/>
        </p:nvSpPr>
        <p:spPr bwMode="auto">
          <a:xfrm flipH="1">
            <a:off x="4427984" y="2167170"/>
            <a:ext cx="3384376" cy="18171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60780" name="Line 12"/>
          <p:cNvSpPr>
            <a:spLocks noChangeShapeType="1"/>
          </p:cNvSpPr>
          <p:nvPr/>
        </p:nvSpPr>
        <p:spPr bwMode="auto">
          <a:xfrm flipH="1">
            <a:off x="4427984" y="2780928"/>
            <a:ext cx="3384376" cy="190868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60781" name="Line 13"/>
          <p:cNvSpPr>
            <a:spLocks noChangeShapeType="1"/>
          </p:cNvSpPr>
          <p:nvPr/>
        </p:nvSpPr>
        <p:spPr bwMode="auto">
          <a:xfrm flipH="1">
            <a:off x="4427984" y="3357564"/>
            <a:ext cx="3384376" cy="188118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60786" name="Text Box 18"/>
          <p:cNvSpPr txBox="1">
            <a:spLocks noChangeArrowheads="1"/>
          </p:cNvSpPr>
          <p:nvPr/>
        </p:nvSpPr>
        <p:spPr bwMode="auto">
          <a:xfrm>
            <a:off x="539750" y="3357563"/>
            <a:ext cx="576263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60787" name="Text Box 19"/>
          <p:cNvSpPr txBox="1">
            <a:spLocks noChangeArrowheads="1"/>
          </p:cNvSpPr>
          <p:nvPr/>
        </p:nvSpPr>
        <p:spPr bwMode="auto">
          <a:xfrm>
            <a:off x="179388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60788" name="Text Box 20"/>
          <p:cNvSpPr txBox="1">
            <a:spLocks noChangeArrowheads="1"/>
          </p:cNvSpPr>
          <p:nvPr/>
        </p:nvSpPr>
        <p:spPr bwMode="auto">
          <a:xfrm>
            <a:off x="900113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0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0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0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8" grpId="0"/>
      <p:bldP spid="160779" grpId="0" animBg="1"/>
      <p:bldP spid="160780" grpId="0" animBg="1"/>
      <p:bldP spid="160781" grpId="0" animBg="1"/>
      <p:bldP spid="160786" grpId="0"/>
      <p:bldP spid="160787" grpId="0"/>
      <p:bldP spid="160788" grpId="0"/>
      <p:bldP spid="14" grpId="0" animBg="1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748712" cy="707886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Odečítání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Z=16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04800" y="2057400"/>
            <a:ext cx="1752600" cy="1371600"/>
            <a:chOff x="192" y="1296"/>
            <a:chExt cx="1104" cy="864"/>
          </a:xfrm>
        </p:grpSpPr>
        <p:sp>
          <p:nvSpPr>
            <p:cNvPr id="36880" name="Text Box 7"/>
            <p:cNvSpPr txBox="1">
              <a:spLocks noChangeArrowheads="1"/>
            </p:cNvSpPr>
            <p:nvPr/>
          </p:nvSpPr>
          <p:spPr bwMode="auto">
            <a:xfrm>
              <a:off x="240" y="1296"/>
              <a:ext cx="1056" cy="720"/>
            </a:xfrm>
            <a:prstGeom prst="rect">
              <a:avLst/>
            </a:prstGeom>
            <a:noFill/>
            <a:ln w="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2A00</a:t>
              </a:r>
            </a:p>
            <a:p>
              <a:pPr marL="444500" indent="-444500"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-EA1</a:t>
              </a:r>
              <a:endParaRPr lang="cs-CZ" sz="3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881" name="Line 8"/>
            <p:cNvSpPr>
              <a:spLocks noChangeShapeType="1"/>
            </p:cNvSpPr>
            <p:nvPr/>
          </p:nvSpPr>
          <p:spPr bwMode="auto">
            <a:xfrm>
              <a:off x="192" y="2160"/>
              <a:ext cx="9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cs-CZ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61801" name="Text Box 9"/>
          <p:cNvSpPr txBox="1">
            <a:spLocks noChangeArrowheads="1"/>
          </p:cNvSpPr>
          <p:nvPr/>
        </p:nvSpPr>
        <p:spPr bwMode="auto">
          <a:xfrm>
            <a:off x="2209800" y="1600200"/>
            <a:ext cx="6629400" cy="2554545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=-1+10=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-1b=-B+10=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-1b=-5+10=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</a:t>
            </a:r>
            <a:endParaRPr lang="cs-CZ" sz="4000" b="1" u="sng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-1b=      </a:t>
            </a:r>
            <a:r>
              <a:rPr lang="cs-CZ" sz="4000" b="1" u="sng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61802" name="Text Box 10"/>
          <p:cNvSpPr txBox="1">
            <a:spLocks noChangeArrowheads="1"/>
          </p:cNvSpPr>
          <p:nvPr/>
        </p:nvSpPr>
        <p:spPr bwMode="auto">
          <a:xfrm>
            <a:off x="381000" y="3860800"/>
            <a:ext cx="1524000" cy="5715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1B5F</a:t>
            </a:r>
            <a:endParaRPr lang="cs-CZ" sz="3600" b="1" dirty="0">
              <a:solidFill>
                <a:schemeClr val="folHlin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1803" name="Line 11"/>
          <p:cNvSpPr>
            <a:spLocks noChangeShapeType="1"/>
          </p:cNvSpPr>
          <p:nvPr/>
        </p:nvSpPr>
        <p:spPr bwMode="auto">
          <a:xfrm flipH="1">
            <a:off x="4171528" y="2143116"/>
            <a:ext cx="3276600" cy="22860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61804" name="Line 12"/>
          <p:cNvSpPr>
            <a:spLocks noChangeShapeType="1"/>
          </p:cNvSpPr>
          <p:nvPr/>
        </p:nvSpPr>
        <p:spPr bwMode="auto">
          <a:xfrm flipH="1">
            <a:off x="4171528" y="2786058"/>
            <a:ext cx="3352800" cy="22860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61805" name="Line 13"/>
          <p:cNvSpPr>
            <a:spLocks noChangeShapeType="1"/>
          </p:cNvSpPr>
          <p:nvPr/>
        </p:nvSpPr>
        <p:spPr bwMode="auto">
          <a:xfrm flipH="1">
            <a:off x="4242966" y="3429000"/>
            <a:ext cx="3276600" cy="228600"/>
          </a:xfrm>
          <a:prstGeom prst="line">
            <a:avLst/>
          </a:prstGeom>
          <a:noFill/>
          <a:ln w="63500">
            <a:solidFill>
              <a:srgbClr val="FF99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61810" name="Text Box 18"/>
          <p:cNvSpPr txBox="1">
            <a:spLocks noChangeArrowheads="1"/>
          </p:cNvSpPr>
          <p:nvPr/>
        </p:nvSpPr>
        <p:spPr bwMode="auto">
          <a:xfrm>
            <a:off x="539750" y="3357563"/>
            <a:ext cx="576263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61811" name="Text Box 19"/>
          <p:cNvSpPr txBox="1">
            <a:spLocks noChangeArrowheads="1"/>
          </p:cNvSpPr>
          <p:nvPr/>
        </p:nvSpPr>
        <p:spPr bwMode="auto">
          <a:xfrm>
            <a:off x="179388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61812" name="Text Box 20"/>
          <p:cNvSpPr txBox="1">
            <a:spLocks noChangeArrowheads="1"/>
          </p:cNvSpPr>
          <p:nvPr/>
        </p:nvSpPr>
        <p:spPr bwMode="auto">
          <a:xfrm>
            <a:off x="900113" y="3357563"/>
            <a:ext cx="576262" cy="4318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b="1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2" grpId="0"/>
      <p:bldP spid="161803" grpId="0" animBg="1"/>
      <p:bldP spid="161804" grpId="0" animBg="1"/>
      <p:bldP spid="161805" grpId="0" animBg="1"/>
      <p:bldP spid="161810" grpId="0"/>
      <p:bldP spid="161811" grpId="0"/>
      <p:bldP spid="161812" grpId="0"/>
      <p:bldP spid="14" grpId="0" animBg="1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748712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Násobení</a:t>
            </a:r>
          </a:p>
        </p:txBody>
      </p:sp>
      <p:sp>
        <p:nvSpPr>
          <p:cNvPr id="166921" name="Text Box 9"/>
          <p:cNvSpPr txBox="1">
            <a:spLocks noChangeArrowheads="1"/>
          </p:cNvSpPr>
          <p:nvPr/>
        </p:nvSpPr>
        <p:spPr bwMode="auto">
          <a:xfrm>
            <a:off x="360000" y="1080000"/>
            <a:ext cx="7440613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  <a:hlinkClick r:id="rId3" action="ppaction://hlinksldjump"/>
              </a:rPr>
              <a:t>N-násobný součet</a:t>
            </a:r>
          </a:p>
          <a:p>
            <a:pPr marL="504000" indent="-504000">
              <a:spcAft>
                <a:spcPts val="24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  <a:hlinkClick r:id="rId4" action="ppaction://hlinksldjump"/>
              </a:rPr>
              <a:t>Použití operace posunu</a:t>
            </a:r>
            <a:endParaRPr lang="cs-CZ" sz="3200" b="1" dirty="0">
              <a:solidFill>
                <a:srgbClr val="000000"/>
              </a:solidFill>
              <a:latin typeface="Verdana" pitchFamily="34" charset="0"/>
              <a:hlinkClick r:id="rId3" action="ppaction://hlinksldjump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643966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Násobení – n-násobný součet</a:t>
            </a:r>
          </a:p>
        </p:txBody>
      </p:sp>
      <p:sp>
        <p:nvSpPr>
          <p:cNvPr id="167943" name="Text Box 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60000" y="1080000"/>
            <a:ext cx="8784000" cy="32316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Činitel1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sečteme n-násobně, kde n=činitel2</a:t>
            </a:r>
          </a:p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cs-CZ" sz="2400" b="1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cs-CZ" sz="2400" b="1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cs-CZ" sz="2400" b="1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cs-CZ" sz="2400" b="1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cs-CZ" sz="2400" b="1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Počet sčítanců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dán hodnotou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činitele2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. Čím je větší, tím trvá operace déle</a:t>
            </a:r>
          </a:p>
        </p:txBody>
      </p:sp>
      <p:sp>
        <p:nvSpPr>
          <p:cNvPr id="167947" name="Text Box 11"/>
          <p:cNvSpPr txBox="1">
            <a:spLocks noChangeArrowheads="1"/>
          </p:cNvSpPr>
          <p:nvPr/>
        </p:nvSpPr>
        <p:spPr bwMode="auto">
          <a:xfrm>
            <a:off x="900000" y="1601496"/>
            <a:ext cx="4419600" cy="1447800"/>
          </a:xfrm>
          <a:prstGeom prst="rect">
            <a:avLst/>
          </a:prstGeom>
          <a:noFill/>
          <a:ln w="63500">
            <a:solidFill>
              <a:schemeClr val="fol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cs-CZ" sz="4000" b="1">
                <a:latin typeface="Consolas" panose="020B0609020204030204" pitchFamily="49" charset="0"/>
                <a:cs typeface="Consolas" panose="020B0609020204030204" pitchFamily="49" charset="0"/>
              </a:rPr>
              <a:t>=A.B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cs-CZ" sz="4000" b="1">
                <a:latin typeface="Consolas" panose="020B0609020204030204" pitchFamily="49" charset="0"/>
                <a:cs typeface="Consolas" panose="020B0609020204030204" pitchFamily="49" charset="0"/>
              </a:rPr>
              <a:t>=B+B+B+..+B</a:t>
            </a:r>
            <a:endParaRPr lang="cs-CZ" sz="4000" b="1" baseline="30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7948" name="Text Box 12"/>
          <p:cNvSpPr txBox="1">
            <a:spLocks noChangeArrowheads="1"/>
          </p:cNvSpPr>
          <p:nvPr/>
        </p:nvSpPr>
        <p:spPr bwMode="auto">
          <a:xfrm>
            <a:off x="900000" y="4581128"/>
            <a:ext cx="6705600" cy="762000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cs-CZ" sz="4000" b="1">
                <a:latin typeface="Consolas" panose="020B0609020204030204" pitchFamily="49" charset="0"/>
                <a:cs typeface="Consolas" panose="020B0609020204030204" pitchFamily="49" charset="0"/>
              </a:rPr>
              <a:t>=6.4=4+4+4+4+4+4=24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7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3" grpId="0"/>
      <p:bldP spid="167947" grpId="0" animBg="1"/>
      <p:bldP spid="167948" grpId="0" animBg="1"/>
      <p:bldP spid="7" grpId="0" animBg="1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Násobení – s použitím posunu</a:t>
            </a:r>
          </a:p>
        </p:txBody>
      </p:sp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357020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Násobení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se převádí na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opakované sčítání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jednotlivých řádech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Činitele1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násobený základem soustavy, sečteme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tolikrát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kolikrát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hodnota řádového koeficientu činitele2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Násobení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základem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posun vlevo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Dělení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základem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posun vpravo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89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89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9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24" name="Freeform 16"/>
          <p:cNvSpPr>
            <a:spLocks/>
          </p:cNvSpPr>
          <p:nvPr/>
        </p:nvSpPr>
        <p:spPr bwMode="auto">
          <a:xfrm>
            <a:off x="3352800" y="1066800"/>
            <a:ext cx="3060700" cy="3568700"/>
          </a:xfrm>
          <a:custGeom>
            <a:avLst/>
            <a:gdLst>
              <a:gd name="T0" fmla="*/ 0 w 1928"/>
              <a:gd name="T1" fmla="*/ 568 h 2248"/>
              <a:gd name="T2" fmla="*/ 1728 w 1928"/>
              <a:gd name="T3" fmla="*/ 280 h 2248"/>
              <a:gd name="T4" fmla="*/ 1200 w 1928"/>
              <a:gd name="T5" fmla="*/ 2248 h 2248"/>
              <a:gd name="T6" fmla="*/ 0 60000 65536"/>
              <a:gd name="T7" fmla="*/ 0 60000 65536"/>
              <a:gd name="T8" fmla="*/ 0 60000 65536"/>
              <a:gd name="T9" fmla="*/ 0 w 1928"/>
              <a:gd name="T10" fmla="*/ 0 h 2248"/>
              <a:gd name="T11" fmla="*/ 1928 w 1928"/>
              <a:gd name="T12" fmla="*/ 2248 h 2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8" h="2248">
                <a:moveTo>
                  <a:pt x="0" y="568"/>
                </a:moveTo>
                <a:cubicBezTo>
                  <a:pt x="764" y="284"/>
                  <a:pt x="1528" y="0"/>
                  <a:pt x="1728" y="280"/>
                </a:cubicBezTo>
                <a:cubicBezTo>
                  <a:pt x="1928" y="560"/>
                  <a:pt x="1564" y="1404"/>
                  <a:pt x="1200" y="2248"/>
                </a:cubicBezTo>
              </a:path>
            </a:pathLst>
          </a:custGeom>
          <a:noFill/>
          <a:ln w="63500">
            <a:solidFill>
              <a:srgbClr val="00CC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/>
          </a:p>
        </p:txBody>
      </p:sp>
      <p:sp>
        <p:nvSpPr>
          <p:cNvPr id="171023" name="Freeform 15"/>
          <p:cNvSpPr>
            <a:spLocks/>
          </p:cNvSpPr>
          <p:nvPr/>
        </p:nvSpPr>
        <p:spPr bwMode="auto">
          <a:xfrm>
            <a:off x="3657600" y="1625600"/>
            <a:ext cx="2171700" cy="1955800"/>
          </a:xfrm>
          <a:custGeom>
            <a:avLst/>
            <a:gdLst>
              <a:gd name="T0" fmla="*/ 0 w 1368"/>
              <a:gd name="T1" fmla="*/ 176 h 1232"/>
              <a:gd name="T2" fmla="*/ 1200 w 1368"/>
              <a:gd name="T3" fmla="*/ 176 h 1232"/>
              <a:gd name="T4" fmla="*/ 1008 w 1368"/>
              <a:gd name="T5" fmla="*/ 1232 h 1232"/>
              <a:gd name="T6" fmla="*/ 0 60000 65536"/>
              <a:gd name="T7" fmla="*/ 0 60000 65536"/>
              <a:gd name="T8" fmla="*/ 0 60000 65536"/>
              <a:gd name="T9" fmla="*/ 0 w 1368"/>
              <a:gd name="T10" fmla="*/ 0 h 1232"/>
              <a:gd name="T11" fmla="*/ 1368 w 1368"/>
              <a:gd name="T12" fmla="*/ 1232 h 1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232">
                <a:moveTo>
                  <a:pt x="0" y="176"/>
                </a:moveTo>
                <a:cubicBezTo>
                  <a:pt x="516" y="88"/>
                  <a:pt x="1032" y="0"/>
                  <a:pt x="1200" y="176"/>
                </a:cubicBezTo>
                <a:cubicBezTo>
                  <a:pt x="1368" y="352"/>
                  <a:pt x="1040" y="1064"/>
                  <a:pt x="1008" y="1232"/>
                </a:cubicBezTo>
              </a:path>
            </a:pathLst>
          </a:custGeom>
          <a:noFill/>
          <a:ln w="63500">
            <a:solidFill>
              <a:srgbClr val="00CC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/>
          </a:p>
        </p:txBody>
      </p:sp>
      <p:sp>
        <p:nvSpPr>
          <p:cNvPr id="171015" name="Text Box 7"/>
          <p:cNvSpPr txBox="1">
            <a:spLocks noChangeArrowheads="1"/>
          </p:cNvSpPr>
          <p:nvPr/>
        </p:nvSpPr>
        <p:spPr bwMode="auto">
          <a:xfrm>
            <a:off x="1219200" y="1295400"/>
            <a:ext cx="4191000" cy="5105400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cs-CZ" sz="36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  <a:r>
              <a:rPr lang="cs-CZ" sz="3600" b="1" baseline="-25000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cs-CZ" sz="36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302</a:t>
            </a:r>
            <a:r>
              <a:rPr lang="cs-CZ" sz="3600" b="1" baseline="-25000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25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000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2500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2500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2500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cs-CZ" sz="3600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7550</a:t>
            </a:r>
            <a:r>
              <a:rPr lang="cs-CZ" sz="36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71016" name="Line 8"/>
          <p:cNvSpPr>
            <a:spLocks noChangeShapeType="1"/>
          </p:cNvSpPr>
          <p:nvPr/>
        </p:nvSpPr>
        <p:spPr bwMode="auto">
          <a:xfrm>
            <a:off x="2362200" y="2514600"/>
            <a:ext cx="2209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171019" name="Text Box 11"/>
          <p:cNvSpPr txBox="1">
            <a:spLocks noChangeArrowheads="1"/>
          </p:cNvSpPr>
          <p:nvPr/>
        </p:nvSpPr>
        <p:spPr bwMode="auto">
          <a:xfrm>
            <a:off x="4572000" y="2590800"/>
            <a:ext cx="1219200" cy="533400"/>
          </a:xfrm>
          <a:prstGeom prst="rect">
            <a:avLst/>
          </a:prstGeom>
          <a:noFill/>
          <a:ln w="635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cs-CZ" sz="4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1020" name="Text Box 12"/>
          <p:cNvSpPr txBox="1">
            <a:spLocks noChangeArrowheads="1"/>
          </p:cNvSpPr>
          <p:nvPr/>
        </p:nvSpPr>
        <p:spPr bwMode="auto">
          <a:xfrm>
            <a:off x="4572000" y="3429000"/>
            <a:ext cx="1219200" cy="533400"/>
          </a:xfrm>
          <a:prstGeom prst="rect">
            <a:avLst/>
          </a:prstGeom>
          <a:noFill/>
          <a:ln w="635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.0</a:t>
            </a:r>
            <a:endParaRPr lang="cs-CZ" sz="4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1021" name="Text Box 13"/>
          <p:cNvSpPr txBox="1">
            <a:spLocks noChangeArrowheads="1"/>
          </p:cNvSpPr>
          <p:nvPr/>
        </p:nvSpPr>
        <p:spPr bwMode="auto">
          <a:xfrm>
            <a:off x="4572000" y="4572000"/>
            <a:ext cx="1219200" cy="533400"/>
          </a:xfrm>
          <a:prstGeom prst="rect">
            <a:avLst/>
          </a:prstGeom>
          <a:noFill/>
          <a:ln w="635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.3</a:t>
            </a:r>
            <a:endParaRPr lang="cs-CZ" sz="40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1022" name="Freeform 14"/>
          <p:cNvSpPr>
            <a:spLocks/>
          </p:cNvSpPr>
          <p:nvPr/>
        </p:nvSpPr>
        <p:spPr bwMode="auto">
          <a:xfrm>
            <a:off x="3657600" y="2057400"/>
            <a:ext cx="1447800" cy="609600"/>
          </a:xfrm>
          <a:custGeom>
            <a:avLst/>
            <a:gdLst>
              <a:gd name="T0" fmla="*/ 0 w 528"/>
              <a:gd name="T1" fmla="*/ 0 h 384"/>
              <a:gd name="T2" fmla="*/ 432 w 528"/>
              <a:gd name="T3" fmla="*/ 96 h 384"/>
              <a:gd name="T4" fmla="*/ 528 w 528"/>
              <a:gd name="T5" fmla="*/ 384 h 384"/>
              <a:gd name="T6" fmla="*/ 0 60000 65536"/>
              <a:gd name="T7" fmla="*/ 0 60000 65536"/>
              <a:gd name="T8" fmla="*/ 0 60000 65536"/>
              <a:gd name="T9" fmla="*/ 0 w 528"/>
              <a:gd name="T10" fmla="*/ 0 h 384"/>
              <a:gd name="T11" fmla="*/ 528 w 528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384">
                <a:moveTo>
                  <a:pt x="0" y="0"/>
                </a:moveTo>
                <a:cubicBezTo>
                  <a:pt x="172" y="16"/>
                  <a:pt x="344" y="32"/>
                  <a:pt x="432" y="96"/>
                </a:cubicBezTo>
                <a:cubicBezTo>
                  <a:pt x="520" y="160"/>
                  <a:pt x="512" y="336"/>
                  <a:pt x="528" y="384"/>
                </a:cubicBezTo>
              </a:path>
            </a:pathLst>
          </a:custGeom>
          <a:noFill/>
          <a:ln w="63500">
            <a:solidFill>
              <a:srgbClr val="00CC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/>
          </a:p>
        </p:txBody>
      </p:sp>
      <p:sp>
        <p:nvSpPr>
          <p:cNvPr id="171025" name="Freeform 17"/>
          <p:cNvSpPr>
            <a:spLocks/>
          </p:cNvSpPr>
          <p:nvPr/>
        </p:nvSpPr>
        <p:spPr bwMode="auto">
          <a:xfrm>
            <a:off x="2273300" y="1562100"/>
            <a:ext cx="1155700" cy="1181100"/>
          </a:xfrm>
          <a:custGeom>
            <a:avLst/>
            <a:gdLst>
              <a:gd name="T0" fmla="*/ 728 w 728"/>
              <a:gd name="T1" fmla="*/ 24 h 744"/>
              <a:gd name="T2" fmla="*/ 8 w 728"/>
              <a:gd name="T3" fmla="*/ 120 h 744"/>
              <a:gd name="T4" fmla="*/ 680 w 728"/>
              <a:gd name="T5" fmla="*/ 744 h 744"/>
              <a:gd name="T6" fmla="*/ 0 60000 65536"/>
              <a:gd name="T7" fmla="*/ 0 60000 65536"/>
              <a:gd name="T8" fmla="*/ 0 60000 65536"/>
              <a:gd name="T9" fmla="*/ 0 w 728"/>
              <a:gd name="T10" fmla="*/ 0 h 744"/>
              <a:gd name="T11" fmla="*/ 728 w 728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8" h="744">
                <a:moveTo>
                  <a:pt x="728" y="24"/>
                </a:moveTo>
                <a:cubicBezTo>
                  <a:pt x="372" y="12"/>
                  <a:pt x="16" y="0"/>
                  <a:pt x="8" y="120"/>
                </a:cubicBezTo>
                <a:cubicBezTo>
                  <a:pt x="0" y="240"/>
                  <a:pt x="340" y="492"/>
                  <a:pt x="680" y="744"/>
                </a:cubicBezTo>
              </a:path>
            </a:pathLst>
          </a:custGeom>
          <a:noFill/>
          <a:ln w="63500">
            <a:solidFill>
              <a:srgbClr val="00008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cs-CZ"/>
          </a:p>
        </p:txBody>
      </p:sp>
      <p:sp>
        <p:nvSpPr>
          <p:cNvPr id="171027" name="Rectangle 19"/>
          <p:cNvSpPr>
            <a:spLocks noChangeArrowheads="1"/>
          </p:cNvSpPr>
          <p:nvPr/>
        </p:nvSpPr>
        <p:spPr bwMode="auto">
          <a:xfrm>
            <a:off x="4724400" y="2667000"/>
            <a:ext cx="7620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Skupina 6"/>
          <p:cNvGrpSpPr/>
          <p:nvPr/>
        </p:nvGrpSpPr>
        <p:grpSpPr>
          <a:xfrm>
            <a:off x="3829050" y="3540323"/>
            <a:ext cx="649710" cy="307777"/>
            <a:chOff x="3829050" y="3540323"/>
            <a:chExt cx="649710" cy="307777"/>
          </a:xfrm>
        </p:grpSpPr>
        <p:cxnSp>
          <p:nvCxnSpPr>
            <p:cNvPr id="3" name="Přímá spojnice se šipkou 2"/>
            <p:cNvCxnSpPr/>
            <p:nvPr/>
          </p:nvCxnSpPr>
          <p:spPr>
            <a:xfrm>
              <a:off x="3829050" y="3827710"/>
              <a:ext cx="598934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ovéPole 5"/>
            <p:cNvSpPr txBox="1"/>
            <p:nvPr/>
          </p:nvSpPr>
          <p:spPr bwMode="auto">
            <a:xfrm>
              <a:off x="3995936" y="3540323"/>
              <a:ext cx="48282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 anchor="ctr">
              <a:spAutoFit/>
            </a:bodyPr>
            <a:lstStyle/>
            <a:p>
              <a:pPr eaLnBrk="1" hangingPunct="1"/>
              <a:r>
                <a:rPr lang="cs-CZ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.10</a:t>
              </a:r>
            </a:p>
          </p:txBody>
        </p:sp>
      </p:grpSp>
      <p:grpSp>
        <p:nvGrpSpPr>
          <p:cNvPr id="8" name="Skupina 7"/>
          <p:cNvGrpSpPr/>
          <p:nvPr/>
        </p:nvGrpSpPr>
        <p:grpSpPr>
          <a:xfrm>
            <a:off x="3829050" y="4065040"/>
            <a:ext cx="670942" cy="307777"/>
            <a:chOff x="3829050" y="4065040"/>
            <a:chExt cx="670942" cy="307777"/>
          </a:xfrm>
        </p:grpSpPr>
        <p:cxnSp>
          <p:nvCxnSpPr>
            <p:cNvPr id="16" name="Přímá spojnice se šipkou 15"/>
            <p:cNvCxnSpPr/>
            <p:nvPr/>
          </p:nvCxnSpPr>
          <p:spPr>
            <a:xfrm>
              <a:off x="3829050" y="4365104"/>
              <a:ext cx="598934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ovéPole 17"/>
            <p:cNvSpPr txBox="1"/>
            <p:nvPr/>
          </p:nvSpPr>
          <p:spPr bwMode="auto">
            <a:xfrm>
              <a:off x="3905497" y="4065040"/>
              <a:ext cx="59449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spAutoFit/>
            </a:bodyPr>
            <a:lstStyle/>
            <a:p>
              <a:pPr eaLnBrk="1" hangingPunct="1"/>
              <a:r>
                <a:rPr lang="cs-CZ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.100</a:t>
              </a:r>
            </a:p>
          </p:txBody>
        </p:sp>
      </p:grp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Násobení – s použitím posunu</a:t>
            </a:r>
          </a:p>
        </p:txBody>
      </p:sp>
      <p:sp>
        <p:nvSpPr>
          <p:cNvPr id="2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1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10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10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10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7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7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10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710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710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710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24" grpId="0" animBg="1"/>
      <p:bldP spid="171023" grpId="0" animBg="1"/>
      <p:bldP spid="171015" grpId="0" uiExpand="1" build="allAtOnce"/>
      <p:bldP spid="171016" grpId="0" animBg="1"/>
      <p:bldP spid="171019" grpId="0"/>
      <p:bldP spid="171020" grpId="0"/>
      <p:bldP spid="171021" grpId="0"/>
      <p:bldP spid="171022" grpId="0" animBg="1"/>
      <p:bldP spid="171025" grpId="0" animBg="1"/>
      <p:bldP spid="171027" grpId="0" animBg="1"/>
      <p:bldP spid="22" grpId="0" animBg="1"/>
      <p:bldP spid="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40" name="Text Box 8"/>
          <p:cNvSpPr txBox="1">
            <a:spLocks noChangeArrowheads="1"/>
          </p:cNvSpPr>
          <p:nvPr/>
        </p:nvSpPr>
        <p:spPr bwMode="auto">
          <a:xfrm>
            <a:off x="1828800" y="1371600"/>
            <a:ext cx="5257800" cy="3970318"/>
          </a:xfrm>
          <a:prstGeom prst="rect">
            <a:avLst/>
          </a:prstGeom>
          <a:noFill/>
          <a:ln w="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cs-CZ" sz="36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11111</a:t>
            </a:r>
            <a:r>
              <a:rPr lang="cs-CZ" sz="3600" b="1" baseline="-25000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cs-CZ" sz="3600" b="1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1010</a:t>
            </a:r>
            <a:r>
              <a:rPr lang="cs-CZ" sz="3600" b="1" baseline="-25000" dirty="0">
                <a:solidFill>
                  <a:schemeClr val="fol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</a:t>
            </a: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3600" b="1" dirty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11111</a:t>
            </a: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cs-CZ" sz="3600" b="1" dirty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</a:t>
            </a: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cs-CZ" sz="3600" b="1" dirty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.0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11111      </a:t>
            </a:r>
            <a:r>
              <a:rPr lang="cs-CZ" sz="3600" b="1" dirty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3600" b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100110110</a:t>
            </a:r>
            <a:r>
              <a:rPr lang="cs-CZ" sz="36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41988" name="Line 9"/>
          <p:cNvSpPr>
            <a:spLocks noChangeShapeType="1"/>
          </p:cNvSpPr>
          <p:nvPr/>
        </p:nvSpPr>
        <p:spPr bwMode="auto">
          <a:xfrm>
            <a:off x="1676400" y="2514600"/>
            <a:ext cx="2895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989" name="Line 10"/>
          <p:cNvSpPr>
            <a:spLocks noChangeShapeType="1"/>
          </p:cNvSpPr>
          <p:nvPr/>
        </p:nvSpPr>
        <p:spPr bwMode="auto">
          <a:xfrm>
            <a:off x="1676400" y="4648200"/>
            <a:ext cx="2895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990" name="Rectangle 16"/>
          <p:cNvSpPr>
            <a:spLocks noChangeArrowheads="1"/>
          </p:cNvSpPr>
          <p:nvPr/>
        </p:nvSpPr>
        <p:spPr bwMode="auto">
          <a:xfrm>
            <a:off x="4932040" y="2514600"/>
            <a:ext cx="93536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Násobení – s použitím posunu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2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2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20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20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20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20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/>
      <p:bldP spid="41989" grpId="0" animBg="1"/>
      <p:bldP spid="7" grpId="0" animBg="1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Zobrazení záporných čísel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32624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 bitů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jsme schopni vyjádřit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lang="cs-CZ" sz="2800" b="1" baseline="30000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kladných čísel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Aft>
                <a:spcPts val="18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Pokud chceme vyjádřit i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záporná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čísla musíme interval kladných čísel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rozdělit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čísla na dvě části:</a:t>
            </a:r>
          </a:p>
          <a:p>
            <a:pPr marL="504000" indent="-504000" algn="ctr">
              <a:buClr>
                <a:srgbClr val="C00000"/>
              </a:buClr>
              <a:defRPr/>
            </a:pPr>
            <a:r>
              <a:rPr lang="cs-CZ" sz="3600" b="1" dirty="0">
                <a:solidFill>
                  <a:srgbClr val="000000"/>
                </a:solidFill>
                <a:latin typeface="Verdana" pitchFamily="34" charset="0"/>
              </a:rPr>
              <a:t>kladná </a:t>
            </a:r>
            <a:r>
              <a:rPr lang="cs-CZ" sz="3600" dirty="0">
                <a:solidFill>
                  <a:srgbClr val="000000"/>
                </a:solidFill>
                <a:latin typeface="Verdana" pitchFamily="34" charset="0"/>
              </a:rPr>
              <a:t>a </a:t>
            </a:r>
            <a:r>
              <a:rPr lang="cs-CZ" sz="3600" b="1" dirty="0">
                <a:solidFill>
                  <a:srgbClr val="000000"/>
                </a:solidFill>
                <a:latin typeface="Verdana" pitchFamily="34" charset="0"/>
              </a:rPr>
              <a:t>záporná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3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072494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Znaménkový bit</a:t>
            </a:r>
          </a:p>
        </p:txBody>
      </p:sp>
      <p:sp>
        <p:nvSpPr>
          <p:cNvPr id="17408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4163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Jako </a:t>
            </a:r>
            <a:r>
              <a:rPr lang="cs-CZ" sz="2800" b="1" dirty="0">
                <a:latin typeface="Verdana" pitchFamily="34" charset="0"/>
              </a:rPr>
              <a:t>znaménkový</a:t>
            </a:r>
            <a:r>
              <a:rPr lang="cs-CZ" sz="2800" dirty="0">
                <a:latin typeface="Verdana" pitchFamily="34" charset="0"/>
              </a:rPr>
              <a:t> bit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použit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nejvýznamnější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bit dvojkového čísla</a:t>
            </a: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Rozsah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4 bitů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dovoluje zobrazit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16 kladných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čísel</a:t>
            </a:r>
          </a:p>
          <a:p>
            <a:pPr marL="504000" indent="-504000"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Vyhradíme-li nejvýznamnější bit znaménku potom zobrazíme čísla od </a:t>
            </a:r>
            <a:br>
              <a:rPr lang="cs-CZ" sz="2800" dirty="0">
                <a:solidFill>
                  <a:srgbClr val="000000"/>
                </a:solidFill>
                <a:latin typeface="Verdana" pitchFamily="34" charset="0"/>
              </a:rPr>
            </a:b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-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7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do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7</a:t>
            </a:r>
            <a:endParaRPr lang="cs-CZ" sz="2800" dirty="0">
              <a:latin typeface="Arial" charset="0"/>
            </a:endParaRP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ul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763459"/>
              </p:ext>
            </p:extLst>
          </p:nvPr>
        </p:nvGraphicFramePr>
        <p:xfrm>
          <a:off x="725936" y="1124744"/>
          <a:ext cx="2211036" cy="113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4 bity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cs-CZ" sz="40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itchFamily="34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cs-CZ" sz="36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itchFamily="34" charset="0"/>
                          <a:cs typeface="Consolas" panose="020B0609020204030204" pitchFamily="49" charset="0"/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979143"/>
              </p:ext>
            </p:extLst>
          </p:nvPr>
        </p:nvGraphicFramePr>
        <p:xfrm>
          <a:off x="2979396" y="1124744"/>
          <a:ext cx="2211036" cy="113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4 bity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cs-CZ" sz="40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itchFamily="34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cs-CZ" sz="36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itchFamily="34" charset="0"/>
                          <a:cs typeface="Consolas" panose="020B0609020204030204" pitchFamily="49" charset="0"/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Přímá spojnice se šipkou 6"/>
          <p:cNvCxnSpPr/>
          <p:nvPr/>
        </p:nvCxnSpPr>
        <p:spPr>
          <a:xfrm>
            <a:off x="1331640" y="2304359"/>
            <a:ext cx="0" cy="6076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ovéPole 8"/>
          <p:cNvSpPr txBox="1"/>
          <p:nvPr/>
        </p:nvSpPr>
        <p:spPr>
          <a:xfrm>
            <a:off x="421332" y="3004291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znaménkový bit</a:t>
            </a:r>
          </a:p>
        </p:txBody>
      </p:sp>
      <p:grpSp>
        <p:nvGrpSpPr>
          <p:cNvPr id="8" name="Skupina 7"/>
          <p:cNvGrpSpPr/>
          <p:nvPr/>
        </p:nvGrpSpPr>
        <p:grpSpPr>
          <a:xfrm>
            <a:off x="3246216" y="2295906"/>
            <a:ext cx="1728192" cy="616134"/>
            <a:chOff x="3246216" y="2295906"/>
            <a:chExt cx="1728192" cy="616134"/>
          </a:xfrm>
        </p:grpSpPr>
        <p:sp>
          <p:nvSpPr>
            <p:cNvPr id="10" name="Levá složená závorka 9"/>
            <p:cNvSpPr/>
            <p:nvPr/>
          </p:nvSpPr>
          <p:spPr>
            <a:xfrm rot="16200000">
              <a:off x="4002300" y="1539822"/>
              <a:ext cx="216024" cy="1728192"/>
            </a:xfrm>
            <a:prstGeom prst="leftBrace">
              <a:avLst>
                <a:gd name="adj1" fmla="val 70062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" name="TextovéPole 3"/>
            <p:cNvSpPr txBox="1"/>
            <p:nvPr/>
          </p:nvSpPr>
          <p:spPr bwMode="auto">
            <a:xfrm>
              <a:off x="3958238" y="2511930"/>
              <a:ext cx="32573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 anchor="ctr">
              <a:spAutoFit/>
            </a:bodyPr>
            <a:lstStyle/>
            <a:p>
              <a:pPr eaLnBrk="1" hangingPunct="1"/>
              <a:r>
                <a:rPr lang="cs-CZ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2" name="Skupina 1"/>
          <p:cNvGrpSpPr/>
          <p:nvPr/>
        </p:nvGrpSpPr>
        <p:grpSpPr>
          <a:xfrm>
            <a:off x="977964" y="2295907"/>
            <a:ext cx="1728192" cy="616133"/>
            <a:chOff x="977964" y="2295907"/>
            <a:chExt cx="1728192" cy="616133"/>
          </a:xfrm>
        </p:grpSpPr>
        <p:sp>
          <p:nvSpPr>
            <p:cNvPr id="3" name="Levá složená závorka 2"/>
            <p:cNvSpPr/>
            <p:nvPr/>
          </p:nvSpPr>
          <p:spPr>
            <a:xfrm rot="16200000">
              <a:off x="1734048" y="1539823"/>
              <a:ext cx="216024" cy="1728192"/>
            </a:xfrm>
            <a:prstGeom prst="leftBrace">
              <a:avLst>
                <a:gd name="adj1" fmla="val 70062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TextovéPole 11"/>
            <p:cNvSpPr txBox="1"/>
            <p:nvPr/>
          </p:nvSpPr>
          <p:spPr bwMode="auto">
            <a:xfrm>
              <a:off x="1609464" y="2511930"/>
              <a:ext cx="46519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 anchor="ctr">
              <a:spAutoFit/>
            </a:bodyPr>
            <a:lstStyle/>
            <a:p>
              <a:pPr eaLnBrk="1" hangingPunct="1"/>
              <a:r>
                <a:rPr lang="cs-CZ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-5</a:t>
              </a:r>
            </a:p>
          </p:txBody>
        </p:sp>
      </p:grpSp>
      <p:sp>
        <p:nvSpPr>
          <p:cNvPr id="6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Znaménkový bit</a:t>
            </a:r>
          </a:p>
        </p:txBody>
      </p:sp>
      <p:sp>
        <p:nvSpPr>
          <p:cNvPr id="6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4" name="Tlačítko akce: Vlastní 6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5" name="Tlačítko akce: Vlastní 6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6" name="Tlačítko akce: Vlastní 6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1932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2" grpId="0" animBg="1"/>
      <p:bldP spid="6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643866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Doplněk</a:t>
            </a:r>
          </a:p>
        </p:txBody>
      </p:sp>
      <p:sp>
        <p:nvSpPr>
          <p:cNvPr id="17613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01100" cy="22467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Doplněk ze základu 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</a:t>
            </a:r>
            <a:endParaRPr lang="en-US" sz="2800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en-US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en-US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endParaRPr lang="en-US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Desítkový doplněk čísla 356 na 3 řády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ovéPole 1"/>
              <p:cNvSpPr txBox="1"/>
              <p:nvPr/>
            </p:nvSpPr>
            <p:spPr bwMode="auto">
              <a:xfrm>
                <a:off x="900000" y="1906960"/>
                <a:ext cx="6120680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400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4000">
                                  <a:latin typeface="Cambria Math"/>
                                </a:rPr>
                                <m:t>N</m:t>
                              </m:r>
                            </m:e>
                          </m:d>
                        </m:e>
                        <m:sub>
                          <m:r>
                            <a:rPr lang="en-US" sz="4000" b="0" i="1" smtClean="0">
                              <a:latin typeface="Cambria Math"/>
                            </a:rPr>
                            <m:t>𝑟</m:t>
                          </m:r>
                        </m:sub>
                      </m:sSub>
                      <m:r>
                        <a:rPr lang="cs-CZ" sz="400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4000" b="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𝑁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cs-CZ" sz="4000" dirty="0"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mc:Choice>
        <mc:Fallback xmlns="">
          <p:sp>
            <p:nvSpPr>
              <p:cNvPr id="2" name="TextovéPo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000" y="1906960"/>
                <a:ext cx="6120680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ovéPole 4"/>
              <p:cNvSpPr txBox="1"/>
              <p:nvPr/>
            </p:nvSpPr>
            <p:spPr bwMode="auto">
              <a:xfrm>
                <a:off x="900000" y="3547516"/>
                <a:ext cx="8244000" cy="13216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cs-CZ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cs-CZ" sz="4000" b="0" i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cs-CZ" sz="4000" b="0" i="0" smtClean="0">
                                  <a:latin typeface="Cambria Math"/>
                                </a:rPr>
                                <m:t>356</m:t>
                              </m:r>
                            </m:e>
                          </m:d>
                        </m:e>
                        <m:sub>
                          <m:r>
                            <a:rPr lang="cs-CZ" sz="4000" b="0" i="1" smtClean="0">
                              <a:latin typeface="Cambria Math"/>
                            </a:rPr>
                            <m:t>10</m:t>
                          </m:r>
                        </m:sub>
                      </m:sSub>
                      <m:r>
                        <a:rPr lang="cs-CZ" sz="400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cs-CZ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cs-CZ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cs-CZ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4000" b="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𝑁</m:t>
                              </m:r>
                            </m:e>
                          </m:d>
                        </m:e>
                        <m:sub>
                          <m:r>
                            <a:rPr lang="cs-CZ" sz="4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cs-CZ" sz="4000" b="0" i="1" dirty="0">
                  <a:solidFill>
                    <a:schemeClr val="tx1"/>
                  </a:solidFill>
                  <a:effectLst/>
                  <a:latin typeface="Cambria Math"/>
                </a:endParaRPr>
              </a:p>
              <a:p>
                <a:pPr eaLnBrk="1" hangingPunct="1"/>
                <a:r>
                  <a:rPr lang="cs-CZ" sz="4000" b="0" dirty="0">
                    <a:solidFill>
                      <a:schemeClr val="tx1"/>
                    </a:solidFill>
                    <a:effectLst/>
                  </a:rPr>
                  <a:t>		</a:t>
                </a:r>
                <a14:m>
                  <m:oMath xmlns:m="http://schemas.openxmlformats.org/officeDocument/2006/math">
                    <m:r>
                      <a:rPr lang="cs-CZ" sz="4000" b="0" i="1" smtClean="0">
                        <a:solidFill>
                          <a:schemeClr val="tx1"/>
                        </a:solidFill>
                        <a:effectLst/>
                        <a:latin typeface="Cambria Math"/>
                      </a:rPr>
                      <m:t>=1000−356=644</m:t>
                    </m:r>
                  </m:oMath>
                </a14:m>
                <a:endParaRPr lang="cs-CZ" sz="4000" dirty="0"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mc:Choice>
        <mc:Fallback xmlns="">
          <p:sp>
            <p:nvSpPr>
              <p:cNvPr id="5" name="TextovéPo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000" y="3547516"/>
                <a:ext cx="8244000" cy="132164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11787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6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643866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Jedničkový doplněk</a:t>
            </a:r>
          </a:p>
        </p:txBody>
      </p:sp>
      <p:sp>
        <p:nvSpPr>
          <p:cNvPr id="17613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011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Jedničkový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doplněk dvojkového čísla vytvoříme tak, že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invertujeme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všechny bity</a:t>
            </a:r>
            <a:endParaRPr lang="cs-CZ" sz="2800" dirty="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ovéPole 3"/>
              <p:cNvSpPr txBox="1"/>
              <p:nvPr/>
            </p:nvSpPr>
            <p:spPr bwMode="auto">
              <a:xfrm>
                <a:off x="900000" y="2575751"/>
                <a:ext cx="8244000" cy="709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cs-CZ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cs-CZ" sz="4000" b="0" i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cs-CZ" sz="4000" b="0" i="0" smtClean="0">
                                  <a:latin typeface="Cambria Math"/>
                                </a:rPr>
                                <m:t>5</m:t>
                              </m:r>
                            </m:e>
                          </m:d>
                        </m:e>
                        <m:sub>
                          <m:r>
                            <a:rPr lang="cs-CZ" sz="4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cs-CZ" sz="400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cs-CZ" sz="400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cs-CZ" sz="4000">
                              <a:latin typeface="Cambria Math"/>
                            </a:rPr>
                            <m:t>0101</m:t>
                          </m:r>
                        </m:e>
                      </m:acc>
                      <m:r>
                        <a:rPr lang="cs-CZ" sz="4000" b="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=1010</m:t>
                      </m:r>
                    </m:oMath>
                  </m:oMathPara>
                </a14:m>
                <a:endParaRPr lang="cs-CZ" sz="4000" b="0" dirty="0">
                  <a:solidFill>
                    <a:schemeClr val="tx1"/>
                  </a:solidFill>
                  <a:effectLst/>
                  <a:latin typeface="Cambria Math"/>
                </a:endParaRPr>
              </a:p>
            </p:txBody>
          </p:sp>
        </mc:Choice>
        <mc:Fallback xmlns="">
          <p:sp>
            <p:nvSpPr>
              <p:cNvPr id="4" name="TextovéPo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000" y="2575751"/>
                <a:ext cx="8244000" cy="709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01206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58246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Dvojkový doplněk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17715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01100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Dvojkový doplněk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vytvoříme tak, že vytvoříme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jedničkový doplněk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 přičteme jedničku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ovéPole 4"/>
              <p:cNvSpPr txBox="1"/>
              <p:nvPr/>
            </p:nvSpPr>
            <p:spPr bwMode="auto">
              <a:xfrm>
                <a:off x="900000" y="2576424"/>
                <a:ext cx="8244000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cs-CZ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cs-CZ" sz="4000" b="0" i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cs-CZ" sz="4000" b="0" i="0" smtClean="0">
                                  <a:latin typeface="Cambria Math"/>
                                </a:rPr>
                                <m:t>5</m:t>
                              </m:r>
                            </m:e>
                          </m:d>
                        </m:e>
                        <m:sub>
                          <m:r>
                            <a:rPr lang="cs-CZ" sz="4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cs-CZ" sz="400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=</m:t>
                      </m:r>
                      <m:r>
                        <a:rPr lang="cs-CZ" sz="4000" b="0" i="0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1010+1=1011</m:t>
                      </m:r>
                    </m:oMath>
                  </m:oMathPara>
                </a14:m>
                <a:endParaRPr lang="cs-CZ" sz="4000" b="0" dirty="0">
                  <a:solidFill>
                    <a:schemeClr val="tx1"/>
                  </a:solidFill>
                  <a:effectLst/>
                  <a:latin typeface="Cambria Math"/>
                </a:endParaRPr>
              </a:p>
            </p:txBody>
          </p:sp>
        </mc:Choice>
        <mc:Fallback xmlns="">
          <p:sp>
            <p:nvSpPr>
              <p:cNvPr id="5" name="TextovéPo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000" y="2576424"/>
                <a:ext cx="8244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20639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17715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Vypočítejte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dvojkové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doplňky čísel </a:t>
            </a:r>
            <a:br>
              <a:rPr lang="cs-CZ" sz="2800" b="1" dirty="0">
                <a:solidFill>
                  <a:srgbClr val="000000"/>
                </a:solidFill>
                <a:latin typeface="Verdana" pitchFamily="34" charset="0"/>
              </a:rPr>
            </a:b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od </a:t>
            </a:r>
            <a:r>
              <a:rPr lang="en-US" sz="2800" b="1" dirty="0">
                <a:solidFill>
                  <a:srgbClr val="000000"/>
                </a:solidFill>
                <a:latin typeface="Verdana" pitchFamily="34" charset="0"/>
              </a:rPr>
              <a:t>0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do </a:t>
            </a:r>
            <a:r>
              <a:rPr lang="en-US" sz="2800" b="1" dirty="0">
                <a:solidFill>
                  <a:srgbClr val="000000"/>
                </a:solidFill>
                <a:latin typeface="Verdana" pitchFamily="34" charset="0"/>
              </a:rPr>
              <a:t>8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(4 bity)</a:t>
            </a:r>
            <a:endParaRPr lang="cs-CZ" sz="28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Dvojkový doplněk</a:t>
            </a:r>
          </a:p>
        </p:txBody>
      </p:sp>
    </p:spTree>
    <p:extLst>
      <p:ext uri="{BB962C8B-B14F-4D97-AF65-F5344CB8AC3E}">
        <p14:creationId xmlns:p14="http://schemas.microsoft.com/office/powerpoint/2010/main" val="176331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720000"/>
            <a:ext cx="4320000" cy="5825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8628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01100" cy="458587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Odečítání pomocí doplňku</a:t>
            </a:r>
          </a:p>
          <a:p>
            <a:pPr marL="495300" indent="-495300">
              <a:buClr>
                <a:srgbClr val="C00000"/>
              </a:buClr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	Vytvoříme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dvojkový doplněk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menšitele a ten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sečteme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s menšencem</a:t>
            </a:r>
            <a:r>
              <a:rPr lang="en-US" sz="2400" dirty="0">
                <a:solidFill>
                  <a:srgbClr val="000000"/>
                </a:solidFill>
                <a:latin typeface="Verdana" pitchFamily="34" charset="0"/>
              </a:rPr>
              <a:t>;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přenos z nejvyššího řádu </a:t>
            </a:r>
            <a:r>
              <a:rPr lang="cs-CZ" sz="2400" b="1" dirty="0">
                <a:solidFill>
                  <a:srgbClr val="000000"/>
                </a:solidFill>
                <a:latin typeface="Verdana" pitchFamily="34" charset="0"/>
              </a:rPr>
              <a:t>zanedbáme</a:t>
            </a:r>
            <a:endParaRPr lang="cs-CZ" sz="2400" dirty="0">
              <a:solidFill>
                <a:srgbClr val="000000"/>
              </a:solidFill>
              <a:latin typeface="Verdana" pitchFamily="34" charset="0"/>
            </a:endParaRPr>
          </a:p>
          <a:p>
            <a:pPr marL="495300" indent="-495300">
              <a:buClr>
                <a:srgbClr val="C00000"/>
              </a:buClr>
              <a:defRPr/>
            </a:pPr>
            <a:endParaRPr lang="cs-CZ" sz="2400" dirty="0">
              <a:solidFill>
                <a:srgbClr val="000000"/>
              </a:solidFill>
              <a:latin typeface="Verdana" pitchFamily="34" charset="0"/>
            </a:endParaRPr>
          </a:p>
          <a:p>
            <a:pPr marL="495300" indent="-495300">
              <a:buClr>
                <a:srgbClr val="C00000"/>
              </a:buClr>
              <a:defRPr/>
            </a:pPr>
            <a:endParaRPr lang="cs-CZ" sz="2400" dirty="0">
              <a:latin typeface="Arial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dirty="0">
                <a:latin typeface="Arial" charset="0"/>
              </a:rPr>
              <a:t>	</a:t>
            </a:r>
            <a:r>
              <a:rPr lang="cs-CZ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Příklad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endParaRPr lang="cs-CZ" sz="24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-7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11111001        7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000001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11 </a:t>
            </a:r>
            <a:endParaRPr lang="cs-CZ" sz="2400" b="1" dirty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10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00001010      -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11110110</a:t>
            </a:r>
            <a:endParaRPr lang="cs-CZ" sz="24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endParaRPr lang="cs-CZ" sz="24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 3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00000011       -3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11111101</a:t>
            </a:r>
          </a:p>
        </p:txBody>
      </p:sp>
      <p:sp>
        <p:nvSpPr>
          <p:cNvPr id="47109" name="Line 9"/>
          <p:cNvSpPr>
            <a:spLocks noChangeShapeType="1"/>
          </p:cNvSpPr>
          <p:nvPr/>
        </p:nvSpPr>
        <p:spPr bwMode="auto">
          <a:xfrm>
            <a:off x="609600" y="4941168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/>
          </a:p>
        </p:txBody>
      </p:sp>
      <p:sp>
        <p:nvSpPr>
          <p:cNvPr id="47110" name="Line 10"/>
          <p:cNvSpPr>
            <a:spLocks noChangeShapeType="1"/>
          </p:cNvSpPr>
          <p:nvPr/>
        </p:nvSpPr>
        <p:spPr bwMode="auto">
          <a:xfrm>
            <a:off x="4145632" y="4941168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/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9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9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9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9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animBg="1"/>
      <p:bldP spid="47110" grpId="0" animBg="1"/>
      <p:bldP spid="6" grpId="0" animBg="1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01100" cy="43088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3000"/>
              </a:spcAft>
              <a:buClr>
                <a:srgbClr val="C00000"/>
              </a:buClr>
              <a:buFont typeface="Wingdings" pitchFamily="2" charset="2"/>
              <a:buChar char="n"/>
              <a:defRPr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Převod z doplňkového kódu zpět</a:t>
            </a:r>
          </a:p>
          <a:p>
            <a:pPr marL="504000">
              <a:spcAft>
                <a:spcPts val="3000"/>
              </a:spcAft>
              <a:buClr>
                <a:srgbClr val="C00000"/>
              </a:buClr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Číslo invertujeme a přičteme jedničku</a:t>
            </a:r>
            <a:endParaRPr lang="cs-CZ" sz="2800" dirty="0">
              <a:latin typeface="Arial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Char char="ð"/>
              <a:defRPr/>
            </a:pPr>
            <a:endParaRPr lang="cs-CZ" sz="2400" dirty="0">
              <a:latin typeface="Arial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dirty="0">
                <a:latin typeface="Arial" charset="0"/>
              </a:rPr>
              <a:t>	</a:t>
            </a:r>
            <a:r>
              <a:rPr lang="cs-CZ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Příklad</a:t>
            </a:r>
          </a:p>
          <a:p>
            <a:pPr marL="444500" indent="-444500">
              <a:buClr>
                <a:schemeClr val="folHlink"/>
              </a:buClr>
              <a:buFont typeface="Wingdings" pitchFamily="2" charset="2"/>
              <a:buChar char="ð"/>
              <a:defRPr/>
            </a:pPr>
            <a:endParaRPr lang="cs-CZ" sz="24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-7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sym typeface="Wingdings" pitchFamily="2" charset="2"/>
              </a:rPr>
              <a:t>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11111001</a:t>
            </a:r>
            <a:endParaRPr lang="cs-CZ" sz="2400" b="1" dirty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sym typeface="Wingdings" pitchFamily="2" charset="2"/>
              </a:rPr>
              <a:t>     00000110</a:t>
            </a:r>
            <a:endParaRPr lang="cs-CZ" sz="24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sym typeface="Wingdings" pitchFamily="2" charset="2"/>
              </a:rPr>
              <a:t>             +1</a:t>
            </a:r>
            <a:endParaRPr lang="cs-CZ" sz="24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  <a:p>
            <a:pPr marL="444500" indent="-44450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7</a:t>
            </a:r>
            <a:r>
              <a:rPr lang="cs-CZ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10 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sym typeface="Wingdings" pitchFamily="2" charset="2"/>
              </a:rPr>
              <a:t></a:t>
            </a:r>
            <a:r>
              <a:rPr lang="cs-CZ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00000111</a:t>
            </a:r>
          </a:p>
        </p:txBody>
      </p:sp>
      <p:sp>
        <p:nvSpPr>
          <p:cNvPr id="47109" name="Line 9"/>
          <p:cNvSpPr>
            <a:spLocks noChangeShapeType="1"/>
          </p:cNvSpPr>
          <p:nvPr/>
        </p:nvSpPr>
        <p:spPr bwMode="auto">
          <a:xfrm>
            <a:off x="714348" y="4581128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/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9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9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9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animBg="1"/>
      <p:bldP spid="5" grpId="0" animBg="1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468000" y="288000"/>
            <a:ext cx="8229600" cy="720000"/>
          </a:xfrm>
          <a:noFill/>
        </p:spPr>
        <p:txBody>
          <a:bodyPr/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748712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Slovník pojmů - MSB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175198" name="Rectangle 94"/>
          <p:cNvSpPr>
            <a:spLocks noChangeArrowheads="1"/>
          </p:cNvSpPr>
          <p:nvPr/>
        </p:nvSpPr>
        <p:spPr bwMode="auto">
          <a:xfrm>
            <a:off x="358775" y="1341438"/>
            <a:ext cx="8556625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Nejvýznamnější bit</a:t>
            </a:r>
            <a:r>
              <a:rPr lang="cs-CZ" sz="2400">
                <a:latin typeface="Arial" charset="0"/>
              </a:rPr>
              <a:t> dvojkového čísla je bit s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největší vahou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ost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ignificant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it (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MSB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  <a:r>
              <a:rPr lang="cs-CZ" sz="24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sp>
        <p:nvSpPr>
          <p:cNvPr id="175199" name="Rectangle 95"/>
          <p:cNvSpPr>
            <a:spLocks noChangeArrowheads="1"/>
          </p:cNvSpPr>
          <p:nvPr/>
        </p:nvSpPr>
        <p:spPr bwMode="auto">
          <a:xfrm>
            <a:off x="457200" y="2209800"/>
            <a:ext cx="8382000" cy="2590800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8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Váhy jednotlivých bitů 2</a:t>
            </a:r>
            <a:r>
              <a:rPr lang="cs-CZ" sz="2800" b="1" baseline="30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n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4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128 64 32 16  8  4  2  1</a:t>
            </a:r>
            <a:endParaRPr lang="cs-CZ" sz="4000" b="1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40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1  0  1  0  1  1  1  1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8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Jednotlivé bity dvojkového čísla</a:t>
            </a:r>
          </a:p>
        </p:txBody>
      </p:sp>
      <p:sp>
        <p:nvSpPr>
          <p:cNvPr id="50184" name="Oval 97"/>
          <p:cNvSpPr>
            <a:spLocks noChangeArrowheads="1"/>
          </p:cNvSpPr>
          <p:nvPr/>
        </p:nvSpPr>
        <p:spPr bwMode="auto">
          <a:xfrm>
            <a:off x="914400" y="3429000"/>
            <a:ext cx="762000" cy="762000"/>
          </a:xfrm>
          <a:prstGeom prst="ellipse">
            <a:avLst/>
          </a:prstGeom>
          <a:noFill/>
          <a:ln w="101600">
            <a:solidFill>
              <a:schemeClr val="folHlink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/>
          </a:p>
        </p:txBody>
      </p:sp>
      <p:sp>
        <p:nvSpPr>
          <p:cNvPr id="50185" name="AutoShape 98"/>
          <p:cNvSpPr>
            <a:spLocks noChangeArrowheads="1"/>
          </p:cNvSpPr>
          <p:nvPr/>
        </p:nvSpPr>
        <p:spPr bwMode="auto">
          <a:xfrm>
            <a:off x="990600" y="5562600"/>
            <a:ext cx="2667000" cy="685800"/>
          </a:xfrm>
          <a:prstGeom prst="wedgeRoundRectCallout">
            <a:avLst>
              <a:gd name="adj1" fmla="val -26486"/>
              <a:gd name="adj2" fmla="val -242130"/>
              <a:gd name="adj3" fmla="val 16667"/>
            </a:avLst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/>
            <a:r>
              <a:rPr lang="cs-CZ" sz="2000">
                <a:latin typeface="Arial" charset="0"/>
              </a:rPr>
              <a:t>Nejvýznamnější bit MSB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34" y="280108"/>
            <a:ext cx="8748712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Slovník pojmů - LSB</a:t>
            </a:r>
          </a:p>
        </p:txBody>
      </p:sp>
      <p:sp>
        <p:nvSpPr>
          <p:cNvPr id="51203" name="Text Box 4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178183" name="Rectangle 7"/>
          <p:cNvSpPr>
            <a:spLocks noChangeArrowheads="1"/>
          </p:cNvSpPr>
          <p:nvPr/>
        </p:nvSpPr>
        <p:spPr bwMode="auto">
          <a:xfrm>
            <a:off x="358775" y="1341438"/>
            <a:ext cx="8556625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4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Nejméně významný bit</a:t>
            </a:r>
            <a:r>
              <a:rPr lang="cs-CZ" sz="2400">
                <a:latin typeface="Arial" charset="0"/>
              </a:rPr>
              <a:t> dvojkového čísla je bit s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nejmenší váhou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east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ignificant 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it (</a:t>
            </a:r>
            <a:r>
              <a:rPr lang="cs-CZ" sz="2400" u="sng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LSB</a:t>
            </a:r>
            <a:r>
              <a:rPr lang="cs-CZ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  <a:r>
              <a:rPr lang="cs-CZ" sz="24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sp>
        <p:nvSpPr>
          <p:cNvPr id="178184" name="Rectangle 8"/>
          <p:cNvSpPr>
            <a:spLocks noChangeArrowheads="1"/>
          </p:cNvSpPr>
          <p:nvPr/>
        </p:nvSpPr>
        <p:spPr bwMode="auto">
          <a:xfrm>
            <a:off x="457200" y="2209800"/>
            <a:ext cx="8382000" cy="2590800"/>
          </a:xfrm>
          <a:prstGeom prst="rect">
            <a:avLst/>
          </a:prstGeom>
          <a:noFill/>
          <a:ln w="63500">
            <a:solidFill>
              <a:srgbClr val="00CC99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8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Váhy jednotlivých bitů 2</a:t>
            </a:r>
            <a:r>
              <a:rPr lang="cs-CZ" sz="2800" b="1" baseline="30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n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4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128 64 32 16  8  4  2  1</a:t>
            </a:r>
            <a:endParaRPr lang="cs-CZ" sz="4000" b="1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40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1  0  1  0  1  1  1  1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r>
              <a:rPr lang="cs-CZ" sz="28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Jednotlivé bity dvojkového čísla</a:t>
            </a:r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7315200" y="3429000"/>
            <a:ext cx="762000" cy="762000"/>
          </a:xfrm>
          <a:prstGeom prst="ellipse">
            <a:avLst/>
          </a:prstGeom>
          <a:noFill/>
          <a:ln w="101600">
            <a:solidFill>
              <a:schemeClr val="folHlink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cs-CZ"/>
          </a:p>
        </p:txBody>
      </p:sp>
      <p:sp>
        <p:nvSpPr>
          <p:cNvPr id="51209" name="AutoShape 2"/>
          <p:cNvSpPr>
            <a:spLocks noChangeArrowheads="1"/>
          </p:cNvSpPr>
          <p:nvPr/>
        </p:nvSpPr>
        <p:spPr bwMode="auto">
          <a:xfrm>
            <a:off x="990600" y="5562600"/>
            <a:ext cx="2667000" cy="685800"/>
          </a:xfrm>
          <a:prstGeom prst="wedgeRoundRectCallout">
            <a:avLst>
              <a:gd name="adj1" fmla="val 184644"/>
              <a:gd name="adj2" fmla="val -257407"/>
              <a:gd name="adj3" fmla="val 16667"/>
            </a:avLst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/>
            <a:r>
              <a:rPr lang="cs-CZ" sz="2000">
                <a:latin typeface="Arial" charset="0"/>
              </a:rPr>
              <a:t>Nejméně významný bit LSB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Hornerovo schéma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sz="2400"/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Číslo</a:t>
            </a:r>
            <a:r>
              <a:rPr lang="cs-CZ" sz="2800" dirty="0">
                <a:latin typeface="Verdana" pitchFamily="34" charset="0"/>
              </a:rPr>
              <a:t> o </a:t>
            </a:r>
            <a:r>
              <a:rPr lang="cs-CZ" sz="2800" b="1" dirty="0">
                <a:latin typeface="Verdana" pitchFamily="34" charset="0"/>
              </a:rPr>
              <a:t>základu Z</a:t>
            </a:r>
            <a:r>
              <a:rPr lang="cs-CZ" sz="2800" dirty="0">
                <a:latin typeface="Verdana" pitchFamily="34" charset="0"/>
              </a:rPr>
              <a:t> lze vyjádřit </a:t>
            </a:r>
            <a:r>
              <a:rPr lang="cs-CZ" sz="2800" b="1" dirty="0">
                <a:latin typeface="Verdana" pitchFamily="34" charset="0"/>
              </a:rPr>
              <a:t>mnohočlenem</a:t>
            </a:r>
            <a:r>
              <a:rPr lang="cs-CZ" sz="2800" dirty="0">
                <a:latin typeface="Verdana" pitchFamily="34" charset="0"/>
              </a:rPr>
              <a:t> o </a:t>
            </a:r>
            <a:r>
              <a:rPr lang="cs-CZ" sz="2800" b="1" dirty="0">
                <a:latin typeface="Verdana" pitchFamily="34" charset="0"/>
              </a:rPr>
              <a:t>základu Z</a:t>
            </a:r>
          </a:p>
        </p:txBody>
      </p:sp>
      <p:graphicFrame>
        <p:nvGraphicFramePr>
          <p:cNvPr id="665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460403"/>
              </p:ext>
            </p:extLst>
          </p:nvPr>
        </p:nvGraphicFramePr>
        <p:xfrm>
          <a:off x="540000" y="2339999"/>
          <a:ext cx="7920000" cy="130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2628720" imgH="431640" progId="Equation.3">
                  <p:embed/>
                </p:oleObj>
              </mc:Choice>
              <mc:Fallback>
                <p:oleObj name="Rovnice" r:id="rId3" imgW="262872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00" y="2339999"/>
                        <a:ext cx="7920000" cy="1302663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540000" y="4005064"/>
            <a:ext cx="8640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2400" dirty="0">
                <a:latin typeface="Verdana" pitchFamily="34" charset="0"/>
              </a:rPr>
              <a:t>Čísla zapíšeme v dané soustavě pomocí koeficientů </a:t>
            </a:r>
            <a:r>
              <a:rPr lang="cs-CZ" sz="2400" dirty="0" err="1">
                <a:latin typeface="Verdana" pitchFamily="34" charset="0"/>
              </a:rPr>
              <a:t>a</a:t>
            </a:r>
            <a:r>
              <a:rPr lang="cs-CZ" sz="2400" baseline="-25000" dirty="0" err="1">
                <a:latin typeface="Verdana" pitchFamily="34" charset="0"/>
              </a:rPr>
              <a:t>i</a:t>
            </a:r>
            <a:r>
              <a:rPr lang="cs-CZ" sz="2400" dirty="0">
                <a:latin typeface="Verdana" pitchFamily="34" charset="0"/>
              </a:rPr>
              <a:t>.</a:t>
            </a:r>
          </a:p>
        </p:txBody>
      </p:sp>
      <p:graphicFrame>
        <p:nvGraphicFramePr>
          <p:cNvPr id="66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775111"/>
              </p:ext>
            </p:extLst>
          </p:nvPr>
        </p:nvGraphicFramePr>
        <p:xfrm>
          <a:off x="540000" y="4869160"/>
          <a:ext cx="330041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1104840" imgH="228600" progId="Equation.3">
                  <p:embed/>
                </p:oleObj>
              </mc:Choice>
              <mc:Fallback>
                <p:oleObj name="Rovnice" r:id="rId5" imgW="110484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00" y="4869160"/>
                        <a:ext cx="3300413" cy="684213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71" grpId="0"/>
      <p:bldP spid="13" grpId="0" animBg="1"/>
      <p:bldP spid="14" grpId="0"/>
    </p:bldLst>
  </p:timing>
</p:sld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anchor="ctr"/>
      <a:lstStyle>
        <a:defPPr eaLnBrk="1" hangingPunct="1">
          <a:defRPr sz="20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44747</TotalTime>
  <Words>1882</Words>
  <Application>Microsoft Office PowerPoint</Application>
  <PresentationFormat>Předvádění na obrazovce (4:3)</PresentationFormat>
  <Paragraphs>684</Paragraphs>
  <Slides>59</Slides>
  <Notes>58</Notes>
  <HiddenSlides>3</HiddenSlides>
  <MMClips>0</MMClips>
  <ScaleCrop>false</ScaleCrop>
  <HeadingPairs>
    <vt:vector size="8" baseType="variant">
      <vt:variant>
        <vt:lpstr>Použitá písma</vt:lpstr>
      </vt:variant>
      <vt:variant>
        <vt:i4>9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59</vt:i4>
      </vt:variant>
    </vt:vector>
  </HeadingPairs>
  <TitlesOfParts>
    <vt:vector size="71" baseType="lpstr">
      <vt:lpstr>Arial</vt:lpstr>
      <vt:lpstr>Arial Black</vt:lpstr>
      <vt:lpstr>Cambria Math</vt:lpstr>
      <vt:lpstr>Consolas</vt:lpstr>
      <vt:lpstr>Courier New</vt:lpstr>
      <vt:lpstr>Monotype Sorts</vt:lpstr>
      <vt:lpstr>Times New Roman</vt:lpstr>
      <vt:lpstr>Verdana</vt:lpstr>
      <vt:lpstr>Wingdings</vt:lpstr>
      <vt:lpstr>Pixel</vt:lpstr>
      <vt:lpstr>Rovnice</vt:lpstr>
      <vt:lpstr>Equation</vt:lpstr>
      <vt:lpstr>Číselné soustavy</vt:lpstr>
      <vt:lpstr>Hornerovo schéma</vt:lpstr>
      <vt:lpstr>Hornerovo schéma</vt:lpstr>
      <vt:lpstr>Grafické znázornění čísla</vt:lpstr>
      <vt:lpstr>Grafické znázornění čísla</vt:lpstr>
      <vt:lpstr>Abeceda soustavy</vt:lpstr>
      <vt:lpstr>Druhy číselných soustav</vt:lpstr>
      <vt:lpstr>Druhy číselných soustav</vt:lpstr>
      <vt:lpstr>Druhy číselných soustav</vt:lpstr>
      <vt:lpstr>Druhy číselných soustav</vt:lpstr>
      <vt:lpstr>Příklad</vt:lpstr>
      <vt:lpstr>Příklad</vt:lpstr>
      <vt:lpstr>Převod desítkového čísla  na hexadecimální nebo binární</vt:lpstr>
      <vt:lpstr>Mocniny o základu 2</vt:lpstr>
      <vt:lpstr>Převod čísel mezi různými soustavami</vt:lpstr>
      <vt:lpstr>Převod čísla do dekadické soustavy</vt:lpstr>
      <vt:lpstr>Převod čísla z dekadické soustavy</vt:lpstr>
      <vt:lpstr>Metoda postupného odečítání Z=2</vt:lpstr>
      <vt:lpstr>Metoda postupného dělení Z=2</vt:lpstr>
      <vt:lpstr>Metoda postupného dělení Z=8</vt:lpstr>
      <vt:lpstr>Metoda postupného dělení Z=16</vt:lpstr>
      <vt:lpstr>Převody mezi obecnými soustavami</vt:lpstr>
      <vt:lpstr>Převody mezi obecnými soustavami</vt:lpstr>
      <vt:lpstr>Převod desetinných čísel do dvojkové soustavy</vt:lpstr>
      <vt:lpstr>Příklad</vt:lpstr>
      <vt:lpstr>Příklad</vt:lpstr>
      <vt:lpstr>Příklad</vt:lpstr>
      <vt:lpstr>Příklad</vt:lpstr>
      <vt:lpstr>Příklad</vt:lpstr>
      <vt:lpstr>Aritmetické operace</vt:lpstr>
      <vt:lpstr>Sčítání</vt:lpstr>
      <vt:lpstr>Sčítání Z=10</vt:lpstr>
      <vt:lpstr>Sčítání Z=2</vt:lpstr>
      <vt:lpstr>Sčítání Z=8</vt:lpstr>
      <vt:lpstr>Sčítání Z=16</vt:lpstr>
      <vt:lpstr>Odečítání</vt:lpstr>
      <vt:lpstr>Odečítání Z=10</vt:lpstr>
      <vt:lpstr>Odečítání Z=2</vt:lpstr>
      <vt:lpstr>Odečítání Z=8</vt:lpstr>
      <vt:lpstr>Odečítání Z=16</vt:lpstr>
      <vt:lpstr>Násobení</vt:lpstr>
      <vt:lpstr>Násobení – n-násobný součet</vt:lpstr>
      <vt:lpstr>Násobení – s použitím posunu</vt:lpstr>
      <vt:lpstr>Násobení – s použitím posunu</vt:lpstr>
      <vt:lpstr>Násobení – s použitím posunu</vt:lpstr>
      <vt:lpstr>Zobrazení záporných čísel</vt:lpstr>
      <vt:lpstr>Znaménkový bit</vt:lpstr>
      <vt:lpstr>Znaménkový bit</vt:lpstr>
      <vt:lpstr>Doplněk</vt:lpstr>
      <vt:lpstr>Jedničkový doplněk</vt:lpstr>
      <vt:lpstr>Dvojkový doplněk</vt:lpstr>
      <vt:lpstr>Dvojkový doplněk</vt:lpstr>
      <vt:lpstr>Prezentace aplikace PowerPoint</vt:lpstr>
      <vt:lpstr>Prezentace aplikace PowerPoint</vt:lpstr>
      <vt:lpstr>Prezentace aplikace PowerPoint</vt:lpstr>
      <vt:lpstr>Konec</vt:lpstr>
      <vt:lpstr>Slovník pojmů - MSB</vt:lpstr>
      <vt:lpstr>Slovník pojmů - LSB</vt:lpstr>
      <vt:lpstr>Hornerovo schéma</vt:lpstr>
    </vt:vector>
  </TitlesOfParts>
  <Company>SSE Frenstát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Číselné soustavy </dc:title>
  <dc:subject>CIT</dc:subject>
  <dc:creator/>
  <cp:lastModifiedBy>Jaromír Jašík</cp:lastModifiedBy>
  <cp:revision>1147</cp:revision>
  <cp:lastPrinted>2023-02-25T05:59:44Z</cp:lastPrinted>
  <dcterms:created xsi:type="dcterms:W3CDTF">2001-09-22T14:04:06Z</dcterms:created>
  <dcterms:modified xsi:type="dcterms:W3CDTF">2026-10-17T15:58:27Z</dcterms:modified>
</cp:coreProperties>
</file>