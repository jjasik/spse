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5" r:id="rId1"/>
  </p:sldMasterIdLst>
  <p:notesMasterIdLst>
    <p:notesMasterId r:id="rId80"/>
  </p:notesMasterIdLst>
  <p:handoutMasterIdLst>
    <p:handoutMasterId r:id="rId81"/>
  </p:handoutMasterIdLst>
  <p:sldIdLst>
    <p:sldId id="421" r:id="rId2"/>
    <p:sldId id="466" r:id="rId3"/>
    <p:sldId id="467" r:id="rId4"/>
    <p:sldId id="593" r:id="rId5"/>
    <p:sldId id="465" r:id="rId6"/>
    <p:sldId id="427" r:id="rId7"/>
    <p:sldId id="429" r:id="rId8"/>
    <p:sldId id="430" r:id="rId9"/>
    <p:sldId id="431" r:id="rId10"/>
    <p:sldId id="432" r:id="rId11"/>
    <p:sldId id="434" r:id="rId12"/>
    <p:sldId id="433" r:id="rId13"/>
    <p:sldId id="435" r:id="rId14"/>
    <p:sldId id="436" r:id="rId15"/>
    <p:sldId id="448" r:id="rId16"/>
    <p:sldId id="449" r:id="rId17"/>
    <p:sldId id="450" r:id="rId18"/>
    <p:sldId id="451" r:id="rId19"/>
    <p:sldId id="452" r:id="rId20"/>
    <p:sldId id="437" r:id="rId21"/>
    <p:sldId id="447" r:id="rId22"/>
    <p:sldId id="425" r:id="rId23"/>
    <p:sldId id="299" r:id="rId24"/>
    <p:sldId id="400" r:id="rId25"/>
    <p:sldId id="401" r:id="rId26"/>
    <p:sldId id="468" r:id="rId27"/>
    <p:sldId id="426" r:id="rId28"/>
    <p:sldId id="402" r:id="rId29"/>
    <p:sldId id="455" r:id="rId30"/>
    <p:sldId id="473" r:id="rId31"/>
    <p:sldId id="492" r:id="rId32"/>
    <p:sldId id="405" r:id="rId33"/>
    <p:sldId id="471" r:id="rId34"/>
    <p:sldId id="423" r:id="rId35"/>
    <p:sldId id="412" r:id="rId36"/>
    <p:sldId id="469" r:id="rId37"/>
    <p:sldId id="472" r:id="rId38"/>
    <p:sldId id="456" r:id="rId39"/>
    <p:sldId id="476" r:id="rId40"/>
    <p:sldId id="470" r:id="rId41"/>
    <p:sldId id="406" r:id="rId42"/>
    <p:sldId id="408" r:id="rId43"/>
    <p:sldId id="477" r:id="rId44"/>
    <p:sldId id="458" r:id="rId45"/>
    <p:sldId id="409" r:id="rId46"/>
    <p:sldId id="479" r:id="rId47"/>
    <p:sldId id="411" r:id="rId48"/>
    <p:sldId id="459" r:id="rId49"/>
    <p:sldId id="460" r:id="rId50"/>
    <p:sldId id="414" r:id="rId51"/>
    <p:sldId id="461" r:id="rId52"/>
    <p:sldId id="413" r:id="rId53"/>
    <p:sldId id="416" r:id="rId54"/>
    <p:sldId id="415" r:id="rId55"/>
    <p:sldId id="481" r:id="rId56"/>
    <p:sldId id="417" r:id="rId57"/>
    <p:sldId id="482" r:id="rId58"/>
    <p:sldId id="483" r:id="rId59"/>
    <p:sldId id="462" r:id="rId60"/>
    <p:sldId id="419" r:id="rId61"/>
    <p:sldId id="480" r:id="rId62"/>
    <p:sldId id="484" r:id="rId63"/>
    <p:sldId id="487" r:id="rId64"/>
    <p:sldId id="486" r:id="rId65"/>
    <p:sldId id="485" r:id="rId66"/>
    <p:sldId id="418" r:id="rId67"/>
    <p:sldId id="420" r:id="rId68"/>
    <p:sldId id="464" r:id="rId69"/>
    <p:sldId id="463" r:id="rId70"/>
    <p:sldId id="488" r:id="rId71"/>
    <p:sldId id="489" r:id="rId72"/>
    <p:sldId id="490" r:id="rId73"/>
    <p:sldId id="491" r:id="rId74"/>
    <p:sldId id="363" r:id="rId75"/>
    <p:sldId id="474" r:id="rId76"/>
    <p:sldId id="475" r:id="rId77"/>
    <p:sldId id="478" r:id="rId78"/>
    <p:sldId id="399" r:id="rId79"/>
  </p:sldIdLst>
  <p:sldSz cx="9144000" cy="6858000" type="screen4x3"/>
  <p:notesSz cx="6789738" cy="99298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D3D04D83-947D-49F9-A231-AE515782A527}">
          <p14:sldIdLst>
            <p14:sldId id="421"/>
            <p14:sldId id="466"/>
            <p14:sldId id="467"/>
            <p14:sldId id="593"/>
          </p14:sldIdLst>
        </p14:section>
        <p14:section name="Návrh kombinačních obvodů" id="{8603E9BC-7B8F-4E6A-AE0E-7395078FA153}">
          <p14:sldIdLst>
            <p14:sldId id="465"/>
            <p14:sldId id="427"/>
            <p14:sldId id="429"/>
            <p14:sldId id="430"/>
            <p14:sldId id="431"/>
            <p14:sldId id="432"/>
            <p14:sldId id="434"/>
            <p14:sldId id="433"/>
            <p14:sldId id="435"/>
            <p14:sldId id="436"/>
            <p14:sldId id="448"/>
            <p14:sldId id="449"/>
            <p14:sldId id="450"/>
            <p14:sldId id="451"/>
            <p14:sldId id="452"/>
            <p14:sldId id="437"/>
            <p14:sldId id="447"/>
          </p14:sldIdLst>
        </p14:section>
        <p14:section name="Kombinační obvody" id="{D377B468-79EC-4E5C-BB74-B60D319D72A2}">
          <p14:sldIdLst>
            <p14:sldId id="425"/>
            <p14:sldId id="299"/>
            <p14:sldId id="400"/>
          </p14:sldIdLst>
        </p14:section>
        <p14:section name="Dekodéry" id="{187BE1C2-4C7E-416D-BFA2-EE24196613D0}">
          <p14:sldIdLst>
            <p14:sldId id="401"/>
            <p14:sldId id="468"/>
            <p14:sldId id="426"/>
          </p14:sldIdLst>
        </p14:section>
        <p14:section name="Dekodér 1 z n" id="{7B24ECAB-D043-4718-A8CA-813447A86A13}">
          <p14:sldIdLst>
            <p14:sldId id="402"/>
            <p14:sldId id="455"/>
            <p14:sldId id="473"/>
            <p14:sldId id="492"/>
          </p14:sldIdLst>
        </p14:section>
        <p14:section name="Dekodér z BCD do 7-seg.displej" id="{27A27606-CD99-4DB4-8EF6-B3E18D2BA910}">
          <p14:sldIdLst>
            <p14:sldId id="405"/>
            <p14:sldId id="471"/>
            <p14:sldId id="423"/>
          </p14:sldIdLst>
        </p14:section>
        <p14:section name="Kóder" id="{83632021-F61F-44F4-A8DC-F2C8CBE5871F}">
          <p14:sldIdLst>
            <p14:sldId id="412"/>
            <p14:sldId id="469"/>
            <p14:sldId id="472"/>
          </p14:sldIdLst>
        </p14:section>
        <p14:section name="Multiplexor" id="{02FDF8B3-691A-49E1-ADF6-AAA986F768BB}">
          <p14:sldIdLst>
            <p14:sldId id="456"/>
            <p14:sldId id="476"/>
            <p14:sldId id="470"/>
            <p14:sldId id="406"/>
          </p14:sldIdLst>
        </p14:section>
        <p14:section name="Demultiplexor" id="{1F0F93C5-2460-45AB-B853-DF55AF2C82B4}">
          <p14:sldIdLst>
            <p14:sldId id="408"/>
            <p14:sldId id="477"/>
            <p14:sldId id="458"/>
            <p14:sldId id="409"/>
          </p14:sldIdLst>
        </p14:section>
        <p14:section name="Aplikace MX a DMX" id="{10039EA8-1270-4482-A60C-4F208D51866F}">
          <p14:sldIdLst>
            <p14:sldId id="479"/>
          </p14:sldIdLst>
        </p14:section>
        <p14:section name="Sčítačka" id="{D97DE473-BE51-4B5C-9A50-D6643951BF87}">
          <p14:sldIdLst>
            <p14:sldId id="411"/>
            <p14:sldId id="459"/>
            <p14:sldId id="460"/>
            <p14:sldId id="414"/>
            <p14:sldId id="461"/>
            <p14:sldId id="413"/>
            <p14:sldId id="416"/>
          </p14:sldIdLst>
        </p14:section>
        <p14:section name="Komparátor" id="{6DDBF5D7-C559-47CB-9596-721D609EB679}">
          <p14:sldIdLst>
            <p14:sldId id="415"/>
          </p14:sldIdLst>
        </p14:section>
        <p14:section name="1" id="{D8AAE5BE-F746-4B63-8B19-CCD7159D70BB}">
          <p14:sldIdLst>
            <p14:sldId id="481"/>
            <p14:sldId id="417"/>
            <p14:sldId id="482"/>
          </p14:sldIdLst>
        </p14:section>
        <p14:section name="2" id="{CE00D080-2D94-449E-A966-3BC492C0EB08}">
          <p14:sldIdLst>
            <p14:sldId id="483"/>
            <p14:sldId id="462"/>
            <p14:sldId id="419"/>
          </p14:sldIdLst>
        </p14:section>
        <p14:section name="3" id="{F93751AD-0955-4FCD-AEBF-DE92F4A05807}">
          <p14:sldIdLst>
            <p14:sldId id="480"/>
            <p14:sldId id="484"/>
            <p14:sldId id="487"/>
            <p14:sldId id="486"/>
            <p14:sldId id="485"/>
          </p14:sldIdLst>
        </p14:section>
        <p14:section name="Parita" id="{55670F5A-8D6F-482C-BEF8-76AFB37DF3B9}">
          <p14:sldIdLst>
            <p14:sldId id="418"/>
            <p14:sldId id="420"/>
            <p14:sldId id="464"/>
            <p14:sldId id="463"/>
          </p14:sldIdLst>
        </p14:section>
        <p14:section name="BCD sčítačka" id="{0717789A-40EE-4386-ABE1-412478073F54}">
          <p14:sldIdLst>
            <p14:sldId id="488"/>
          </p14:sldIdLst>
        </p14:section>
        <p14:section name="Dynamická displej" id="{502E506E-7C5A-4A44-8C65-5DA49CB734C9}">
          <p14:sldIdLst>
            <p14:sldId id="489"/>
            <p14:sldId id="490"/>
            <p14:sldId id="491"/>
            <p14:sldId id="363"/>
          </p14:sldIdLst>
        </p14:section>
        <p14:section name="Obvody 74xx" id="{8B76F05B-F2B1-41AB-B10C-EEDDC6F8458D}">
          <p14:sldIdLst>
            <p14:sldId id="474"/>
          </p14:sldIdLst>
        </p14:section>
        <p14:section name="Obsolent" id="{8BF6F08C-D7A4-43F6-9660-87A8820676BD}">
          <p14:sldIdLst>
            <p14:sldId id="475"/>
            <p14:sldId id="478"/>
            <p14:sldId id="3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CCCFF"/>
    <a:srgbClr val="DDDDDD"/>
    <a:srgbClr val="FF9900"/>
    <a:srgbClr val="CC9900"/>
    <a:srgbClr val="996633"/>
    <a:srgbClr val="993300"/>
    <a:srgbClr val="996600"/>
    <a:srgbClr val="0000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86314" autoAdjust="0"/>
  </p:normalViewPr>
  <p:slideViewPr>
    <p:cSldViewPr>
      <p:cViewPr varScale="1">
        <p:scale>
          <a:sx n="111" d="100"/>
          <a:sy n="111" d="100"/>
        </p:scale>
        <p:origin x="163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9502"/>
    </p:cViewPr>
  </p:sorterViewPr>
  <p:notesViewPr>
    <p:cSldViewPr>
      <p:cViewPr varScale="1">
        <p:scale>
          <a:sx n="55" d="100"/>
          <a:sy n="55" d="100"/>
        </p:scale>
        <p:origin x="-2580" y="-84"/>
      </p:cViewPr>
      <p:guideLst>
        <p:guide orient="horz" pos="3128"/>
        <p:guide pos="21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2540" cy="4968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40" tIns="46020" rIns="92040" bIns="46020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7201" y="1"/>
            <a:ext cx="2942539" cy="4968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40" tIns="46020" rIns="92040" bIns="46020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cs-CZ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3005"/>
            <a:ext cx="2942540" cy="4968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40" tIns="46020" rIns="92040" bIns="46020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7201" y="9433005"/>
            <a:ext cx="2942539" cy="4968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040" tIns="46020" rIns="92040" bIns="46020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4BFEB950-BB7D-41DF-8C99-C46A7D008045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645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15368" cy="460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0" tIns="46020" rIns="92040" bIns="46020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6011" y="1"/>
            <a:ext cx="2915368" cy="460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0" tIns="46020" rIns="92040" bIns="46020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cs-CZ"/>
          </a:p>
        </p:txBody>
      </p:sp>
      <p:sp>
        <p:nvSpPr>
          <p:cNvPr id="174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2025" y="766763"/>
            <a:ext cx="4905375" cy="3679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643" y="4754041"/>
            <a:ext cx="4986814" cy="4447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0" tIns="46020" rIns="92040" bIns="460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406"/>
            <a:ext cx="2915368" cy="460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0" tIns="46020" rIns="92040" bIns="46020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6011" y="9431406"/>
            <a:ext cx="2915368" cy="460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40" tIns="46020" rIns="92040" bIns="46020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95EEAFF5-42F6-48E8-8B2A-FBA7A2EC0999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738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EEAFF5-42F6-48E8-8B2A-FBA7A2EC0999}" type="slidenum">
              <a:rPr lang="cs-CZ" smtClean="0"/>
              <a:pPr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F47E2342-14F7-425B-93D2-D06753AC8677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0F6ACE72-45B9-46EB-9812-BE6DEFC3F096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EF345F-C42D-4BFB-832D-7718F492B793}" type="slidenum">
              <a:rPr lang="cs-CZ"/>
              <a:pPr/>
              <a:t>4</a:t>
            </a:fld>
            <a:endParaRPr lang="cs-CZ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5</a:t>
            </a:fld>
            <a:endParaRPr lang="cs-CZ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6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7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8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9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10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11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12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13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14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15</a:t>
            </a:fld>
            <a:endParaRPr lang="cs-CZ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16</a:t>
            </a:fld>
            <a:endParaRPr lang="cs-CZ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17</a:t>
            </a:fld>
            <a:endParaRPr lang="cs-CZ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18</a:t>
            </a:fld>
            <a:endParaRPr lang="cs-CZ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B21EF6-0B19-4BD2-B7A8-AD743A2D28AA}" type="slidenum">
              <a:rPr lang="cs-CZ"/>
              <a:pPr/>
              <a:t>19</a:t>
            </a:fld>
            <a:endParaRPr lang="cs-CZ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20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21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22</a:t>
            </a:fld>
            <a:endParaRPr lang="cs-CZ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AC9B8E-FC7A-4D68-AC38-7499486C9512}" type="slidenum">
              <a:rPr lang="cs-CZ"/>
              <a:pPr/>
              <a:t>23</a:t>
            </a:fld>
            <a:endParaRPr lang="cs-CZ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C7A238-6D4A-4C43-AF4F-401661ED474B}" type="slidenum">
              <a:rPr lang="cs-CZ"/>
              <a:pPr/>
              <a:t>24</a:t>
            </a:fld>
            <a:endParaRPr lang="cs-CZ"/>
          </a:p>
        </p:txBody>
      </p:sp>
      <p:sp>
        <p:nvSpPr>
          <p:cNvPr id="24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F53E93-1B4E-4FEB-9B10-7F128CCACAEE}" type="slidenum">
              <a:rPr lang="cs-CZ"/>
              <a:pPr/>
              <a:t>25</a:t>
            </a:fld>
            <a:endParaRPr lang="cs-CZ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26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F53E93-1B4E-4FEB-9B10-7F128CCACAEE}" type="slidenum">
              <a:rPr lang="cs-CZ"/>
              <a:pPr/>
              <a:t>27</a:t>
            </a:fld>
            <a:endParaRPr lang="cs-CZ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FB780-888A-4EBB-A124-5EA6066D0A9E}" type="slidenum">
              <a:rPr lang="cs-CZ"/>
              <a:pPr/>
              <a:t>28</a:t>
            </a:fld>
            <a:endParaRPr lang="cs-CZ"/>
          </a:p>
        </p:txBody>
      </p:sp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29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30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31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201517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FF72C4-C5C8-4BF3-80CB-C6423476E5B8}" type="slidenum">
              <a:rPr lang="cs-CZ"/>
              <a:pPr/>
              <a:t>32</a:t>
            </a:fld>
            <a:endParaRPr lang="cs-CZ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33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FF72C4-C5C8-4BF3-80CB-C6423476E5B8}" type="slidenum">
              <a:rPr lang="cs-CZ"/>
              <a:pPr/>
              <a:t>34</a:t>
            </a:fld>
            <a:endParaRPr lang="cs-CZ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35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36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37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FDBA76-548F-462C-9FA7-E2F2FDE42FEE}" type="slidenum">
              <a:rPr lang="cs-CZ"/>
              <a:pPr/>
              <a:t>38</a:t>
            </a:fld>
            <a:endParaRPr lang="cs-CZ"/>
          </a:p>
        </p:txBody>
      </p:sp>
      <p:sp>
        <p:nvSpPr>
          <p:cNvPr id="24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39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40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DD19C8-73A9-425E-90C9-EE454C22B848}" type="slidenum">
              <a:rPr lang="cs-CZ"/>
              <a:pPr/>
              <a:t>41</a:t>
            </a:fld>
            <a:endParaRPr lang="cs-CZ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005542-1E62-4EC5-AA59-E854CD8E999C}" type="slidenum">
              <a:rPr lang="cs-CZ"/>
              <a:pPr/>
              <a:t>42</a:t>
            </a:fld>
            <a:endParaRPr lang="cs-CZ"/>
          </a:p>
        </p:txBody>
      </p:sp>
      <p:sp>
        <p:nvSpPr>
          <p:cNvPr id="251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68A7A-7986-4FE9-A040-F353B4C2C9B7}" type="slidenum">
              <a:rPr lang="cs-CZ"/>
              <a:pPr/>
              <a:t>43</a:t>
            </a:fld>
            <a:endParaRPr lang="cs-CZ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FDBA76-548F-462C-9FA7-E2F2FDE42FEE}" type="slidenum">
              <a:rPr lang="cs-CZ"/>
              <a:pPr/>
              <a:t>44</a:t>
            </a:fld>
            <a:endParaRPr lang="cs-CZ"/>
          </a:p>
        </p:txBody>
      </p:sp>
      <p:sp>
        <p:nvSpPr>
          <p:cNvPr id="24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8F51C6-F47F-4AA9-A0B1-16CA66A187E0}" type="slidenum">
              <a:rPr lang="cs-CZ"/>
              <a:pPr/>
              <a:t>45</a:t>
            </a:fld>
            <a:endParaRPr lang="cs-CZ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46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D6690E-AE07-4782-B698-7F64A3319C93}" type="slidenum">
              <a:rPr lang="cs-CZ"/>
              <a:pPr/>
              <a:t>47</a:t>
            </a:fld>
            <a:endParaRPr lang="cs-CZ"/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D6690E-AE07-4782-B698-7F64A3319C93}" type="slidenum">
              <a:rPr lang="cs-CZ"/>
              <a:pPr/>
              <a:t>48</a:t>
            </a:fld>
            <a:endParaRPr lang="cs-CZ"/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D6690E-AE07-4782-B698-7F64A3319C93}" type="slidenum">
              <a:rPr lang="cs-CZ"/>
              <a:pPr/>
              <a:t>49</a:t>
            </a:fld>
            <a:endParaRPr lang="cs-CZ"/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70F792-120F-4D5F-AB04-D573FF97B97D}" type="slidenum">
              <a:rPr lang="cs-CZ"/>
              <a:pPr/>
              <a:t>50</a:t>
            </a:fld>
            <a:endParaRPr lang="cs-CZ"/>
          </a:p>
        </p:txBody>
      </p:sp>
      <p:sp>
        <p:nvSpPr>
          <p:cNvPr id="256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D6690E-AE07-4782-B698-7F64A3319C93}" type="slidenum">
              <a:rPr lang="cs-CZ"/>
              <a:pPr/>
              <a:t>51</a:t>
            </a:fld>
            <a:endParaRPr lang="cs-CZ"/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6C2295-8B98-4805-8405-BBC7DA1C84CB}" type="slidenum">
              <a:rPr lang="cs-CZ"/>
              <a:pPr/>
              <a:t>52</a:t>
            </a:fld>
            <a:endParaRPr lang="cs-CZ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AB5D88-A229-478E-9A57-6CE28581AB83}" type="slidenum">
              <a:rPr lang="cs-CZ"/>
              <a:pPr/>
              <a:t>53</a:t>
            </a:fld>
            <a:endParaRPr lang="cs-CZ"/>
          </a:p>
        </p:txBody>
      </p:sp>
      <p:sp>
        <p:nvSpPr>
          <p:cNvPr id="258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51B964-E4DC-4569-9B85-EFC85AC9787D}" type="slidenum">
              <a:rPr lang="cs-CZ"/>
              <a:pPr/>
              <a:t>54</a:t>
            </a:fld>
            <a:endParaRPr lang="cs-CZ"/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51B964-E4DC-4569-9B85-EFC85AC9787D}" type="slidenum">
              <a:rPr lang="cs-CZ"/>
              <a:pPr/>
              <a:t>55</a:t>
            </a:fld>
            <a:endParaRPr lang="cs-CZ"/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3D74C6-9A68-4145-99C3-D13266E27163}" type="slidenum">
              <a:rPr lang="cs-CZ"/>
              <a:pPr/>
              <a:t>56</a:t>
            </a:fld>
            <a:endParaRPr lang="cs-CZ"/>
          </a:p>
        </p:txBody>
      </p:sp>
      <p:sp>
        <p:nvSpPr>
          <p:cNvPr id="260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A940C-414E-42C2-B7A4-9E111B9F77E7}" type="slidenum">
              <a:rPr lang="cs-CZ"/>
              <a:pPr/>
              <a:t>57</a:t>
            </a:fld>
            <a:endParaRPr lang="cs-CZ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51B964-E4DC-4569-9B85-EFC85AC9787D}" type="slidenum">
              <a:rPr lang="cs-CZ"/>
              <a:pPr/>
              <a:t>58</a:t>
            </a:fld>
            <a:endParaRPr lang="cs-CZ"/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A940C-414E-42C2-B7A4-9E111B9F77E7}" type="slidenum">
              <a:rPr lang="cs-CZ"/>
              <a:pPr/>
              <a:t>59</a:t>
            </a:fld>
            <a:endParaRPr lang="cs-CZ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A940C-414E-42C2-B7A4-9E111B9F77E7}" type="slidenum">
              <a:rPr lang="cs-CZ"/>
              <a:pPr/>
              <a:t>60</a:t>
            </a:fld>
            <a:endParaRPr lang="cs-CZ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A940C-414E-42C2-B7A4-9E111B9F77E7}" type="slidenum">
              <a:rPr lang="cs-CZ"/>
              <a:pPr/>
              <a:t>61</a:t>
            </a:fld>
            <a:endParaRPr lang="cs-CZ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A940C-414E-42C2-B7A4-9E111B9F77E7}" type="slidenum">
              <a:rPr lang="cs-CZ"/>
              <a:pPr/>
              <a:t>62</a:t>
            </a:fld>
            <a:endParaRPr lang="cs-CZ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A940C-414E-42C2-B7A4-9E111B9F77E7}" type="slidenum">
              <a:rPr lang="cs-CZ"/>
              <a:pPr/>
              <a:t>63</a:t>
            </a:fld>
            <a:endParaRPr lang="cs-CZ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A940C-414E-42C2-B7A4-9E111B9F77E7}" type="slidenum">
              <a:rPr lang="cs-CZ"/>
              <a:pPr/>
              <a:t>64</a:t>
            </a:fld>
            <a:endParaRPr lang="cs-CZ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A940C-414E-42C2-B7A4-9E111B9F77E7}" type="slidenum">
              <a:rPr lang="cs-CZ"/>
              <a:pPr/>
              <a:t>65</a:t>
            </a:fld>
            <a:endParaRPr lang="cs-CZ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F5267E-DF28-4650-81C4-955206BC6BA1}" type="slidenum">
              <a:rPr lang="cs-CZ"/>
              <a:pPr/>
              <a:t>66</a:t>
            </a:fld>
            <a:endParaRPr lang="cs-CZ"/>
          </a:p>
        </p:txBody>
      </p:sp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97CD1B-6E7F-4BFB-A7F4-4ACB06FF0D29}" type="slidenum">
              <a:rPr lang="cs-CZ"/>
              <a:pPr/>
              <a:t>67</a:t>
            </a:fld>
            <a:endParaRPr lang="cs-CZ"/>
          </a:p>
        </p:txBody>
      </p:sp>
      <p:sp>
        <p:nvSpPr>
          <p:cNvPr id="26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97CD1B-6E7F-4BFB-A7F4-4ACB06FF0D29}" type="slidenum">
              <a:rPr lang="cs-CZ"/>
              <a:pPr/>
              <a:t>68</a:t>
            </a:fld>
            <a:endParaRPr lang="cs-CZ"/>
          </a:p>
        </p:txBody>
      </p:sp>
      <p:sp>
        <p:nvSpPr>
          <p:cNvPr id="26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97CD1B-6E7F-4BFB-A7F4-4ACB06FF0D29}" type="slidenum">
              <a:rPr lang="cs-CZ"/>
              <a:pPr/>
              <a:t>69</a:t>
            </a:fld>
            <a:endParaRPr lang="cs-CZ"/>
          </a:p>
        </p:txBody>
      </p:sp>
      <p:sp>
        <p:nvSpPr>
          <p:cNvPr id="26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A940C-414E-42C2-B7A4-9E111B9F77E7}" type="slidenum">
              <a:rPr lang="cs-CZ"/>
              <a:pPr/>
              <a:t>70</a:t>
            </a:fld>
            <a:endParaRPr lang="cs-CZ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A940C-414E-42C2-B7A4-9E111B9F77E7}" type="slidenum">
              <a:rPr lang="cs-CZ"/>
              <a:pPr/>
              <a:t>71</a:t>
            </a:fld>
            <a:endParaRPr lang="cs-CZ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A940C-414E-42C2-B7A4-9E111B9F77E7}" type="slidenum">
              <a:rPr lang="cs-CZ"/>
              <a:pPr/>
              <a:t>72</a:t>
            </a:fld>
            <a:endParaRPr lang="cs-CZ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A940C-414E-42C2-B7A4-9E111B9F77E7}" type="slidenum">
              <a:rPr lang="cs-CZ"/>
              <a:pPr/>
              <a:t>73</a:t>
            </a:fld>
            <a:endParaRPr lang="cs-CZ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EDA8AC-1440-49B2-AD36-01897CABF61C}" type="slidenum">
              <a:rPr lang="cs-CZ"/>
              <a:pPr/>
              <a:t>74</a:t>
            </a:fld>
            <a:endParaRPr lang="cs-CZ"/>
          </a:p>
        </p:txBody>
      </p:sp>
      <p:sp>
        <p:nvSpPr>
          <p:cNvPr id="26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A940C-414E-42C2-B7A4-9E111B9F77E7}" type="slidenum">
              <a:rPr lang="cs-CZ"/>
              <a:pPr/>
              <a:t>75</a:t>
            </a:fld>
            <a:endParaRPr lang="cs-CZ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072DF1-26A0-4FE1-B5FC-C1CBB916F692}" type="slidenum">
              <a:rPr lang="cs-CZ"/>
              <a:pPr/>
              <a:t>76</a:t>
            </a:fld>
            <a:endParaRPr lang="cs-CZ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FDBA76-548F-462C-9FA7-E2F2FDE42FEE}" type="slidenum">
              <a:rPr lang="cs-CZ"/>
              <a:pPr/>
              <a:t>77</a:t>
            </a:fld>
            <a:endParaRPr lang="cs-CZ"/>
          </a:p>
        </p:txBody>
      </p:sp>
      <p:sp>
        <p:nvSpPr>
          <p:cNvPr id="24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65A64E-D032-4924-B41E-48338F6CE5B5}" type="slidenum">
              <a:rPr lang="cs-CZ"/>
              <a:pPr/>
              <a:t>78</a:t>
            </a:fld>
            <a:endParaRPr lang="cs-CZ"/>
          </a:p>
        </p:txBody>
      </p:sp>
      <p:sp>
        <p:nvSpPr>
          <p:cNvPr id="26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endParaRPr lang="cs-CZ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cs-CZ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AAD9B5FD-319C-4247-BFE9-2BE47101B72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070AE2-50EF-4D57-922B-55CB108B87B9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56D222C3-845F-45E5-8313-8BD56E68621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F9648A-2D1A-4447-A07A-D7391CEC669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AD362EB8-BDFD-460C-A523-B95DE77377F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86BED8-D885-4B98-A6E2-BC0B8BC1AEEA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B319B3D1-96F3-431A-B2F6-5CF62DBE080B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69FF83-A891-4059-AD18-2A808359D7D5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C977FFFD-04A4-4D9B-9AF6-7C6B6E04CAC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28F3FF-26DB-450D-A841-932FB9432AA3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A3284C46-455D-49F8-B97D-C6913940153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F44739-BFC0-4AE1-B076-C57D5924819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3A2BB359-DAEA-4343-880C-5204D431246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702FF8-DE08-48B6-A8DA-0476F6F63A39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BA659F03-C3F4-44E0-B170-E6A49094255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1F5A57-11EB-427E-B389-943F25903687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B7112B02-734C-475E-A65A-E72D8816762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A149EA-52FD-4667-AC46-73A92F5ACADC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B82B4824-5B03-4E96-BD6B-9DF62C8827F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FFBB1B-339C-4AA3-8713-EE0D317752E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74CFCD03-5319-4279-A37D-DA0F26A323E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99C540-B432-4FA2-AD4E-9D08F235292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3F8DEC2B-A28C-4D4B-B5CD-3F096DAF13A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ADE058-865A-481D-8680-0EF856D2E41E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D8BF26F0-1753-40DF-A3D0-BB72E4D46CEB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99C540-B432-4FA2-AD4E-9D08F235292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3F8DEC2B-A28C-4D4B-B5CD-3F096DAF13A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0" y="55563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88" y="1412875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75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A9420ED4-B8CE-4D33-B9FF-DDD15C69DE1A}" type="slidenum">
              <a:rPr lang="cs-CZ"/>
              <a:pPr/>
              <a:t>‹#›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61AC6F9-6C38-4C64-A2E4-15816452BA5D}" type="slidenum">
              <a:rPr lang="cs-CZ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endParaRPr lang="cs-CZ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fld id="{0699C540-B432-4FA2-AD4E-9D08F235292F}" type="slidenum">
              <a:rPr lang="cs-CZ" smtClean="0"/>
              <a:pPr/>
              <a:t>‹#›</a:t>
            </a:fld>
            <a:endParaRPr lang="cs-CZ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accent2"/>
                </a:solidFill>
                <a:latin typeface="Arial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r>
              <a:rPr lang="cs-CZ"/>
              <a:t> </a:t>
            </a:r>
            <a:fld id="{3F8DEC2B-A28C-4D4B-B5CD-3F096DAF13A0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6.xml"/><Relationship Id="rId7" Type="http://schemas.openxmlformats.org/officeDocument/2006/relationships/slide" Target="slide4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38.xml"/><Relationship Id="rId5" Type="http://schemas.openxmlformats.org/officeDocument/2006/relationships/slide" Target="slide25.xml"/><Relationship Id="rId10" Type="http://schemas.openxmlformats.org/officeDocument/2006/relationships/slide" Target="slide54.xml"/><Relationship Id="rId4" Type="http://schemas.openxmlformats.org/officeDocument/2006/relationships/slide" Target="slide23.xml"/><Relationship Id="rId9" Type="http://schemas.openxmlformats.org/officeDocument/2006/relationships/slide" Target="slide6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ostalcomp.cz/7seg_dec_ttl.ph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6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slide" Target="slide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>
          <a:xfrm>
            <a:off x="2880000" y="1800000"/>
            <a:ext cx="6264000" cy="2209800"/>
          </a:xfrm>
        </p:spPr>
        <p:txBody>
          <a:bodyPr wrap="square">
            <a:spAutoFit/>
          </a:bodyPr>
          <a:lstStyle/>
          <a:p>
            <a:r>
              <a:rPr lang="cs-CZ" sz="8800" b="1" dirty="0"/>
              <a:t>CIT</a:t>
            </a:r>
            <a:br>
              <a:rPr lang="cs-CZ" dirty="0"/>
            </a:br>
            <a:r>
              <a:rPr lang="cs-CZ" sz="4600" b="1" dirty="0"/>
              <a:t>Kombinační obvody</a:t>
            </a:r>
          </a:p>
        </p:txBody>
      </p:sp>
      <p:sp>
        <p:nvSpPr>
          <p:cNvPr id="7" name="Podnadpis 6"/>
          <p:cNvSpPr>
            <a:spLocks noGrp="1"/>
          </p:cNvSpPr>
          <p:nvPr>
            <p:ph type="subTitle" idx="1"/>
          </p:nvPr>
        </p:nvSpPr>
        <p:spPr>
          <a:xfrm>
            <a:off x="2880000" y="4320000"/>
            <a:ext cx="6019800" cy="1323439"/>
          </a:xfrm>
        </p:spPr>
        <p:txBody>
          <a:bodyPr>
            <a:spAutoFit/>
          </a:bodyPr>
          <a:lstStyle/>
          <a:p>
            <a:r>
              <a:rPr lang="cs-CZ" sz="8000" b="1" dirty="0">
                <a:solidFill>
                  <a:schemeClr val="accent5">
                    <a:lumMod val="25000"/>
                  </a:schemeClr>
                </a:solidFill>
              </a:rPr>
              <a:t>Díl V</a:t>
            </a:r>
          </a:p>
        </p:txBody>
      </p:sp>
      <p:pic>
        <p:nvPicPr>
          <p:cNvPr id="4" name="Picture 1" descr="D:\www\ljuraneknew\images\CIT100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00934" y="1928802"/>
            <a:ext cx="1428760" cy="14287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351546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Číslicová technika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360000" y="1440001"/>
            <a:ext cx="8784000" cy="2862322"/>
          </a:xfrm>
          <a:noFill/>
          <a:ln/>
        </p:spPr>
        <p:txBody>
          <a:bodyPr>
            <a:spAutoFit/>
          </a:bodyPr>
          <a:lstStyle/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>
                <a:latin typeface="Arial" charset="0"/>
              </a:rPr>
              <a:t>Téma	</a:t>
            </a:r>
            <a:r>
              <a:rPr lang="cs-CZ" b="1" dirty="0"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Kombinační obvody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Předmět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CIT</a:t>
            </a:r>
            <a:endParaRPr lang="cs-CZ" b="1" dirty="0"/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Ročník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</a:t>
            </a:r>
            <a:endParaRPr lang="cs-CZ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Autor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Ing. Leoš Juránek 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Datum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prosinec 2019</a:t>
            </a:r>
          </a:p>
        </p:txBody>
      </p:sp>
    </p:spTree>
    <p:extLst>
      <p:ext uri="{BB962C8B-B14F-4D97-AF65-F5344CB8AC3E}">
        <p14:creationId xmlns:p14="http://schemas.microsoft.com/office/powerpoint/2010/main" val="3265219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</a:t>
            </a:r>
          </a:p>
        </p:txBody>
      </p:sp>
      <p:sp>
        <p:nvSpPr>
          <p:cNvPr id="7" name="Obdélník 6">
            <a:hlinkClick r:id="rId3" action="ppaction://hlinksldjump"/>
          </p:cNvPr>
          <p:cNvSpPr/>
          <p:nvPr/>
        </p:nvSpPr>
        <p:spPr>
          <a:xfrm>
            <a:off x="540000" y="1080000"/>
            <a:ext cx="828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lvl="0" indent="-360000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Návrh kombinačních obvodů</a:t>
            </a:r>
          </a:p>
        </p:txBody>
      </p:sp>
      <p:sp>
        <p:nvSpPr>
          <p:cNvPr id="8" name="Obdélník 7">
            <a:hlinkClick r:id="rId4" action="ppaction://hlinksldjump"/>
          </p:cNvPr>
          <p:cNvSpPr/>
          <p:nvPr/>
        </p:nvSpPr>
        <p:spPr>
          <a:xfrm>
            <a:off x="540000" y="1440000"/>
            <a:ext cx="828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Kombinační obvod</a:t>
            </a:r>
          </a:p>
        </p:txBody>
      </p:sp>
      <p:sp>
        <p:nvSpPr>
          <p:cNvPr id="9" name="Obdélník 8">
            <a:hlinkClick r:id="rId5" action="ppaction://hlinksldjump"/>
          </p:cNvPr>
          <p:cNvSpPr/>
          <p:nvPr/>
        </p:nvSpPr>
        <p:spPr>
          <a:xfrm>
            <a:off x="540000" y="1800000"/>
            <a:ext cx="828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Dekodér</a:t>
            </a:r>
          </a:p>
        </p:txBody>
      </p:sp>
      <p:sp>
        <p:nvSpPr>
          <p:cNvPr id="14" name="Obdélník 13">
            <a:hlinkClick r:id="rId6" action="ppaction://hlinksldjump"/>
          </p:cNvPr>
          <p:cNvSpPr/>
          <p:nvPr/>
        </p:nvSpPr>
        <p:spPr>
          <a:xfrm>
            <a:off x="540000" y="2160000"/>
            <a:ext cx="828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 err="1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Multiplexer</a:t>
            </a:r>
            <a:endParaRPr lang="cs-CZ" sz="2000" kern="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Obdélník 14">
            <a:hlinkClick r:id="rId7" action="ppaction://hlinksldjump"/>
          </p:cNvPr>
          <p:cNvSpPr/>
          <p:nvPr/>
        </p:nvSpPr>
        <p:spPr>
          <a:xfrm>
            <a:off x="540000" y="2520000"/>
            <a:ext cx="828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 err="1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Demultiplexer</a:t>
            </a:r>
            <a:endParaRPr lang="cs-CZ" sz="2000" kern="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Obdélník 10">
            <a:hlinkClick r:id="rId8" action="ppaction://hlinksldjump"/>
          </p:cNvPr>
          <p:cNvSpPr/>
          <p:nvPr/>
        </p:nvSpPr>
        <p:spPr>
          <a:xfrm>
            <a:off x="540000" y="2880000"/>
            <a:ext cx="828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Sčítačka</a:t>
            </a:r>
          </a:p>
        </p:txBody>
      </p:sp>
      <p:sp>
        <p:nvSpPr>
          <p:cNvPr id="12" name="Obdélník 11">
            <a:hlinkClick r:id="rId9" action="ppaction://hlinksldjump"/>
          </p:cNvPr>
          <p:cNvSpPr/>
          <p:nvPr/>
        </p:nvSpPr>
        <p:spPr>
          <a:xfrm>
            <a:off x="540000" y="3604954"/>
            <a:ext cx="828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Generátor parity</a:t>
            </a:r>
          </a:p>
        </p:txBody>
      </p:sp>
      <p:sp>
        <p:nvSpPr>
          <p:cNvPr id="13" name="Obdélník 12">
            <a:hlinkClick r:id="rId10" action="ppaction://hlinksldjump"/>
          </p:cNvPr>
          <p:cNvSpPr/>
          <p:nvPr/>
        </p:nvSpPr>
        <p:spPr>
          <a:xfrm>
            <a:off x="540000" y="3240000"/>
            <a:ext cx="828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Komparátor</a:t>
            </a:r>
          </a:p>
        </p:txBody>
      </p:sp>
    </p:spTree>
    <p:extLst>
      <p:ext uri="{BB962C8B-B14F-4D97-AF65-F5344CB8AC3E}">
        <p14:creationId xmlns:p14="http://schemas.microsoft.com/office/powerpoint/2010/main" val="1416766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Zdroje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Obdélník 13">
            <a:hlinkClick r:id="rId4"/>
          </p:cNvPr>
          <p:cNvSpPr/>
          <p:nvPr/>
        </p:nvSpPr>
        <p:spPr>
          <a:xfrm>
            <a:off x="540000" y="108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chemeClr val="accent6">
                  <a:lumMod val="75000"/>
                </a:schemeClr>
              </a:buClr>
              <a:buSzPct val="75000"/>
              <a:buFont typeface="Wingdings" pitchFamily="2" charset="2"/>
              <a:buChar char="q"/>
            </a:pPr>
            <a:r>
              <a:rPr lang="cs-CZ" sz="2000" kern="0" dirty="0" err="1">
                <a:solidFill>
                  <a:schemeClr val="accent6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Nostalcomp</a:t>
            </a:r>
            <a:r>
              <a:rPr lang="cs-CZ" sz="2000" kern="0" dirty="0">
                <a:solidFill>
                  <a:schemeClr val="accent6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: 7-segmentové dekodéry (nejen) TTL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57200" y="3741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Elipsa 8">
            <a:extLst>
              <a:ext uri="{FF2B5EF4-FFF2-40B4-BE49-F238E27FC236}">
                <a16:creationId xmlns:a16="http://schemas.microsoft.com/office/drawing/2014/main" id="{E7FE9C96-43BD-5215-EF3D-F1A691A34CDA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5E75CC63-227E-DD94-B769-1558BA116EBC}"/>
              </a:ext>
            </a:extLst>
          </p:cNvPr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283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60000"/>
            <a:ext cx="9144000" cy="4154984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8800" dirty="0">
                <a:latin typeface="Arial Black" pitchFamily="34" charset="0"/>
              </a:rPr>
              <a:t>Návrh</a:t>
            </a:r>
            <a:br>
              <a:rPr lang="cs-CZ" sz="8800" dirty="0">
                <a:latin typeface="Arial Black" pitchFamily="34" charset="0"/>
              </a:rPr>
            </a:br>
            <a:r>
              <a:rPr lang="cs-CZ" sz="8800" dirty="0">
                <a:latin typeface="Arial Black" pitchFamily="34" charset="0"/>
              </a:rPr>
              <a:t>kombinačních obvodů</a:t>
            </a:r>
          </a:p>
        </p:txBody>
      </p:sp>
      <p:sp>
        <p:nvSpPr>
          <p:cNvPr id="4" name="Rectangle 17"/>
          <p:cNvSpPr>
            <a:spLocks noChangeArrowheads="1"/>
          </p:cNvSpPr>
          <p:nvPr/>
        </p:nvSpPr>
        <p:spPr bwMode="auto">
          <a:xfrm>
            <a:off x="720000" y="71414"/>
            <a:ext cx="257176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eaLnBrk="1" hangingPunct="1">
              <a:buClr>
                <a:srgbClr val="006600"/>
              </a:buClr>
              <a:buFont typeface="Wingdings" pitchFamily="2" charset="2"/>
              <a:buNone/>
              <a:defRPr/>
            </a:pPr>
            <a:r>
              <a:rPr lang="cs-CZ" sz="20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Nová kapitola 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Návrh kombinačních obvodů</a:t>
            </a:r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6842" cy="44627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Slovní zadání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Definování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vstupních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a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výstupních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logických proměnných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Popis logických funkcí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pomocí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pravdivostní tabulky.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Minimalizace logické funkce.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Obvodová realizace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pomocí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elektronických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 nebo reléových 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obvodů.</a:t>
            </a:r>
            <a:r>
              <a:rPr lang="cs-CZ" sz="2800" dirty="0">
                <a:latin typeface="Arial" charset="0"/>
              </a:rPr>
              <a:t>	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29624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solidFill>
                  <a:srgbClr val="000000"/>
                </a:solidFill>
                <a:latin typeface="Verdana" pitchFamily="34" charset="0"/>
              </a:rPr>
              <a:t>Signalizace výšky hladiny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6842" cy="32932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Výška hladiny je snímána třemi senzory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SH – horní senzor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SP – prostřední senzor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SD – dolní senzor</a:t>
            </a:r>
            <a:endParaRPr lang="cs-CZ" sz="280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Senzor dává log 1 pokud je zaplaven kapalinou</a:t>
            </a:r>
            <a:endParaRPr lang="cs-CZ" sz="2800" dirty="0">
              <a:latin typeface="Arial" charset="0"/>
            </a:endParaRP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4000" cy="153888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 startAt="2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Y1=1 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V nádrži poklesla voda pod dolní senzor, horní a prostřední indikuje stav bez kapaliny.</a:t>
            </a:r>
            <a:endParaRPr lang="cs-CZ" sz="2800" dirty="0">
              <a:latin typeface="Verdana" pitchFamily="34" charset="0"/>
            </a:endParaRPr>
          </a:p>
        </p:txBody>
      </p:sp>
      <p:sp>
        <p:nvSpPr>
          <p:cNvPr id="14" name="Obdélník 13"/>
          <p:cNvSpPr/>
          <p:nvPr/>
        </p:nvSpPr>
        <p:spPr>
          <a:xfrm>
            <a:off x="2714612" y="3000372"/>
            <a:ext cx="144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7" name="Obdélník 26"/>
          <p:cNvSpPr/>
          <p:nvPr/>
        </p:nvSpPr>
        <p:spPr>
          <a:xfrm>
            <a:off x="2714612" y="4572008"/>
            <a:ext cx="1440000" cy="2171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29" name="Skupina 28"/>
          <p:cNvGrpSpPr/>
          <p:nvPr/>
        </p:nvGrpSpPr>
        <p:grpSpPr>
          <a:xfrm>
            <a:off x="2500298" y="3000372"/>
            <a:ext cx="1928826" cy="1787538"/>
            <a:chOff x="2500298" y="3000372"/>
            <a:chExt cx="1928826" cy="1787538"/>
          </a:xfrm>
        </p:grpSpPr>
        <p:cxnSp>
          <p:nvCxnSpPr>
            <p:cNvPr id="23" name="Přímá spojovací čára 22"/>
            <p:cNvCxnSpPr/>
            <p:nvPr/>
          </p:nvCxnSpPr>
          <p:spPr>
            <a:xfrm>
              <a:off x="2500298" y="3284536"/>
              <a:ext cx="1928826" cy="15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Přímá spojovací čára 25"/>
            <p:cNvCxnSpPr/>
            <p:nvPr/>
          </p:nvCxnSpPr>
          <p:spPr>
            <a:xfrm>
              <a:off x="2500298" y="4429132"/>
              <a:ext cx="1928826" cy="15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Přímá spojovací čára 20"/>
            <p:cNvCxnSpPr/>
            <p:nvPr/>
          </p:nvCxnSpPr>
          <p:spPr>
            <a:xfrm rot="5400000">
              <a:off x="3251191" y="3892553"/>
              <a:ext cx="1785950" cy="1588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Přímá spojovací čára 15"/>
            <p:cNvCxnSpPr/>
            <p:nvPr/>
          </p:nvCxnSpPr>
          <p:spPr>
            <a:xfrm rot="5400000">
              <a:off x="1821637" y="3893347"/>
              <a:ext cx="1785950" cy="1588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římá spojovací čára 18"/>
            <p:cNvCxnSpPr/>
            <p:nvPr/>
          </p:nvCxnSpPr>
          <p:spPr>
            <a:xfrm>
              <a:off x="2714612" y="4786322"/>
              <a:ext cx="1428760" cy="1588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Přímá spojovací čára 32"/>
            <p:cNvCxnSpPr/>
            <p:nvPr/>
          </p:nvCxnSpPr>
          <p:spPr>
            <a:xfrm>
              <a:off x="2500298" y="3856040"/>
              <a:ext cx="1928826" cy="15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1285852" y="3000372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SH</a:t>
            </a:r>
          </a:p>
        </p:txBody>
      </p:sp>
      <p:sp>
        <p:nvSpPr>
          <p:cNvPr id="31" name="Text Box 36"/>
          <p:cNvSpPr txBox="1">
            <a:spLocks noChangeArrowheads="1"/>
          </p:cNvSpPr>
          <p:nvPr/>
        </p:nvSpPr>
        <p:spPr bwMode="auto">
          <a:xfrm>
            <a:off x="1285852" y="4143380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SD</a:t>
            </a:r>
          </a:p>
        </p:txBody>
      </p:sp>
      <p:sp>
        <p:nvSpPr>
          <p:cNvPr id="32" name="Text Box 36"/>
          <p:cNvSpPr txBox="1">
            <a:spLocks noChangeArrowheads="1"/>
          </p:cNvSpPr>
          <p:nvPr/>
        </p:nvSpPr>
        <p:spPr bwMode="auto">
          <a:xfrm>
            <a:off x="1285852" y="3571876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SP</a:t>
            </a:r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Signalizace výšky hladiny</a:t>
            </a:r>
          </a:p>
        </p:txBody>
      </p:sp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2" name="Tlačítko akce: Vlastní 2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8" name="Tlačítko akce: Vlastní 2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4" name="TextovéPole 33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7" grpId="0" animBg="1"/>
      <p:bldP spid="30" grpId="1"/>
      <p:bldP spid="31" grpId="1"/>
      <p:bldP spid="32" grpId="0"/>
      <p:bldP spid="18" grpId="0" animBg="1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4000" cy="104028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  <a:buFont typeface="+mj-lt"/>
              <a:buAutoNum type="arabicPeriod" startAt="3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Y4=1 </a:t>
            </a:r>
          </a:p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	Všechny tři senzory indikují kapalinu.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2714612" y="3000372"/>
            <a:ext cx="144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7" name="Obdélník 26"/>
          <p:cNvSpPr/>
          <p:nvPr/>
        </p:nvSpPr>
        <p:spPr>
          <a:xfrm>
            <a:off x="2714612" y="3071810"/>
            <a:ext cx="1440000" cy="171732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2" name="Skupina 28"/>
          <p:cNvGrpSpPr/>
          <p:nvPr/>
        </p:nvGrpSpPr>
        <p:grpSpPr>
          <a:xfrm>
            <a:off x="2500298" y="3000372"/>
            <a:ext cx="1928826" cy="1787538"/>
            <a:chOff x="2500298" y="3000372"/>
            <a:chExt cx="1928826" cy="1787538"/>
          </a:xfrm>
        </p:grpSpPr>
        <p:cxnSp>
          <p:nvCxnSpPr>
            <p:cNvPr id="23" name="Přímá spojovací čára 22"/>
            <p:cNvCxnSpPr/>
            <p:nvPr/>
          </p:nvCxnSpPr>
          <p:spPr>
            <a:xfrm>
              <a:off x="2500298" y="3284536"/>
              <a:ext cx="1928826" cy="15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Přímá spojovací čára 25"/>
            <p:cNvCxnSpPr/>
            <p:nvPr/>
          </p:nvCxnSpPr>
          <p:spPr>
            <a:xfrm>
              <a:off x="2500298" y="4429132"/>
              <a:ext cx="1928826" cy="15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Přímá spojovací čára 20"/>
            <p:cNvCxnSpPr/>
            <p:nvPr/>
          </p:nvCxnSpPr>
          <p:spPr>
            <a:xfrm rot="5400000">
              <a:off x="3251191" y="3892553"/>
              <a:ext cx="1785950" cy="1588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Přímá spojovací čára 15"/>
            <p:cNvCxnSpPr/>
            <p:nvPr/>
          </p:nvCxnSpPr>
          <p:spPr>
            <a:xfrm rot="5400000">
              <a:off x="1821637" y="3893347"/>
              <a:ext cx="1785950" cy="1588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římá spojovací čára 18"/>
            <p:cNvCxnSpPr/>
            <p:nvPr/>
          </p:nvCxnSpPr>
          <p:spPr>
            <a:xfrm>
              <a:off x="2714612" y="4786322"/>
              <a:ext cx="1428760" cy="1588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Přímá spojovací čára 23"/>
            <p:cNvCxnSpPr/>
            <p:nvPr/>
          </p:nvCxnSpPr>
          <p:spPr>
            <a:xfrm>
              <a:off x="2500298" y="3856040"/>
              <a:ext cx="1928826" cy="15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1285852" y="3000372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SH</a:t>
            </a:r>
          </a:p>
        </p:txBody>
      </p:sp>
      <p:sp>
        <p:nvSpPr>
          <p:cNvPr id="31" name="Text Box 36"/>
          <p:cNvSpPr txBox="1">
            <a:spLocks noChangeArrowheads="1"/>
          </p:cNvSpPr>
          <p:nvPr/>
        </p:nvSpPr>
        <p:spPr bwMode="auto">
          <a:xfrm>
            <a:off x="1285852" y="4143380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SD</a:t>
            </a:r>
          </a:p>
        </p:txBody>
      </p:sp>
      <p:sp>
        <p:nvSpPr>
          <p:cNvPr id="22" name="Text Box 36"/>
          <p:cNvSpPr txBox="1">
            <a:spLocks noChangeArrowheads="1"/>
          </p:cNvSpPr>
          <p:nvPr/>
        </p:nvSpPr>
        <p:spPr bwMode="auto">
          <a:xfrm>
            <a:off x="1285852" y="3571876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SP</a:t>
            </a:r>
          </a:p>
        </p:txBody>
      </p:sp>
      <p:sp>
        <p:nvSpPr>
          <p:cNvPr id="2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Signalizace výšky hladiny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9" name="Tlačítko akce: Vlastní 2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2" name="TextovéPole 31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7" grpId="0" animBg="1"/>
      <p:bldP spid="30" grpId="0"/>
      <p:bldP spid="31" grpId="0"/>
      <p:bldP spid="22" grpId="0"/>
      <p:bldP spid="17" grpId="0" animBg="1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4000" cy="147117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  <a:buFont typeface="+mj-lt"/>
              <a:buAutoNum type="arabicPeriod" startAt="4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Y2=1 </a:t>
            </a:r>
          </a:p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	Hladina je mezi dolním a prostředním senzorem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2714612" y="3000372"/>
            <a:ext cx="144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7" name="Obdélník 26"/>
          <p:cNvSpPr/>
          <p:nvPr/>
        </p:nvSpPr>
        <p:spPr>
          <a:xfrm>
            <a:off x="2714612" y="4071942"/>
            <a:ext cx="1440000" cy="71719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2" name="Skupina 28"/>
          <p:cNvGrpSpPr/>
          <p:nvPr/>
        </p:nvGrpSpPr>
        <p:grpSpPr>
          <a:xfrm>
            <a:off x="2500298" y="3000372"/>
            <a:ext cx="1928826" cy="1787538"/>
            <a:chOff x="2500298" y="3000372"/>
            <a:chExt cx="1928826" cy="1787538"/>
          </a:xfrm>
        </p:grpSpPr>
        <p:cxnSp>
          <p:nvCxnSpPr>
            <p:cNvPr id="23" name="Přímá spojovací čára 22"/>
            <p:cNvCxnSpPr/>
            <p:nvPr/>
          </p:nvCxnSpPr>
          <p:spPr>
            <a:xfrm>
              <a:off x="2500298" y="3284536"/>
              <a:ext cx="1928826" cy="15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Přímá spojovací čára 25"/>
            <p:cNvCxnSpPr/>
            <p:nvPr/>
          </p:nvCxnSpPr>
          <p:spPr>
            <a:xfrm>
              <a:off x="2500298" y="4429132"/>
              <a:ext cx="1928826" cy="15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Přímá spojovací čára 20"/>
            <p:cNvCxnSpPr/>
            <p:nvPr/>
          </p:nvCxnSpPr>
          <p:spPr>
            <a:xfrm rot="5400000">
              <a:off x="3251191" y="3892553"/>
              <a:ext cx="1785950" cy="1588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Přímá spojovací čára 15"/>
            <p:cNvCxnSpPr/>
            <p:nvPr/>
          </p:nvCxnSpPr>
          <p:spPr>
            <a:xfrm rot="5400000">
              <a:off x="1821637" y="3893347"/>
              <a:ext cx="1785950" cy="1588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římá spojovací čára 18"/>
            <p:cNvCxnSpPr/>
            <p:nvPr/>
          </p:nvCxnSpPr>
          <p:spPr>
            <a:xfrm>
              <a:off x="2714612" y="4786322"/>
              <a:ext cx="1428760" cy="1588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Přímá spojovací čára 23"/>
            <p:cNvCxnSpPr/>
            <p:nvPr/>
          </p:nvCxnSpPr>
          <p:spPr>
            <a:xfrm>
              <a:off x="2500298" y="3856040"/>
              <a:ext cx="1928826" cy="15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1285852" y="3000372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SH</a:t>
            </a:r>
          </a:p>
        </p:txBody>
      </p:sp>
      <p:sp>
        <p:nvSpPr>
          <p:cNvPr id="31" name="Text Box 36"/>
          <p:cNvSpPr txBox="1">
            <a:spLocks noChangeArrowheads="1"/>
          </p:cNvSpPr>
          <p:nvPr/>
        </p:nvSpPr>
        <p:spPr bwMode="auto">
          <a:xfrm>
            <a:off x="1285852" y="4143380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SD</a:t>
            </a:r>
          </a:p>
        </p:txBody>
      </p:sp>
      <p:sp>
        <p:nvSpPr>
          <p:cNvPr id="22" name="Text Box 36"/>
          <p:cNvSpPr txBox="1">
            <a:spLocks noChangeArrowheads="1"/>
          </p:cNvSpPr>
          <p:nvPr/>
        </p:nvSpPr>
        <p:spPr bwMode="auto">
          <a:xfrm>
            <a:off x="1285852" y="3571876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SP</a:t>
            </a:r>
          </a:p>
        </p:txBody>
      </p:sp>
      <p:sp>
        <p:nvSpPr>
          <p:cNvPr id="2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Signalizace výšky hladiny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9" name="Tlačítko akce: Vlastní 2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2" name="TextovéPole 31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7" grpId="0" animBg="1"/>
      <p:bldP spid="30" grpId="0"/>
      <p:bldP spid="31" grpId="0"/>
      <p:bldP spid="22" grpId="0"/>
      <p:bldP spid="17" grpId="0" animBg="1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4000" cy="147117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  <a:buFont typeface="+mj-lt"/>
              <a:buAutoNum type="arabicPeriod" startAt="5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Y3=1 </a:t>
            </a:r>
          </a:p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	Hladina je mezi prostředním a horním senzorem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2714612" y="3000372"/>
            <a:ext cx="144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7" name="Obdélník 26"/>
          <p:cNvSpPr/>
          <p:nvPr/>
        </p:nvSpPr>
        <p:spPr>
          <a:xfrm>
            <a:off x="2714612" y="3571876"/>
            <a:ext cx="1440000" cy="121725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2" name="Skupina 28"/>
          <p:cNvGrpSpPr/>
          <p:nvPr/>
        </p:nvGrpSpPr>
        <p:grpSpPr>
          <a:xfrm>
            <a:off x="2500298" y="3000372"/>
            <a:ext cx="1928826" cy="1787538"/>
            <a:chOff x="2500298" y="3000372"/>
            <a:chExt cx="1928826" cy="1787538"/>
          </a:xfrm>
        </p:grpSpPr>
        <p:cxnSp>
          <p:nvCxnSpPr>
            <p:cNvPr id="23" name="Přímá spojovací čára 22"/>
            <p:cNvCxnSpPr/>
            <p:nvPr/>
          </p:nvCxnSpPr>
          <p:spPr>
            <a:xfrm>
              <a:off x="2500298" y="3284536"/>
              <a:ext cx="1928826" cy="15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Přímá spojovací čára 25"/>
            <p:cNvCxnSpPr/>
            <p:nvPr/>
          </p:nvCxnSpPr>
          <p:spPr>
            <a:xfrm>
              <a:off x="2500298" y="4429132"/>
              <a:ext cx="1928826" cy="15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Přímá spojovací čára 20"/>
            <p:cNvCxnSpPr/>
            <p:nvPr/>
          </p:nvCxnSpPr>
          <p:spPr>
            <a:xfrm rot="5400000">
              <a:off x="3251191" y="3892553"/>
              <a:ext cx="1785950" cy="1588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Přímá spojovací čára 15"/>
            <p:cNvCxnSpPr/>
            <p:nvPr/>
          </p:nvCxnSpPr>
          <p:spPr>
            <a:xfrm rot="5400000">
              <a:off x="1821637" y="3893347"/>
              <a:ext cx="1785950" cy="1588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římá spojovací čára 18"/>
            <p:cNvCxnSpPr/>
            <p:nvPr/>
          </p:nvCxnSpPr>
          <p:spPr>
            <a:xfrm>
              <a:off x="2714612" y="4786322"/>
              <a:ext cx="1428760" cy="1588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Přímá spojovací čára 23"/>
            <p:cNvCxnSpPr/>
            <p:nvPr/>
          </p:nvCxnSpPr>
          <p:spPr>
            <a:xfrm>
              <a:off x="2500298" y="3856040"/>
              <a:ext cx="1928826" cy="15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1285852" y="3000372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SH</a:t>
            </a:r>
          </a:p>
        </p:txBody>
      </p:sp>
      <p:sp>
        <p:nvSpPr>
          <p:cNvPr id="31" name="Text Box 36"/>
          <p:cNvSpPr txBox="1">
            <a:spLocks noChangeArrowheads="1"/>
          </p:cNvSpPr>
          <p:nvPr/>
        </p:nvSpPr>
        <p:spPr bwMode="auto">
          <a:xfrm>
            <a:off x="1285852" y="4143380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SD</a:t>
            </a:r>
          </a:p>
        </p:txBody>
      </p:sp>
      <p:sp>
        <p:nvSpPr>
          <p:cNvPr id="22" name="Text Box 36"/>
          <p:cNvSpPr txBox="1">
            <a:spLocks noChangeArrowheads="1"/>
          </p:cNvSpPr>
          <p:nvPr/>
        </p:nvSpPr>
        <p:spPr bwMode="auto">
          <a:xfrm>
            <a:off x="1285852" y="3571876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SP</a:t>
            </a:r>
          </a:p>
        </p:txBody>
      </p:sp>
      <p:sp>
        <p:nvSpPr>
          <p:cNvPr id="2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Signalizace výšky hladiny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9" name="Tlačítko akce: Vlastní 2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2" name="TextovéPole 31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7" grpId="0" animBg="1"/>
      <p:bldP spid="30" grpId="0"/>
      <p:bldP spid="31" grpId="0"/>
      <p:bldP spid="22" grpId="0"/>
      <p:bldP spid="17" grpId="0" animBg="1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4000" cy="388414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  <a:buFont typeface="+mj-lt"/>
              <a:buAutoNum type="arabicPeriod" startAt="6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Ye=1 </a:t>
            </a:r>
          </a:p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	Horní senzor indikuje vodu a senzory níže položené nikoliv nebo</a:t>
            </a:r>
          </a:p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	prostřední senzor indikuje kapalinu spodní nikoliv nebo </a:t>
            </a:r>
          </a:p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	horní senzor a spodní senzor indikuje kapalinu prostřední nikoliv. </a:t>
            </a:r>
          </a:p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</a:pP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	...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Signalizace výšky hladiny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5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1080000"/>
            <a:ext cx="8784000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Úkol: </a:t>
            </a:r>
            <a:r>
              <a:rPr lang="cs-CZ" sz="2800" dirty="0">
                <a:solidFill>
                  <a:srgbClr val="000000"/>
                </a:solidFill>
                <a:latin typeface="Verdana" pitchFamily="34" charset="0"/>
              </a:rPr>
              <a:t>nalezněte zapojení černé skříňky 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3173375" y="2000240"/>
            <a:ext cx="1440000" cy="392909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>
                <a:solidFill>
                  <a:srgbClr val="C00000"/>
                </a:solidFill>
              </a:rPr>
              <a:t>Černá skříňka</a:t>
            </a:r>
          </a:p>
          <a:p>
            <a:pPr algn="ctr"/>
            <a:r>
              <a:rPr lang="cs-CZ" sz="9600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1173111" y="1857364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SH</a:t>
            </a:r>
          </a:p>
        </p:txBody>
      </p:sp>
      <p:sp>
        <p:nvSpPr>
          <p:cNvPr id="31" name="Text Box 36"/>
          <p:cNvSpPr txBox="1">
            <a:spLocks noChangeArrowheads="1"/>
          </p:cNvSpPr>
          <p:nvPr/>
        </p:nvSpPr>
        <p:spPr bwMode="auto">
          <a:xfrm>
            <a:off x="1173111" y="3357562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SD</a:t>
            </a:r>
          </a:p>
        </p:txBody>
      </p:sp>
      <p:sp>
        <p:nvSpPr>
          <p:cNvPr id="22" name="Text Box 36"/>
          <p:cNvSpPr txBox="1">
            <a:spLocks noChangeArrowheads="1"/>
          </p:cNvSpPr>
          <p:nvPr/>
        </p:nvSpPr>
        <p:spPr bwMode="auto">
          <a:xfrm>
            <a:off x="1173111" y="2571744"/>
            <a:ext cx="1035026" cy="5715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 algn="ctr">
              <a:buClr>
                <a:schemeClr val="folHlink"/>
              </a:buClr>
            </a:pPr>
            <a:r>
              <a:rPr lang="cs-CZ" sz="2800" b="1" dirty="0">
                <a:latin typeface="Verdana" pitchFamily="34" charset="0"/>
              </a:rPr>
              <a:t>SP</a:t>
            </a:r>
          </a:p>
        </p:txBody>
      </p:sp>
      <p:cxnSp>
        <p:nvCxnSpPr>
          <p:cNvPr id="28" name="Přímá spojovací čára 27"/>
          <p:cNvCxnSpPr/>
          <p:nvPr/>
        </p:nvCxnSpPr>
        <p:spPr>
          <a:xfrm>
            <a:off x="2030367" y="2357430"/>
            <a:ext cx="114300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Přímá spojovací čára 31"/>
          <p:cNvCxnSpPr/>
          <p:nvPr/>
        </p:nvCxnSpPr>
        <p:spPr>
          <a:xfrm>
            <a:off x="2030367" y="3071810"/>
            <a:ext cx="114300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římá spojovací čára 32"/>
          <p:cNvCxnSpPr/>
          <p:nvPr/>
        </p:nvCxnSpPr>
        <p:spPr>
          <a:xfrm>
            <a:off x="2030367" y="3786190"/>
            <a:ext cx="114300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Přímá spojovací čára 33"/>
          <p:cNvCxnSpPr>
            <a:endCxn id="36" idx="1"/>
          </p:cNvCxnSpPr>
          <p:nvPr/>
        </p:nvCxnSpPr>
        <p:spPr>
          <a:xfrm>
            <a:off x="4602135" y="2357430"/>
            <a:ext cx="85725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bdélník 35"/>
          <p:cNvSpPr/>
          <p:nvPr/>
        </p:nvSpPr>
        <p:spPr>
          <a:xfrm>
            <a:off x="5459391" y="2071678"/>
            <a:ext cx="2857520" cy="5715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>
                <a:solidFill>
                  <a:schemeClr val="tx1"/>
                </a:solidFill>
              </a:rPr>
              <a:t>Plná Y4</a:t>
            </a:r>
          </a:p>
        </p:txBody>
      </p:sp>
      <p:sp>
        <p:nvSpPr>
          <p:cNvPr id="37" name="Obdélník 36"/>
          <p:cNvSpPr/>
          <p:nvPr/>
        </p:nvSpPr>
        <p:spPr>
          <a:xfrm>
            <a:off x="5459391" y="2786058"/>
            <a:ext cx="2857520" cy="5715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>
                <a:solidFill>
                  <a:schemeClr val="tx1"/>
                </a:solidFill>
              </a:rPr>
              <a:t>Skoro plná Y3</a:t>
            </a:r>
          </a:p>
        </p:txBody>
      </p:sp>
      <p:sp>
        <p:nvSpPr>
          <p:cNvPr id="38" name="Obdélník 37"/>
          <p:cNvSpPr/>
          <p:nvPr/>
        </p:nvSpPr>
        <p:spPr>
          <a:xfrm>
            <a:off x="5459391" y="3500438"/>
            <a:ext cx="2857520" cy="5715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>
                <a:solidFill>
                  <a:schemeClr val="tx1"/>
                </a:solidFill>
              </a:rPr>
              <a:t>Skoro prázdná Y2</a:t>
            </a:r>
          </a:p>
        </p:txBody>
      </p:sp>
      <p:sp>
        <p:nvSpPr>
          <p:cNvPr id="39" name="Obdélník 38"/>
          <p:cNvSpPr/>
          <p:nvPr/>
        </p:nvSpPr>
        <p:spPr>
          <a:xfrm>
            <a:off x="5459391" y="4214818"/>
            <a:ext cx="2857520" cy="5715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>
                <a:solidFill>
                  <a:schemeClr val="tx1"/>
                </a:solidFill>
              </a:rPr>
              <a:t>Prázdná Y1</a:t>
            </a:r>
          </a:p>
        </p:txBody>
      </p:sp>
      <p:sp>
        <p:nvSpPr>
          <p:cNvPr id="40" name="Obdélník 39"/>
          <p:cNvSpPr/>
          <p:nvPr/>
        </p:nvSpPr>
        <p:spPr>
          <a:xfrm>
            <a:off x="5459390" y="5000636"/>
            <a:ext cx="2827386" cy="5715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dirty="0">
                <a:solidFill>
                  <a:schemeClr val="bg1"/>
                </a:solidFill>
              </a:rPr>
              <a:t>Chyba Ye</a:t>
            </a:r>
          </a:p>
        </p:txBody>
      </p:sp>
      <p:cxnSp>
        <p:nvCxnSpPr>
          <p:cNvPr id="42" name="Přímá spojovací čára 41"/>
          <p:cNvCxnSpPr/>
          <p:nvPr/>
        </p:nvCxnSpPr>
        <p:spPr>
          <a:xfrm>
            <a:off x="4602135" y="3070222"/>
            <a:ext cx="85725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Přímá spojovací čára 42"/>
          <p:cNvCxnSpPr/>
          <p:nvPr/>
        </p:nvCxnSpPr>
        <p:spPr>
          <a:xfrm>
            <a:off x="4602135" y="3786190"/>
            <a:ext cx="85725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Přímá spojovací čára 43"/>
          <p:cNvCxnSpPr/>
          <p:nvPr/>
        </p:nvCxnSpPr>
        <p:spPr>
          <a:xfrm>
            <a:off x="4602135" y="4502158"/>
            <a:ext cx="85725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Přímá spojovací čára 44"/>
          <p:cNvCxnSpPr/>
          <p:nvPr/>
        </p:nvCxnSpPr>
        <p:spPr>
          <a:xfrm>
            <a:off x="4602135" y="5284800"/>
            <a:ext cx="85725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Signalizace výšky hladiny</a:t>
            </a:r>
          </a:p>
        </p:txBody>
      </p:sp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4" name="Tlačítko akce: Vlastní 2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6" name="Tlačítko akce: Vlastní 2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7" name="TextovéPole 26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0" grpId="0"/>
      <p:bldP spid="31" grpId="0"/>
      <p:bldP spid="22" grpId="0"/>
      <p:bldP spid="36" grpId="0" animBg="1"/>
      <p:bldP spid="37" grpId="0" animBg="1"/>
      <p:bldP spid="38" grpId="0" animBg="1"/>
      <p:bldP spid="39" grpId="0" animBg="1"/>
      <p:bldP spid="40" grpId="0" animBg="1"/>
      <p:bldP spid="21" grpId="0" animBg="1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720000"/>
            <a:ext cx="8786842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Pravdivostní tabulka</a:t>
            </a:r>
            <a:endParaRPr lang="cs-CZ" sz="2800" dirty="0">
              <a:latin typeface="Verdana" pitchFamily="34" charset="0"/>
            </a:endParaRPr>
          </a:p>
        </p:txBody>
      </p:sp>
      <p:graphicFrame>
        <p:nvGraphicFramePr>
          <p:cNvPr id="29" name="Group 114"/>
          <p:cNvGraphicFramePr>
            <a:graphicFrameLocks noGrp="1"/>
          </p:cNvGraphicFramePr>
          <p:nvPr/>
        </p:nvGraphicFramePr>
        <p:xfrm>
          <a:off x="785786" y="1309700"/>
          <a:ext cx="1928826" cy="4262440"/>
        </p:xfrm>
        <a:graphic>
          <a:graphicData uri="http://schemas.openxmlformats.org/drawingml/2006/table">
            <a:tbl>
              <a:tblPr/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038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pitchFamily="34" charset="0"/>
                        </a:rPr>
                        <a:t>Vstup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pitchFamily="34" charset="0"/>
                        </a:rPr>
                        <a:t>SH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pitchFamily="34" charset="0"/>
                        </a:rPr>
                        <a:t>SP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pitchFamily="34" charset="0"/>
                        </a:rPr>
                        <a:t>SD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5" name="Group 114"/>
          <p:cNvGraphicFramePr>
            <a:graphicFrameLocks noGrp="1"/>
          </p:cNvGraphicFramePr>
          <p:nvPr/>
        </p:nvGraphicFramePr>
        <p:xfrm>
          <a:off x="2786050" y="1309700"/>
          <a:ext cx="642942" cy="4262440"/>
        </p:xfrm>
        <a:graphic>
          <a:graphicData uri="http://schemas.openxmlformats.org/drawingml/2006/table">
            <a:tbl>
              <a:tblPr/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pitchFamily="34" charset="0"/>
                        </a:rPr>
                        <a:t>Y1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6" name="Group 114"/>
          <p:cNvGraphicFramePr>
            <a:graphicFrameLocks noGrp="1"/>
          </p:cNvGraphicFramePr>
          <p:nvPr/>
        </p:nvGraphicFramePr>
        <p:xfrm>
          <a:off x="3500430" y="1309700"/>
          <a:ext cx="642942" cy="4262440"/>
        </p:xfrm>
        <a:graphic>
          <a:graphicData uri="http://schemas.openxmlformats.org/drawingml/2006/table">
            <a:tbl>
              <a:tblPr/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pitchFamily="34" charset="0"/>
                        </a:rPr>
                        <a:t>Y2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7" name="Group 114"/>
          <p:cNvGraphicFramePr>
            <a:graphicFrameLocks noGrp="1"/>
          </p:cNvGraphicFramePr>
          <p:nvPr/>
        </p:nvGraphicFramePr>
        <p:xfrm>
          <a:off x="4214810" y="1309700"/>
          <a:ext cx="642942" cy="4262440"/>
        </p:xfrm>
        <a:graphic>
          <a:graphicData uri="http://schemas.openxmlformats.org/drawingml/2006/table">
            <a:tbl>
              <a:tblPr/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pitchFamily="34" charset="0"/>
                        </a:rPr>
                        <a:t>Y3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8" name="Group 114"/>
          <p:cNvGraphicFramePr>
            <a:graphicFrameLocks noGrp="1"/>
          </p:cNvGraphicFramePr>
          <p:nvPr/>
        </p:nvGraphicFramePr>
        <p:xfrm>
          <a:off x="4929190" y="1309700"/>
          <a:ext cx="642942" cy="4262440"/>
        </p:xfrm>
        <a:graphic>
          <a:graphicData uri="http://schemas.openxmlformats.org/drawingml/2006/table">
            <a:tbl>
              <a:tblPr/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pitchFamily="34" charset="0"/>
                        </a:rPr>
                        <a:t>Y4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9" name="Group 114"/>
          <p:cNvGraphicFramePr>
            <a:graphicFrameLocks noGrp="1"/>
          </p:cNvGraphicFramePr>
          <p:nvPr/>
        </p:nvGraphicFramePr>
        <p:xfrm>
          <a:off x="5643570" y="1309700"/>
          <a:ext cx="642942" cy="4262440"/>
        </p:xfrm>
        <a:graphic>
          <a:graphicData uri="http://schemas.openxmlformats.org/drawingml/2006/table">
            <a:tbl>
              <a:tblPr/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pitchFamily="34" charset="0"/>
                        </a:rPr>
                        <a:t>Ye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Signalizace výšky hladiny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TextovéPole 14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ulka 8"/>
          <p:cNvGraphicFramePr>
            <a:graphicFrameLocks noGrp="1"/>
          </p:cNvGraphicFramePr>
          <p:nvPr/>
        </p:nvGraphicFramePr>
        <p:xfrm>
          <a:off x="1000100" y="1428736"/>
          <a:ext cx="71438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7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9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Přímá spojovací čára 11"/>
          <p:cNvCxnSpPr/>
          <p:nvPr/>
        </p:nvCxnSpPr>
        <p:spPr>
          <a:xfrm>
            <a:off x="2786050" y="1214422"/>
            <a:ext cx="35719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ovací čára 13"/>
          <p:cNvCxnSpPr/>
          <p:nvPr/>
        </p:nvCxnSpPr>
        <p:spPr>
          <a:xfrm rot="5400000">
            <a:off x="-142114" y="4142586"/>
            <a:ext cx="1857388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ovéPole 16"/>
          <p:cNvSpPr txBox="1"/>
          <p:nvPr/>
        </p:nvSpPr>
        <p:spPr bwMode="auto">
          <a:xfrm>
            <a:off x="3428992" y="577974"/>
            <a:ext cx="95410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SD</a:t>
            </a:r>
          </a:p>
        </p:txBody>
      </p:sp>
      <p:sp>
        <p:nvSpPr>
          <p:cNvPr id="18" name="TextovéPole 17"/>
          <p:cNvSpPr txBox="1"/>
          <p:nvPr/>
        </p:nvSpPr>
        <p:spPr bwMode="auto">
          <a:xfrm>
            <a:off x="-125737" y="3786190"/>
            <a:ext cx="98296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SH</a:t>
            </a:r>
          </a:p>
        </p:txBody>
      </p:sp>
      <p:cxnSp>
        <p:nvCxnSpPr>
          <p:cNvPr id="51" name="Přímá spojovací čára 50"/>
          <p:cNvCxnSpPr/>
          <p:nvPr/>
        </p:nvCxnSpPr>
        <p:spPr>
          <a:xfrm>
            <a:off x="4572000" y="1000108"/>
            <a:ext cx="35719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ovéPole 51"/>
          <p:cNvSpPr txBox="1"/>
          <p:nvPr/>
        </p:nvSpPr>
        <p:spPr bwMode="auto">
          <a:xfrm>
            <a:off x="5286380" y="363660"/>
            <a:ext cx="95410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4000" b="1" kern="0" dirty="0">
                <a:latin typeface="Arial Black" pitchFamily="34" charset="0"/>
                <a:ea typeface="+mj-ea"/>
                <a:cs typeface="+mj-cs"/>
              </a:rPr>
              <a:t>SP</a:t>
            </a:r>
            <a:endParaRPr kumimoji="0" lang="cs-CZ" sz="40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76" name="TextovéPole 75"/>
          <p:cNvSpPr txBox="1"/>
          <p:nvPr/>
        </p:nvSpPr>
        <p:spPr bwMode="auto">
          <a:xfrm>
            <a:off x="990437" y="357166"/>
            <a:ext cx="1295547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6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Y1</a:t>
            </a: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179388" y="5214950"/>
            <a:ext cx="8964612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</a:pPr>
            <a:r>
              <a:rPr lang="cs-CZ" sz="2800" b="1" dirty="0" err="1">
                <a:solidFill>
                  <a:srgbClr val="000000"/>
                </a:solidFill>
                <a:latin typeface="Verdana" pitchFamily="34" charset="0"/>
              </a:rPr>
              <a:t>Karnaughova</a:t>
            </a: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 mapa</a:t>
            </a:r>
            <a:endParaRPr lang="cs-CZ" sz="2800" dirty="0">
              <a:latin typeface="Verdana" pitchFamily="34" charset="0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Signalizace výšky hladiny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9" name="Tlačítko akce: Vlastní 1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3" name="TextovéPole 22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52" grpId="0"/>
      <p:bldP spid="76" grpId="0"/>
      <p:bldP spid="13" grpId="0" animBg="1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ulka 8"/>
          <p:cNvGraphicFramePr>
            <a:graphicFrameLocks noGrp="1"/>
          </p:cNvGraphicFramePr>
          <p:nvPr/>
        </p:nvGraphicFramePr>
        <p:xfrm>
          <a:off x="1000100" y="1428736"/>
          <a:ext cx="71438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7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9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Přímá spojovací čára 11"/>
          <p:cNvCxnSpPr/>
          <p:nvPr/>
        </p:nvCxnSpPr>
        <p:spPr>
          <a:xfrm>
            <a:off x="2786050" y="1214422"/>
            <a:ext cx="35719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ovací čára 13"/>
          <p:cNvCxnSpPr/>
          <p:nvPr/>
        </p:nvCxnSpPr>
        <p:spPr>
          <a:xfrm rot="5400000">
            <a:off x="-142114" y="4142586"/>
            <a:ext cx="1857388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Přímá spojovací čára 50"/>
          <p:cNvCxnSpPr/>
          <p:nvPr/>
        </p:nvCxnSpPr>
        <p:spPr>
          <a:xfrm>
            <a:off x="4572000" y="1000108"/>
            <a:ext cx="35719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ovéPole 75"/>
          <p:cNvSpPr txBox="1"/>
          <p:nvPr/>
        </p:nvSpPr>
        <p:spPr bwMode="auto">
          <a:xfrm>
            <a:off x="990437" y="357166"/>
            <a:ext cx="1295547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6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Y2</a:t>
            </a:r>
          </a:p>
        </p:txBody>
      </p:sp>
      <p:sp>
        <p:nvSpPr>
          <p:cNvPr id="22" name="TextovéPole 21"/>
          <p:cNvSpPr txBox="1"/>
          <p:nvPr/>
        </p:nvSpPr>
        <p:spPr bwMode="auto">
          <a:xfrm>
            <a:off x="-125737" y="3786190"/>
            <a:ext cx="98296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SH</a:t>
            </a:r>
          </a:p>
        </p:txBody>
      </p:sp>
      <p:sp>
        <p:nvSpPr>
          <p:cNvPr id="27" name="TextovéPole 26"/>
          <p:cNvSpPr txBox="1"/>
          <p:nvPr/>
        </p:nvSpPr>
        <p:spPr bwMode="auto">
          <a:xfrm>
            <a:off x="3428992" y="577974"/>
            <a:ext cx="95410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SD</a:t>
            </a:r>
          </a:p>
        </p:txBody>
      </p:sp>
      <p:sp>
        <p:nvSpPr>
          <p:cNvPr id="28" name="TextovéPole 27"/>
          <p:cNvSpPr txBox="1"/>
          <p:nvPr/>
        </p:nvSpPr>
        <p:spPr bwMode="auto">
          <a:xfrm>
            <a:off x="5286380" y="363660"/>
            <a:ext cx="95410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4000" b="1" kern="0" dirty="0">
                <a:latin typeface="Arial Black" pitchFamily="34" charset="0"/>
                <a:ea typeface="+mj-ea"/>
                <a:cs typeface="+mj-cs"/>
              </a:rPr>
              <a:t>SP</a:t>
            </a:r>
            <a:endParaRPr kumimoji="0" lang="cs-CZ" sz="40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Signalizace výšky hladiny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5" name="Tlačítko akce: Vlastní 1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6" name="Tlačítko akce: Vlastní 1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7" name="Tlačítko akce: Vlastní 1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8" name="TextovéPole 17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22" grpId="0"/>
      <p:bldP spid="27" grpId="0"/>
      <p:bldP spid="28" grpId="0"/>
      <p:bldP spid="11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ulka 8"/>
          <p:cNvGraphicFramePr>
            <a:graphicFrameLocks noGrp="1"/>
          </p:cNvGraphicFramePr>
          <p:nvPr/>
        </p:nvGraphicFramePr>
        <p:xfrm>
          <a:off x="1000100" y="1428736"/>
          <a:ext cx="71438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7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9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Přímá spojovací čára 11"/>
          <p:cNvCxnSpPr/>
          <p:nvPr/>
        </p:nvCxnSpPr>
        <p:spPr>
          <a:xfrm>
            <a:off x="2786050" y="1214422"/>
            <a:ext cx="35719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ovací čára 13"/>
          <p:cNvCxnSpPr/>
          <p:nvPr/>
        </p:nvCxnSpPr>
        <p:spPr>
          <a:xfrm rot="5400000">
            <a:off x="-142114" y="4142586"/>
            <a:ext cx="1857388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Přímá spojovací čára 50"/>
          <p:cNvCxnSpPr/>
          <p:nvPr/>
        </p:nvCxnSpPr>
        <p:spPr>
          <a:xfrm>
            <a:off x="4572000" y="1000108"/>
            <a:ext cx="35719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ovéPole 75"/>
          <p:cNvSpPr txBox="1"/>
          <p:nvPr/>
        </p:nvSpPr>
        <p:spPr bwMode="auto">
          <a:xfrm>
            <a:off x="990437" y="357166"/>
            <a:ext cx="1295547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6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Y3</a:t>
            </a:r>
          </a:p>
        </p:txBody>
      </p:sp>
      <p:sp>
        <p:nvSpPr>
          <p:cNvPr id="22" name="TextovéPole 21"/>
          <p:cNvSpPr txBox="1"/>
          <p:nvPr/>
        </p:nvSpPr>
        <p:spPr bwMode="auto">
          <a:xfrm>
            <a:off x="-125737" y="3786190"/>
            <a:ext cx="98296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SH</a:t>
            </a:r>
          </a:p>
        </p:txBody>
      </p:sp>
      <p:sp>
        <p:nvSpPr>
          <p:cNvPr id="24" name="TextovéPole 23"/>
          <p:cNvSpPr txBox="1"/>
          <p:nvPr/>
        </p:nvSpPr>
        <p:spPr bwMode="auto">
          <a:xfrm>
            <a:off x="3428992" y="577974"/>
            <a:ext cx="95410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SD</a:t>
            </a:r>
          </a:p>
        </p:txBody>
      </p:sp>
      <p:sp>
        <p:nvSpPr>
          <p:cNvPr id="25" name="TextovéPole 24"/>
          <p:cNvSpPr txBox="1"/>
          <p:nvPr/>
        </p:nvSpPr>
        <p:spPr bwMode="auto">
          <a:xfrm>
            <a:off x="5286380" y="363660"/>
            <a:ext cx="95410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4000" b="1" kern="0" dirty="0">
                <a:latin typeface="Arial Black" pitchFamily="34" charset="0"/>
                <a:ea typeface="+mj-ea"/>
                <a:cs typeface="+mj-cs"/>
              </a:rPr>
              <a:t>SP</a:t>
            </a:r>
            <a:endParaRPr kumimoji="0" lang="cs-CZ" sz="40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Signalizace výšky hladiny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9" name="TextovéPole 1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22" grpId="0"/>
      <p:bldP spid="24" grpId="0"/>
      <p:bldP spid="25" grpId="0"/>
      <p:bldP spid="13" grpId="0" animBg="1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ulka 8"/>
          <p:cNvGraphicFramePr>
            <a:graphicFrameLocks noGrp="1"/>
          </p:cNvGraphicFramePr>
          <p:nvPr/>
        </p:nvGraphicFramePr>
        <p:xfrm>
          <a:off x="1000100" y="1428736"/>
          <a:ext cx="71438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7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9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Přímá spojovací čára 11"/>
          <p:cNvCxnSpPr/>
          <p:nvPr/>
        </p:nvCxnSpPr>
        <p:spPr>
          <a:xfrm>
            <a:off x="2786050" y="1214422"/>
            <a:ext cx="35719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ovací čára 13"/>
          <p:cNvCxnSpPr/>
          <p:nvPr/>
        </p:nvCxnSpPr>
        <p:spPr>
          <a:xfrm rot="5400000">
            <a:off x="-142114" y="4142586"/>
            <a:ext cx="1857388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Přímá spojovací čára 50"/>
          <p:cNvCxnSpPr/>
          <p:nvPr/>
        </p:nvCxnSpPr>
        <p:spPr>
          <a:xfrm>
            <a:off x="4572000" y="1000108"/>
            <a:ext cx="35719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ovéPole 75"/>
          <p:cNvSpPr txBox="1"/>
          <p:nvPr/>
        </p:nvSpPr>
        <p:spPr bwMode="auto">
          <a:xfrm>
            <a:off x="990437" y="357166"/>
            <a:ext cx="1295547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6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Y4</a:t>
            </a:r>
          </a:p>
        </p:txBody>
      </p:sp>
      <p:sp>
        <p:nvSpPr>
          <p:cNvPr id="22" name="TextovéPole 21"/>
          <p:cNvSpPr txBox="1"/>
          <p:nvPr/>
        </p:nvSpPr>
        <p:spPr bwMode="auto">
          <a:xfrm>
            <a:off x="-125737" y="3786190"/>
            <a:ext cx="98296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SH</a:t>
            </a:r>
          </a:p>
        </p:txBody>
      </p:sp>
      <p:sp>
        <p:nvSpPr>
          <p:cNvPr id="24" name="TextovéPole 23"/>
          <p:cNvSpPr txBox="1"/>
          <p:nvPr/>
        </p:nvSpPr>
        <p:spPr bwMode="auto">
          <a:xfrm>
            <a:off x="3428992" y="577974"/>
            <a:ext cx="95410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SD</a:t>
            </a:r>
          </a:p>
        </p:txBody>
      </p:sp>
      <p:sp>
        <p:nvSpPr>
          <p:cNvPr id="25" name="TextovéPole 24"/>
          <p:cNvSpPr txBox="1"/>
          <p:nvPr/>
        </p:nvSpPr>
        <p:spPr bwMode="auto">
          <a:xfrm>
            <a:off x="5286380" y="363660"/>
            <a:ext cx="95410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4000" b="1" kern="0" dirty="0">
                <a:latin typeface="Arial Black" pitchFamily="34" charset="0"/>
                <a:ea typeface="+mj-ea"/>
                <a:cs typeface="+mj-cs"/>
              </a:rPr>
              <a:t>SP</a:t>
            </a:r>
            <a:endParaRPr kumimoji="0" lang="cs-CZ" sz="40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Signalizace výšky hladiny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9" name="TextovéPole 18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22" grpId="0"/>
      <p:bldP spid="24" grpId="0"/>
      <p:bldP spid="25" grpId="0"/>
      <p:bldP spid="13" grpId="0" animBg="1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ovéPole 22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graphicFrame>
        <p:nvGraphicFramePr>
          <p:cNvPr id="9" name="Tabulka 8"/>
          <p:cNvGraphicFramePr>
            <a:graphicFrameLocks noGrp="1"/>
          </p:cNvGraphicFramePr>
          <p:nvPr/>
        </p:nvGraphicFramePr>
        <p:xfrm>
          <a:off x="1000100" y="1428736"/>
          <a:ext cx="7143800" cy="360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7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cs-CZ" sz="9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cs-CZ" sz="9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Přímá spojovací čára 11"/>
          <p:cNvCxnSpPr/>
          <p:nvPr/>
        </p:nvCxnSpPr>
        <p:spPr>
          <a:xfrm>
            <a:off x="2786050" y="1214422"/>
            <a:ext cx="35719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ovací čára 13"/>
          <p:cNvCxnSpPr/>
          <p:nvPr/>
        </p:nvCxnSpPr>
        <p:spPr>
          <a:xfrm rot="5400000">
            <a:off x="-142114" y="4142586"/>
            <a:ext cx="1857388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Přímá spojovací čára 50"/>
          <p:cNvCxnSpPr/>
          <p:nvPr/>
        </p:nvCxnSpPr>
        <p:spPr>
          <a:xfrm>
            <a:off x="4572000" y="1000108"/>
            <a:ext cx="3571900" cy="1588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ovéPole 75"/>
          <p:cNvSpPr txBox="1"/>
          <p:nvPr/>
        </p:nvSpPr>
        <p:spPr bwMode="auto">
          <a:xfrm>
            <a:off x="990437" y="357166"/>
            <a:ext cx="1295547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6000" b="1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Ye</a:t>
            </a:r>
          </a:p>
        </p:txBody>
      </p:sp>
      <p:sp>
        <p:nvSpPr>
          <p:cNvPr id="17" name="TextovéPole 16"/>
          <p:cNvSpPr txBox="1"/>
          <p:nvPr/>
        </p:nvSpPr>
        <p:spPr bwMode="auto">
          <a:xfrm>
            <a:off x="-125737" y="3786190"/>
            <a:ext cx="98296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SH</a:t>
            </a:r>
          </a:p>
        </p:txBody>
      </p:sp>
      <p:sp>
        <p:nvSpPr>
          <p:cNvPr id="21" name="TextovéPole 20"/>
          <p:cNvSpPr txBox="1"/>
          <p:nvPr/>
        </p:nvSpPr>
        <p:spPr bwMode="auto">
          <a:xfrm>
            <a:off x="3428992" y="577974"/>
            <a:ext cx="95410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40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SD</a:t>
            </a:r>
          </a:p>
        </p:txBody>
      </p:sp>
      <p:sp>
        <p:nvSpPr>
          <p:cNvPr id="22" name="TextovéPole 21"/>
          <p:cNvSpPr txBox="1"/>
          <p:nvPr/>
        </p:nvSpPr>
        <p:spPr bwMode="auto">
          <a:xfrm>
            <a:off x="5286380" y="363660"/>
            <a:ext cx="95410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4000" b="1" kern="0" dirty="0">
                <a:latin typeface="Arial Black" pitchFamily="34" charset="0"/>
                <a:ea typeface="+mj-ea"/>
                <a:cs typeface="+mj-cs"/>
              </a:rPr>
              <a:t>SP</a:t>
            </a:r>
            <a:endParaRPr kumimoji="0" lang="cs-CZ" sz="40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Signalizace výšky hladiny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8" name="Tlačítko akce: Vlastní 1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9" name="Tlačítko akce: Vlastní 1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17" grpId="0"/>
      <p:bldP spid="21" grpId="0"/>
      <p:bldP spid="22" grpId="0"/>
      <p:bldP spid="13" grpId="0" animBg="1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360000" y="720000"/>
            <a:ext cx="8172440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14350" indent="-514350">
              <a:spcBef>
                <a:spcPct val="20000"/>
              </a:spcBef>
              <a:buClr>
                <a:schemeClr val="bg2"/>
              </a:buClr>
              <a:buSzPct val="100000"/>
            </a:pPr>
            <a:r>
              <a:rPr lang="cs-CZ" sz="2800" b="1" dirty="0">
                <a:solidFill>
                  <a:srgbClr val="000000"/>
                </a:solidFill>
                <a:latin typeface="Verdana" pitchFamily="34" charset="0"/>
              </a:rPr>
              <a:t>	Minimalizované funkce</a:t>
            </a:r>
            <a:endParaRPr lang="cs-CZ" sz="2800" dirty="0">
              <a:latin typeface="Verdana" pitchFamily="34" charset="0"/>
            </a:endParaRPr>
          </a:p>
        </p:txBody>
      </p:sp>
      <p:graphicFrame>
        <p:nvGraphicFramePr>
          <p:cNvPr id="3235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284375"/>
              </p:ext>
            </p:extLst>
          </p:nvPr>
        </p:nvGraphicFramePr>
        <p:xfrm>
          <a:off x="1080000" y="1440000"/>
          <a:ext cx="5280039" cy="4827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1320480" imgH="1206360" progId="Equation.3">
                  <p:embed/>
                </p:oleObj>
              </mc:Choice>
              <mc:Fallback>
                <p:oleObj name="Rovnice" r:id="rId3" imgW="1320480" imgH="12063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00" y="1440000"/>
                        <a:ext cx="5280039" cy="4827232"/>
                      </a:xfrm>
                      <a:prstGeom prst="rect">
                        <a:avLst/>
                      </a:prstGeom>
                      <a:noFill/>
                      <a:ln w="5080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Signalizace výšky hladiny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581" name="Picture 5" descr="D:\lj\dokumenty ProfiCAD\CIT\Signalizace výšky hladiny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3" y="485529"/>
            <a:ext cx="6651099" cy="6372471"/>
          </a:xfrm>
          <a:prstGeom prst="rect">
            <a:avLst/>
          </a:prstGeom>
          <a:noFill/>
        </p:spPr>
      </p:pic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Signalizace výšky hladiny</a:t>
            </a:r>
          </a:p>
        </p:txBody>
      </p:sp>
      <p:sp>
        <p:nvSpPr>
          <p:cNvPr id="4" name="TextovéPole 3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00000"/>
            <a:ext cx="9144000" cy="3046988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9600" dirty="0">
                <a:latin typeface="Arial Black" pitchFamily="34" charset="0"/>
              </a:rPr>
              <a:t>Kombinační obvody</a:t>
            </a:r>
          </a:p>
        </p:txBody>
      </p:sp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Kombinační obvod</a:t>
            </a:r>
          </a:p>
        </p:txBody>
      </p:sp>
      <p:sp>
        <p:nvSpPr>
          <p:cNvPr id="66575" name="Text Box 15"/>
          <p:cNvSpPr txBox="1">
            <a:spLocks noChangeArrowheads="1"/>
          </p:cNvSpPr>
          <p:nvPr/>
        </p:nvSpPr>
        <p:spPr bwMode="auto">
          <a:xfrm>
            <a:off x="360000" y="1080000"/>
            <a:ext cx="8460000" cy="120032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chemeClr val="bg2"/>
              </a:buClr>
              <a:buFont typeface="Wingdings" pitchFamily="2" charset="2"/>
              <a:buChar char="n"/>
            </a:pP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Okamžitá hodnota </a:t>
            </a: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výstupních</a:t>
            </a: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 proměnných je dána </a:t>
            </a: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pouze</a:t>
            </a: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 okamžitou hodnotou </a:t>
            </a: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vstupních</a:t>
            </a: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 proměnných</a:t>
            </a:r>
          </a:p>
        </p:txBody>
      </p:sp>
      <p:pic>
        <p:nvPicPr>
          <p:cNvPr id="66576" name="Picture 16" descr="komb_obvod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0000" y="2520000"/>
            <a:ext cx="4495800" cy="3348038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6577" name="Object 17"/>
              <p:cNvSpPr txBox="1"/>
              <p:nvPr/>
            </p:nvSpPr>
            <p:spPr bwMode="auto">
              <a:xfrm>
                <a:off x="5400675" y="2879725"/>
                <a:ext cx="3419475" cy="1120775"/>
              </a:xfrm>
              <a:prstGeom prst="rect">
                <a:avLst/>
              </a:prstGeom>
              <a:noFill/>
              <a:ln w="508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cs-CZ" sz="5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cs-CZ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cs-CZ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cs-CZ" sz="5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cs-CZ"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cs-CZ" sz="5400" dirty="0"/>
              </a:p>
            </p:txBody>
          </p:sp>
        </mc:Choice>
        <mc:Fallback xmlns="">
          <p:sp>
            <p:nvSpPr>
              <p:cNvPr id="6657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00675" y="2879725"/>
                <a:ext cx="3419475" cy="1120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08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75" grpId="0" autoUpdateAnimBg="0"/>
      <p:bldP spid="66577" grpId="0" animBg="1"/>
      <p:bldP spid="7" grpId="0" animBg="1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Typy kombinačních obvodů</a:t>
            </a:r>
          </a:p>
        </p:txBody>
      </p:sp>
      <p:sp>
        <p:nvSpPr>
          <p:cNvPr id="21709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6842" cy="406265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Dekodér </a:t>
            </a: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(dekódování)</a:t>
            </a:r>
            <a:endParaRPr lang="cs-CZ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Kodér </a:t>
            </a: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(kódování)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Multiplexor </a:t>
            </a: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(přepínač)</a:t>
            </a:r>
            <a:endParaRPr lang="cs-CZ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Demultiplexor </a:t>
            </a: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(zpětný přepínač)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Sčítačka</a:t>
            </a: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 (provádí aritmetické operace)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Generátor parity </a:t>
            </a: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(vypočet paritního bit)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Komparátor</a:t>
            </a: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 (porovnávání)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7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7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70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70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70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70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Dekodér</a:t>
            </a:r>
          </a:p>
        </p:txBody>
      </p:sp>
      <p:sp>
        <p:nvSpPr>
          <p:cNvPr id="218119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812212" cy="27546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36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Dekodér </a:t>
            </a: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(</a:t>
            </a:r>
            <a:r>
              <a:rPr lang="cs-CZ" sz="28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Decoder</a:t>
            </a: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) je </a:t>
            </a:r>
            <a:r>
              <a:rPr lang="cs-CZ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kombinační</a:t>
            </a: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 logická síť, která má </a:t>
            </a:r>
            <a:r>
              <a:rPr lang="cs-CZ" sz="2800" b="1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n</a:t>
            </a: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 vstupů </a:t>
            </a:r>
            <a:r>
              <a:rPr lang="cs-CZ" sz="2800" b="1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m</a:t>
            </a: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 výstupů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cs-CZ" b="1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n</a:t>
            </a: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 je menší nebo rovno než </a:t>
            </a:r>
            <a:r>
              <a:rPr lang="cs-CZ" b="1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m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Použití - </a:t>
            </a: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adresový dekodér</a:t>
            </a: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dekodér pro displeje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8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8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8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Skupina 5"/>
          <p:cNvGrpSpPr/>
          <p:nvPr/>
        </p:nvGrpSpPr>
        <p:grpSpPr>
          <a:xfrm>
            <a:off x="1763688" y="1412776"/>
            <a:ext cx="5752871" cy="3929090"/>
            <a:chOff x="1763688" y="1412776"/>
            <a:chExt cx="5752871" cy="3929090"/>
          </a:xfrm>
        </p:grpSpPr>
        <p:sp>
          <p:nvSpPr>
            <p:cNvPr id="31" name="Text Box 36"/>
            <p:cNvSpPr txBox="1">
              <a:spLocks noChangeArrowheads="1"/>
            </p:cNvSpPr>
            <p:nvPr/>
          </p:nvSpPr>
          <p:spPr bwMode="auto">
            <a:xfrm>
              <a:off x="6481533" y="2627222"/>
              <a:ext cx="1035026" cy="5715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495300" indent="-495300" algn="ctr">
                <a:buClr>
                  <a:schemeClr val="folHlink"/>
                </a:buClr>
              </a:pPr>
              <a:r>
                <a:rPr lang="cs-CZ" sz="2800" b="1" dirty="0">
                  <a:latin typeface="Verdana" pitchFamily="34" charset="0"/>
                </a:rPr>
                <a:t>m</a:t>
              </a:r>
            </a:p>
          </p:txBody>
        </p:sp>
        <p:sp>
          <p:nvSpPr>
            <p:cNvPr id="22" name="Text Box 36"/>
            <p:cNvSpPr txBox="1">
              <a:spLocks noChangeArrowheads="1"/>
            </p:cNvSpPr>
            <p:nvPr/>
          </p:nvSpPr>
          <p:spPr bwMode="auto">
            <a:xfrm>
              <a:off x="1763688" y="2627222"/>
              <a:ext cx="1035026" cy="5715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495300" indent="-495300" algn="ctr">
                <a:buClr>
                  <a:schemeClr val="folHlink"/>
                </a:buClr>
              </a:pPr>
              <a:r>
                <a:rPr lang="cs-CZ" sz="2800" b="1" dirty="0">
                  <a:latin typeface="Verdana" pitchFamily="34" charset="0"/>
                </a:rPr>
                <a:t>n</a:t>
              </a:r>
            </a:p>
          </p:txBody>
        </p:sp>
        <p:cxnSp>
          <p:nvCxnSpPr>
            <p:cNvPr id="28" name="Přímá spojovací čára 27"/>
            <p:cNvCxnSpPr/>
            <p:nvPr/>
          </p:nvCxnSpPr>
          <p:spPr>
            <a:xfrm>
              <a:off x="2678439" y="1769966"/>
              <a:ext cx="11520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Přímá spojovací čára 31"/>
            <p:cNvCxnSpPr/>
            <p:nvPr/>
          </p:nvCxnSpPr>
          <p:spPr>
            <a:xfrm>
              <a:off x="2678439" y="2484346"/>
              <a:ext cx="11520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Přímá spojovací čára 32"/>
            <p:cNvCxnSpPr/>
            <p:nvPr/>
          </p:nvCxnSpPr>
          <p:spPr>
            <a:xfrm>
              <a:off x="2678439" y="3198726"/>
              <a:ext cx="11520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Přímá spojovací čára 33"/>
            <p:cNvCxnSpPr/>
            <p:nvPr/>
          </p:nvCxnSpPr>
          <p:spPr>
            <a:xfrm>
              <a:off x="5250207" y="1769966"/>
              <a:ext cx="11520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Přímá spojovací čára 41"/>
            <p:cNvCxnSpPr/>
            <p:nvPr/>
          </p:nvCxnSpPr>
          <p:spPr>
            <a:xfrm>
              <a:off x="5250207" y="2482758"/>
              <a:ext cx="11520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Přímá spojovací čára 42"/>
            <p:cNvCxnSpPr/>
            <p:nvPr/>
          </p:nvCxnSpPr>
          <p:spPr>
            <a:xfrm>
              <a:off x="5250207" y="3198726"/>
              <a:ext cx="11520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Přímá spojovací čára 44"/>
            <p:cNvCxnSpPr/>
            <p:nvPr/>
          </p:nvCxnSpPr>
          <p:spPr>
            <a:xfrm>
              <a:off x="5250207" y="4697336"/>
              <a:ext cx="11520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Přímá spojovací čára 32"/>
            <p:cNvCxnSpPr/>
            <p:nvPr/>
          </p:nvCxnSpPr>
          <p:spPr>
            <a:xfrm>
              <a:off x="2671173" y="4712156"/>
              <a:ext cx="1152000" cy="1588"/>
            </a:xfrm>
            <a:prstGeom prst="line">
              <a:avLst/>
            </a:prstGeom>
            <a:ln w="3810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Skupina 3"/>
            <p:cNvGrpSpPr/>
            <p:nvPr/>
          </p:nvGrpSpPr>
          <p:grpSpPr>
            <a:xfrm>
              <a:off x="3168072" y="3552536"/>
              <a:ext cx="144016" cy="802226"/>
              <a:chOff x="2462351" y="4077072"/>
              <a:chExt cx="144016" cy="802226"/>
            </a:xfrm>
          </p:grpSpPr>
          <p:sp>
            <p:nvSpPr>
              <p:cNvPr id="3" name="Ovál 2"/>
              <p:cNvSpPr/>
              <p:nvPr/>
            </p:nvSpPr>
            <p:spPr>
              <a:xfrm>
                <a:off x="2462351" y="4077072"/>
                <a:ext cx="144016" cy="144016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27" name="Ovál 26"/>
              <p:cNvSpPr/>
              <p:nvPr/>
            </p:nvSpPr>
            <p:spPr>
              <a:xfrm>
                <a:off x="2462351" y="4406177"/>
                <a:ext cx="144016" cy="144016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29" name="Ovál 28"/>
              <p:cNvSpPr/>
              <p:nvPr/>
            </p:nvSpPr>
            <p:spPr>
              <a:xfrm>
                <a:off x="2462351" y="4735282"/>
                <a:ext cx="144016" cy="144016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</p:grpSp>
        <p:grpSp>
          <p:nvGrpSpPr>
            <p:cNvPr id="5" name="Skupina 4"/>
            <p:cNvGrpSpPr/>
            <p:nvPr/>
          </p:nvGrpSpPr>
          <p:grpSpPr>
            <a:xfrm>
              <a:off x="5796136" y="3552536"/>
              <a:ext cx="144016" cy="802226"/>
              <a:chOff x="5041178" y="4111352"/>
              <a:chExt cx="144016" cy="802226"/>
            </a:xfrm>
          </p:grpSpPr>
          <p:sp>
            <p:nvSpPr>
              <p:cNvPr id="41" name="Ovál 40"/>
              <p:cNvSpPr/>
              <p:nvPr/>
            </p:nvSpPr>
            <p:spPr>
              <a:xfrm>
                <a:off x="5041178" y="4111352"/>
                <a:ext cx="144016" cy="144016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46" name="Ovál 45"/>
              <p:cNvSpPr/>
              <p:nvPr/>
            </p:nvSpPr>
            <p:spPr>
              <a:xfrm>
                <a:off x="5041178" y="4440457"/>
                <a:ext cx="144016" cy="144016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47" name="Ovál 46"/>
              <p:cNvSpPr/>
              <p:nvPr/>
            </p:nvSpPr>
            <p:spPr>
              <a:xfrm>
                <a:off x="5041178" y="4769562"/>
                <a:ext cx="144016" cy="144016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</p:grpSp>
        <p:sp>
          <p:nvSpPr>
            <p:cNvPr id="14" name="Obdélník 13"/>
            <p:cNvSpPr/>
            <p:nvPr/>
          </p:nvSpPr>
          <p:spPr>
            <a:xfrm>
              <a:off x="3821447" y="1412776"/>
              <a:ext cx="1440000" cy="39290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cs-CZ" b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Decoder</a:t>
              </a:r>
              <a:endParaRPr lang="cs-CZ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4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Dekodér</a:t>
            </a:r>
          </a:p>
        </p:txBody>
      </p:sp>
      <p:sp>
        <p:nvSpPr>
          <p:cNvPr id="49" name="TextovéPole 48"/>
          <p:cNvSpPr txBox="1"/>
          <p:nvPr/>
        </p:nvSpPr>
        <p:spPr>
          <a:xfrm>
            <a:off x="3912909" y="5517232"/>
            <a:ext cx="1257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b="1" dirty="0">
                <a:latin typeface="Arial Black" panose="020B0A04020102020204" pitchFamily="34" charset="0"/>
              </a:rPr>
              <a:t>n</a:t>
            </a:r>
            <a:r>
              <a:rPr lang="en-US" sz="2800" b="1" dirty="0">
                <a:latin typeface="Arial Black" panose="020B0A04020102020204" pitchFamily="34" charset="0"/>
              </a:rPr>
              <a:t>&lt;=m</a:t>
            </a:r>
            <a:endParaRPr lang="cs-CZ" sz="2800" b="1" dirty="0">
              <a:latin typeface="Arial Black" panose="020B0A04020102020204" pitchFamily="34" charset="0"/>
            </a:endParaRPr>
          </a:p>
        </p:txBody>
      </p:sp>
      <p:sp>
        <p:nvSpPr>
          <p:cNvPr id="2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6" name="Tlačítko akce: Vlastní 2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0" name="Tlačítko akce: Vlastní 2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5" name="Tlačítko akce: Vlastní 3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92523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9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812212" cy="298543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Typy dekodérů</a:t>
            </a:r>
            <a:endParaRPr lang="en-US" sz="28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720000" indent="-576000">
              <a:spcAft>
                <a:spcPts val="18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Dekodér 1 z N</a:t>
            </a:r>
          </a:p>
          <a:p>
            <a:pPr marL="720000" indent="-576000">
              <a:spcAft>
                <a:spcPts val="18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Dekodér pro segmentové displeje</a:t>
            </a:r>
            <a:endParaRPr lang="en-US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720000" indent="-576000">
              <a:spcAft>
                <a:spcPts val="18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Binární dekodér</a:t>
            </a:r>
          </a:p>
          <a:p>
            <a:pPr marL="720000" indent="-576000">
              <a:spcAft>
                <a:spcPts val="18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BCD dekodér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Dekodér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8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8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8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8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43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812212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Kód 1 z N </a:t>
            </a:r>
            <a:r>
              <a:rPr lang="cs-CZ" dirty="0">
                <a:latin typeface="Verdana" pitchFamily="34" charset="0"/>
                <a:ea typeface="Verdana" pitchFamily="34" charset="0"/>
                <a:cs typeface="Verdana" pitchFamily="34" charset="0"/>
              </a:rPr>
              <a:t>znamená, že v každém stavu má </a:t>
            </a:r>
            <a:r>
              <a:rPr lang="cs-CZ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pouze jeden výstup hodnotu 1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Dekodér 1 ze 4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3" grpId="0" autoUpdateAnimBg="0"/>
      <p:bldP spid="5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32" name="Text Box 56"/>
          <p:cNvSpPr txBox="1">
            <a:spLocks noChangeArrowheads="1"/>
          </p:cNvSpPr>
          <p:nvPr/>
        </p:nvSpPr>
        <p:spPr bwMode="auto">
          <a:xfrm>
            <a:off x="5202562" y="1053756"/>
            <a:ext cx="3617910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A,B – vstup BIN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EN – povolovací vstup</a:t>
            </a:r>
          </a:p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Výstupy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Y0,Y1,Y2,Y3 </a:t>
            </a:r>
            <a:b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– výstup 1 z 4</a:t>
            </a:r>
          </a:p>
        </p:txBody>
      </p:sp>
      <p:grpSp>
        <p:nvGrpSpPr>
          <p:cNvPr id="2" name="Skupina 31"/>
          <p:cNvGrpSpPr/>
          <p:nvPr/>
        </p:nvGrpSpPr>
        <p:grpSpPr>
          <a:xfrm>
            <a:off x="1540254" y="785794"/>
            <a:ext cx="2160000" cy="3600000"/>
            <a:chOff x="3357554" y="2357430"/>
            <a:chExt cx="2160000" cy="3600000"/>
          </a:xfrm>
          <a:solidFill>
            <a:schemeClr val="bg1">
              <a:lumMod val="95000"/>
            </a:schemeClr>
          </a:solidFill>
        </p:grpSpPr>
        <p:sp>
          <p:nvSpPr>
            <p:cNvPr id="8" name="Obdélník 7"/>
            <p:cNvSpPr/>
            <p:nvPr/>
          </p:nvSpPr>
          <p:spPr>
            <a:xfrm>
              <a:off x="3357554" y="2357430"/>
              <a:ext cx="2160000" cy="36000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TextovéPole 17"/>
            <p:cNvSpPr txBox="1"/>
            <p:nvPr/>
          </p:nvSpPr>
          <p:spPr>
            <a:xfrm>
              <a:off x="3786182" y="3286124"/>
              <a:ext cx="1417376" cy="4616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cs-CZ" b="1" dirty="0" err="1">
                  <a:latin typeface="+mj-lt"/>
                </a:rPr>
                <a:t>Decoder</a:t>
              </a:r>
              <a:endParaRPr lang="cs-CZ" b="1" dirty="0">
                <a:latin typeface="+mj-lt"/>
              </a:endParaRPr>
            </a:p>
          </p:txBody>
        </p:sp>
      </p:grpSp>
      <p:grpSp>
        <p:nvGrpSpPr>
          <p:cNvPr id="3" name="Skupina 32"/>
          <p:cNvGrpSpPr/>
          <p:nvPr/>
        </p:nvGrpSpPr>
        <p:grpSpPr>
          <a:xfrm>
            <a:off x="611560" y="857232"/>
            <a:ext cx="928694" cy="890293"/>
            <a:chOff x="2428860" y="2428868"/>
            <a:chExt cx="928694" cy="890293"/>
          </a:xfrm>
        </p:grpSpPr>
        <p:cxnSp>
          <p:nvCxnSpPr>
            <p:cNvPr id="10" name="Přímá spojovací šipka 9"/>
            <p:cNvCxnSpPr/>
            <p:nvPr/>
          </p:nvCxnSpPr>
          <p:spPr>
            <a:xfrm>
              <a:off x="2428860" y="2857496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ovéPole 18"/>
            <p:cNvSpPr txBox="1"/>
            <p:nvPr/>
          </p:nvSpPr>
          <p:spPr>
            <a:xfrm>
              <a:off x="2571736" y="2428868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  <p:cxnSp>
          <p:nvCxnSpPr>
            <p:cNvPr id="23" name="Přímá spojovací šipka 22"/>
            <p:cNvCxnSpPr/>
            <p:nvPr/>
          </p:nvCxnSpPr>
          <p:spPr>
            <a:xfrm>
              <a:off x="2428860" y="3286124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ovéPole 24"/>
            <p:cNvSpPr txBox="1"/>
            <p:nvPr/>
          </p:nvSpPr>
          <p:spPr>
            <a:xfrm>
              <a:off x="2571736" y="2857496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</p:grpSp>
      <p:grpSp>
        <p:nvGrpSpPr>
          <p:cNvPr id="48" name="Skupina 47"/>
          <p:cNvGrpSpPr/>
          <p:nvPr/>
        </p:nvGrpSpPr>
        <p:grpSpPr>
          <a:xfrm>
            <a:off x="3683394" y="857232"/>
            <a:ext cx="928694" cy="1643074"/>
            <a:chOff x="6429388" y="857232"/>
            <a:chExt cx="928694" cy="1643074"/>
          </a:xfrm>
        </p:grpSpPr>
        <p:cxnSp>
          <p:nvCxnSpPr>
            <p:cNvPr id="14" name="Přímá spojovací šipka 13"/>
            <p:cNvCxnSpPr/>
            <p:nvPr/>
          </p:nvCxnSpPr>
          <p:spPr>
            <a:xfrm>
              <a:off x="6429388" y="128586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Přímá spojovací šipka 26"/>
            <p:cNvCxnSpPr/>
            <p:nvPr/>
          </p:nvCxnSpPr>
          <p:spPr>
            <a:xfrm>
              <a:off x="6429388" y="1714488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ovéPole 28"/>
            <p:cNvSpPr txBox="1"/>
            <p:nvPr/>
          </p:nvSpPr>
          <p:spPr>
            <a:xfrm>
              <a:off x="6643702" y="857232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Y0</a:t>
              </a:r>
            </a:p>
          </p:txBody>
        </p:sp>
        <p:sp>
          <p:nvSpPr>
            <p:cNvPr id="30" name="TextovéPole 29"/>
            <p:cNvSpPr txBox="1"/>
            <p:nvPr/>
          </p:nvSpPr>
          <p:spPr>
            <a:xfrm>
              <a:off x="6643702" y="128586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Y1</a:t>
              </a:r>
            </a:p>
          </p:txBody>
        </p:sp>
        <p:cxnSp>
          <p:nvCxnSpPr>
            <p:cNvPr id="22" name="Přímá spojovací šipka 21"/>
            <p:cNvCxnSpPr/>
            <p:nvPr/>
          </p:nvCxnSpPr>
          <p:spPr>
            <a:xfrm>
              <a:off x="6429388" y="2071678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Přímá spojovací šipka 31"/>
            <p:cNvCxnSpPr/>
            <p:nvPr/>
          </p:nvCxnSpPr>
          <p:spPr>
            <a:xfrm>
              <a:off x="6429388" y="2428868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ovéPole 36"/>
            <p:cNvSpPr txBox="1"/>
            <p:nvPr/>
          </p:nvSpPr>
          <p:spPr>
            <a:xfrm>
              <a:off x="6643702" y="1681451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Y2</a:t>
              </a:r>
            </a:p>
          </p:txBody>
        </p:sp>
        <p:sp>
          <p:nvSpPr>
            <p:cNvPr id="38" name="TextovéPole 37"/>
            <p:cNvSpPr txBox="1"/>
            <p:nvPr/>
          </p:nvSpPr>
          <p:spPr>
            <a:xfrm>
              <a:off x="6643702" y="2038641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Y3</a:t>
              </a:r>
            </a:p>
          </p:txBody>
        </p:sp>
      </p:grpSp>
      <p:grpSp>
        <p:nvGrpSpPr>
          <p:cNvPr id="43" name="Skupina 32"/>
          <p:cNvGrpSpPr/>
          <p:nvPr/>
        </p:nvGrpSpPr>
        <p:grpSpPr>
          <a:xfrm>
            <a:off x="611560" y="3714752"/>
            <a:ext cx="928694" cy="461665"/>
            <a:chOff x="2428860" y="2857496"/>
            <a:chExt cx="928694" cy="461665"/>
          </a:xfrm>
        </p:grpSpPr>
        <p:cxnSp>
          <p:nvCxnSpPr>
            <p:cNvPr id="46" name="Přímá spojovací šipka 45"/>
            <p:cNvCxnSpPr/>
            <p:nvPr/>
          </p:nvCxnSpPr>
          <p:spPr>
            <a:xfrm>
              <a:off x="2428860" y="3286124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ovéPole 46"/>
            <p:cNvSpPr txBox="1"/>
            <p:nvPr/>
          </p:nvSpPr>
          <p:spPr>
            <a:xfrm>
              <a:off x="2571736" y="2857496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EN</a:t>
              </a:r>
            </a:p>
          </p:txBody>
        </p:sp>
      </p:grpSp>
      <p:sp>
        <p:nvSpPr>
          <p:cNvPr id="2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1" name="Tlačítko akce: Vlastní 3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Dekodér 1 ze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4"/>
              </a:buBlip>
            </a:pPr>
            <a:r>
              <a:rPr lang="cs-CZ" sz="2800" b="1" dirty="0">
                <a:latin typeface="Verdana" pitchFamily="34" charset="0"/>
              </a:rPr>
              <a:t>Pravdivostní tabulka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Dekodér 1 ze 4</a:t>
            </a:r>
          </a:p>
        </p:txBody>
      </p:sp>
      <p:graphicFrame>
        <p:nvGraphicFramePr>
          <p:cNvPr id="14" name="Group 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411219"/>
              </p:ext>
            </p:extLst>
          </p:nvPr>
        </p:nvGraphicFramePr>
        <p:xfrm>
          <a:off x="720000" y="1800000"/>
          <a:ext cx="4495799" cy="2987676"/>
        </p:xfrm>
        <a:graphic>
          <a:graphicData uri="http://schemas.openxmlformats.org/drawingml/2006/table">
            <a:tbl>
              <a:tblPr/>
              <a:tblGrid>
                <a:gridCol w="642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7038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Výstup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7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90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Dekodér 1 ze 4</a:t>
            </a: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F9F24E14-BD81-4330-91B9-245A945BD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8344" y="12"/>
            <a:ext cx="1475656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r">
              <a:buClr>
                <a:srgbClr val="006600"/>
              </a:buClr>
              <a:buFont typeface="Wingdings" pitchFamily="2" charset="2"/>
              <a:buNone/>
            </a:pPr>
            <a:r>
              <a:rPr lang="cs-CZ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VHDL</a:t>
            </a:r>
          </a:p>
        </p:txBody>
      </p:sp>
      <p:sp>
        <p:nvSpPr>
          <p:cNvPr id="11" name="Text Box 66">
            <a:extLst>
              <a:ext uri="{FF2B5EF4-FFF2-40B4-BE49-F238E27FC236}">
                <a16:creationId xmlns:a16="http://schemas.microsoft.com/office/drawing/2014/main" id="{30E2EE15-45E0-4E20-9377-678C2C443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00" y="1080002"/>
            <a:ext cx="8100000" cy="461883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entity 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mux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endParaRPr lang="cs-CZ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   Port ( a : in  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STD_LOGIC_VECTOR (3 </a:t>
            </a:r>
            <a:r>
              <a:rPr lang="en-US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downto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0)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b : in  STD_LOGIC;</a:t>
            </a: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en : in  STD_LOGIC;</a:t>
            </a: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y0 : out  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STD_LOGIC_VECTOR (3 </a:t>
            </a:r>
            <a:r>
              <a:rPr lang="en-US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downto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0)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end 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mux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defRPr/>
            </a:pPr>
            <a:endParaRPr lang="cs-CZ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architecture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Behavioral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of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mux_top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endParaRPr lang="cs-CZ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defRPr/>
            </a:pPr>
            <a:endParaRPr lang="cs-CZ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  <a:endParaRPr lang="cs-CZ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p1:process(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c,s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  <a:endParaRPr lang="cs-CZ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	case s 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when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"00" =&gt; z &lt;=c(0);</a:t>
            </a: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when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"01" =&gt; z &lt;=c(1);</a:t>
            </a: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when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"10" =&gt; z &lt;=c(2);</a:t>
            </a: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when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"11" =&gt; z &lt;=c(3);</a:t>
            </a: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when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others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=&gt; z &lt;=c(0);</a:t>
            </a: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	end case;</a:t>
            </a: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end 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process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>
              <a:defRPr/>
            </a:pP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end </a:t>
            </a:r>
            <a:r>
              <a:rPr lang="cs-CZ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Behavioral</a:t>
            </a:r>
            <a:r>
              <a:rPr lang="cs-CZ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210446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05836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Dekodér z BCD do 7-</a:t>
            </a:r>
            <a:r>
              <a:rPr lang="cs-CZ" sz="40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seg.displej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2215" name="Text Box 1031"/>
          <p:cNvSpPr txBox="1">
            <a:spLocks noChangeArrowheads="1"/>
          </p:cNvSpPr>
          <p:nvPr/>
        </p:nvSpPr>
        <p:spPr bwMode="auto">
          <a:xfrm>
            <a:off x="360000" y="1080000"/>
            <a:ext cx="8812212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Segment svítí je-li na výstupů log 0, displej je se společnou anodou</a:t>
            </a:r>
          </a:p>
        </p:txBody>
      </p:sp>
      <p:grpSp>
        <p:nvGrpSpPr>
          <p:cNvPr id="38" name="Skupina 37"/>
          <p:cNvGrpSpPr/>
          <p:nvPr/>
        </p:nvGrpSpPr>
        <p:grpSpPr>
          <a:xfrm>
            <a:off x="6805214" y="2000240"/>
            <a:ext cx="2124504" cy="3286148"/>
            <a:chOff x="5857884" y="2000240"/>
            <a:chExt cx="2124504" cy="3286148"/>
          </a:xfrm>
        </p:grpSpPr>
        <p:cxnSp>
          <p:nvCxnSpPr>
            <p:cNvPr id="16" name="Přímá spojovací čára 15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bdélník 16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8" name="Přímá spojovací čára 17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bdélník 18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20" name="Přímá spojovací čára 19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Přímá spojovací čára 20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Přímá spojovací čára 25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Přímá spojovací čára 28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Přímá spojovací čára 29"/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ovéPole 30"/>
            <p:cNvSpPr txBox="1"/>
            <p:nvPr/>
          </p:nvSpPr>
          <p:spPr>
            <a:xfrm>
              <a:off x="6786578" y="2000240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a</a:t>
              </a:r>
            </a:p>
          </p:txBody>
        </p:sp>
        <p:sp>
          <p:nvSpPr>
            <p:cNvPr id="32" name="TextovéPole 31"/>
            <p:cNvSpPr txBox="1"/>
            <p:nvPr/>
          </p:nvSpPr>
          <p:spPr>
            <a:xfrm>
              <a:off x="7643834" y="2895897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b</a:t>
              </a:r>
            </a:p>
          </p:txBody>
        </p:sp>
        <p:sp>
          <p:nvSpPr>
            <p:cNvPr id="33" name="TextovéPole 32"/>
            <p:cNvSpPr txBox="1"/>
            <p:nvPr/>
          </p:nvSpPr>
          <p:spPr>
            <a:xfrm>
              <a:off x="7643834" y="4000504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c</a:t>
              </a:r>
            </a:p>
          </p:txBody>
        </p:sp>
        <p:sp>
          <p:nvSpPr>
            <p:cNvPr id="34" name="TextovéPole 33"/>
            <p:cNvSpPr txBox="1"/>
            <p:nvPr/>
          </p:nvSpPr>
          <p:spPr>
            <a:xfrm>
              <a:off x="6786578" y="482472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d</a:t>
              </a:r>
            </a:p>
          </p:txBody>
        </p:sp>
        <p:sp>
          <p:nvSpPr>
            <p:cNvPr id="35" name="TextovéPole 34"/>
            <p:cNvSpPr txBox="1"/>
            <p:nvPr/>
          </p:nvSpPr>
          <p:spPr>
            <a:xfrm>
              <a:off x="5857884" y="4000504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e</a:t>
              </a:r>
            </a:p>
          </p:txBody>
        </p:sp>
        <p:sp>
          <p:nvSpPr>
            <p:cNvPr id="36" name="TextovéPole 35"/>
            <p:cNvSpPr txBox="1"/>
            <p:nvPr/>
          </p:nvSpPr>
          <p:spPr>
            <a:xfrm>
              <a:off x="5857884" y="2895897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f</a:t>
              </a:r>
            </a:p>
          </p:txBody>
        </p:sp>
        <p:sp>
          <p:nvSpPr>
            <p:cNvPr id="37" name="TextovéPole 36"/>
            <p:cNvSpPr txBox="1"/>
            <p:nvPr/>
          </p:nvSpPr>
          <p:spPr>
            <a:xfrm>
              <a:off x="6785072" y="3143248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g</a:t>
              </a:r>
            </a:p>
          </p:txBody>
        </p:sp>
      </p:grpSp>
      <p:grpSp>
        <p:nvGrpSpPr>
          <p:cNvPr id="28" name="Skupina 27"/>
          <p:cNvGrpSpPr/>
          <p:nvPr/>
        </p:nvGrpSpPr>
        <p:grpSpPr>
          <a:xfrm>
            <a:off x="945583" y="2191259"/>
            <a:ext cx="692782" cy="1352111"/>
            <a:chOff x="6357950" y="2643182"/>
            <a:chExt cx="1144596" cy="2144728"/>
          </a:xfrm>
        </p:grpSpPr>
        <p:cxnSp>
          <p:nvCxnSpPr>
            <p:cNvPr id="39" name="Přímá spojovací čára 38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bdélník 39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2" name="Obdélník 41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43" name="Přímá spojovací čára 42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Přímá spojovací čára 43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Přímá spojovací čára 44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Přímá spojovací čára 45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Přímá spojovací čára 46"/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Skupina 54"/>
          <p:cNvGrpSpPr/>
          <p:nvPr/>
        </p:nvGrpSpPr>
        <p:grpSpPr>
          <a:xfrm>
            <a:off x="2021830" y="2214553"/>
            <a:ext cx="692782" cy="1351610"/>
            <a:chOff x="6357950" y="2643182"/>
            <a:chExt cx="1144596" cy="2143934"/>
          </a:xfrm>
        </p:grpSpPr>
        <p:sp>
          <p:nvSpPr>
            <p:cNvPr id="58" name="Obdélník 5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60" name="Obdélník 5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62" name="Přímá spojovací čára 6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Přímá spojovací čára 6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Skupina 65"/>
          <p:cNvGrpSpPr/>
          <p:nvPr/>
        </p:nvGrpSpPr>
        <p:grpSpPr>
          <a:xfrm>
            <a:off x="3093400" y="2214554"/>
            <a:ext cx="692782" cy="1352111"/>
            <a:chOff x="6357950" y="2643182"/>
            <a:chExt cx="1144596" cy="2144728"/>
          </a:xfrm>
        </p:grpSpPr>
        <p:cxnSp>
          <p:nvCxnSpPr>
            <p:cNvPr id="67" name="Přímá spojovací čára 6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bdélník 6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69" name="Přímá spojovací čára 6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bdélník 6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71" name="Přímá spojovací čára 70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Přímá spojovací čára 7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Přímá spojovací čára 74"/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Skupina 75"/>
          <p:cNvGrpSpPr/>
          <p:nvPr/>
        </p:nvGrpSpPr>
        <p:grpSpPr>
          <a:xfrm>
            <a:off x="4164970" y="2214554"/>
            <a:ext cx="692782" cy="1352111"/>
            <a:chOff x="6357950" y="2643182"/>
            <a:chExt cx="1144596" cy="2144728"/>
          </a:xfrm>
        </p:grpSpPr>
        <p:cxnSp>
          <p:nvCxnSpPr>
            <p:cNvPr id="77" name="Přímá spojovací čára 7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bdélník 7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79" name="Přímá spojovací čára 7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bdélník 7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81" name="Přímá spojovací čára 80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Přímá spojovací čára 8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Přímá spojovací čára 8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Skupina 85"/>
          <p:cNvGrpSpPr/>
          <p:nvPr/>
        </p:nvGrpSpPr>
        <p:grpSpPr>
          <a:xfrm>
            <a:off x="5214942" y="2214553"/>
            <a:ext cx="692782" cy="1351610"/>
            <a:chOff x="6357950" y="2643182"/>
            <a:chExt cx="1144596" cy="2143934"/>
          </a:xfrm>
        </p:grpSpPr>
        <p:sp>
          <p:nvSpPr>
            <p:cNvPr id="88" name="Obdélník 8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89" name="Přímá spojovací čára 8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Obdélník 8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92" name="Přímá spojovací čára 9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Přímá spojovací čára 9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Přímá spojovací čára 93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Skupina 95"/>
          <p:cNvGrpSpPr/>
          <p:nvPr/>
        </p:nvGrpSpPr>
        <p:grpSpPr>
          <a:xfrm>
            <a:off x="950261" y="3934277"/>
            <a:ext cx="691821" cy="1352111"/>
            <a:chOff x="6357950" y="2643182"/>
            <a:chExt cx="1143008" cy="2144728"/>
          </a:xfrm>
        </p:grpSpPr>
        <p:cxnSp>
          <p:nvCxnSpPr>
            <p:cNvPr id="97" name="Přímá spojovací čára 9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bdélník 9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99" name="Přímá spojovací čára 9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bdélník 9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01" name="Přímá spojovací čára 100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Přímá spojovací čára 10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Přímá spojovací čára 103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Skupina 105"/>
          <p:cNvGrpSpPr/>
          <p:nvPr/>
        </p:nvGrpSpPr>
        <p:grpSpPr>
          <a:xfrm>
            <a:off x="2021831" y="3929066"/>
            <a:ext cx="691821" cy="1352111"/>
            <a:chOff x="6357950" y="2643182"/>
            <a:chExt cx="1143008" cy="2144728"/>
          </a:xfrm>
        </p:grpSpPr>
        <p:cxnSp>
          <p:nvCxnSpPr>
            <p:cNvPr id="107" name="Přímá spojovací čára 10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bdélník 10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09" name="Přímá spojovací čára 10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Obdélník 10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11" name="Přímá spojovací čára 110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Přímá spojovací čára 11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Přímá spojovací čára 113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Přímá spojovací čára 114"/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Skupina 115"/>
          <p:cNvGrpSpPr/>
          <p:nvPr/>
        </p:nvGrpSpPr>
        <p:grpSpPr>
          <a:xfrm>
            <a:off x="3093400" y="3929065"/>
            <a:ext cx="692782" cy="1351610"/>
            <a:chOff x="6357950" y="2643182"/>
            <a:chExt cx="1144596" cy="2143934"/>
          </a:xfrm>
        </p:grpSpPr>
        <p:cxnSp>
          <p:nvCxnSpPr>
            <p:cNvPr id="117" name="Přímá spojovací čára 11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bdélník 11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20" name="Obdélník 11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22" name="Přímá spojovací čára 12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Přímá spojovací čára 12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Skupina 125"/>
          <p:cNvGrpSpPr/>
          <p:nvPr/>
        </p:nvGrpSpPr>
        <p:grpSpPr>
          <a:xfrm>
            <a:off x="4164970" y="3929066"/>
            <a:ext cx="692782" cy="1352111"/>
            <a:chOff x="6357950" y="2643182"/>
            <a:chExt cx="1144596" cy="2144728"/>
          </a:xfrm>
        </p:grpSpPr>
        <p:cxnSp>
          <p:nvCxnSpPr>
            <p:cNvPr id="127" name="Přímá spojovací čára 12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Obdélník 12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29" name="Přímá spojovací čára 12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Obdélník 12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31" name="Přímá spojovací čára 130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Přímá spojovací čára 13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Přímá spojovací čára 13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Přímá spojovací čára 133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Přímá spojovací čára 134"/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Skupina 135"/>
          <p:cNvGrpSpPr/>
          <p:nvPr/>
        </p:nvGrpSpPr>
        <p:grpSpPr>
          <a:xfrm>
            <a:off x="5214942" y="3929066"/>
            <a:ext cx="692782" cy="1352111"/>
            <a:chOff x="6357950" y="2643182"/>
            <a:chExt cx="1144596" cy="2144728"/>
          </a:xfrm>
        </p:grpSpPr>
        <p:cxnSp>
          <p:nvCxnSpPr>
            <p:cNvPr id="137" name="Přímá spojovací čára 136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Obdélník 137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39" name="Přímá spojovací čára 138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Obdélník 139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41" name="Přímá spojovací čára 140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Přímá spojovací čára 141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Přímá spojovací čára 142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Přímá spojovací čára 143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3" name="Tlačítko akce: Vlastní 1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9" name="Tlačítko akce: Vlastní 11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1" name="Tlačítko akce: Vlastní 12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5" grpId="0" autoUpdateAnimBg="0"/>
      <p:bldP spid="103" grpId="0" animBg="1"/>
      <p:bldP spid="10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32" name="Text Box 56"/>
          <p:cNvSpPr txBox="1">
            <a:spLocks noChangeArrowheads="1"/>
          </p:cNvSpPr>
          <p:nvPr/>
        </p:nvSpPr>
        <p:spPr bwMode="auto">
          <a:xfrm>
            <a:off x="5202562" y="1053756"/>
            <a:ext cx="3617910" cy="324704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A,B,C,D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- BCD kód</a:t>
            </a:r>
          </a:p>
          <a:p>
            <a:pPr marL="180000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RBI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– vstup neplatná nula </a:t>
            </a:r>
          </a:p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Výstupy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a,b,c,d,e,f,g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segmenty</a:t>
            </a:r>
          </a:p>
          <a:p>
            <a:pPr marL="180000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RBO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– výstup neplatná nula</a:t>
            </a:r>
          </a:p>
        </p:txBody>
      </p:sp>
      <p:sp>
        <p:nvSpPr>
          <p:cNvPr id="2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1" name="Tlačítko akce: Vlastní 3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Dekodér z BCD do 7-seg.displej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00F56B6A-21AD-4C77-A885-C0B32F90D690}"/>
              </a:ext>
            </a:extLst>
          </p:cNvPr>
          <p:cNvGrpSpPr/>
          <p:nvPr/>
        </p:nvGrpSpPr>
        <p:grpSpPr>
          <a:xfrm>
            <a:off x="637219" y="785794"/>
            <a:ext cx="3970781" cy="3600000"/>
            <a:chOff x="637219" y="785794"/>
            <a:chExt cx="3970781" cy="3600000"/>
          </a:xfrm>
        </p:grpSpPr>
        <p:grpSp>
          <p:nvGrpSpPr>
            <p:cNvPr id="2" name="Skupina 31"/>
            <p:cNvGrpSpPr/>
            <p:nvPr/>
          </p:nvGrpSpPr>
          <p:grpSpPr>
            <a:xfrm>
              <a:off x="1540254" y="785794"/>
              <a:ext cx="2160000" cy="3600000"/>
              <a:chOff x="3357554" y="2357430"/>
              <a:chExt cx="2160000" cy="3600000"/>
            </a:xfrm>
            <a:solidFill>
              <a:schemeClr val="bg1">
                <a:lumMod val="95000"/>
              </a:schemeClr>
            </a:solidFill>
          </p:grpSpPr>
          <p:sp>
            <p:nvSpPr>
              <p:cNvPr id="8" name="Obdélník 7"/>
              <p:cNvSpPr/>
              <p:nvPr/>
            </p:nvSpPr>
            <p:spPr>
              <a:xfrm>
                <a:off x="3357554" y="2357430"/>
                <a:ext cx="2160000" cy="3600000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18" name="TextovéPole 17"/>
              <p:cNvSpPr txBox="1"/>
              <p:nvPr/>
            </p:nvSpPr>
            <p:spPr>
              <a:xfrm>
                <a:off x="3401300" y="2840396"/>
                <a:ext cx="2088000" cy="83099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cs-CZ" b="1" dirty="0" err="1">
                    <a:latin typeface="+mj-lt"/>
                  </a:rPr>
                  <a:t>Decoder</a:t>
                </a:r>
                <a:r>
                  <a:rPr lang="cs-CZ" b="1" dirty="0">
                    <a:latin typeface="+mj-lt"/>
                  </a:rPr>
                  <a:t> </a:t>
                </a:r>
                <a:br>
                  <a:rPr lang="cs-CZ" b="1" dirty="0">
                    <a:latin typeface="+mj-lt"/>
                  </a:rPr>
                </a:br>
                <a:r>
                  <a:rPr lang="cs-CZ" b="1" dirty="0">
                    <a:latin typeface="+mj-lt"/>
                  </a:rPr>
                  <a:t>BCD 7-seg</a:t>
                </a:r>
              </a:p>
            </p:txBody>
          </p:sp>
        </p:grpSp>
        <p:cxnSp>
          <p:nvCxnSpPr>
            <p:cNvPr id="10" name="Přímá spojovací šipka 9"/>
            <p:cNvCxnSpPr/>
            <p:nvPr/>
          </p:nvCxnSpPr>
          <p:spPr>
            <a:xfrm>
              <a:off x="648000" y="1296000"/>
              <a:ext cx="900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ovéPole 18"/>
            <p:cNvSpPr txBox="1"/>
            <p:nvPr/>
          </p:nvSpPr>
          <p:spPr>
            <a:xfrm>
              <a:off x="770111" y="908720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  <p:cxnSp>
          <p:nvCxnSpPr>
            <p:cNvPr id="23" name="Přímá spojovací šipka 22"/>
            <p:cNvCxnSpPr/>
            <p:nvPr/>
          </p:nvCxnSpPr>
          <p:spPr>
            <a:xfrm>
              <a:off x="648000" y="1656000"/>
              <a:ext cx="900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ovéPole 24"/>
            <p:cNvSpPr txBox="1"/>
            <p:nvPr/>
          </p:nvSpPr>
          <p:spPr>
            <a:xfrm>
              <a:off x="770111" y="1260000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  <p:cxnSp>
          <p:nvCxnSpPr>
            <p:cNvPr id="14" name="Přímá spojovací šipka 13"/>
            <p:cNvCxnSpPr/>
            <p:nvPr/>
          </p:nvCxnSpPr>
          <p:spPr>
            <a:xfrm>
              <a:off x="3708000" y="1296000"/>
              <a:ext cx="900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Přímá spojovací šipka 26"/>
            <p:cNvCxnSpPr/>
            <p:nvPr/>
          </p:nvCxnSpPr>
          <p:spPr>
            <a:xfrm>
              <a:off x="3708000" y="1656000"/>
              <a:ext cx="900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ovéPole 28"/>
            <p:cNvSpPr txBox="1"/>
            <p:nvPr/>
          </p:nvSpPr>
          <p:spPr>
            <a:xfrm>
              <a:off x="3918146" y="900000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30" name="TextovéPole 29"/>
            <p:cNvSpPr txBox="1"/>
            <p:nvPr/>
          </p:nvSpPr>
          <p:spPr>
            <a:xfrm>
              <a:off x="3918948" y="1260000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  <p:cxnSp>
          <p:nvCxnSpPr>
            <p:cNvPr id="22" name="Přímá spojovací šipka 21"/>
            <p:cNvCxnSpPr/>
            <p:nvPr/>
          </p:nvCxnSpPr>
          <p:spPr>
            <a:xfrm>
              <a:off x="3708000" y="2016000"/>
              <a:ext cx="900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Přímá spojovací šipka 31"/>
            <p:cNvCxnSpPr/>
            <p:nvPr/>
          </p:nvCxnSpPr>
          <p:spPr>
            <a:xfrm>
              <a:off x="3708000" y="2376000"/>
              <a:ext cx="900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ovéPole 36"/>
            <p:cNvSpPr txBox="1"/>
            <p:nvPr/>
          </p:nvSpPr>
          <p:spPr>
            <a:xfrm>
              <a:off x="3918146" y="1620000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38" name="TextovéPole 37"/>
            <p:cNvSpPr txBox="1"/>
            <p:nvPr/>
          </p:nvSpPr>
          <p:spPr>
            <a:xfrm>
              <a:off x="3918948" y="1980000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</a:p>
          </p:txBody>
        </p:sp>
        <p:cxnSp>
          <p:nvCxnSpPr>
            <p:cNvPr id="35" name="Přímá spojovací šipka 22"/>
            <p:cNvCxnSpPr/>
            <p:nvPr/>
          </p:nvCxnSpPr>
          <p:spPr>
            <a:xfrm>
              <a:off x="648000" y="2016000"/>
              <a:ext cx="900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Přímá spojovací šipka 22"/>
            <p:cNvCxnSpPr/>
            <p:nvPr/>
          </p:nvCxnSpPr>
          <p:spPr>
            <a:xfrm>
              <a:off x="648000" y="2376000"/>
              <a:ext cx="900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ovéPole 38"/>
            <p:cNvSpPr txBox="1"/>
            <p:nvPr/>
          </p:nvSpPr>
          <p:spPr>
            <a:xfrm>
              <a:off x="770111" y="1628800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40" name="TextovéPole 39"/>
            <p:cNvSpPr txBox="1"/>
            <p:nvPr/>
          </p:nvSpPr>
          <p:spPr>
            <a:xfrm>
              <a:off x="770111" y="1988840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</a:p>
          </p:txBody>
        </p:sp>
        <p:cxnSp>
          <p:nvCxnSpPr>
            <p:cNvPr id="41" name="Přímá spojovací šipka 31"/>
            <p:cNvCxnSpPr/>
            <p:nvPr/>
          </p:nvCxnSpPr>
          <p:spPr>
            <a:xfrm>
              <a:off x="3708000" y="2736000"/>
              <a:ext cx="900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Přímá spojovací šipka 31"/>
            <p:cNvCxnSpPr/>
            <p:nvPr/>
          </p:nvCxnSpPr>
          <p:spPr>
            <a:xfrm>
              <a:off x="3708000" y="3096000"/>
              <a:ext cx="900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Přímá spojovací šipka 31"/>
            <p:cNvCxnSpPr/>
            <p:nvPr/>
          </p:nvCxnSpPr>
          <p:spPr>
            <a:xfrm>
              <a:off x="3708000" y="3456000"/>
              <a:ext cx="900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ovéPole 44"/>
            <p:cNvSpPr txBox="1"/>
            <p:nvPr/>
          </p:nvSpPr>
          <p:spPr>
            <a:xfrm>
              <a:off x="3918146" y="2340000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49" name="TextovéPole 48"/>
            <p:cNvSpPr txBox="1"/>
            <p:nvPr/>
          </p:nvSpPr>
          <p:spPr>
            <a:xfrm>
              <a:off x="3918948" y="2700000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f</a:t>
              </a:r>
            </a:p>
          </p:txBody>
        </p:sp>
        <p:sp>
          <p:nvSpPr>
            <p:cNvPr id="50" name="TextovéPole 49"/>
            <p:cNvSpPr txBox="1"/>
            <p:nvPr/>
          </p:nvSpPr>
          <p:spPr>
            <a:xfrm>
              <a:off x="3918948" y="3060000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</a:p>
          </p:txBody>
        </p:sp>
        <p:sp>
          <p:nvSpPr>
            <p:cNvPr id="5" name="Ovál 4"/>
            <p:cNvSpPr/>
            <p:nvPr/>
          </p:nvSpPr>
          <p:spPr>
            <a:xfrm>
              <a:off x="3708000" y="3384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51" name="Ovál 50"/>
            <p:cNvSpPr/>
            <p:nvPr/>
          </p:nvSpPr>
          <p:spPr>
            <a:xfrm>
              <a:off x="3708000" y="3024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52" name="Ovál 51"/>
            <p:cNvSpPr/>
            <p:nvPr/>
          </p:nvSpPr>
          <p:spPr>
            <a:xfrm>
              <a:off x="3708000" y="2664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53" name="Ovál 52"/>
            <p:cNvSpPr/>
            <p:nvPr/>
          </p:nvSpPr>
          <p:spPr>
            <a:xfrm>
              <a:off x="3708000" y="2304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54" name="Ovál 53"/>
            <p:cNvSpPr/>
            <p:nvPr/>
          </p:nvSpPr>
          <p:spPr>
            <a:xfrm>
              <a:off x="3708000" y="1944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55" name="Ovál 54"/>
            <p:cNvSpPr/>
            <p:nvPr/>
          </p:nvSpPr>
          <p:spPr>
            <a:xfrm>
              <a:off x="3708000" y="1584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56" name="Ovál 55"/>
            <p:cNvSpPr/>
            <p:nvPr/>
          </p:nvSpPr>
          <p:spPr>
            <a:xfrm>
              <a:off x="3708000" y="1224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43" name="Přímá spojovací šipka 22">
              <a:extLst>
                <a:ext uri="{FF2B5EF4-FFF2-40B4-BE49-F238E27FC236}">
                  <a16:creationId xmlns:a16="http://schemas.microsoft.com/office/drawing/2014/main" id="{5B561AD7-4A44-4361-94E4-497A837C02E1}"/>
                </a:ext>
              </a:extLst>
            </p:cNvPr>
            <p:cNvCxnSpPr/>
            <p:nvPr/>
          </p:nvCxnSpPr>
          <p:spPr>
            <a:xfrm>
              <a:off x="657952" y="3960000"/>
              <a:ext cx="900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Přímá spojovací šipka 22">
              <a:extLst>
                <a:ext uri="{FF2B5EF4-FFF2-40B4-BE49-F238E27FC236}">
                  <a16:creationId xmlns:a16="http://schemas.microsoft.com/office/drawing/2014/main" id="{171B056E-7B9F-4240-85EF-EDE49CEEFFFB}"/>
                </a:ext>
              </a:extLst>
            </p:cNvPr>
            <p:cNvCxnSpPr/>
            <p:nvPr/>
          </p:nvCxnSpPr>
          <p:spPr>
            <a:xfrm>
              <a:off x="3708000" y="3960000"/>
              <a:ext cx="900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ál 46">
              <a:extLst>
                <a:ext uri="{FF2B5EF4-FFF2-40B4-BE49-F238E27FC236}">
                  <a16:creationId xmlns:a16="http://schemas.microsoft.com/office/drawing/2014/main" id="{B7563558-510F-4DA1-B34E-51FB63C64BE1}"/>
                </a:ext>
              </a:extLst>
            </p:cNvPr>
            <p:cNvSpPr/>
            <p:nvPr/>
          </p:nvSpPr>
          <p:spPr>
            <a:xfrm>
              <a:off x="3708000" y="3888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8" name="Ovál 47">
              <a:extLst>
                <a:ext uri="{FF2B5EF4-FFF2-40B4-BE49-F238E27FC236}">
                  <a16:creationId xmlns:a16="http://schemas.microsoft.com/office/drawing/2014/main" id="{1FB6DE26-6E94-45B2-BA24-254D1CD2DC57}"/>
                </a:ext>
              </a:extLst>
            </p:cNvPr>
            <p:cNvSpPr/>
            <p:nvPr/>
          </p:nvSpPr>
          <p:spPr>
            <a:xfrm>
              <a:off x="1382354" y="3888000"/>
              <a:ext cx="144000" cy="14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grpSp>
          <p:nvGrpSpPr>
            <p:cNvPr id="9" name="Skupina 8">
              <a:extLst>
                <a:ext uri="{FF2B5EF4-FFF2-40B4-BE49-F238E27FC236}">
                  <a16:creationId xmlns:a16="http://schemas.microsoft.com/office/drawing/2014/main" id="{03A7212A-7F99-4824-BFD8-CFBF9B603976}"/>
                </a:ext>
              </a:extLst>
            </p:cNvPr>
            <p:cNvGrpSpPr/>
            <p:nvPr/>
          </p:nvGrpSpPr>
          <p:grpSpPr>
            <a:xfrm>
              <a:off x="637219" y="3573016"/>
              <a:ext cx="694421" cy="461665"/>
              <a:chOff x="637219" y="3573016"/>
              <a:chExt cx="694421" cy="461665"/>
            </a:xfrm>
          </p:grpSpPr>
          <p:sp>
            <p:nvSpPr>
              <p:cNvPr id="57" name="TextovéPole 56">
                <a:extLst>
                  <a:ext uri="{FF2B5EF4-FFF2-40B4-BE49-F238E27FC236}">
                    <a16:creationId xmlns:a16="http://schemas.microsoft.com/office/drawing/2014/main" id="{6C1A63BD-21EC-41E1-A889-4B989BB63BAF}"/>
                  </a:ext>
                </a:extLst>
              </p:cNvPr>
              <p:cNvSpPr txBox="1"/>
              <p:nvPr/>
            </p:nvSpPr>
            <p:spPr>
              <a:xfrm>
                <a:off x="637219" y="3573016"/>
                <a:ext cx="6944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RBI</a:t>
                </a:r>
              </a:p>
            </p:txBody>
          </p:sp>
          <p:cxnSp>
            <p:nvCxnSpPr>
              <p:cNvPr id="58" name="Přímá spojovací šipka 22">
                <a:extLst>
                  <a:ext uri="{FF2B5EF4-FFF2-40B4-BE49-F238E27FC236}">
                    <a16:creationId xmlns:a16="http://schemas.microsoft.com/office/drawing/2014/main" id="{7DF7ECD9-CE64-4544-9937-7A4BBE0D2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000" y="3662489"/>
                <a:ext cx="5032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Skupina 58">
              <a:extLst>
                <a:ext uri="{FF2B5EF4-FFF2-40B4-BE49-F238E27FC236}">
                  <a16:creationId xmlns:a16="http://schemas.microsoft.com/office/drawing/2014/main" id="{E4EDA249-8A8B-4F88-8285-FAB531F080A9}"/>
                </a:ext>
              </a:extLst>
            </p:cNvPr>
            <p:cNvGrpSpPr/>
            <p:nvPr/>
          </p:nvGrpSpPr>
          <p:grpSpPr>
            <a:xfrm>
              <a:off x="3882789" y="3557665"/>
              <a:ext cx="694421" cy="461665"/>
              <a:chOff x="637219" y="3573016"/>
              <a:chExt cx="694421" cy="461665"/>
            </a:xfrm>
          </p:grpSpPr>
          <p:sp>
            <p:nvSpPr>
              <p:cNvPr id="60" name="TextovéPole 59">
                <a:extLst>
                  <a:ext uri="{FF2B5EF4-FFF2-40B4-BE49-F238E27FC236}">
                    <a16:creationId xmlns:a16="http://schemas.microsoft.com/office/drawing/2014/main" id="{B0BB7F50-3ED3-45D4-A766-CDD97F1E202D}"/>
                  </a:ext>
                </a:extLst>
              </p:cNvPr>
              <p:cNvSpPr txBox="1"/>
              <p:nvPr/>
            </p:nvSpPr>
            <p:spPr>
              <a:xfrm>
                <a:off x="637219" y="3573016"/>
                <a:ext cx="6944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RBO</a:t>
                </a:r>
              </a:p>
            </p:txBody>
          </p:sp>
          <p:cxnSp>
            <p:nvCxnSpPr>
              <p:cNvPr id="61" name="Přímá spojovací šipka 22">
                <a:extLst>
                  <a:ext uri="{FF2B5EF4-FFF2-40B4-BE49-F238E27FC236}">
                    <a16:creationId xmlns:a16="http://schemas.microsoft.com/office/drawing/2014/main" id="{71D954C1-D725-491A-B05A-77E4966C45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000" y="3662489"/>
                <a:ext cx="5032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021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9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216" name="Group 10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77138"/>
              </p:ext>
            </p:extLst>
          </p:nvPr>
        </p:nvGraphicFramePr>
        <p:xfrm>
          <a:off x="540000" y="540000"/>
          <a:ext cx="5768034" cy="5335582"/>
        </p:xfrm>
        <a:graphic>
          <a:graphicData uri="http://schemas.openxmlformats.org/drawingml/2006/table">
            <a:tbl>
              <a:tblPr/>
              <a:tblGrid>
                <a:gridCol w="612000">
                  <a:extLst>
                    <a:ext uri="{9D8B030D-6E8A-4147-A177-3AD203B41FA5}">
                      <a16:colId xmlns:a16="http://schemas.microsoft.com/office/drawing/2014/main" val="1158689233"/>
                    </a:ext>
                  </a:extLst>
                </a:gridCol>
                <a:gridCol w="413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4752469"/>
                    </a:ext>
                  </a:extLst>
                </a:gridCol>
                <a:gridCol w="4130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30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0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30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30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30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30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89791"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 BCD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Výstup </a:t>
                      </a: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 segmentů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7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RBI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RBO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7112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2" name="Skupina 37"/>
          <p:cNvGrpSpPr/>
          <p:nvPr/>
        </p:nvGrpSpPr>
        <p:grpSpPr>
          <a:xfrm>
            <a:off x="6551952" y="1500174"/>
            <a:ext cx="2124504" cy="3286148"/>
            <a:chOff x="5857884" y="2000240"/>
            <a:chExt cx="2124504" cy="3286148"/>
          </a:xfrm>
        </p:grpSpPr>
        <p:cxnSp>
          <p:nvCxnSpPr>
            <p:cNvPr id="16" name="Přímá spojovací čára 15"/>
            <p:cNvCxnSpPr/>
            <p:nvPr/>
          </p:nvCxnSpPr>
          <p:spPr>
            <a:xfrm>
              <a:off x="6357950" y="264318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bdélník 16"/>
            <p:cNvSpPr/>
            <p:nvPr/>
          </p:nvSpPr>
          <p:spPr>
            <a:xfrm>
              <a:off x="6357950" y="264318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18" name="Přímá spojovací čára 17"/>
            <p:cNvCxnSpPr/>
            <p:nvPr/>
          </p:nvCxnSpPr>
          <p:spPr>
            <a:xfrm>
              <a:off x="6357950" y="371475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bdélník 18"/>
            <p:cNvSpPr/>
            <p:nvPr/>
          </p:nvSpPr>
          <p:spPr>
            <a:xfrm>
              <a:off x="6357950" y="3714752"/>
              <a:ext cx="1143008" cy="1071570"/>
            </a:xfrm>
            <a:prstGeom prst="rect">
              <a:avLst/>
            </a:prstGeom>
            <a:noFill/>
            <a:ln w="127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cxnSp>
          <p:nvCxnSpPr>
            <p:cNvPr id="20" name="Přímá spojovací čára 19"/>
            <p:cNvCxnSpPr/>
            <p:nvPr/>
          </p:nvCxnSpPr>
          <p:spPr>
            <a:xfrm>
              <a:off x="6357950" y="4786322"/>
              <a:ext cx="1143008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Přímá spojovací čára 20"/>
            <p:cNvCxnSpPr/>
            <p:nvPr/>
          </p:nvCxnSpPr>
          <p:spPr>
            <a:xfrm rot="5400000" flipH="1" flipV="1">
              <a:off x="7000098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Přímá spojovací čára 25"/>
            <p:cNvCxnSpPr/>
            <p:nvPr/>
          </p:nvCxnSpPr>
          <p:spPr>
            <a:xfrm rot="5400000" flipH="1" flipV="1">
              <a:off x="7001686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Přímá spojovací čára 28"/>
            <p:cNvCxnSpPr/>
            <p:nvPr/>
          </p:nvCxnSpPr>
          <p:spPr>
            <a:xfrm rot="5400000" flipH="1" flipV="1">
              <a:off x="5858678" y="3142454"/>
              <a:ext cx="1000132" cy="1588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Přímá spojovací čára 29"/>
            <p:cNvCxnSpPr/>
            <p:nvPr/>
          </p:nvCxnSpPr>
          <p:spPr>
            <a:xfrm rot="5400000" flipH="1" flipV="1">
              <a:off x="5857884" y="4286256"/>
              <a:ext cx="1000926" cy="794"/>
            </a:xfrm>
            <a:prstGeom prst="line">
              <a:avLst/>
            </a:prstGeom>
            <a:ln w="254000">
              <a:solidFill>
                <a:schemeClr val="accent1">
                  <a:shade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ovéPole 30"/>
            <p:cNvSpPr txBox="1"/>
            <p:nvPr/>
          </p:nvSpPr>
          <p:spPr>
            <a:xfrm>
              <a:off x="6786578" y="2000240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a</a:t>
              </a:r>
            </a:p>
          </p:txBody>
        </p:sp>
        <p:sp>
          <p:nvSpPr>
            <p:cNvPr id="32" name="TextovéPole 31"/>
            <p:cNvSpPr txBox="1"/>
            <p:nvPr/>
          </p:nvSpPr>
          <p:spPr>
            <a:xfrm>
              <a:off x="7643834" y="2895897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b</a:t>
              </a:r>
            </a:p>
          </p:txBody>
        </p:sp>
        <p:sp>
          <p:nvSpPr>
            <p:cNvPr id="33" name="TextovéPole 32"/>
            <p:cNvSpPr txBox="1"/>
            <p:nvPr/>
          </p:nvSpPr>
          <p:spPr>
            <a:xfrm>
              <a:off x="7643834" y="4000504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c</a:t>
              </a:r>
            </a:p>
          </p:txBody>
        </p:sp>
        <p:sp>
          <p:nvSpPr>
            <p:cNvPr id="34" name="TextovéPole 33"/>
            <p:cNvSpPr txBox="1"/>
            <p:nvPr/>
          </p:nvSpPr>
          <p:spPr>
            <a:xfrm>
              <a:off x="6786578" y="4824723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d</a:t>
              </a:r>
            </a:p>
          </p:txBody>
        </p:sp>
        <p:sp>
          <p:nvSpPr>
            <p:cNvPr id="35" name="TextovéPole 34"/>
            <p:cNvSpPr txBox="1"/>
            <p:nvPr/>
          </p:nvSpPr>
          <p:spPr>
            <a:xfrm>
              <a:off x="5857884" y="4000504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e</a:t>
              </a:r>
            </a:p>
          </p:txBody>
        </p:sp>
        <p:sp>
          <p:nvSpPr>
            <p:cNvPr id="36" name="TextovéPole 35"/>
            <p:cNvSpPr txBox="1"/>
            <p:nvPr/>
          </p:nvSpPr>
          <p:spPr>
            <a:xfrm>
              <a:off x="5857884" y="2895897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f</a:t>
              </a:r>
            </a:p>
          </p:txBody>
        </p:sp>
        <p:sp>
          <p:nvSpPr>
            <p:cNvPr id="37" name="TextovéPole 36"/>
            <p:cNvSpPr txBox="1"/>
            <p:nvPr/>
          </p:nvSpPr>
          <p:spPr>
            <a:xfrm>
              <a:off x="6785072" y="3143248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g</a:t>
              </a:r>
            </a:p>
          </p:txBody>
        </p:sp>
      </p:grpSp>
      <p:sp>
        <p:nvSpPr>
          <p:cNvPr id="2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5" name="Tlačítko akce: Vlastní 2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7" name="Tlačítko akce: Vlastní 2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8" name="Tlačítko akce: Vlastní 2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Dekodér z BCD do 7-seg.displej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cxnSp>
        <p:nvCxnSpPr>
          <p:cNvPr id="4" name="Přímá spojnice 3">
            <a:extLst>
              <a:ext uri="{FF2B5EF4-FFF2-40B4-BE49-F238E27FC236}">
                <a16:creationId xmlns:a16="http://schemas.microsoft.com/office/drawing/2014/main" id="{9DBEE5DC-07E6-4F3D-BBF5-64BEE9A1C2D5}"/>
              </a:ext>
            </a:extLst>
          </p:cNvPr>
          <p:cNvCxnSpPr/>
          <p:nvPr/>
        </p:nvCxnSpPr>
        <p:spPr>
          <a:xfrm>
            <a:off x="2915816" y="1140133"/>
            <a:ext cx="396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Přímá spojnice 38">
            <a:extLst>
              <a:ext uri="{FF2B5EF4-FFF2-40B4-BE49-F238E27FC236}">
                <a16:creationId xmlns:a16="http://schemas.microsoft.com/office/drawing/2014/main" id="{7F8E156C-C760-4D91-ABFA-B66E8A5F052A}"/>
              </a:ext>
            </a:extLst>
          </p:cNvPr>
          <p:cNvCxnSpPr/>
          <p:nvPr/>
        </p:nvCxnSpPr>
        <p:spPr>
          <a:xfrm>
            <a:off x="648000" y="1116000"/>
            <a:ext cx="396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514376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Kodér</a:t>
            </a:r>
          </a:p>
        </p:txBody>
      </p:sp>
      <p:sp>
        <p:nvSpPr>
          <p:cNvPr id="229432" name="Text Box 56"/>
          <p:cNvSpPr txBox="1">
            <a:spLocks noChangeArrowheads="1"/>
          </p:cNvSpPr>
          <p:nvPr/>
        </p:nvSpPr>
        <p:spPr bwMode="auto">
          <a:xfrm>
            <a:off x="360000" y="1080000"/>
            <a:ext cx="8812212" cy="114300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Kodér převádí </a:t>
            </a:r>
            <a:r>
              <a:rPr lang="cs-CZ" sz="2800" dirty="0">
                <a:latin typeface="Arial" charset="0"/>
              </a:rPr>
              <a:t>kód </a:t>
            </a:r>
            <a:r>
              <a:rPr lang="cs-CZ" sz="2800" b="1" dirty="0">
                <a:latin typeface="Verdana" pitchFamily="34" charset="0"/>
              </a:rPr>
              <a:t>1 z N </a:t>
            </a:r>
            <a:r>
              <a:rPr lang="cs-CZ" sz="2800" dirty="0">
                <a:latin typeface="Arial" charset="0"/>
              </a:rPr>
              <a:t>na </a:t>
            </a:r>
            <a:r>
              <a:rPr lang="cs-CZ" sz="2800" b="1" dirty="0">
                <a:latin typeface="Verdana" pitchFamily="34" charset="0"/>
              </a:rPr>
              <a:t>binární kód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dirty="0">
                <a:latin typeface="Verdana" pitchFamily="34" charset="0"/>
              </a:rPr>
              <a:t>Příkladem</a:t>
            </a:r>
            <a:r>
              <a:rPr lang="cs-CZ" sz="2800" b="1" dirty="0">
                <a:latin typeface="Verdana" pitchFamily="34" charset="0"/>
              </a:rPr>
              <a:t> </a:t>
            </a:r>
            <a:r>
              <a:rPr lang="cs-CZ" sz="2800" dirty="0">
                <a:latin typeface="Arial" charset="0"/>
              </a:rPr>
              <a:t>je </a:t>
            </a:r>
            <a:r>
              <a:rPr lang="cs-CZ" sz="2800" b="1" dirty="0">
                <a:latin typeface="Arial" charset="0"/>
              </a:rPr>
              <a:t>kódování</a:t>
            </a:r>
            <a:r>
              <a:rPr lang="cs-CZ" sz="2800" dirty="0">
                <a:latin typeface="Arial" charset="0"/>
              </a:rPr>
              <a:t> </a:t>
            </a:r>
            <a:r>
              <a:rPr lang="cs-CZ" sz="2800" b="1" dirty="0">
                <a:latin typeface="Arial" charset="0"/>
              </a:rPr>
              <a:t>stisknuté </a:t>
            </a:r>
            <a:r>
              <a:rPr lang="cs-CZ" sz="2800" b="1" dirty="0">
                <a:latin typeface="Verdana" pitchFamily="34" charset="0"/>
              </a:rPr>
              <a:t>klávesy</a:t>
            </a:r>
            <a:endParaRPr lang="cs-CZ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32" name="Text Box 56"/>
          <p:cNvSpPr txBox="1">
            <a:spLocks noChangeArrowheads="1"/>
          </p:cNvSpPr>
          <p:nvPr/>
        </p:nvSpPr>
        <p:spPr bwMode="auto">
          <a:xfrm>
            <a:off x="5202562" y="1053756"/>
            <a:ext cx="361791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A,B,C,D – kód 1 ze 4</a:t>
            </a:r>
          </a:p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Výstupy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Y0,Y1 – výstup BIN kód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EO – platný výstup</a:t>
            </a:r>
          </a:p>
        </p:txBody>
      </p:sp>
      <p:sp>
        <p:nvSpPr>
          <p:cNvPr id="2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1" name="Tlačítko akce: Vlastní 3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34" name="Skupina 33"/>
          <p:cNvGrpSpPr/>
          <p:nvPr/>
        </p:nvGrpSpPr>
        <p:grpSpPr>
          <a:xfrm>
            <a:off x="1548000" y="785794"/>
            <a:ext cx="2160000" cy="3600000"/>
            <a:chOff x="3357554" y="2357430"/>
            <a:chExt cx="2160000" cy="3600000"/>
          </a:xfrm>
          <a:solidFill>
            <a:schemeClr val="bg1">
              <a:lumMod val="95000"/>
            </a:schemeClr>
          </a:solidFill>
        </p:grpSpPr>
        <p:sp>
          <p:nvSpPr>
            <p:cNvPr id="35" name="Obdélník 34"/>
            <p:cNvSpPr/>
            <p:nvPr/>
          </p:nvSpPr>
          <p:spPr>
            <a:xfrm>
              <a:off x="3357554" y="2357430"/>
              <a:ext cx="2160000" cy="36000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TextovéPole 35"/>
            <p:cNvSpPr txBox="1"/>
            <p:nvPr/>
          </p:nvSpPr>
          <p:spPr>
            <a:xfrm>
              <a:off x="3786182" y="3286124"/>
              <a:ext cx="1415772" cy="4616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cs-CZ" b="1" dirty="0" err="1">
                  <a:latin typeface="+mj-lt"/>
                </a:rPr>
                <a:t>Encoder</a:t>
              </a:r>
              <a:endParaRPr lang="cs-CZ" b="1" dirty="0">
                <a:latin typeface="+mj-lt"/>
              </a:endParaRPr>
            </a:p>
          </p:txBody>
        </p:sp>
      </p:grpSp>
      <p:grpSp>
        <p:nvGrpSpPr>
          <p:cNvPr id="39" name="Skupina 38"/>
          <p:cNvGrpSpPr/>
          <p:nvPr/>
        </p:nvGrpSpPr>
        <p:grpSpPr>
          <a:xfrm>
            <a:off x="618970" y="857232"/>
            <a:ext cx="928694" cy="1747549"/>
            <a:chOff x="2428860" y="2428868"/>
            <a:chExt cx="928694" cy="1747549"/>
          </a:xfrm>
        </p:grpSpPr>
        <p:cxnSp>
          <p:nvCxnSpPr>
            <p:cNvPr id="40" name="Přímá spojovací šipka 9"/>
            <p:cNvCxnSpPr/>
            <p:nvPr/>
          </p:nvCxnSpPr>
          <p:spPr>
            <a:xfrm>
              <a:off x="2428860" y="2857496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ovéPole 40"/>
            <p:cNvSpPr txBox="1"/>
            <p:nvPr/>
          </p:nvSpPr>
          <p:spPr>
            <a:xfrm>
              <a:off x="2571736" y="2428868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  <p:cxnSp>
          <p:nvCxnSpPr>
            <p:cNvPr id="42" name="Přímá spojovací šipka 22"/>
            <p:cNvCxnSpPr/>
            <p:nvPr/>
          </p:nvCxnSpPr>
          <p:spPr>
            <a:xfrm>
              <a:off x="2428860" y="3286124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Přímá spojovací šipka 23"/>
            <p:cNvCxnSpPr/>
            <p:nvPr/>
          </p:nvCxnSpPr>
          <p:spPr>
            <a:xfrm>
              <a:off x="2428860" y="3714752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ovéPole 44"/>
            <p:cNvSpPr txBox="1"/>
            <p:nvPr/>
          </p:nvSpPr>
          <p:spPr>
            <a:xfrm>
              <a:off x="2571736" y="2857496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  <p:sp>
          <p:nvSpPr>
            <p:cNvPr id="49" name="TextovéPole 48"/>
            <p:cNvSpPr txBox="1"/>
            <p:nvPr/>
          </p:nvSpPr>
          <p:spPr>
            <a:xfrm>
              <a:off x="2571736" y="3286124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</a:p>
          </p:txBody>
        </p:sp>
        <p:cxnSp>
          <p:nvCxnSpPr>
            <p:cNvPr id="50" name="Přímá spojovací šipka 21"/>
            <p:cNvCxnSpPr/>
            <p:nvPr/>
          </p:nvCxnSpPr>
          <p:spPr>
            <a:xfrm>
              <a:off x="2428860" y="414338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ovéPole 50"/>
            <p:cNvSpPr txBox="1"/>
            <p:nvPr/>
          </p:nvSpPr>
          <p:spPr>
            <a:xfrm>
              <a:off x="2571736" y="3714752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</a:p>
          </p:txBody>
        </p:sp>
      </p:grpSp>
      <p:grpSp>
        <p:nvGrpSpPr>
          <p:cNvPr id="52" name="Skupina 51"/>
          <p:cNvGrpSpPr/>
          <p:nvPr/>
        </p:nvGrpSpPr>
        <p:grpSpPr>
          <a:xfrm>
            <a:off x="3715314" y="857232"/>
            <a:ext cx="928694" cy="890293"/>
            <a:chOff x="5500694" y="2428868"/>
            <a:chExt cx="928694" cy="890293"/>
          </a:xfrm>
        </p:grpSpPr>
        <p:cxnSp>
          <p:nvCxnSpPr>
            <p:cNvPr id="53" name="Přímá spojovací šipka 13"/>
            <p:cNvCxnSpPr/>
            <p:nvPr/>
          </p:nvCxnSpPr>
          <p:spPr>
            <a:xfrm>
              <a:off x="5500694" y="2857496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Přímá spojovací šipka 26"/>
            <p:cNvCxnSpPr/>
            <p:nvPr/>
          </p:nvCxnSpPr>
          <p:spPr>
            <a:xfrm>
              <a:off x="5500694" y="3286124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ovéPole 54"/>
            <p:cNvSpPr txBox="1"/>
            <p:nvPr/>
          </p:nvSpPr>
          <p:spPr>
            <a:xfrm>
              <a:off x="5715008" y="2428868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Y0</a:t>
              </a:r>
            </a:p>
          </p:txBody>
        </p:sp>
        <p:sp>
          <p:nvSpPr>
            <p:cNvPr id="56" name="TextovéPole 55"/>
            <p:cNvSpPr txBox="1"/>
            <p:nvPr/>
          </p:nvSpPr>
          <p:spPr>
            <a:xfrm>
              <a:off x="5715008" y="2857496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Y1</a:t>
              </a:r>
            </a:p>
          </p:txBody>
        </p:sp>
      </p:grpSp>
      <p:grpSp>
        <p:nvGrpSpPr>
          <p:cNvPr id="57" name="Skupina 56"/>
          <p:cNvGrpSpPr/>
          <p:nvPr/>
        </p:nvGrpSpPr>
        <p:grpSpPr>
          <a:xfrm>
            <a:off x="3715314" y="3538839"/>
            <a:ext cx="928694" cy="461665"/>
            <a:chOff x="5500694" y="5110475"/>
            <a:chExt cx="928694" cy="461665"/>
          </a:xfrm>
        </p:grpSpPr>
        <p:cxnSp>
          <p:nvCxnSpPr>
            <p:cNvPr id="58" name="Přímá spojovací šipka 27"/>
            <p:cNvCxnSpPr/>
            <p:nvPr/>
          </p:nvCxnSpPr>
          <p:spPr>
            <a:xfrm>
              <a:off x="5500694" y="5499114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ovéPole 58"/>
            <p:cNvSpPr txBox="1"/>
            <p:nvPr/>
          </p:nvSpPr>
          <p:spPr>
            <a:xfrm>
              <a:off x="5715008" y="5110475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EO</a:t>
              </a:r>
            </a:p>
          </p:txBody>
        </p:sp>
      </p:grp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Kodér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9430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384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109907"/>
              </p:ext>
            </p:extLst>
          </p:nvPr>
        </p:nvGraphicFramePr>
        <p:xfrm>
          <a:off x="720000" y="1800000"/>
          <a:ext cx="4786349" cy="2987678"/>
        </p:xfrm>
        <a:graphic>
          <a:graphicData uri="http://schemas.openxmlformats.org/drawingml/2006/table">
            <a:tbl>
              <a:tblPr/>
              <a:tblGrid>
                <a:gridCol w="529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0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00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7038"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Výstup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EO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038"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Ostatní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Kodér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4"/>
              </a:buBlip>
            </a:pPr>
            <a:r>
              <a:rPr lang="cs-CZ" sz="2800" b="1" dirty="0">
                <a:latin typeface="Verdana" pitchFamily="34" charset="0"/>
              </a:rPr>
              <a:t>Pravdivostní tabulka</a:t>
            </a:r>
          </a:p>
        </p:txBody>
      </p:sp>
    </p:spTree>
    <p:extLst>
      <p:ext uri="{BB962C8B-B14F-4D97-AF65-F5344CB8AC3E}">
        <p14:creationId xmlns:p14="http://schemas.microsoft.com/office/powerpoint/2010/main" val="296831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Multiplexor</a:t>
            </a:r>
          </a:p>
        </p:txBody>
      </p:sp>
      <p:sp>
        <p:nvSpPr>
          <p:cNvPr id="221191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19236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Funkce</a:t>
            </a:r>
            <a:endParaRPr lang="cs-CZ" sz="2800" dirty="0">
              <a:latin typeface="Arial" charset="0"/>
            </a:endParaRPr>
          </a:p>
          <a:p>
            <a:pPr marL="495300" indent="-495300">
              <a:buClr>
                <a:schemeClr val="folHlink"/>
              </a:buClr>
            </a:pPr>
            <a:r>
              <a:rPr lang="cs-CZ" sz="2800" dirty="0">
                <a:latin typeface="Arial" charset="0"/>
              </a:rPr>
              <a:t>	</a:t>
            </a:r>
            <a:r>
              <a:rPr lang="cs-CZ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Multiplexor je logický obvod, který</a:t>
            </a:r>
            <a:r>
              <a:rPr lang="cs-CZ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přepojuje </a:t>
            </a:r>
            <a:r>
              <a:rPr lang="cs-CZ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datové </a:t>
            </a:r>
            <a:r>
              <a:rPr lang="cs-CZ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vstupy </a:t>
            </a:r>
            <a:r>
              <a:rPr lang="cs-CZ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</a:t>
            </a:r>
            <a:r>
              <a:rPr lang="cs-CZ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na </a:t>
            </a:r>
            <a:r>
              <a:rPr lang="cs-CZ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jeden výstup </a:t>
            </a:r>
            <a:r>
              <a:rPr lang="cs-CZ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</a:t>
            </a:r>
            <a:r>
              <a:rPr lang="cs-CZ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cs-CZ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podle adresového vstupu </a:t>
            </a:r>
            <a:r>
              <a:rPr lang="cs-CZ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1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1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Multiplexor</a:t>
            </a:r>
          </a:p>
        </p:txBody>
      </p:sp>
      <p:sp>
        <p:nvSpPr>
          <p:cNvPr id="2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6" name="Tlačítko akce: Vlastní 2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0" name="Tlačítko akce: Vlastní 2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5" name="Tlačítko akce: Vlastní 3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12" name="Skupina 11"/>
          <p:cNvGrpSpPr/>
          <p:nvPr/>
        </p:nvGrpSpPr>
        <p:grpSpPr>
          <a:xfrm>
            <a:off x="1691680" y="1412776"/>
            <a:ext cx="5544616" cy="5230934"/>
            <a:chOff x="1691680" y="1412776"/>
            <a:chExt cx="5544616" cy="5230934"/>
          </a:xfrm>
        </p:grpSpPr>
        <p:sp>
          <p:nvSpPr>
            <p:cNvPr id="22" name="Text Box 36"/>
            <p:cNvSpPr txBox="1">
              <a:spLocks noChangeArrowheads="1"/>
            </p:cNvSpPr>
            <p:nvPr/>
          </p:nvSpPr>
          <p:spPr bwMode="auto">
            <a:xfrm>
              <a:off x="1691680" y="2564904"/>
              <a:ext cx="1035026" cy="5715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495300" indent="-495300" algn="ctr">
                <a:buClr>
                  <a:schemeClr val="folHlink"/>
                </a:buClr>
              </a:pPr>
              <a:r>
                <a:rPr lang="cs-CZ" sz="2800" b="1" dirty="0">
                  <a:latin typeface="Verdana" pitchFamily="34" charset="0"/>
                </a:rPr>
                <a:t>X</a:t>
              </a:r>
            </a:p>
          </p:txBody>
        </p:sp>
        <p:sp>
          <p:nvSpPr>
            <p:cNvPr id="40" name="Text Box 36"/>
            <p:cNvSpPr txBox="1">
              <a:spLocks noChangeArrowheads="1"/>
            </p:cNvSpPr>
            <p:nvPr/>
          </p:nvSpPr>
          <p:spPr bwMode="auto">
            <a:xfrm>
              <a:off x="6201270" y="1769966"/>
              <a:ext cx="1035026" cy="5715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495300" indent="-495300" algn="ctr">
                <a:buClr>
                  <a:schemeClr val="folHlink"/>
                </a:buClr>
              </a:pPr>
              <a:r>
                <a:rPr lang="cs-CZ" sz="2800" b="1" dirty="0">
                  <a:latin typeface="Verdana" pitchFamily="34" charset="0"/>
                </a:rPr>
                <a:t>Y</a:t>
              </a:r>
            </a:p>
          </p:txBody>
        </p:sp>
        <p:grpSp>
          <p:nvGrpSpPr>
            <p:cNvPr id="11" name="Skupina 10"/>
            <p:cNvGrpSpPr/>
            <p:nvPr/>
          </p:nvGrpSpPr>
          <p:grpSpPr>
            <a:xfrm>
              <a:off x="2671173" y="1412776"/>
              <a:ext cx="3731034" cy="5230934"/>
              <a:chOff x="2671173" y="1412776"/>
              <a:chExt cx="3731034" cy="5230934"/>
            </a:xfrm>
          </p:grpSpPr>
          <p:grpSp>
            <p:nvGrpSpPr>
              <p:cNvPr id="9" name="Skupina 8"/>
              <p:cNvGrpSpPr/>
              <p:nvPr/>
            </p:nvGrpSpPr>
            <p:grpSpPr>
              <a:xfrm>
                <a:off x="2671173" y="1412776"/>
                <a:ext cx="3731034" cy="5230934"/>
                <a:chOff x="2671173" y="1412776"/>
                <a:chExt cx="3731034" cy="5230934"/>
              </a:xfrm>
            </p:grpSpPr>
            <p:cxnSp>
              <p:nvCxnSpPr>
                <p:cNvPr id="28" name="Přímá spojovací čára 27"/>
                <p:cNvCxnSpPr/>
                <p:nvPr/>
              </p:nvCxnSpPr>
              <p:spPr>
                <a:xfrm>
                  <a:off x="2678439" y="1769966"/>
                  <a:ext cx="1152000" cy="15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Přímá spojovací čára 31"/>
                <p:cNvCxnSpPr/>
                <p:nvPr/>
              </p:nvCxnSpPr>
              <p:spPr>
                <a:xfrm>
                  <a:off x="2678439" y="2484346"/>
                  <a:ext cx="1152000" cy="15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Přímá spojovací čára 32"/>
                <p:cNvCxnSpPr/>
                <p:nvPr/>
              </p:nvCxnSpPr>
              <p:spPr>
                <a:xfrm>
                  <a:off x="2678439" y="3198726"/>
                  <a:ext cx="1152000" cy="15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Přímá spojovací čára 33"/>
                <p:cNvCxnSpPr/>
                <p:nvPr/>
              </p:nvCxnSpPr>
              <p:spPr>
                <a:xfrm flipV="1">
                  <a:off x="3995936" y="5328000"/>
                  <a:ext cx="0" cy="73034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Přímá spojovací čára 41"/>
                <p:cNvCxnSpPr/>
                <p:nvPr/>
              </p:nvCxnSpPr>
              <p:spPr>
                <a:xfrm>
                  <a:off x="5250207" y="2482758"/>
                  <a:ext cx="1152000" cy="15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Přímá spojovací čára 32"/>
                <p:cNvCxnSpPr/>
                <p:nvPr/>
              </p:nvCxnSpPr>
              <p:spPr>
                <a:xfrm>
                  <a:off x="2671173" y="4712156"/>
                  <a:ext cx="1152000" cy="15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" name="Ovál 2"/>
                <p:cNvSpPr/>
                <p:nvPr/>
              </p:nvSpPr>
              <p:spPr>
                <a:xfrm>
                  <a:off x="3168072" y="3552536"/>
                  <a:ext cx="144016" cy="144016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s-CZ"/>
                </a:p>
              </p:txBody>
            </p:sp>
            <p:sp>
              <p:nvSpPr>
                <p:cNvPr id="27" name="Ovál 26"/>
                <p:cNvSpPr/>
                <p:nvPr/>
              </p:nvSpPr>
              <p:spPr>
                <a:xfrm>
                  <a:off x="3168072" y="3881641"/>
                  <a:ext cx="144016" cy="144016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s-CZ"/>
                </a:p>
              </p:txBody>
            </p:sp>
            <p:sp>
              <p:nvSpPr>
                <p:cNvPr id="29" name="Ovál 28"/>
                <p:cNvSpPr/>
                <p:nvPr/>
              </p:nvSpPr>
              <p:spPr>
                <a:xfrm>
                  <a:off x="3168072" y="4210746"/>
                  <a:ext cx="144016" cy="144016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s-CZ"/>
                </a:p>
              </p:txBody>
            </p:sp>
            <p:sp>
              <p:nvSpPr>
                <p:cNvPr id="38" name="Ovál 37"/>
                <p:cNvSpPr/>
                <p:nvPr/>
              </p:nvSpPr>
              <p:spPr>
                <a:xfrm>
                  <a:off x="4541447" y="5597212"/>
                  <a:ext cx="144016" cy="144016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s-CZ"/>
                </a:p>
              </p:txBody>
            </p:sp>
            <p:sp>
              <p:nvSpPr>
                <p:cNvPr id="14" name="Obdélník 13"/>
                <p:cNvSpPr/>
                <p:nvPr/>
              </p:nvSpPr>
              <p:spPr>
                <a:xfrm>
                  <a:off x="3821447" y="1412776"/>
                  <a:ext cx="1440000" cy="392909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cs-CZ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MX</a:t>
                  </a:r>
                </a:p>
              </p:txBody>
            </p:sp>
            <p:cxnSp>
              <p:nvCxnSpPr>
                <p:cNvPr id="36" name="Přímá spojovací čára 33"/>
                <p:cNvCxnSpPr/>
                <p:nvPr/>
              </p:nvCxnSpPr>
              <p:spPr>
                <a:xfrm flipV="1">
                  <a:off x="4320000" y="5328000"/>
                  <a:ext cx="0" cy="73034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Přímá spojovací čára 33"/>
                <p:cNvCxnSpPr/>
                <p:nvPr/>
              </p:nvCxnSpPr>
              <p:spPr>
                <a:xfrm flipV="1">
                  <a:off x="5148064" y="5315759"/>
                  <a:ext cx="0" cy="73034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Ovál 38"/>
                <p:cNvSpPr/>
                <p:nvPr/>
              </p:nvSpPr>
              <p:spPr>
                <a:xfrm>
                  <a:off x="4765855" y="5597212"/>
                  <a:ext cx="144016" cy="144016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s-CZ"/>
                </a:p>
              </p:txBody>
            </p:sp>
            <p:sp>
              <p:nvSpPr>
                <p:cNvPr id="44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113038" y="6072206"/>
                  <a:ext cx="1035026" cy="57150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495300" indent="-495300" algn="ctr">
                    <a:buClr>
                      <a:schemeClr val="folHlink"/>
                    </a:buClr>
                  </a:pPr>
                  <a:r>
                    <a:rPr lang="cs-CZ" sz="2800" b="1" dirty="0">
                      <a:latin typeface="Verdana" pitchFamily="34" charset="0"/>
                    </a:rPr>
                    <a:t>S</a:t>
                  </a:r>
                </a:p>
              </p:txBody>
            </p:sp>
          </p:grpSp>
          <p:cxnSp>
            <p:nvCxnSpPr>
              <p:cNvPr id="50" name="Přímá spojnice se šipkou 49"/>
              <p:cNvCxnSpPr/>
              <p:nvPr/>
            </p:nvCxnSpPr>
            <p:spPr>
              <a:xfrm>
                <a:off x="3937763" y="1788226"/>
                <a:ext cx="1210301" cy="697708"/>
              </a:xfrm>
              <a:prstGeom prst="straightConnector1">
                <a:avLst/>
              </a:prstGeom>
              <a:ln w="11430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6729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32" name="Text Box 56"/>
          <p:cNvSpPr txBox="1">
            <a:spLocks noChangeArrowheads="1"/>
          </p:cNvSpPr>
          <p:nvPr/>
        </p:nvSpPr>
        <p:spPr bwMode="auto">
          <a:xfrm>
            <a:off x="5202562" y="1053756"/>
            <a:ext cx="3617910" cy="26314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D0,D1,D2,D3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datové vstupy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A0,A1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adresové vstupy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povolovací vstup</a:t>
            </a:r>
          </a:p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Výstupy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datový výstup</a:t>
            </a:r>
          </a:p>
        </p:txBody>
      </p:sp>
      <p:sp>
        <p:nvSpPr>
          <p:cNvPr id="2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1" name="Tlačítko akce: Vlastní 3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5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77724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Multiplexor 4-1</a:t>
            </a:r>
          </a:p>
        </p:txBody>
      </p:sp>
      <p:grpSp>
        <p:nvGrpSpPr>
          <p:cNvPr id="3" name="Skupina 2"/>
          <p:cNvGrpSpPr/>
          <p:nvPr/>
        </p:nvGrpSpPr>
        <p:grpSpPr>
          <a:xfrm>
            <a:off x="612000" y="1584000"/>
            <a:ext cx="4024694" cy="3636000"/>
            <a:chOff x="612000" y="1584000"/>
            <a:chExt cx="4024694" cy="3636000"/>
          </a:xfrm>
        </p:grpSpPr>
        <p:grpSp>
          <p:nvGrpSpPr>
            <p:cNvPr id="10" name="Skupina 9"/>
            <p:cNvGrpSpPr/>
            <p:nvPr/>
          </p:nvGrpSpPr>
          <p:grpSpPr>
            <a:xfrm>
              <a:off x="1548000" y="1620000"/>
              <a:ext cx="2160000" cy="3600000"/>
              <a:chOff x="3357554" y="2357430"/>
              <a:chExt cx="2160000" cy="3600000"/>
            </a:xfrm>
            <a:solidFill>
              <a:schemeClr val="bg1">
                <a:lumMod val="95000"/>
              </a:schemeClr>
            </a:solidFill>
          </p:grpSpPr>
          <p:sp>
            <p:nvSpPr>
              <p:cNvPr id="11" name="Obdélník 10"/>
              <p:cNvSpPr/>
              <p:nvPr/>
            </p:nvSpPr>
            <p:spPr>
              <a:xfrm>
                <a:off x="3357554" y="2357430"/>
                <a:ext cx="2160000" cy="3600000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12" name="TextovéPole 11"/>
              <p:cNvSpPr txBox="1"/>
              <p:nvPr/>
            </p:nvSpPr>
            <p:spPr>
              <a:xfrm>
                <a:off x="3717258" y="3286124"/>
                <a:ext cx="1440000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cs-CZ" b="1" dirty="0">
                    <a:latin typeface="+mj-lt"/>
                  </a:rPr>
                  <a:t>MX</a:t>
                </a:r>
              </a:p>
            </p:txBody>
          </p:sp>
        </p:grpSp>
        <p:cxnSp>
          <p:nvCxnSpPr>
            <p:cNvPr id="14" name="Přímá spojovací šipka 9"/>
            <p:cNvCxnSpPr/>
            <p:nvPr/>
          </p:nvCxnSpPr>
          <p:spPr>
            <a:xfrm>
              <a:off x="612000" y="198000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ovéPole 14"/>
            <p:cNvSpPr txBox="1"/>
            <p:nvPr/>
          </p:nvSpPr>
          <p:spPr>
            <a:xfrm>
              <a:off x="756000" y="158400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D0</a:t>
              </a:r>
            </a:p>
          </p:txBody>
        </p:sp>
        <p:cxnSp>
          <p:nvCxnSpPr>
            <p:cNvPr id="16" name="Přímá spojovací šipka 22"/>
            <p:cNvCxnSpPr/>
            <p:nvPr/>
          </p:nvCxnSpPr>
          <p:spPr>
            <a:xfrm>
              <a:off x="618970" y="234000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Přímá spojovací šipka 23"/>
            <p:cNvCxnSpPr/>
            <p:nvPr/>
          </p:nvCxnSpPr>
          <p:spPr>
            <a:xfrm>
              <a:off x="618970" y="270000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ovéPole 17"/>
            <p:cNvSpPr txBox="1"/>
            <p:nvPr/>
          </p:nvSpPr>
          <p:spPr>
            <a:xfrm>
              <a:off x="756000" y="194400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D1</a:t>
              </a:r>
            </a:p>
          </p:txBody>
        </p:sp>
        <p:sp>
          <p:nvSpPr>
            <p:cNvPr id="19" name="TextovéPole 18"/>
            <p:cNvSpPr txBox="1"/>
            <p:nvPr/>
          </p:nvSpPr>
          <p:spPr>
            <a:xfrm>
              <a:off x="756000" y="230400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D2</a:t>
              </a:r>
            </a:p>
          </p:txBody>
        </p:sp>
        <p:cxnSp>
          <p:nvCxnSpPr>
            <p:cNvPr id="20" name="Přímá spojovací šipka 21"/>
            <p:cNvCxnSpPr/>
            <p:nvPr/>
          </p:nvCxnSpPr>
          <p:spPr>
            <a:xfrm>
              <a:off x="618970" y="306000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ovéPole 20"/>
            <p:cNvSpPr txBox="1"/>
            <p:nvPr/>
          </p:nvSpPr>
          <p:spPr>
            <a:xfrm>
              <a:off x="756000" y="266400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D3</a:t>
              </a:r>
            </a:p>
          </p:txBody>
        </p:sp>
        <p:sp>
          <p:nvSpPr>
            <p:cNvPr id="38" name="TextovéPole 37"/>
            <p:cNvSpPr txBox="1"/>
            <p:nvPr/>
          </p:nvSpPr>
          <p:spPr>
            <a:xfrm>
              <a:off x="792000" y="374400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A0</a:t>
              </a:r>
            </a:p>
          </p:txBody>
        </p:sp>
        <p:grpSp>
          <p:nvGrpSpPr>
            <p:cNvPr id="22" name="Skupina 21"/>
            <p:cNvGrpSpPr/>
            <p:nvPr/>
          </p:nvGrpSpPr>
          <p:grpSpPr>
            <a:xfrm>
              <a:off x="3708000" y="2160000"/>
              <a:ext cx="928694" cy="461665"/>
              <a:chOff x="5493380" y="2188670"/>
              <a:chExt cx="928694" cy="461665"/>
            </a:xfrm>
          </p:grpSpPr>
          <p:cxnSp>
            <p:nvCxnSpPr>
              <p:cNvPr id="23" name="Přímá spojovací šipka 13"/>
              <p:cNvCxnSpPr/>
              <p:nvPr/>
            </p:nvCxnSpPr>
            <p:spPr>
              <a:xfrm>
                <a:off x="5493380" y="2548670"/>
                <a:ext cx="928694" cy="15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ovéPole 26"/>
              <p:cNvSpPr txBox="1"/>
              <p:nvPr/>
            </p:nvSpPr>
            <p:spPr>
              <a:xfrm>
                <a:off x="5817380" y="2188670"/>
                <a:ext cx="3545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Y</a:t>
                </a:r>
              </a:p>
            </p:txBody>
          </p:sp>
        </p:grpSp>
        <p:cxnSp>
          <p:nvCxnSpPr>
            <p:cNvPr id="32" name="Přímá spojovací šipka 27"/>
            <p:cNvCxnSpPr/>
            <p:nvPr/>
          </p:nvCxnSpPr>
          <p:spPr>
            <a:xfrm>
              <a:off x="612000" y="450000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Přímá spojovací šipka 27"/>
            <p:cNvCxnSpPr/>
            <p:nvPr/>
          </p:nvCxnSpPr>
          <p:spPr>
            <a:xfrm>
              <a:off x="612000" y="414000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Přímá spojovací šipka 27"/>
            <p:cNvCxnSpPr/>
            <p:nvPr/>
          </p:nvCxnSpPr>
          <p:spPr>
            <a:xfrm>
              <a:off x="612000" y="496800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ovéPole 38"/>
            <p:cNvSpPr txBox="1"/>
            <p:nvPr/>
          </p:nvSpPr>
          <p:spPr>
            <a:xfrm>
              <a:off x="828000" y="4581128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40" name="TextovéPole 39"/>
            <p:cNvSpPr txBox="1"/>
            <p:nvPr/>
          </p:nvSpPr>
          <p:spPr>
            <a:xfrm>
              <a:off x="792000" y="410400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A1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703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9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3517" name="Group 2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51132"/>
              </p:ext>
            </p:extLst>
          </p:nvPr>
        </p:nvGraphicFramePr>
        <p:xfrm>
          <a:off x="720000" y="1800000"/>
          <a:ext cx="4142194" cy="4297680"/>
        </p:xfrm>
        <a:graphic>
          <a:graphicData uri="http://schemas.openxmlformats.org/drawingml/2006/table">
            <a:tbl>
              <a:tblPr/>
              <a:tblGrid>
                <a:gridCol w="591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1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17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17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17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1209">
                <a:tc gridSpan="7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5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5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Pravdivostní tabulka</a:t>
            </a:r>
          </a:p>
        </p:txBody>
      </p:sp>
      <p:graphicFrame>
        <p:nvGraphicFramePr>
          <p:cNvPr id="5" name="Group 2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224303"/>
              </p:ext>
            </p:extLst>
          </p:nvPr>
        </p:nvGraphicFramePr>
        <p:xfrm>
          <a:off x="4860000" y="1800000"/>
          <a:ext cx="1163246" cy="4297680"/>
        </p:xfrm>
        <a:graphic>
          <a:graphicData uri="http://schemas.openxmlformats.org/drawingml/2006/table">
            <a:tbl>
              <a:tblPr/>
              <a:tblGrid>
                <a:gridCol w="1163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Výstup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5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5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2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Multiplexor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3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Demultiplexor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186204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Funkce</a:t>
            </a:r>
            <a:endParaRPr lang="cs-CZ" sz="2800" dirty="0">
              <a:latin typeface="Arial" charset="0"/>
            </a:endParaRPr>
          </a:p>
          <a:p>
            <a:pPr marL="495300" indent="-495300">
              <a:buClr>
                <a:schemeClr val="folHlink"/>
              </a:buClr>
            </a:pPr>
            <a:r>
              <a:rPr lang="cs-CZ" dirty="0">
                <a:latin typeface="Arial" charset="0"/>
              </a:rPr>
              <a:t>	</a:t>
            </a:r>
            <a:r>
              <a:rPr lang="cs-CZ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Demultiplexor je logický obvod, který přepojuje </a:t>
            </a:r>
            <a:r>
              <a:rPr lang="cs-CZ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jeden</a:t>
            </a:r>
            <a:r>
              <a:rPr lang="cs-CZ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datový </a:t>
            </a:r>
            <a:r>
              <a:rPr lang="cs-CZ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vstup </a:t>
            </a:r>
            <a:r>
              <a:rPr lang="cs-CZ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</a:t>
            </a:r>
            <a:r>
              <a:rPr lang="cs-CZ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na</a:t>
            </a:r>
            <a:r>
              <a:rPr lang="cs-CZ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více výstupů </a:t>
            </a:r>
            <a:r>
              <a:rPr lang="cs-CZ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</a:t>
            </a:r>
            <a:r>
              <a:rPr lang="cs-CZ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cs-CZ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podle adresového vstupu </a:t>
            </a:r>
            <a:r>
              <a:rPr lang="cs-CZ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Demultiplexor</a:t>
            </a:r>
          </a:p>
        </p:txBody>
      </p:sp>
      <p:sp>
        <p:nvSpPr>
          <p:cNvPr id="2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6" name="Tlačítko akce: Vlastní 2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0" name="Tlačítko akce: Vlastní 2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5" name="Tlačítko akce: Vlastní 3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8" name="Skupina 7"/>
          <p:cNvGrpSpPr/>
          <p:nvPr/>
        </p:nvGrpSpPr>
        <p:grpSpPr>
          <a:xfrm>
            <a:off x="1979712" y="1412776"/>
            <a:ext cx="5377801" cy="5230934"/>
            <a:chOff x="1979712" y="1412776"/>
            <a:chExt cx="5377801" cy="5230934"/>
          </a:xfrm>
        </p:grpSpPr>
        <p:sp>
          <p:nvSpPr>
            <p:cNvPr id="22" name="Text Box 36"/>
            <p:cNvSpPr txBox="1">
              <a:spLocks noChangeArrowheads="1"/>
            </p:cNvSpPr>
            <p:nvPr/>
          </p:nvSpPr>
          <p:spPr bwMode="auto">
            <a:xfrm>
              <a:off x="1979712" y="1769966"/>
              <a:ext cx="1035026" cy="5715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495300" indent="-495300" algn="ctr">
                <a:buClr>
                  <a:schemeClr val="folHlink"/>
                </a:buClr>
              </a:pPr>
              <a:r>
                <a:rPr lang="cs-CZ" sz="2800" b="1" dirty="0">
                  <a:latin typeface="Verdana" pitchFamily="34" charset="0"/>
                </a:rPr>
                <a:t>X</a:t>
              </a:r>
            </a:p>
          </p:txBody>
        </p:sp>
        <p:sp>
          <p:nvSpPr>
            <p:cNvPr id="40" name="Text Box 36"/>
            <p:cNvSpPr txBox="1">
              <a:spLocks noChangeArrowheads="1"/>
            </p:cNvSpPr>
            <p:nvPr/>
          </p:nvSpPr>
          <p:spPr bwMode="auto">
            <a:xfrm>
              <a:off x="6322487" y="2197006"/>
              <a:ext cx="1035026" cy="5715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marL="495300" indent="-495300" algn="ctr">
                <a:buClr>
                  <a:schemeClr val="folHlink"/>
                </a:buClr>
              </a:pPr>
              <a:r>
                <a:rPr lang="cs-CZ" sz="2800" b="1" dirty="0">
                  <a:latin typeface="Verdana" pitchFamily="34" charset="0"/>
                </a:rPr>
                <a:t>Y</a:t>
              </a:r>
            </a:p>
          </p:txBody>
        </p:sp>
        <p:grpSp>
          <p:nvGrpSpPr>
            <p:cNvPr id="7" name="Skupina 6"/>
            <p:cNvGrpSpPr/>
            <p:nvPr/>
          </p:nvGrpSpPr>
          <p:grpSpPr>
            <a:xfrm>
              <a:off x="2678439" y="1412776"/>
              <a:ext cx="3729561" cy="5230934"/>
              <a:chOff x="2678439" y="1412776"/>
              <a:chExt cx="3729561" cy="5230934"/>
            </a:xfrm>
          </p:grpSpPr>
          <p:grpSp>
            <p:nvGrpSpPr>
              <p:cNvPr id="2" name="Skupina 1"/>
              <p:cNvGrpSpPr/>
              <p:nvPr/>
            </p:nvGrpSpPr>
            <p:grpSpPr>
              <a:xfrm>
                <a:off x="2678439" y="1412776"/>
                <a:ext cx="3729561" cy="5230934"/>
                <a:chOff x="2678439" y="1412776"/>
                <a:chExt cx="3729561" cy="5230934"/>
              </a:xfrm>
            </p:grpSpPr>
            <p:cxnSp>
              <p:nvCxnSpPr>
                <p:cNvPr id="28" name="Přímá spojovací čára 27"/>
                <p:cNvCxnSpPr/>
                <p:nvPr/>
              </p:nvCxnSpPr>
              <p:spPr>
                <a:xfrm>
                  <a:off x="5256000" y="1764000"/>
                  <a:ext cx="1152000" cy="15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Přímá spojovací čára 31"/>
                <p:cNvCxnSpPr/>
                <p:nvPr/>
              </p:nvCxnSpPr>
              <p:spPr>
                <a:xfrm>
                  <a:off x="2678439" y="2484346"/>
                  <a:ext cx="1152000" cy="15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Přímá spojovací čára 32"/>
                <p:cNvCxnSpPr/>
                <p:nvPr/>
              </p:nvCxnSpPr>
              <p:spPr>
                <a:xfrm>
                  <a:off x="5256000" y="3204000"/>
                  <a:ext cx="1152000" cy="15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Přímá spojovací čára 33"/>
                <p:cNvCxnSpPr/>
                <p:nvPr/>
              </p:nvCxnSpPr>
              <p:spPr>
                <a:xfrm flipV="1">
                  <a:off x="3995936" y="5328000"/>
                  <a:ext cx="0" cy="73034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Přímá spojovací čára 41"/>
                <p:cNvCxnSpPr/>
                <p:nvPr/>
              </p:nvCxnSpPr>
              <p:spPr>
                <a:xfrm>
                  <a:off x="5256000" y="2482758"/>
                  <a:ext cx="1152000" cy="15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Přímá spojovací čára 32"/>
                <p:cNvCxnSpPr/>
                <p:nvPr/>
              </p:nvCxnSpPr>
              <p:spPr>
                <a:xfrm>
                  <a:off x="5256000" y="4712156"/>
                  <a:ext cx="1152000" cy="15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" name="Ovál 2"/>
                <p:cNvSpPr/>
                <p:nvPr/>
              </p:nvSpPr>
              <p:spPr>
                <a:xfrm>
                  <a:off x="5789107" y="3552536"/>
                  <a:ext cx="144016" cy="144016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s-CZ"/>
                </a:p>
              </p:txBody>
            </p:sp>
            <p:sp>
              <p:nvSpPr>
                <p:cNvPr id="27" name="Ovál 26"/>
                <p:cNvSpPr/>
                <p:nvPr/>
              </p:nvSpPr>
              <p:spPr>
                <a:xfrm>
                  <a:off x="5789107" y="3881641"/>
                  <a:ext cx="144016" cy="144016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s-CZ"/>
                </a:p>
              </p:txBody>
            </p:sp>
            <p:sp>
              <p:nvSpPr>
                <p:cNvPr id="29" name="Ovál 28"/>
                <p:cNvSpPr/>
                <p:nvPr/>
              </p:nvSpPr>
              <p:spPr>
                <a:xfrm>
                  <a:off x="5789107" y="4210746"/>
                  <a:ext cx="144016" cy="144016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s-CZ"/>
                </a:p>
              </p:txBody>
            </p:sp>
            <p:sp>
              <p:nvSpPr>
                <p:cNvPr id="38" name="Ovál 37"/>
                <p:cNvSpPr/>
                <p:nvPr/>
              </p:nvSpPr>
              <p:spPr>
                <a:xfrm>
                  <a:off x="4541447" y="5597212"/>
                  <a:ext cx="144016" cy="144016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s-CZ"/>
                </a:p>
              </p:txBody>
            </p:sp>
            <p:sp>
              <p:nvSpPr>
                <p:cNvPr id="14" name="Obdélník 13"/>
                <p:cNvSpPr/>
                <p:nvPr/>
              </p:nvSpPr>
              <p:spPr>
                <a:xfrm>
                  <a:off x="3821447" y="1412776"/>
                  <a:ext cx="1440000" cy="392909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cs-CZ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DMX</a:t>
                  </a:r>
                </a:p>
              </p:txBody>
            </p:sp>
            <p:cxnSp>
              <p:nvCxnSpPr>
                <p:cNvPr id="36" name="Přímá spojovací čára 33"/>
                <p:cNvCxnSpPr/>
                <p:nvPr/>
              </p:nvCxnSpPr>
              <p:spPr>
                <a:xfrm flipV="1">
                  <a:off x="4320000" y="5328000"/>
                  <a:ext cx="0" cy="73034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Přímá spojovací čára 33"/>
                <p:cNvCxnSpPr/>
                <p:nvPr/>
              </p:nvCxnSpPr>
              <p:spPr>
                <a:xfrm flipV="1">
                  <a:off x="5148064" y="5315759"/>
                  <a:ext cx="0" cy="73034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tailEnd type="arrow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Ovál 38"/>
                <p:cNvSpPr/>
                <p:nvPr/>
              </p:nvSpPr>
              <p:spPr>
                <a:xfrm>
                  <a:off x="4765855" y="5597212"/>
                  <a:ext cx="144016" cy="144016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s-CZ"/>
                </a:p>
              </p:txBody>
            </p:sp>
            <p:sp>
              <p:nvSpPr>
                <p:cNvPr id="44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113038" y="6072206"/>
                  <a:ext cx="1035026" cy="57150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495300" indent="-495300" algn="ctr">
                    <a:buClr>
                      <a:schemeClr val="folHlink"/>
                    </a:buClr>
                  </a:pPr>
                  <a:r>
                    <a:rPr lang="cs-CZ" sz="2800" b="1" dirty="0">
                      <a:latin typeface="Verdana" pitchFamily="34" charset="0"/>
                    </a:rPr>
                    <a:t>S</a:t>
                  </a:r>
                </a:p>
              </p:txBody>
            </p:sp>
          </p:grpSp>
          <p:cxnSp>
            <p:nvCxnSpPr>
              <p:cNvPr id="41" name="Přímá spojnice se šipkou 40"/>
              <p:cNvCxnSpPr/>
              <p:nvPr/>
            </p:nvCxnSpPr>
            <p:spPr>
              <a:xfrm flipV="1">
                <a:off x="3995936" y="1769966"/>
                <a:ext cx="1152128" cy="715968"/>
              </a:xfrm>
              <a:prstGeom prst="straightConnector1">
                <a:avLst/>
              </a:prstGeom>
              <a:ln w="11430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7608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6"/>
          <p:cNvSpPr txBox="1">
            <a:spLocks noChangeArrowheads="1"/>
          </p:cNvSpPr>
          <p:nvPr/>
        </p:nvSpPr>
        <p:spPr bwMode="auto">
          <a:xfrm>
            <a:off x="5202562" y="1053756"/>
            <a:ext cx="3617910" cy="26314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D0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datový vstup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A0,A1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adresové vstupy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povolovací vstup</a:t>
            </a:r>
          </a:p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Výstupy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Y0,Y1,Y2,Y3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datový výstup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77724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4000" b="1" kern="0">
                <a:effectLst>
                  <a:outerShdw blurRad="38100" dist="38100" dir="2700000" algn="tl">
                    <a:srgbClr val="C0C0C0"/>
                  </a:outerShdw>
                </a:effectLst>
              </a:rPr>
              <a:t>Demultiplexor 1- 4</a:t>
            </a:r>
            <a:endParaRPr lang="cs-CZ" sz="4000" b="1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3" name="Skupina 2"/>
          <p:cNvGrpSpPr/>
          <p:nvPr/>
        </p:nvGrpSpPr>
        <p:grpSpPr>
          <a:xfrm>
            <a:off x="612000" y="1584000"/>
            <a:ext cx="4032008" cy="3636000"/>
            <a:chOff x="612000" y="1584000"/>
            <a:chExt cx="4032008" cy="3636000"/>
          </a:xfrm>
        </p:grpSpPr>
        <p:grpSp>
          <p:nvGrpSpPr>
            <p:cNvPr id="14" name="Skupina 13"/>
            <p:cNvGrpSpPr/>
            <p:nvPr/>
          </p:nvGrpSpPr>
          <p:grpSpPr>
            <a:xfrm>
              <a:off x="1548000" y="1620000"/>
              <a:ext cx="2160000" cy="3600000"/>
              <a:chOff x="3357554" y="2357430"/>
              <a:chExt cx="2160000" cy="3600000"/>
            </a:xfrm>
            <a:solidFill>
              <a:schemeClr val="bg1">
                <a:lumMod val="95000"/>
              </a:schemeClr>
            </a:solidFill>
          </p:grpSpPr>
          <p:sp>
            <p:nvSpPr>
              <p:cNvPr id="32" name="Obdélník 31"/>
              <p:cNvSpPr/>
              <p:nvPr/>
            </p:nvSpPr>
            <p:spPr>
              <a:xfrm>
                <a:off x="3357554" y="2357430"/>
                <a:ext cx="2160000" cy="3600000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33" name="TextovéPole 32"/>
              <p:cNvSpPr txBox="1"/>
              <p:nvPr/>
            </p:nvSpPr>
            <p:spPr>
              <a:xfrm>
                <a:off x="3717258" y="3286124"/>
                <a:ext cx="1440000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cs-CZ" b="1" dirty="0">
                    <a:latin typeface="+mj-lt"/>
                  </a:rPr>
                  <a:t>DMX</a:t>
                </a:r>
              </a:p>
            </p:txBody>
          </p:sp>
        </p:grpSp>
        <p:cxnSp>
          <p:nvCxnSpPr>
            <p:cNvPr id="15" name="Přímá spojovací šipka 9"/>
            <p:cNvCxnSpPr/>
            <p:nvPr/>
          </p:nvCxnSpPr>
          <p:spPr>
            <a:xfrm>
              <a:off x="3708344" y="198000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ovéPole 15"/>
            <p:cNvSpPr txBox="1"/>
            <p:nvPr/>
          </p:nvSpPr>
          <p:spPr>
            <a:xfrm>
              <a:off x="3852344" y="158400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Y0</a:t>
              </a:r>
            </a:p>
          </p:txBody>
        </p:sp>
        <p:cxnSp>
          <p:nvCxnSpPr>
            <p:cNvPr id="17" name="Přímá spojovací šipka 22"/>
            <p:cNvCxnSpPr/>
            <p:nvPr/>
          </p:nvCxnSpPr>
          <p:spPr>
            <a:xfrm>
              <a:off x="3715314" y="234000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Přímá spojovací šipka 23"/>
            <p:cNvCxnSpPr/>
            <p:nvPr/>
          </p:nvCxnSpPr>
          <p:spPr>
            <a:xfrm>
              <a:off x="3715314" y="270000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ovéPole 18"/>
            <p:cNvSpPr txBox="1"/>
            <p:nvPr/>
          </p:nvSpPr>
          <p:spPr>
            <a:xfrm>
              <a:off x="3852344" y="194400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Y1</a:t>
              </a:r>
            </a:p>
          </p:txBody>
        </p:sp>
        <p:sp>
          <p:nvSpPr>
            <p:cNvPr id="20" name="TextovéPole 19"/>
            <p:cNvSpPr txBox="1"/>
            <p:nvPr/>
          </p:nvSpPr>
          <p:spPr>
            <a:xfrm>
              <a:off x="3852344" y="230400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Y2</a:t>
              </a:r>
            </a:p>
          </p:txBody>
        </p:sp>
        <p:cxnSp>
          <p:nvCxnSpPr>
            <p:cNvPr id="21" name="Přímá spojovací šipka 21"/>
            <p:cNvCxnSpPr/>
            <p:nvPr/>
          </p:nvCxnSpPr>
          <p:spPr>
            <a:xfrm>
              <a:off x="3715314" y="306000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ovéPole 21"/>
            <p:cNvSpPr txBox="1"/>
            <p:nvPr/>
          </p:nvSpPr>
          <p:spPr>
            <a:xfrm>
              <a:off x="3852344" y="266400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Y3</a:t>
              </a:r>
            </a:p>
          </p:txBody>
        </p:sp>
        <p:sp>
          <p:nvSpPr>
            <p:cNvPr id="23" name="TextovéPole 22"/>
            <p:cNvSpPr txBox="1"/>
            <p:nvPr/>
          </p:nvSpPr>
          <p:spPr>
            <a:xfrm>
              <a:off x="828000" y="374400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A0</a:t>
              </a:r>
            </a:p>
          </p:txBody>
        </p:sp>
        <p:grpSp>
          <p:nvGrpSpPr>
            <p:cNvPr id="24" name="Skupina 23"/>
            <p:cNvGrpSpPr/>
            <p:nvPr/>
          </p:nvGrpSpPr>
          <p:grpSpPr>
            <a:xfrm>
              <a:off x="618970" y="2124000"/>
              <a:ext cx="928694" cy="461665"/>
              <a:chOff x="5493380" y="2152670"/>
              <a:chExt cx="928694" cy="461665"/>
            </a:xfrm>
          </p:grpSpPr>
          <p:cxnSp>
            <p:nvCxnSpPr>
              <p:cNvPr id="30" name="Přímá spojovací šipka 13"/>
              <p:cNvCxnSpPr/>
              <p:nvPr/>
            </p:nvCxnSpPr>
            <p:spPr>
              <a:xfrm>
                <a:off x="5493380" y="2548670"/>
                <a:ext cx="928694" cy="15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ovéPole 30"/>
              <p:cNvSpPr txBox="1"/>
              <p:nvPr/>
            </p:nvSpPr>
            <p:spPr>
              <a:xfrm>
                <a:off x="5701994" y="2152670"/>
                <a:ext cx="5245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D0</a:t>
                </a:r>
              </a:p>
            </p:txBody>
          </p:sp>
        </p:grpSp>
        <p:cxnSp>
          <p:nvCxnSpPr>
            <p:cNvPr id="25" name="Přímá spojovací šipka 27"/>
            <p:cNvCxnSpPr/>
            <p:nvPr/>
          </p:nvCxnSpPr>
          <p:spPr>
            <a:xfrm>
              <a:off x="612000" y="450000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Přímá spojovací šipka 27"/>
            <p:cNvCxnSpPr/>
            <p:nvPr/>
          </p:nvCxnSpPr>
          <p:spPr>
            <a:xfrm>
              <a:off x="612000" y="414000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Přímá spojovací šipka 27"/>
            <p:cNvCxnSpPr/>
            <p:nvPr/>
          </p:nvCxnSpPr>
          <p:spPr>
            <a:xfrm>
              <a:off x="612000" y="4968000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ovéPole 27"/>
            <p:cNvSpPr txBox="1"/>
            <p:nvPr/>
          </p:nvSpPr>
          <p:spPr>
            <a:xfrm>
              <a:off x="864000" y="4572000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</a:p>
          </p:txBody>
        </p:sp>
        <p:sp>
          <p:nvSpPr>
            <p:cNvPr id="29" name="TextovéPole 28"/>
            <p:cNvSpPr txBox="1"/>
            <p:nvPr/>
          </p:nvSpPr>
          <p:spPr>
            <a:xfrm>
              <a:off x="828000" y="410400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A1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484" name="Group 1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293504"/>
              </p:ext>
            </p:extLst>
          </p:nvPr>
        </p:nvGraphicFramePr>
        <p:xfrm>
          <a:off x="720000" y="1800000"/>
          <a:ext cx="2370668" cy="4524380"/>
        </p:xfrm>
        <a:graphic>
          <a:graphicData uri="http://schemas.openxmlformats.org/drawingml/2006/table">
            <a:tbl>
              <a:tblPr/>
              <a:tblGrid>
                <a:gridCol w="592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163"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6" name="Group 1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346201"/>
              </p:ext>
            </p:extLst>
          </p:nvPr>
        </p:nvGraphicFramePr>
        <p:xfrm>
          <a:off x="3096000" y="1800000"/>
          <a:ext cx="2370668" cy="4524380"/>
        </p:xfrm>
        <a:graphic>
          <a:graphicData uri="http://schemas.openxmlformats.org/drawingml/2006/table">
            <a:tbl>
              <a:tblPr/>
              <a:tblGrid>
                <a:gridCol w="592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163"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Výstup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Pravdivostní tabulka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Demultiplexor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Přímá spojnice 102"/>
          <p:cNvCxnSpPr/>
          <p:nvPr/>
        </p:nvCxnSpPr>
        <p:spPr>
          <a:xfrm flipH="1">
            <a:off x="4644007" y="1080000"/>
            <a:ext cx="0" cy="504000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Přímá spojnice 103"/>
          <p:cNvCxnSpPr/>
          <p:nvPr/>
        </p:nvCxnSpPr>
        <p:spPr>
          <a:xfrm>
            <a:off x="755576" y="1080000"/>
            <a:ext cx="0" cy="292506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Přímá spojnice 65"/>
          <p:cNvCxnSpPr/>
          <p:nvPr/>
        </p:nvCxnSpPr>
        <p:spPr>
          <a:xfrm flipH="1">
            <a:off x="8421700" y="1080000"/>
            <a:ext cx="0" cy="504000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77724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Použití MX a DMX</a:t>
            </a:r>
          </a:p>
        </p:txBody>
      </p:sp>
      <p:grpSp>
        <p:nvGrpSpPr>
          <p:cNvPr id="10" name="Skupina 9"/>
          <p:cNvGrpSpPr/>
          <p:nvPr/>
        </p:nvGrpSpPr>
        <p:grpSpPr>
          <a:xfrm>
            <a:off x="1548000" y="1620000"/>
            <a:ext cx="2160000" cy="3600000"/>
            <a:chOff x="3357554" y="2357430"/>
            <a:chExt cx="2160000" cy="3600000"/>
          </a:xfrm>
          <a:solidFill>
            <a:schemeClr val="bg1">
              <a:lumMod val="95000"/>
            </a:schemeClr>
          </a:solidFill>
        </p:grpSpPr>
        <p:sp>
          <p:nvSpPr>
            <p:cNvPr id="11" name="Obdélník 10"/>
            <p:cNvSpPr/>
            <p:nvPr/>
          </p:nvSpPr>
          <p:spPr>
            <a:xfrm>
              <a:off x="3357554" y="2357430"/>
              <a:ext cx="2160000" cy="36000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2" name="TextovéPole 11"/>
            <p:cNvSpPr txBox="1"/>
            <p:nvPr/>
          </p:nvSpPr>
          <p:spPr>
            <a:xfrm>
              <a:off x="3717258" y="3286124"/>
              <a:ext cx="144000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b="1" dirty="0">
                  <a:latin typeface="+mj-lt"/>
                </a:rPr>
                <a:t>MX</a:t>
              </a:r>
            </a:p>
          </p:txBody>
        </p:sp>
      </p:grpSp>
      <p:cxnSp>
        <p:nvCxnSpPr>
          <p:cNvPr id="14" name="Přímá spojovací šipka 9"/>
          <p:cNvCxnSpPr/>
          <p:nvPr/>
        </p:nvCxnSpPr>
        <p:spPr>
          <a:xfrm>
            <a:off x="612000" y="1980000"/>
            <a:ext cx="928694" cy="158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ovéPole 14"/>
          <p:cNvSpPr txBox="1"/>
          <p:nvPr/>
        </p:nvSpPr>
        <p:spPr>
          <a:xfrm>
            <a:off x="756000" y="15840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D0</a:t>
            </a:r>
          </a:p>
        </p:txBody>
      </p:sp>
      <p:cxnSp>
        <p:nvCxnSpPr>
          <p:cNvPr id="16" name="Přímá spojovací šipka 22"/>
          <p:cNvCxnSpPr/>
          <p:nvPr/>
        </p:nvCxnSpPr>
        <p:spPr>
          <a:xfrm>
            <a:off x="618970" y="2340000"/>
            <a:ext cx="928694" cy="158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římá spojovací šipka 23"/>
          <p:cNvCxnSpPr/>
          <p:nvPr/>
        </p:nvCxnSpPr>
        <p:spPr>
          <a:xfrm>
            <a:off x="618970" y="2700000"/>
            <a:ext cx="928694" cy="158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ovéPole 17"/>
          <p:cNvSpPr txBox="1"/>
          <p:nvPr/>
        </p:nvSpPr>
        <p:spPr>
          <a:xfrm>
            <a:off x="756000" y="19440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D1</a:t>
            </a:r>
          </a:p>
        </p:txBody>
      </p:sp>
      <p:sp>
        <p:nvSpPr>
          <p:cNvPr id="19" name="TextovéPole 18"/>
          <p:cNvSpPr txBox="1"/>
          <p:nvPr/>
        </p:nvSpPr>
        <p:spPr>
          <a:xfrm>
            <a:off x="756000" y="23040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D2</a:t>
            </a:r>
          </a:p>
        </p:txBody>
      </p:sp>
      <p:cxnSp>
        <p:nvCxnSpPr>
          <p:cNvPr id="20" name="Přímá spojovací šipka 21"/>
          <p:cNvCxnSpPr/>
          <p:nvPr/>
        </p:nvCxnSpPr>
        <p:spPr>
          <a:xfrm>
            <a:off x="618970" y="3060000"/>
            <a:ext cx="928694" cy="158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ovéPole 20"/>
          <p:cNvSpPr txBox="1"/>
          <p:nvPr/>
        </p:nvSpPr>
        <p:spPr>
          <a:xfrm>
            <a:off x="756000" y="26640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D3</a:t>
            </a:r>
          </a:p>
        </p:txBody>
      </p:sp>
      <p:sp>
        <p:nvSpPr>
          <p:cNvPr id="38" name="TextovéPole 37"/>
          <p:cNvSpPr txBox="1"/>
          <p:nvPr/>
        </p:nvSpPr>
        <p:spPr>
          <a:xfrm>
            <a:off x="792000" y="37440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A0</a:t>
            </a:r>
          </a:p>
        </p:txBody>
      </p:sp>
      <p:cxnSp>
        <p:nvCxnSpPr>
          <p:cNvPr id="23" name="Přímá spojovací šipka 13"/>
          <p:cNvCxnSpPr/>
          <p:nvPr/>
        </p:nvCxnSpPr>
        <p:spPr>
          <a:xfrm>
            <a:off x="3708000" y="2520000"/>
            <a:ext cx="187244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ovéPole 26"/>
          <p:cNvSpPr txBox="1"/>
          <p:nvPr/>
        </p:nvSpPr>
        <p:spPr>
          <a:xfrm>
            <a:off x="4032000" y="213285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</a:p>
        </p:txBody>
      </p:sp>
      <p:cxnSp>
        <p:nvCxnSpPr>
          <p:cNvPr id="32" name="Přímá spojovací šipka 27"/>
          <p:cNvCxnSpPr/>
          <p:nvPr/>
        </p:nvCxnSpPr>
        <p:spPr>
          <a:xfrm>
            <a:off x="612000" y="4500000"/>
            <a:ext cx="928694" cy="158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Přímá spojovací šipka 27"/>
          <p:cNvCxnSpPr/>
          <p:nvPr/>
        </p:nvCxnSpPr>
        <p:spPr>
          <a:xfrm>
            <a:off x="612000" y="4140000"/>
            <a:ext cx="928694" cy="158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Přímá spojovací šipka 27"/>
          <p:cNvCxnSpPr/>
          <p:nvPr/>
        </p:nvCxnSpPr>
        <p:spPr>
          <a:xfrm>
            <a:off x="828000" y="4969588"/>
            <a:ext cx="712694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ovéPole 38"/>
          <p:cNvSpPr txBox="1"/>
          <p:nvPr/>
        </p:nvSpPr>
        <p:spPr>
          <a:xfrm>
            <a:off x="828000" y="460800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40" name="TextovéPole 39"/>
          <p:cNvSpPr txBox="1"/>
          <p:nvPr/>
        </p:nvSpPr>
        <p:spPr>
          <a:xfrm>
            <a:off x="792000" y="41040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A1</a:t>
            </a:r>
          </a:p>
        </p:txBody>
      </p:sp>
      <p:grpSp>
        <p:nvGrpSpPr>
          <p:cNvPr id="34" name="Skupina 33"/>
          <p:cNvGrpSpPr/>
          <p:nvPr/>
        </p:nvGrpSpPr>
        <p:grpSpPr>
          <a:xfrm>
            <a:off x="5580448" y="1620000"/>
            <a:ext cx="2160000" cy="3600000"/>
            <a:chOff x="3357554" y="2357430"/>
            <a:chExt cx="2160000" cy="3600000"/>
          </a:xfrm>
          <a:solidFill>
            <a:schemeClr val="bg1">
              <a:lumMod val="95000"/>
            </a:schemeClr>
          </a:solidFill>
        </p:grpSpPr>
        <p:sp>
          <p:nvSpPr>
            <p:cNvPr id="58" name="Obdélník 57"/>
            <p:cNvSpPr/>
            <p:nvPr/>
          </p:nvSpPr>
          <p:spPr>
            <a:xfrm>
              <a:off x="3357554" y="2357430"/>
              <a:ext cx="2160000" cy="36000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59" name="TextovéPole 58"/>
            <p:cNvSpPr txBox="1"/>
            <p:nvPr/>
          </p:nvSpPr>
          <p:spPr>
            <a:xfrm>
              <a:off x="3717258" y="3286124"/>
              <a:ext cx="144000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b="1" dirty="0">
                  <a:latin typeface="+mj-lt"/>
                </a:rPr>
                <a:t>DMX</a:t>
              </a:r>
            </a:p>
          </p:txBody>
        </p:sp>
      </p:grpSp>
      <p:cxnSp>
        <p:nvCxnSpPr>
          <p:cNvPr id="41" name="Přímá spojovací šipka 9"/>
          <p:cNvCxnSpPr/>
          <p:nvPr/>
        </p:nvCxnSpPr>
        <p:spPr>
          <a:xfrm>
            <a:off x="7740792" y="1980000"/>
            <a:ext cx="928694" cy="158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ovéPole 41"/>
          <p:cNvSpPr txBox="1"/>
          <p:nvPr/>
        </p:nvSpPr>
        <p:spPr>
          <a:xfrm>
            <a:off x="7884792" y="15840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Y0</a:t>
            </a:r>
          </a:p>
        </p:txBody>
      </p:sp>
      <p:cxnSp>
        <p:nvCxnSpPr>
          <p:cNvPr id="43" name="Přímá spojovací šipka 22"/>
          <p:cNvCxnSpPr/>
          <p:nvPr/>
        </p:nvCxnSpPr>
        <p:spPr>
          <a:xfrm>
            <a:off x="7747762" y="2340000"/>
            <a:ext cx="928694" cy="158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Přímá spojovací šipka 23"/>
          <p:cNvCxnSpPr/>
          <p:nvPr/>
        </p:nvCxnSpPr>
        <p:spPr>
          <a:xfrm>
            <a:off x="7747762" y="2700000"/>
            <a:ext cx="928694" cy="158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ovéPole 44"/>
          <p:cNvSpPr txBox="1"/>
          <p:nvPr/>
        </p:nvSpPr>
        <p:spPr>
          <a:xfrm>
            <a:off x="7884792" y="19440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Y1</a:t>
            </a:r>
          </a:p>
        </p:txBody>
      </p:sp>
      <p:sp>
        <p:nvSpPr>
          <p:cNvPr id="46" name="TextovéPole 45"/>
          <p:cNvSpPr txBox="1"/>
          <p:nvPr/>
        </p:nvSpPr>
        <p:spPr>
          <a:xfrm>
            <a:off x="7884792" y="23040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Y2</a:t>
            </a:r>
          </a:p>
        </p:txBody>
      </p:sp>
      <p:cxnSp>
        <p:nvCxnSpPr>
          <p:cNvPr id="47" name="Přímá spojovací šipka 21"/>
          <p:cNvCxnSpPr/>
          <p:nvPr/>
        </p:nvCxnSpPr>
        <p:spPr>
          <a:xfrm>
            <a:off x="7747762" y="3060000"/>
            <a:ext cx="928694" cy="158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ovéPole 47"/>
          <p:cNvSpPr txBox="1"/>
          <p:nvPr/>
        </p:nvSpPr>
        <p:spPr>
          <a:xfrm>
            <a:off x="7884792" y="26640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Y3</a:t>
            </a:r>
          </a:p>
        </p:txBody>
      </p:sp>
      <p:sp>
        <p:nvSpPr>
          <p:cNvPr id="49" name="TextovéPole 48"/>
          <p:cNvSpPr txBox="1"/>
          <p:nvPr/>
        </p:nvSpPr>
        <p:spPr>
          <a:xfrm>
            <a:off x="4860448" y="37440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A0</a:t>
            </a:r>
          </a:p>
        </p:txBody>
      </p:sp>
      <p:sp>
        <p:nvSpPr>
          <p:cNvPr id="57" name="TextovéPole 56"/>
          <p:cNvSpPr txBox="1"/>
          <p:nvPr/>
        </p:nvSpPr>
        <p:spPr>
          <a:xfrm>
            <a:off x="4860032" y="21240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D0</a:t>
            </a:r>
          </a:p>
        </p:txBody>
      </p:sp>
      <p:cxnSp>
        <p:nvCxnSpPr>
          <p:cNvPr id="51" name="Přímá spojovací šipka 27"/>
          <p:cNvCxnSpPr/>
          <p:nvPr/>
        </p:nvCxnSpPr>
        <p:spPr>
          <a:xfrm>
            <a:off x="4067944" y="4500000"/>
            <a:ext cx="1496753" cy="3176"/>
          </a:xfrm>
          <a:prstGeom prst="straightConnector1">
            <a:avLst/>
          </a:prstGeom>
          <a:ln w="38100" cap="sq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Přímá spojovací šipka 27"/>
          <p:cNvCxnSpPr/>
          <p:nvPr/>
        </p:nvCxnSpPr>
        <p:spPr>
          <a:xfrm>
            <a:off x="3923928" y="4141588"/>
            <a:ext cx="1649214" cy="0"/>
          </a:xfrm>
          <a:prstGeom prst="straightConnector1">
            <a:avLst/>
          </a:prstGeom>
          <a:ln w="38100" cap="sq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Přímá spojovací šipka 27"/>
          <p:cNvCxnSpPr/>
          <p:nvPr/>
        </p:nvCxnSpPr>
        <p:spPr>
          <a:xfrm>
            <a:off x="4860032" y="4968000"/>
            <a:ext cx="713110" cy="158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ovéPole 53"/>
          <p:cNvSpPr txBox="1"/>
          <p:nvPr/>
        </p:nvSpPr>
        <p:spPr>
          <a:xfrm>
            <a:off x="4896448" y="457200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55" name="TextovéPole 54"/>
          <p:cNvSpPr txBox="1"/>
          <p:nvPr/>
        </p:nvSpPr>
        <p:spPr>
          <a:xfrm>
            <a:off x="4860448" y="41040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A1</a:t>
            </a:r>
          </a:p>
        </p:txBody>
      </p:sp>
      <p:cxnSp>
        <p:nvCxnSpPr>
          <p:cNvPr id="7" name="Pravoúhlá spojnice 6"/>
          <p:cNvCxnSpPr/>
          <p:nvPr/>
        </p:nvCxnSpPr>
        <p:spPr>
          <a:xfrm>
            <a:off x="1316503" y="4141588"/>
            <a:ext cx="2607425" cy="1375644"/>
          </a:xfrm>
          <a:prstGeom prst="bentConnector3">
            <a:avLst>
              <a:gd name="adj1" fmla="val -46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412" name="Ovál 229411"/>
          <p:cNvSpPr/>
          <p:nvPr/>
        </p:nvSpPr>
        <p:spPr>
          <a:xfrm>
            <a:off x="1260000" y="4087588"/>
            <a:ext cx="108072" cy="108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229414" name="Přímá spojnice 229413"/>
          <p:cNvCxnSpPr/>
          <p:nvPr/>
        </p:nvCxnSpPr>
        <p:spPr>
          <a:xfrm>
            <a:off x="3923928" y="4151010"/>
            <a:ext cx="0" cy="137564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Pravoúhlá spojnice 72"/>
          <p:cNvCxnSpPr/>
          <p:nvPr/>
        </p:nvCxnSpPr>
        <p:spPr>
          <a:xfrm>
            <a:off x="1182584" y="4526516"/>
            <a:ext cx="2885360" cy="1375644"/>
          </a:xfrm>
          <a:prstGeom prst="bentConnector3">
            <a:avLst>
              <a:gd name="adj1" fmla="val -177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ál 73"/>
          <p:cNvSpPr/>
          <p:nvPr/>
        </p:nvSpPr>
        <p:spPr>
          <a:xfrm>
            <a:off x="1115616" y="4446000"/>
            <a:ext cx="108000" cy="108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78" name="Přímá spojnice 77"/>
          <p:cNvCxnSpPr/>
          <p:nvPr/>
        </p:nvCxnSpPr>
        <p:spPr>
          <a:xfrm>
            <a:off x="4067944" y="4501588"/>
            <a:ext cx="0" cy="1400572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ovéPole 49"/>
          <p:cNvSpPr txBox="1"/>
          <p:nvPr/>
        </p:nvSpPr>
        <p:spPr>
          <a:xfrm>
            <a:off x="578284" y="3348000"/>
            <a:ext cx="354584" cy="461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56" name="TextovéPole 55"/>
          <p:cNvSpPr txBox="1"/>
          <p:nvPr/>
        </p:nvSpPr>
        <p:spPr>
          <a:xfrm>
            <a:off x="4296797" y="5658335"/>
            <a:ext cx="694421" cy="461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1+2</a:t>
            </a:r>
          </a:p>
        </p:txBody>
      </p:sp>
      <p:sp>
        <p:nvSpPr>
          <p:cNvPr id="60" name="TextovéPole 59"/>
          <p:cNvSpPr txBox="1"/>
          <p:nvPr/>
        </p:nvSpPr>
        <p:spPr>
          <a:xfrm>
            <a:off x="8244408" y="3420000"/>
            <a:ext cx="354584" cy="461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6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3" name="Tlačítko akce: Vlastní 6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4" name="Tlačítko akce: Vlastní 6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5" name="Tlačítko akce: Vlastní 6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88766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2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2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9" grpId="0"/>
      <p:bldP spid="21" grpId="0"/>
      <p:bldP spid="38" grpId="0"/>
      <p:bldP spid="27" grpId="0"/>
      <p:bldP spid="39" grpId="0"/>
      <p:bldP spid="40" grpId="0"/>
      <p:bldP spid="42" grpId="0"/>
      <p:bldP spid="45" grpId="0"/>
      <p:bldP spid="46" grpId="0"/>
      <p:bldP spid="48" grpId="0"/>
      <p:bldP spid="49" grpId="0"/>
      <p:bldP spid="57" grpId="0"/>
      <p:bldP spid="54" grpId="0"/>
      <p:bldP spid="55" grpId="0"/>
      <p:bldP spid="229412" grpId="0" animBg="1"/>
      <p:bldP spid="74" grpId="0" animBg="1"/>
      <p:bldP spid="50" grpId="0" animBg="1"/>
      <p:bldP spid="56" grpId="0" animBg="1"/>
      <p:bldP spid="60" grpId="0" animBg="1"/>
      <p:bldP spid="61" grpId="0" animBg="1"/>
      <p:bldP spid="6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Sčítačka</a:t>
            </a:r>
          </a:p>
        </p:txBody>
      </p:sp>
      <p:sp>
        <p:nvSpPr>
          <p:cNvPr id="228359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149271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Funkce</a:t>
            </a:r>
          </a:p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	</a:t>
            </a:r>
            <a:r>
              <a:rPr lang="cs-CZ" dirty="0">
                <a:latin typeface="Verdana" pitchFamily="34" charset="0"/>
              </a:rPr>
              <a:t>Sčítačka je logický obvod, který provádí </a:t>
            </a:r>
            <a:r>
              <a:rPr lang="cs-CZ" b="1" dirty="0">
                <a:latin typeface="Verdana" pitchFamily="34" charset="0"/>
              </a:rPr>
              <a:t>sčítání dvou dvojkových čísel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8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8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264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165777"/>
              </p:ext>
            </p:extLst>
          </p:nvPr>
        </p:nvGraphicFramePr>
        <p:xfrm>
          <a:off x="1978025" y="1079500"/>
          <a:ext cx="4733925" cy="414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3" imgW="1015920" imgH="888840" progId="Equation.3">
                  <p:embed/>
                </p:oleObj>
              </mc:Choice>
              <mc:Fallback>
                <p:oleObj name="Rovnice" r:id="rId3" imgW="1015920" imgH="8888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1079500"/>
                        <a:ext cx="4733925" cy="414972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Přímá spojovací čára 8"/>
          <p:cNvCxnSpPr/>
          <p:nvPr/>
        </p:nvCxnSpPr>
        <p:spPr>
          <a:xfrm>
            <a:off x="1979712" y="2996952"/>
            <a:ext cx="4752528" cy="79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ovací čára 13"/>
          <p:cNvCxnSpPr/>
          <p:nvPr/>
        </p:nvCxnSpPr>
        <p:spPr>
          <a:xfrm>
            <a:off x="1979712" y="4149080"/>
            <a:ext cx="475252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Sčítačka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5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7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47" name="Text Box 95"/>
          <p:cNvSpPr txBox="1">
            <a:spLocks noChangeArrowheads="1"/>
          </p:cNvSpPr>
          <p:nvPr/>
        </p:nvSpPr>
        <p:spPr bwMode="auto">
          <a:xfrm>
            <a:off x="360000" y="1080000"/>
            <a:ext cx="8784000" cy="290848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Postup</a:t>
            </a:r>
          </a:p>
          <a:p>
            <a:pPr marL="504000" indent="-504000">
              <a:spcAft>
                <a:spcPts val="1800"/>
              </a:spcAft>
              <a:buClr>
                <a:schemeClr val="folHlink"/>
              </a:buClr>
              <a:buFont typeface="+mj-lt"/>
              <a:buAutoNum type="arabicPeriod"/>
            </a:pPr>
            <a:r>
              <a:rPr lang="cs-CZ" b="1" dirty="0">
                <a:latin typeface="Verdana" pitchFamily="34" charset="0"/>
              </a:rPr>
              <a:t>0. řád součtu </a:t>
            </a:r>
            <a:r>
              <a:rPr lang="cs-CZ" dirty="0">
                <a:latin typeface="Verdana" pitchFamily="34" charset="0"/>
              </a:rPr>
              <a:t>=    	0. řád sčítance 1 </a:t>
            </a:r>
            <a:br>
              <a:rPr lang="cs-CZ" dirty="0">
                <a:latin typeface="Verdana" pitchFamily="34" charset="0"/>
              </a:rPr>
            </a:br>
            <a:r>
              <a:rPr lang="cs-CZ" dirty="0">
                <a:latin typeface="Verdana" pitchFamily="34" charset="0"/>
              </a:rPr>
              <a:t>		       	      +0. řád sčítance 2</a:t>
            </a:r>
          </a:p>
          <a:p>
            <a:pPr marL="504000" indent="-504000">
              <a:spcAft>
                <a:spcPts val="1800"/>
              </a:spcAft>
              <a:buClr>
                <a:schemeClr val="folHlink"/>
              </a:buClr>
              <a:buFont typeface="+mj-lt"/>
              <a:buAutoNum type="arabicPeriod"/>
            </a:pPr>
            <a:r>
              <a:rPr lang="cs-CZ" b="1" dirty="0">
                <a:latin typeface="Verdana" pitchFamily="34" charset="0"/>
              </a:rPr>
              <a:t>1. řád součtu </a:t>
            </a:r>
            <a:r>
              <a:rPr lang="cs-CZ" dirty="0">
                <a:latin typeface="Verdana" pitchFamily="34" charset="0"/>
              </a:rPr>
              <a:t>=   	1. řád sčítance 1 </a:t>
            </a:r>
            <a:br>
              <a:rPr lang="cs-CZ" dirty="0">
                <a:latin typeface="Verdana" pitchFamily="34" charset="0"/>
              </a:rPr>
            </a:br>
            <a:r>
              <a:rPr lang="cs-CZ" dirty="0">
                <a:latin typeface="Verdana" pitchFamily="34" charset="0"/>
              </a:rPr>
              <a:t>			      +1. řád sčítance 2 </a:t>
            </a:r>
            <a:br>
              <a:rPr lang="cs-CZ" dirty="0">
                <a:latin typeface="Verdana" pitchFamily="34" charset="0"/>
              </a:rPr>
            </a:br>
            <a:r>
              <a:rPr lang="cs-CZ" dirty="0">
                <a:latin typeface="Verdana" pitchFamily="34" charset="0"/>
              </a:rPr>
              <a:t>			      +    přenos z 0. řádu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Sčítačka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8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84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434" name="Picture 1034" descr="scitack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0000" y="1079995"/>
            <a:ext cx="8460000" cy="5283451"/>
          </a:xfrm>
          <a:prstGeom prst="rect">
            <a:avLst/>
          </a:prstGeom>
          <a:noFill/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Sčítačka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31"/>
          <p:cNvSpPr txBox="1">
            <a:spLocks noChangeArrowheads="1"/>
          </p:cNvSpPr>
          <p:nvPr/>
        </p:nvSpPr>
        <p:spPr bwMode="auto">
          <a:xfrm>
            <a:off x="360000" y="1080000"/>
            <a:ext cx="8812212" cy="176971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40000" indent="-540000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Sčítačka</a:t>
            </a:r>
            <a:r>
              <a:rPr lang="cs-CZ" sz="2800" dirty="0">
                <a:latin typeface="Verdana" pitchFamily="34" charset="0"/>
              </a:rPr>
              <a:t> se skládá</a:t>
            </a:r>
          </a:p>
          <a:p>
            <a:pPr marL="540000" indent="-540000">
              <a:spcAft>
                <a:spcPts val="1200"/>
              </a:spcAft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z </a:t>
            </a:r>
            <a:r>
              <a:rPr lang="cs-CZ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poloviční</a:t>
            </a: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 sčítačky a </a:t>
            </a:r>
          </a:p>
          <a:p>
            <a:pPr marL="540000" indent="-540000">
              <a:spcAft>
                <a:spcPts val="1200"/>
              </a:spcAft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z několika </a:t>
            </a:r>
            <a:r>
              <a:rPr lang="cs-CZ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úplných</a:t>
            </a:r>
            <a:r>
              <a:rPr lang="cs-CZ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 sčítaček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Sčítačka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7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812212" cy="89255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Poloviční sčítačka</a:t>
            </a:r>
            <a:br>
              <a:rPr lang="cs-CZ" sz="2800" b="1" dirty="0">
                <a:latin typeface="Verdana" pitchFamily="34" charset="0"/>
              </a:rPr>
            </a:br>
            <a:r>
              <a:rPr lang="cs-CZ" dirty="0">
                <a:latin typeface="Verdana" pitchFamily="34" charset="0"/>
              </a:rPr>
              <a:t>má jen dva vstupy </a:t>
            </a:r>
            <a:r>
              <a:rPr lang="cs-CZ" b="1" dirty="0">
                <a:latin typeface="Verdana" pitchFamily="34" charset="0"/>
              </a:rPr>
              <a:t>- </a:t>
            </a:r>
            <a:r>
              <a:rPr lang="cs-CZ" b="1" dirty="0">
                <a:latin typeface="Consolas" panose="020B0609020204030204" pitchFamily="49" charset="0"/>
              </a:rPr>
              <a:t>A0</a:t>
            </a:r>
            <a:r>
              <a:rPr lang="cs-CZ" b="1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a </a:t>
            </a:r>
            <a:r>
              <a:rPr lang="cs-CZ" b="1" dirty="0">
                <a:latin typeface="Consolas" panose="020B0609020204030204" pitchFamily="49" charset="0"/>
              </a:rPr>
              <a:t>B0</a:t>
            </a:r>
          </a:p>
        </p:txBody>
      </p:sp>
      <p:graphicFrame>
        <p:nvGraphicFramePr>
          <p:cNvPr id="230492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898635"/>
              </p:ext>
            </p:extLst>
          </p:nvPr>
        </p:nvGraphicFramePr>
        <p:xfrm>
          <a:off x="1080000" y="2160000"/>
          <a:ext cx="4320480" cy="2773440"/>
        </p:xfrm>
        <a:graphic>
          <a:graphicData uri="http://schemas.openxmlformats.org/drawingml/2006/table">
            <a:tbl>
              <a:tblPr/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Výstup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číslo 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číslo B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součet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přenos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S0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90865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Sčítačka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9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812212" cy="89255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Úplná sčítačka</a:t>
            </a:r>
          </a:p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	</a:t>
            </a:r>
            <a:r>
              <a:rPr lang="cs-CZ" dirty="0">
                <a:latin typeface="Verdana" pitchFamily="34" charset="0"/>
              </a:rPr>
              <a:t>má tři vstupy - </a:t>
            </a:r>
            <a:r>
              <a:rPr lang="cs-CZ" b="1" dirty="0" err="1">
                <a:latin typeface="Consolas" panose="020B0609020204030204" pitchFamily="49" charset="0"/>
              </a:rPr>
              <a:t>An</a:t>
            </a:r>
            <a:r>
              <a:rPr lang="cs-CZ" dirty="0">
                <a:latin typeface="Verdana" pitchFamily="34" charset="0"/>
              </a:rPr>
              <a:t> a </a:t>
            </a:r>
            <a:r>
              <a:rPr lang="cs-CZ" b="1" dirty="0" err="1">
                <a:latin typeface="Consolas" panose="020B0609020204030204" pitchFamily="49" charset="0"/>
              </a:rPr>
              <a:t>Bn</a:t>
            </a:r>
            <a:r>
              <a:rPr lang="cs-CZ" dirty="0">
                <a:latin typeface="Verdana" pitchFamily="34" charset="0"/>
              </a:rPr>
              <a:t> a </a:t>
            </a:r>
            <a:r>
              <a:rPr lang="cs-CZ" b="1" dirty="0" err="1">
                <a:latin typeface="Consolas" panose="020B0609020204030204" pitchFamily="49" charset="0"/>
              </a:rPr>
              <a:t>Cn</a:t>
            </a:r>
            <a:endParaRPr lang="cs-CZ" b="1" dirty="0">
              <a:latin typeface="Consolas" panose="020B0609020204030204" pitchFamily="49" charset="0"/>
            </a:endParaRPr>
          </a:p>
        </p:txBody>
      </p:sp>
      <p:graphicFrame>
        <p:nvGraphicFramePr>
          <p:cNvPr id="233702" name="Group 2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48862"/>
              </p:ext>
            </p:extLst>
          </p:nvPr>
        </p:nvGraphicFramePr>
        <p:xfrm>
          <a:off x="1080000" y="2160000"/>
          <a:ext cx="3600400" cy="4267200"/>
        </p:xfrm>
        <a:graphic>
          <a:graphicData uri="http://schemas.openxmlformats.org/drawingml/2006/table">
            <a:tbl>
              <a:tblPr/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Výstup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Bn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Sn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</a:t>
                      </a:r>
                      <a:endParaRPr kumimoji="0" lang="cs-CZ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vstup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kumimoji="0" lang="cs-CZ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kumimoji="0" lang="cs-CZ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součet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přenos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Sčítačka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Komparátor</a:t>
            </a:r>
          </a:p>
        </p:txBody>
      </p:sp>
      <p:sp>
        <p:nvSpPr>
          <p:cNvPr id="23245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30162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Logický </a:t>
            </a:r>
            <a:r>
              <a:rPr lang="cs-CZ" dirty="0">
                <a:latin typeface="Verdana" pitchFamily="34" charset="0"/>
              </a:rPr>
              <a:t>(porovnává se </a:t>
            </a:r>
            <a:r>
              <a:rPr lang="cs-CZ" b="1" dirty="0">
                <a:latin typeface="Verdana" pitchFamily="34" charset="0"/>
              </a:rPr>
              <a:t>identita</a:t>
            </a:r>
            <a:r>
              <a:rPr lang="cs-CZ" dirty="0">
                <a:latin typeface="Verdana" pitchFamily="34" charset="0"/>
              </a:rPr>
              <a:t>)</a:t>
            </a:r>
          </a:p>
          <a:p>
            <a:pPr marL="504000" indent="-504000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Aritmetický </a:t>
            </a:r>
            <a:r>
              <a:rPr lang="cs-CZ" dirty="0">
                <a:latin typeface="Verdana" pitchFamily="34" charset="0"/>
              </a:rPr>
              <a:t>(porovnává se </a:t>
            </a:r>
            <a:r>
              <a:rPr lang="cs-CZ" b="1" dirty="0">
                <a:latin typeface="Verdana" pitchFamily="34" charset="0"/>
              </a:rPr>
              <a:t>velikost</a:t>
            </a:r>
            <a:r>
              <a:rPr lang="cs-CZ" dirty="0">
                <a:latin typeface="Verdana" pitchFamily="34" charset="0"/>
              </a:rPr>
              <a:t>)</a:t>
            </a:r>
          </a:p>
          <a:p>
            <a:pPr marL="504000" indent="-504000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</a:pPr>
            <a:endParaRPr lang="cs-CZ" sz="2800" dirty="0"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Dvojkový </a:t>
            </a:r>
            <a:r>
              <a:rPr lang="cs-CZ" dirty="0">
                <a:latin typeface="Verdana" pitchFamily="34" charset="0"/>
              </a:rPr>
              <a:t>(vstupní hodnota v </a:t>
            </a:r>
            <a:r>
              <a:rPr lang="cs-CZ" b="1" dirty="0">
                <a:latin typeface="Verdana" pitchFamily="34" charset="0"/>
              </a:rPr>
              <a:t>dvojkovém</a:t>
            </a:r>
            <a:r>
              <a:rPr lang="cs-CZ" dirty="0">
                <a:latin typeface="Verdana" pitchFamily="34" charset="0"/>
              </a:rPr>
              <a:t> kódu)</a:t>
            </a:r>
          </a:p>
          <a:p>
            <a:pPr marL="504000" indent="-504000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BCD </a:t>
            </a:r>
            <a:r>
              <a:rPr lang="cs-CZ" dirty="0">
                <a:latin typeface="Verdana" pitchFamily="34" charset="0"/>
              </a:rPr>
              <a:t>(vstupní hodnota v </a:t>
            </a:r>
            <a:r>
              <a:rPr lang="cs-CZ" b="1" dirty="0">
                <a:latin typeface="Verdana" pitchFamily="34" charset="0"/>
              </a:rPr>
              <a:t>BCD </a:t>
            </a:r>
            <a:r>
              <a:rPr lang="cs-CZ" dirty="0">
                <a:latin typeface="Verdana" pitchFamily="34" charset="0"/>
              </a:rPr>
              <a:t>kódu)</a:t>
            </a:r>
            <a:endParaRPr lang="cs-CZ" b="1" dirty="0">
              <a:latin typeface="Verdana" pitchFamily="34" charset="0"/>
            </a:endParaRP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2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24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24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Logický komparátor</a:t>
            </a:r>
          </a:p>
        </p:txBody>
      </p:sp>
      <p:sp>
        <p:nvSpPr>
          <p:cNvPr id="23245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812212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buClr>
                <a:schemeClr val="folHlink"/>
              </a:buClr>
              <a:buBlip>
                <a:blip r:embed="rId3"/>
              </a:buBlip>
            </a:pPr>
            <a:r>
              <a:rPr lang="cs-CZ" sz="2800" dirty="0">
                <a:latin typeface="Verdana" pitchFamily="34" charset="0"/>
              </a:rPr>
              <a:t>Zjišťuje </a:t>
            </a:r>
            <a:r>
              <a:rPr lang="cs-CZ" sz="2800" b="1" dirty="0">
                <a:latin typeface="Verdana" pitchFamily="34" charset="0"/>
              </a:rPr>
              <a:t>rovnost</a:t>
            </a:r>
            <a:r>
              <a:rPr lang="cs-CZ" sz="2800" dirty="0">
                <a:latin typeface="Verdana" pitchFamily="34" charset="0"/>
              </a:rPr>
              <a:t> čísel</a:t>
            </a:r>
          </a:p>
        </p:txBody>
      </p:sp>
      <p:graphicFrame>
        <p:nvGraphicFramePr>
          <p:cNvPr id="232456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664153"/>
              </p:ext>
            </p:extLst>
          </p:nvPr>
        </p:nvGraphicFramePr>
        <p:xfrm>
          <a:off x="1080000" y="2160000"/>
          <a:ext cx="2500330" cy="2468565"/>
        </p:xfrm>
        <a:graphic>
          <a:graphicData uri="http://schemas.openxmlformats.org/drawingml/2006/table">
            <a:tbl>
              <a:tblPr/>
              <a:tblGrid>
                <a:gridCol w="661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16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Výstup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32483" name="Object 35"/>
          <p:cNvGraphicFramePr>
            <a:graphicFrameLocks noChangeAspect="1"/>
          </p:cNvGraphicFramePr>
          <p:nvPr/>
        </p:nvGraphicFramePr>
        <p:xfrm>
          <a:off x="4191000" y="3079750"/>
          <a:ext cx="32766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ovnice" r:id="rId4" imgW="660240" imgH="177480" progId="Equation.3">
                  <p:embed/>
                </p:oleObj>
              </mc:Choice>
              <mc:Fallback>
                <p:oleObj name="Rovnice" r:id="rId4" imgW="66024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079750"/>
                        <a:ext cx="3276600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84" name="Text Box 36"/>
          <p:cNvSpPr txBox="1">
            <a:spLocks noChangeArrowheads="1"/>
          </p:cNvSpPr>
          <p:nvPr/>
        </p:nvSpPr>
        <p:spPr bwMode="auto">
          <a:xfrm>
            <a:off x="360000" y="5040000"/>
            <a:ext cx="8812212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3"/>
              </a:buBlip>
            </a:pPr>
            <a:r>
              <a:rPr lang="cs-CZ" sz="2800" dirty="0">
                <a:latin typeface="Verdana" pitchFamily="34" charset="0"/>
              </a:rPr>
              <a:t>Porovnání realizuje </a:t>
            </a:r>
            <a:r>
              <a:rPr lang="cs-CZ" sz="2800" b="1" dirty="0">
                <a:latin typeface="Verdana" pitchFamily="34" charset="0"/>
              </a:rPr>
              <a:t>logická funkce Exklusive OR 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6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05147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5" grpId="0" autoUpdateAnimBg="0"/>
      <p:bldP spid="232484" grpId="0" autoUpdateAnimBg="0"/>
      <p:bldP spid="8" grpId="0" animBg="1"/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03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13849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3"/>
              </a:buBlip>
            </a:pPr>
            <a:r>
              <a:rPr lang="cs-CZ" sz="2800" dirty="0">
                <a:latin typeface="Verdana" pitchFamily="34" charset="0"/>
              </a:rPr>
              <a:t>Jednotlivé bity se porovnají </a:t>
            </a:r>
            <a:r>
              <a:rPr lang="cs-CZ" sz="2800" b="1" dirty="0">
                <a:latin typeface="Verdana" pitchFamily="34" charset="0"/>
              </a:rPr>
              <a:t>obvodem EXCLUSIVE OR</a:t>
            </a:r>
            <a:r>
              <a:rPr lang="en-US" sz="2800" dirty="0">
                <a:latin typeface="Verdana" pitchFamily="34" charset="0"/>
              </a:rPr>
              <a:t>;</a:t>
            </a:r>
            <a:r>
              <a:rPr lang="cs-CZ" sz="2800" dirty="0">
                <a:latin typeface="Verdana" pitchFamily="34" charset="0"/>
              </a:rPr>
              <a:t> výstupy vyhodnotíme  vícevstupým obvodem NOR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Logický komparátor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4618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0" y="2880000"/>
            <a:ext cx="4680000" cy="2387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3" grpId="0" autoUpdateAnimBg="0"/>
      <p:bldP spid="4" grpId="0" animBg="1"/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099" name="Group 5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278414"/>
              </p:ext>
            </p:extLst>
          </p:nvPr>
        </p:nvGraphicFramePr>
        <p:xfrm>
          <a:off x="720000" y="720000"/>
          <a:ext cx="2805796" cy="5566209"/>
        </p:xfrm>
        <a:graphic>
          <a:graphicData uri="http://schemas.openxmlformats.org/drawingml/2006/table">
            <a:tbl>
              <a:tblPr/>
              <a:tblGrid>
                <a:gridCol w="701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4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4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Logický komparátor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graphicFrame>
        <p:nvGraphicFramePr>
          <p:cNvPr id="10" name="Group 5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017551"/>
              </p:ext>
            </p:extLst>
          </p:nvPr>
        </p:nvGraphicFramePr>
        <p:xfrm>
          <a:off x="3564000" y="720000"/>
          <a:ext cx="1402898" cy="5566209"/>
        </p:xfrm>
        <a:graphic>
          <a:graphicData uri="http://schemas.openxmlformats.org/drawingml/2006/table">
            <a:tbl>
              <a:tblPr/>
              <a:tblGrid>
                <a:gridCol w="701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Výstupy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4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ExOr1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ExOr0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11" name="Group 5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167054"/>
              </p:ext>
            </p:extLst>
          </p:nvPr>
        </p:nvGraphicFramePr>
        <p:xfrm>
          <a:off x="5004000" y="720000"/>
          <a:ext cx="900000" cy="5566209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Výstupy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4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70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7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Aritmetický komparátor</a:t>
            </a:r>
          </a:p>
        </p:txBody>
      </p:sp>
      <p:sp>
        <p:nvSpPr>
          <p:cNvPr id="23245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chemeClr val="folHlink"/>
              </a:buClr>
              <a:buBlip>
                <a:blip r:embed="rId3"/>
              </a:buBlip>
            </a:pPr>
            <a:r>
              <a:rPr lang="cs-CZ" sz="2800" dirty="0">
                <a:latin typeface="Verdana" pitchFamily="34" charset="0"/>
              </a:rPr>
              <a:t>Porovnává </a:t>
            </a:r>
            <a:r>
              <a:rPr lang="cs-CZ" sz="2800" b="1" dirty="0">
                <a:latin typeface="Verdana" pitchFamily="34" charset="0"/>
              </a:rPr>
              <a:t>velikost </a:t>
            </a:r>
            <a:r>
              <a:rPr lang="cs-CZ" sz="2800" dirty="0">
                <a:latin typeface="Verdana" pitchFamily="34" charset="0"/>
              </a:rPr>
              <a:t>čísel</a:t>
            </a:r>
          </a:p>
        </p:txBody>
      </p:sp>
      <p:graphicFrame>
        <p:nvGraphicFramePr>
          <p:cNvPr id="232456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73838"/>
              </p:ext>
            </p:extLst>
          </p:nvPr>
        </p:nvGraphicFramePr>
        <p:xfrm>
          <a:off x="1080000" y="2160000"/>
          <a:ext cx="4500015" cy="2468565"/>
        </p:xfrm>
        <a:graphic>
          <a:graphicData uri="http://schemas.openxmlformats.org/drawingml/2006/table">
            <a:tbl>
              <a:tblPr/>
              <a:tblGrid>
                <a:gridCol w="449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1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163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Výstup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&lt;B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A=B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A&gt;B</a:t>
                      </a: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38252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5" grpId="0" autoUpdateAnimBg="0"/>
      <p:bldP spid="8" grpId="0" animBg="1"/>
      <p:bldP spid="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Aritmetický komparátor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2" name="Text Box 56"/>
          <p:cNvSpPr txBox="1">
            <a:spLocks noChangeArrowheads="1"/>
          </p:cNvSpPr>
          <p:nvPr/>
        </p:nvSpPr>
        <p:spPr bwMode="auto">
          <a:xfrm>
            <a:off x="5202562" y="1053756"/>
            <a:ext cx="3617910" cy="26314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A1</a:t>
            </a: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A0</a:t>
            </a: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B1</a:t>
            </a: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B0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dvojkové číslo</a:t>
            </a:r>
          </a:p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Výstupy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větší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=B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rovno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&gt;B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menší</a:t>
            </a:r>
          </a:p>
        </p:txBody>
      </p:sp>
      <p:grpSp>
        <p:nvGrpSpPr>
          <p:cNvPr id="2" name="Skupina 1"/>
          <p:cNvGrpSpPr/>
          <p:nvPr/>
        </p:nvGrpSpPr>
        <p:grpSpPr>
          <a:xfrm>
            <a:off x="648000" y="1557720"/>
            <a:ext cx="4024694" cy="2916000"/>
            <a:chOff x="648000" y="1557720"/>
            <a:chExt cx="4024694" cy="2916000"/>
          </a:xfrm>
        </p:grpSpPr>
        <p:grpSp>
          <p:nvGrpSpPr>
            <p:cNvPr id="34" name="Skupina 33"/>
            <p:cNvGrpSpPr/>
            <p:nvPr/>
          </p:nvGrpSpPr>
          <p:grpSpPr>
            <a:xfrm>
              <a:off x="1573913" y="1593720"/>
              <a:ext cx="2160000" cy="2880000"/>
              <a:chOff x="3357554" y="2357430"/>
              <a:chExt cx="2160000" cy="3600000"/>
            </a:xfrm>
            <a:solidFill>
              <a:schemeClr val="bg1">
                <a:lumMod val="95000"/>
              </a:schemeClr>
            </a:solidFill>
          </p:grpSpPr>
          <p:sp>
            <p:nvSpPr>
              <p:cNvPr id="52" name="Obdélník 51"/>
              <p:cNvSpPr/>
              <p:nvPr/>
            </p:nvSpPr>
            <p:spPr>
              <a:xfrm>
                <a:off x="3357554" y="2357430"/>
                <a:ext cx="2160000" cy="3600000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53" name="TextovéPole 52"/>
              <p:cNvSpPr txBox="1"/>
              <p:nvPr/>
            </p:nvSpPr>
            <p:spPr>
              <a:xfrm>
                <a:off x="3429563" y="2671310"/>
                <a:ext cx="1989974" cy="57708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cs-CZ" b="1" dirty="0" err="1">
                    <a:latin typeface="+mj-lt"/>
                  </a:rPr>
                  <a:t>Comparator</a:t>
                </a:r>
                <a:endParaRPr lang="cs-CZ" b="1" dirty="0">
                  <a:latin typeface="+mj-lt"/>
                </a:endParaRPr>
              </a:p>
            </p:txBody>
          </p:sp>
        </p:grpSp>
        <p:cxnSp>
          <p:nvCxnSpPr>
            <p:cNvPr id="35" name="Přímá spojovací šipka 9"/>
            <p:cNvCxnSpPr/>
            <p:nvPr/>
          </p:nvCxnSpPr>
          <p:spPr>
            <a:xfrm>
              <a:off x="648000" y="1953720"/>
              <a:ext cx="936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ovéPole 35"/>
            <p:cNvSpPr txBox="1"/>
            <p:nvPr/>
          </p:nvSpPr>
          <p:spPr>
            <a:xfrm>
              <a:off x="781913" y="155772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cxnSp>
          <p:nvCxnSpPr>
            <p:cNvPr id="37" name="Přímá spojovací šipka 22"/>
            <p:cNvCxnSpPr/>
            <p:nvPr/>
          </p:nvCxnSpPr>
          <p:spPr>
            <a:xfrm>
              <a:off x="648000" y="2313720"/>
              <a:ext cx="936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Přímá spojovací šipka 23"/>
            <p:cNvCxnSpPr/>
            <p:nvPr/>
          </p:nvCxnSpPr>
          <p:spPr>
            <a:xfrm>
              <a:off x="648000" y="2673720"/>
              <a:ext cx="936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ovéPole 38"/>
            <p:cNvSpPr txBox="1"/>
            <p:nvPr/>
          </p:nvSpPr>
          <p:spPr>
            <a:xfrm>
              <a:off x="781913" y="191772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cs-CZ" b="1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40" name="TextovéPole 39"/>
            <p:cNvSpPr txBox="1"/>
            <p:nvPr/>
          </p:nvSpPr>
          <p:spPr>
            <a:xfrm>
              <a:off x="781913" y="227772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B0</a:t>
              </a:r>
              <a:endParaRPr lang="cs-CZ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41" name="Přímá spojovací šipka 21"/>
            <p:cNvCxnSpPr/>
            <p:nvPr/>
          </p:nvCxnSpPr>
          <p:spPr>
            <a:xfrm>
              <a:off x="648000" y="3033720"/>
              <a:ext cx="936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ovéPole 41"/>
            <p:cNvSpPr txBox="1"/>
            <p:nvPr/>
          </p:nvSpPr>
          <p:spPr>
            <a:xfrm>
              <a:off x="781913" y="263772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B1</a:t>
              </a:r>
              <a:endParaRPr lang="cs-CZ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44" name="Skupina 43"/>
            <p:cNvGrpSpPr/>
            <p:nvPr/>
          </p:nvGrpSpPr>
          <p:grpSpPr>
            <a:xfrm>
              <a:off x="3744000" y="1572903"/>
              <a:ext cx="928694" cy="1165634"/>
              <a:chOff x="5503467" y="1627853"/>
              <a:chExt cx="928694" cy="1165634"/>
            </a:xfrm>
          </p:grpSpPr>
          <p:cxnSp>
            <p:nvCxnSpPr>
              <p:cNvPr id="50" name="Přímá spojovací šipka 13"/>
              <p:cNvCxnSpPr/>
              <p:nvPr/>
            </p:nvCxnSpPr>
            <p:spPr>
              <a:xfrm>
                <a:off x="5503467" y="2008670"/>
                <a:ext cx="928694" cy="15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ovéPole 50"/>
              <p:cNvSpPr txBox="1"/>
              <p:nvPr/>
            </p:nvSpPr>
            <p:spPr>
              <a:xfrm>
                <a:off x="5683395" y="1627853"/>
                <a:ext cx="6944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A&lt;B</a:t>
                </a:r>
                <a:endParaRPr lang="cs-CZ" b="1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4" name="Přímá spojovací šipka 13"/>
              <p:cNvCxnSpPr/>
              <p:nvPr/>
            </p:nvCxnSpPr>
            <p:spPr>
              <a:xfrm>
                <a:off x="5503467" y="2369750"/>
                <a:ext cx="928694" cy="15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Přímá spojovací šipka 13"/>
              <p:cNvCxnSpPr/>
              <p:nvPr/>
            </p:nvCxnSpPr>
            <p:spPr>
              <a:xfrm>
                <a:off x="5503467" y="2729750"/>
                <a:ext cx="928694" cy="15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ovéPole 55"/>
              <p:cNvSpPr txBox="1"/>
              <p:nvPr/>
            </p:nvSpPr>
            <p:spPr>
              <a:xfrm>
                <a:off x="5683395" y="1971782"/>
                <a:ext cx="6944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A=B</a:t>
                </a:r>
                <a:endParaRPr lang="cs-CZ" b="1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57" name="TextovéPole 56"/>
              <p:cNvSpPr txBox="1"/>
              <p:nvPr/>
            </p:nvSpPr>
            <p:spPr>
              <a:xfrm>
                <a:off x="5683395" y="2331822"/>
                <a:ext cx="6944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A&gt;B</a:t>
                </a:r>
                <a:endParaRPr lang="cs-CZ" b="1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</p:grpSp>
      <p:sp>
        <p:nvSpPr>
          <p:cNvPr id="5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0" name="Tlačítko akce: Vlastní 5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1" name="Tlačítko akce: Vlastní 6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2" name="Tlačítko akce: Vlastní 6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099" name="Group 5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775090"/>
              </p:ext>
            </p:extLst>
          </p:nvPr>
        </p:nvGraphicFramePr>
        <p:xfrm>
          <a:off x="720000" y="720000"/>
          <a:ext cx="2805796" cy="5535618"/>
        </p:xfrm>
        <a:graphic>
          <a:graphicData uri="http://schemas.openxmlformats.org/drawingml/2006/table">
            <a:tbl>
              <a:tblPr/>
              <a:tblGrid>
                <a:gridCol w="701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4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409"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4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Aritmetický komparátor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graphicFrame>
        <p:nvGraphicFramePr>
          <p:cNvPr id="11" name="Group 5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138720"/>
              </p:ext>
            </p:extLst>
          </p:nvPr>
        </p:nvGraphicFramePr>
        <p:xfrm>
          <a:off x="3563888" y="720000"/>
          <a:ext cx="2104347" cy="5535618"/>
        </p:xfrm>
        <a:graphic>
          <a:graphicData uri="http://schemas.openxmlformats.org/drawingml/2006/table">
            <a:tbl>
              <a:tblPr/>
              <a:tblGrid>
                <a:gridCol w="701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409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Výstupy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4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&lt;B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A=B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A&gt;B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7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BCD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komparátor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13849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chemeClr val="folHlink"/>
              </a:buClr>
              <a:buBlip>
                <a:blip r:embed="rId4"/>
              </a:buBlip>
            </a:pPr>
            <a:r>
              <a:rPr lang="cs-CZ" sz="2800" dirty="0">
                <a:latin typeface="Verdana" pitchFamily="34" charset="0"/>
              </a:rPr>
              <a:t>Navrhněte obvod, který </a:t>
            </a:r>
            <a:r>
              <a:rPr lang="cs-CZ" sz="2800" b="1" dirty="0">
                <a:latin typeface="Verdana" pitchFamily="34" charset="0"/>
              </a:rPr>
              <a:t>porovná</a:t>
            </a:r>
            <a:r>
              <a:rPr lang="cs-CZ" sz="2800" dirty="0">
                <a:latin typeface="Verdana" pitchFamily="34" charset="0"/>
              </a:rPr>
              <a:t> dvě čísla v BCD kódu, výstupem bude funkce </a:t>
            </a:r>
            <a:r>
              <a:rPr lang="cs-CZ" sz="2800" b="1" dirty="0">
                <a:latin typeface="Verdana" pitchFamily="34" charset="0"/>
              </a:rPr>
              <a:t>menší</a:t>
            </a:r>
            <a:r>
              <a:rPr lang="cs-CZ" sz="2800" dirty="0">
                <a:latin typeface="Verdana" pitchFamily="34" charset="0"/>
              </a:rPr>
              <a:t>, </a:t>
            </a:r>
            <a:r>
              <a:rPr lang="cs-CZ" sz="2800" b="1" dirty="0">
                <a:latin typeface="Verdana" pitchFamily="34" charset="0"/>
              </a:rPr>
              <a:t>rovno</a:t>
            </a:r>
            <a:r>
              <a:rPr lang="cs-CZ" sz="2800" dirty="0">
                <a:latin typeface="Verdana" pitchFamily="34" charset="0"/>
              </a:rPr>
              <a:t>, </a:t>
            </a:r>
            <a:r>
              <a:rPr lang="cs-CZ" sz="2800" b="1" dirty="0">
                <a:latin typeface="Verdana" pitchFamily="34" charset="0"/>
              </a:rPr>
              <a:t>větší</a:t>
            </a:r>
          </a:p>
        </p:txBody>
      </p:sp>
      <p:grpSp>
        <p:nvGrpSpPr>
          <p:cNvPr id="2" name="Skupina 1"/>
          <p:cNvGrpSpPr/>
          <p:nvPr/>
        </p:nvGrpSpPr>
        <p:grpSpPr>
          <a:xfrm>
            <a:off x="936000" y="2805896"/>
            <a:ext cx="7020376" cy="1631216"/>
            <a:chOff x="936000" y="2520000"/>
            <a:chExt cx="7020376" cy="1631216"/>
          </a:xfrm>
        </p:grpSpPr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4536376" y="2520000"/>
              <a:ext cx="1620000" cy="163121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lvl="0" algn="ctr">
                <a:buClr>
                  <a:srgbClr val="C00000"/>
                </a:buClr>
              </a:pPr>
              <a:r>
                <a:rPr lang="cs-CZ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itchFamily="34" charset="0"/>
                </a:rPr>
                <a:t>desítky</a:t>
              </a:r>
            </a:p>
            <a:p>
              <a:pPr algn="ctr">
                <a:buClr>
                  <a:schemeClr val="folHlink"/>
                </a:buClr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  <a:p>
              <a:pPr algn="ctr">
                <a:buClr>
                  <a:schemeClr val="folHlink"/>
                </a:buClr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</a:p>
          </p:txBody>
        </p:sp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6336376" y="2520000"/>
              <a:ext cx="1620000" cy="163121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lvl="0" algn="ctr">
                <a:buClr>
                  <a:srgbClr val="C00000"/>
                </a:buClr>
              </a:pPr>
              <a:r>
                <a:rPr lang="cs-CZ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itchFamily="34" charset="0"/>
                </a:rPr>
                <a:t>jednotky</a:t>
              </a:r>
            </a:p>
            <a:p>
              <a:pPr algn="ctr">
                <a:buClr>
                  <a:schemeClr val="folHlink"/>
                </a:buClr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</a:p>
            <a:p>
              <a:pPr algn="ctr">
                <a:buClr>
                  <a:schemeClr val="folHlink"/>
                </a:buClr>
              </a:pPr>
              <a:r>
                <a:rPr lang="cs-CZ" sz="4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15" name="Text Box 7"/>
            <p:cNvSpPr txBox="1">
              <a:spLocks noChangeArrowheads="1"/>
            </p:cNvSpPr>
            <p:nvPr/>
          </p:nvSpPr>
          <p:spPr bwMode="auto">
            <a:xfrm>
              <a:off x="936000" y="2520000"/>
              <a:ext cx="1620000" cy="16312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algn="ctr">
                <a:buClr>
                  <a:schemeClr val="folHlink"/>
                </a:buClr>
              </a:pPr>
              <a:endParaRPr lang="cs-CZ" sz="2000" b="1" dirty="0">
                <a:latin typeface="Verdana" pitchFamily="34" charset="0"/>
              </a:endParaRPr>
            </a:p>
            <a:p>
              <a:pPr algn="ctr">
                <a:buClr>
                  <a:schemeClr val="folHlink"/>
                </a:buClr>
              </a:pPr>
              <a:r>
                <a:rPr lang="cs-CZ" sz="4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  <a:p>
              <a:pPr algn="ctr">
                <a:buClr>
                  <a:schemeClr val="folHlink"/>
                </a:buClr>
              </a:pPr>
              <a:r>
                <a:rPr lang="cs-CZ" sz="4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</p:grp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360000" y="4681327"/>
            <a:ext cx="8784000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buClr>
                <a:schemeClr val="folHlink"/>
              </a:buClr>
            </a:pPr>
            <a:r>
              <a:rPr lang="cs-CZ" sz="2800" dirty="0">
                <a:latin typeface="Verdana" pitchFamily="34" charset="0"/>
              </a:rPr>
              <a:t>Při porovnání čísel rozhoduje nejvyšší řád, při rovnosti pak nižší řád atd.</a:t>
            </a:r>
            <a:endParaRPr lang="cs-CZ" sz="2800" b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29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9" grpId="0" autoUpdateAnimBg="0"/>
      <p:bldP spid="16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BCD komparátor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4628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144" y="1080000"/>
            <a:ext cx="3600000" cy="4408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92483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BCD komparátor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4648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000" y="1080000"/>
            <a:ext cx="2562225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555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099" name="Group 5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95337"/>
              </p:ext>
            </p:extLst>
          </p:nvPr>
        </p:nvGraphicFramePr>
        <p:xfrm>
          <a:off x="720000" y="720000"/>
          <a:ext cx="4644087" cy="5580000"/>
        </p:xfrm>
        <a:graphic>
          <a:graphicData uri="http://schemas.openxmlformats.org/drawingml/2006/table">
            <a:tbl>
              <a:tblPr/>
              <a:tblGrid>
                <a:gridCol w="692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0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40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40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7753"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Vstupy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A-B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Kaskádové vstupy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5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A3-B3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A2-B2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A1-B1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A0-B0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&gt;B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A=B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A&lt;B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A3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&gt;B3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A3&lt;B3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A3=B3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A2&gt;B2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A3=B3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A2&lt;B2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A3=B3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A2=B2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A1&gt;B1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A3=B3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A2=B2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A1&lt;B1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A3=B3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A2=B2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A1=B1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A0&gt;B0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A3=B3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A2=B2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A1=B1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A0&lt;B0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A3=B3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A2=B2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A1=B1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A0=B0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A3=B3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A2=B2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A1=B1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A0=B0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A3=B3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A2=B2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A1=B1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A0=B0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1" name="Group 5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624557"/>
              </p:ext>
            </p:extLst>
          </p:nvPr>
        </p:nvGraphicFramePr>
        <p:xfrm>
          <a:off x="5436096" y="720000"/>
          <a:ext cx="2104347" cy="5579998"/>
        </p:xfrm>
        <a:graphic>
          <a:graphicData uri="http://schemas.openxmlformats.org/drawingml/2006/table">
            <a:tbl>
              <a:tblPr/>
              <a:tblGrid>
                <a:gridCol w="701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752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Výstupy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5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&gt;B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A=B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A&lt;B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8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BCD komparátor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98419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BCD komparátor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3" name="Obrázek 2" descr="Obsah obrázku monitor, obrazovka, černá, fotka&#10;&#10;Popis byl vytvořen automaticky">
            <a:extLst>
              <a:ext uri="{FF2B5EF4-FFF2-40B4-BE49-F238E27FC236}">
                <a16:creationId xmlns:a16="http://schemas.microsoft.com/office/drawing/2014/main" id="{3F19D232-2DCA-4723-BB27-ADFDB1A98F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080000"/>
            <a:ext cx="8100000" cy="361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1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Generátor parity</a:t>
            </a:r>
          </a:p>
        </p:txBody>
      </p:sp>
      <p:sp>
        <p:nvSpPr>
          <p:cNvPr id="235527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8931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800" b="1" dirty="0">
                <a:latin typeface="Verdana" pitchFamily="34" charset="0"/>
              </a:rPr>
              <a:t>Paritním bitem </a:t>
            </a:r>
            <a:r>
              <a:rPr lang="cs-CZ" sz="2800" dirty="0">
                <a:latin typeface="Verdana" pitchFamily="34" charset="0"/>
              </a:rPr>
              <a:t>se kontroluje </a:t>
            </a:r>
            <a:r>
              <a:rPr lang="cs-CZ" sz="2800" b="1" dirty="0">
                <a:latin typeface="Verdana" pitchFamily="34" charset="0"/>
              </a:rPr>
              <a:t>správnost přenesených dat</a:t>
            </a:r>
          </a:p>
          <a:p>
            <a:pPr marL="504000" indent="-504000">
              <a:spcAft>
                <a:spcPts val="1800"/>
              </a:spcAft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cs-CZ" b="1" dirty="0">
                <a:latin typeface="Verdana" pitchFamily="34" charset="0"/>
              </a:rPr>
              <a:t>Lichá parita </a:t>
            </a:r>
            <a:r>
              <a:rPr lang="cs-CZ" dirty="0">
                <a:latin typeface="Verdana" pitchFamily="34" charset="0"/>
              </a:rPr>
              <a:t>(</a:t>
            </a:r>
            <a:r>
              <a:rPr lang="cs-CZ" dirty="0" err="1">
                <a:latin typeface="Verdana" pitchFamily="34" charset="0"/>
              </a:rPr>
              <a:t>odd</a:t>
            </a:r>
            <a:r>
              <a:rPr lang="cs-CZ" dirty="0">
                <a:latin typeface="Verdana" pitchFamily="34" charset="0"/>
              </a:rPr>
              <a:t>) je doplnění do </a:t>
            </a:r>
            <a:r>
              <a:rPr lang="cs-CZ" b="1" dirty="0">
                <a:latin typeface="Verdana" pitchFamily="34" charset="0"/>
              </a:rPr>
              <a:t>lichého počtu jedniček</a:t>
            </a:r>
          </a:p>
          <a:p>
            <a:pPr marL="504000" indent="-504000">
              <a:spcAft>
                <a:spcPts val="1800"/>
              </a:spcAft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cs-CZ" b="1" dirty="0">
                <a:latin typeface="Verdana" pitchFamily="34" charset="0"/>
              </a:rPr>
              <a:t>Sudá parita </a:t>
            </a:r>
            <a:r>
              <a:rPr lang="cs-CZ" dirty="0">
                <a:latin typeface="Verdana" pitchFamily="34" charset="0"/>
              </a:rPr>
              <a:t>(</a:t>
            </a:r>
            <a:r>
              <a:rPr lang="cs-CZ" dirty="0" err="1">
                <a:latin typeface="Verdana" pitchFamily="34" charset="0"/>
              </a:rPr>
              <a:t>even</a:t>
            </a:r>
            <a:r>
              <a:rPr lang="cs-CZ" dirty="0">
                <a:latin typeface="Verdana" pitchFamily="34" charset="0"/>
              </a:rPr>
              <a:t>) je doplnění do </a:t>
            </a:r>
            <a:r>
              <a:rPr lang="cs-CZ" b="1" dirty="0">
                <a:latin typeface="Verdana" pitchFamily="34" charset="0"/>
              </a:rPr>
              <a:t>sudého počtu jedniček</a:t>
            </a:r>
            <a:r>
              <a:rPr lang="cs-CZ" dirty="0">
                <a:latin typeface="Verdana" pitchFamily="34" charset="0"/>
              </a:rPr>
              <a:t> </a:t>
            </a:r>
          </a:p>
        </p:txBody>
      </p:sp>
      <p:graphicFrame>
        <p:nvGraphicFramePr>
          <p:cNvPr id="235586" name="Group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782315"/>
              </p:ext>
            </p:extLst>
          </p:nvPr>
        </p:nvGraphicFramePr>
        <p:xfrm>
          <a:off x="1440000" y="4320000"/>
          <a:ext cx="1333500" cy="2057402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561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650667"/>
              </p:ext>
            </p:extLst>
          </p:nvPr>
        </p:nvGraphicFramePr>
        <p:xfrm>
          <a:off x="3420000" y="4323926"/>
          <a:ext cx="692150" cy="2057402"/>
        </p:xfrm>
        <a:graphic>
          <a:graphicData uri="http://schemas.openxmlformats.org/drawingml/2006/table">
            <a:tbl>
              <a:tblPr/>
              <a:tblGrid>
                <a:gridCol w="69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EVEN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roup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565483"/>
              </p:ext>
            </p:extLst>
          </p:nvPr>
        </p:nvGraphicFramePr>
        <p:xfrm>
          <a:off x="2772000" y="4320000"/>
          <a:ext cx="666750" cy="2057402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ODD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kumimoji="0" lang="cs-CZ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7" grpId="0" autoUpdateAnimBg="0"/>
      <p:bldP spid="8" grpId="0" animBg="1"/>
      <p:bldP spid="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Kontrola parity</a:t>
            </a:r>
          </a:p>
        </p:txBody>
      </p:sp>
      <p:sp>
        <p:nvSpPr>
          <p:cNvPr id="23757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812212" cy="153888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800" dirty="0">
                <a:latin typeface="Verdana" pitchFamily="34" charset="0"/>
              </a:rPr>
              <a:t>Po přijetí dat se vypočítá paritní bit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800" dirty="0">
                <a:latin typeface="Verdana" pitchFamily="34" charset="0"/>
              </a:rPr>
              <a:t>Paritní bit vypočítaný se porovná obvodem ekvivalence s přijatým paritním bitem 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75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75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95300" indent="-495300">
              <a:buClr>
                <a:schemeClr val="folHlink"/>
              </a:buClr>
              <a:buBlip>
                <a:blip r:embed="rId3"/>
              </a:buBlip>
            </a:pPr>
            <a:r>
              <a:rPr lang="cs-CZ" sz="2800" dirty="0">
                <a:latin typeface="Verdana" pitchFamily="34" charset="0"/>
              </a:rPr>
              <a:t>Vytvořte generátor liché parity pro čtyřbitové číslo</a:t>
            </a:r>
          </a:p>
        </p:txBody>
      </p:sp>
      <p:sp>
        <p:nvSpPr>
          <p:cNvPr id="10" name="Obdélník 9"/>
          <p:cNvSpPr/>
          <p:nvPr/>
        </p:nvSpPr>
        <p:spPr>
          <a:xfrm>
            <a:off x="2556000" y="2636912"/>
            <a:ext cx="2160000" cy="259986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latin typeface="Consolas" panose="020B0609020204030204" pitchFamily="49" charset="0"/>
            </a:endParaRPr>
          </a:p>
        </p:txBody>
      </p:sp>
      <p:grpSp>
        <p:nvGrpSpPr>
          <p:cNvPr id="2" name="Skupina 32"/>
          <p:cNvGrpSpPr/>
          <p:nvPr/>
        </p:nvGrpSpPr>
        <p:grpSpPr>
          <a:xfrm>
            <a:off x="1643042" y="2708350"/>
            <a:ext cx="928694" cy="890293"/>
            <a:chOff x="2428860" y="2428868"/>
            <a:chExt cx="928694" cy="890293"/>
          </a:xfrm>
        </p:grpSpPr>
        <p:cxnSp>
          <p:nvCxnSpPr>
            <p:cNvPr id="13" name="Přímá spojovací šipka 12"/>
            <p:cNvCxnSpPr/>
            <p:nvPr/>
          </p:nvCxnSpPr>
          <p:spPr>
            <a:xfrm>
              <a:off x="2428860" y="2857496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ovéPole 13"/>
            <p:cNvSpPr txBox="1"/>
            <p:nvPr/>
          </p:nvSpPr>
          <p:spPr>
            <a:xfrm>
              <a:off x="2571736" y="2428868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</a:rPr>
                <a:t>A0</a:t>
              </a:r>
            </a:p>
          </p:txBody>
        </p:sp>
        <p:cxnSp>
          <p:nvCxnSpPr>
            <p:cNvPr id="15" name="Přímá spojovací šipka 14"/>
            <p:cNvCxnSpPr/>
            <p:nvPr/>
          </p:nvCxnSpPr>
          <p:spPr>
            <a:xfrm>
              <a:off x="2428860" y="3286124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ovéPole 15"/>
            <p:cNvSpPr txBox="1"/>
            <p:nvPr/>
          </p:nvSpPr>
          <p:spPr>
            <a:xfrm>
              <a:off x="2571736" y="2857496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</a:rPr>
                <a:t>A1</a:t>
              </a:r>
            </a:p>
          </p:txBody>
        </p:sp>
      </p:grpSp>
      <p:grpSp>
        <p:nvGrpSpPr>
          <p:cNvPr id="3" name="Skupina 36"/>
          <p:cNvGrpSpPr/>
          <p:nvPr/>
        </p:nvGrpSpPr>
        <p:grpSpPr>
          <a:xfrm>
            <a:off x="1643042" y="3879458"/>
            <a:ext cx="928694" cy="890293"/>
            <a:chOff x="2214546" y="2428868"/>
            <a:chExt cx="928694" cy="890293"/>
          </a:xfrm>
        </p:grpSpPr>
        <p:cxnSp>
          <p:nvCxnSpPr>
            <p:cNvPr id="18" name="Přímá spojovací šipka 17"/>
            <p:cNvCxnSpPr/>
            <p:nvPr/>
          </p:nvCxnSpPr>
          <p:spPr>
            <a:xfrm>
              <a:off x="2214546" y="2857496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římá spojovací šipka 18"/>
            <p:cNvCxnSpPr/>
            <p:nvPr/>
          </p:nvCxnSpPr>
          <p:spPr>
            <a:xfrm>
              <a:off x="2214546" y="3284536"/>
              <a:ext cx="92869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ovéPole 19"/>
            <p:cNvSpPr txBox="1"/>
            <p:nvPr/>
          </p:nvSpPr>
          <p:spPr>
            <a:xfrm>
              <a:off x="2357422" y="2428868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</a:rPr>
                <a:t>A2</a:t>
              </a:r>
            </a:p>
          </p:txBody>
        </p:sp>
        <p:sp>
          <p:nvSpPr>
            <p:cNvPr id="21" name="TextovéPole 20"/>
            <p:cNvSpPr txBox="1"/>
            <p:nvPr/>
          </p:nvSpPr>
          <p:spPr>
            <a:xfrm>
              <a:off x="2357422" y="2857496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</a:rPr>
                <a:t>A3</a:t>
              </a:r>
            </a:p>
          </p:txBody>
        </p:sp>
      </p:grpSp>
      <p:grpSp>
        <p:nvGrpSpPr>
          <p:cNvPr id="4" name="Skupina 47"/>
          <p:cNvGrpSpPr/>
          <p:nvPr/>
        </p:nvGrpSpPr>
        <p:grpSpPr>
          <a:xfrm>
            <a:off x="4714876" y="2736450"/>
            <a:ext cx="738817" cy="461665"/>
            <a:chOff x="6429388" y="857232"/>
            <a:chExt cx="738817" cy="461665"/>
          </a:xfrm>
        </p:grpSpPr>
        <p:cxnSp>
          <p:nvCxnSpPr>
            <p:cNvPr id="23" name="Přímá spojovací šipka 22"/>
            <p:cNvCxnSpPr/>
            <p:nvPr/>
          </p:nvCxnSpPr>
          <p:spPr>
            <a:xfrm>
              <a:off x="6429388" y="1285860"/>
              <a:ext cx="500066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ovéPole 24"/>
            <p:cNvSpPr txBox="1"/>
            <p:nvPr/>
          </p:nvSpPr>
          <p:spPr>
            <a:xfrm>
              <a:off x="6643702" y="857232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b="1" dirty="0">
                  <a:latin typeface="Consolas" panose="020B0609020204030204" pitchFamily="49" charset="0"/>
                </a:rPr>
                <a:t>LP</a:t>
              </a:r>
            </a:p>
          </p:txBody>
        </p:sp>
      </p:grpSp>
      <p:sp>
        <p:nvSpPr>
          <p:cNvPr id="2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6" name="Tlačítko akce: Vlastní 2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7" name="Tlačítko akce: Vlastní 2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8" name="Tlačítko akce: Vlastní 2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Generátor parity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2" grpId="0" animBg="1"/>
      <p:bldP spid="2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Group 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048418"/>
              </p:ext>
            </p:extLst>
          </p:nvPr>
        </p:nvGraphicFramePr>
        <p:xfrm>
          <a:off x="1438932" y="857232"/>
          <a:ext cx="1990060" cy="5448304"/>
        </p:xfrm>
        <a:graphic>
          <a:graphicData uri="http://schemas.openxmlformats.org/drawingml/2006/table">
            <a:tbl>
              <a:tblPr/>
              <a:tblGrid>
                <a:gridCol w="398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8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147"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Vstup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erdana" pitchFamily="34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3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kumimoji="0" lang="cs-CZ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15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30" name="Group 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937040"/>
              </p:ext>
            </p:extLst>
          </p:nvPr>
        </p:nvGraphicFramePr>
        <p:xfrm>
          <a:off x="3419872" y="857234"/>
          <a:ext cx="642942" cy="5450503"/>
        </p:xfrm>
        <a:graphic>
          <a:graphicData uri="http://schemas.openxmlformats.org/drawingml/2006/table">
            <a:tbl>
              <a:tblPr/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73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LP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Generátor parity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BCD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sčítačka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13849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buClr>
                <a:schemeClr val="folHlink"/>
              </a:buClr>
              <a:buBlip>
                <a:blip r:embed="rId4"/>
              </a:buBlip>
            </a:pPr>
            <a:r>
              <a:rPr lang="cs-CZ" sz="2800" dirty="0">
                <a:latin typeface="Verdana" pitchFamily="34" charset="0"/>
              </a:rPr>
              <a:t>Navrhněte obvod, který </a:t>
            </a:r>
            <a:r>
              <a:rPr lang="cs-CZ" sz="2800" b="1" dirty="0">
                <a:latin typeface="Verdana" pitchFamily="34" charset="0"/>
              </a:rPr>
              <a:t>sečte </a:t>
            </a:r>
            <a:r>
              <a:rPr lang="cs-CZ" sz="2800" dirty="0">
                <a:latin typeface="Verdana" pitchFamily="34" charset="0"/>
              </a:rPr>
              <a:t>dvě jednomístná čísla v BCD kódu, výstupem budou jednotky a desítky v BCD kódu</a:t>
            </a:r>
            <a:endParaRPr lang="cs-CZ" sz="2800" b="1" dirty="0">
              <a:latin typeface="Verdana" pitchFamily="34" charset="0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591920" y="2880000"/>
            <a:ext cx="1260000" cy="20005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lvl="0" algn="ctr">
              <a:buClr>
                <a:srgbClr val="C00000"/>
              </a:buClr>
            </a:pPr>
            <a:r>
              <a:rPr lang="cs-CZ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rPr>
              <a:t>desítky</a:t>
            </a:r>
          </a:p>
          <a:p>
            <a:pPr algn="ctr">
              <a:buClr>
                <a:schemeClr val="folHlink"/>
              </a:buClr>
            </a:pPr>
            <a:endParaRPr lang="cs-CZ" sz="3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>
              <a:buClr>
                <a:schemeClr val="folHlink"/>
              </a:buClr>
            </a:pPr>
            <a:endParaRPr lang="cs-CZ" sz="3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>
              <a:buClr>
                <a:schemeClr val="folHlink"/>
              </a:buClr>
            </a:pPr>
            <a:r>
              <a:rPr lang="cs-CZ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3923928" y="2880000"/>
            <a:ext cx="1260000" cy="20005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lvl="0" algn="ctr">
              <a:buClr>
                <a:srgbClr val="C00000"/>
              </a:buClr>
            </a:pPr>
            <a:r>
              <a:rPr lang="cs-CZ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rPr>
              <a:t>jednotky</a:t>
            </a:r>
          </a:p>
          <a:p>
            <a:pPr algn="ctr">
              <a:buClr>
                <a:schemeClr val="folHlink"/>
              </a:buClr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algn="ctr">
              <a:buClr>
                <a:schemeClr val="folHlink"/>
              </a:buClr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buClr>
                <a:schemeClr val="folHlink"/>
              </a:buClr>
            </a:pPr>
            <a:r>
              <a:rPr lang="cs-CZ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900000" y="2880000"/>
            <a:ext cx="1620000" cy="206210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buClr>
                <a:schemeClr val="folHlink"/>
              </a:buClr>
            </a:pPr>
            <a:endParaRPr lang="cs-CZ" sz="1600" b="1" dirty="0">
              <a:latin typeface="Verdana" pitchFamily="34" charset="0"/>
            </a:endParaRPr>
          </a:p>
          <a:p>
            <a:pPr algn="ctr">
              <a:buClr>
                <a:schemeClr val="folHlink"/>
              </a:buClr>
            </a:pPr>
            <a:r>
              <a:rPr lang="cs-CZ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  <a:p>
            <a:pPr algn="ctr">
              <a:buClr>
                <a:schemeClr val="folHlink"/>
              </a:buClr>
            </a:pPr>
            <a:r>
              <a:rPr lang="cs-CZ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  <a:p>
            <a:pPr algn="ctr">
              <a:buClr>
                <a:schemeClr val="folHlink"/>
              </a:buClr>
            </a:pPr>
            <a:r>
              <a:rPr lang="cs-CZ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A+B</a:t>
            </a: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5256216" y="2879999"/>
            <a:ext cx="1260000" cy="20005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lvl="0" algn="ctr">
              <a:buClr>
                <a:srgbClr val="C00000"/>
              </a:buClr>
            </a:pPr>
            <a:r>
              <a:rPr lang="cs-CZ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rPr>
              <a:t>desítky</a:t>
            </a:r>
          </a:p>
          <a:p>
            <a:pPr algn="ctr">
              <a:buClr>
                <a:schemeClr val="folHlink"/>
              </a:buClr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algn="ctr">
              <a:buClr>
                <a:schemeClr val="folHlink"/>
              </a:buClr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algn="ctr">
              <a:buClr>
                <a:schemeClr val="folHlink"/>
              </a:buClr>
            </a:pPr>
            <a:r>
              <a:rPr lang="cs-CZ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0001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6588224" y="2879999"/>
            <a:ext cx="1260000" cy="20005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lvl="0" algn="ctr">
              <a:buClr>
                <a:srgbClr val="C00000"/>
              </a:buClr>
            </a:pPr>
            <a:r>
              <a:rPr lang="cs-CZ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itchFamily="34" charset="0"/>
              </a:rPr>
              <a:t>jednotky</a:t>
            </a:r>
          </a:p>
          <a:p>
            <a:pPr algn="ctr">
              <a:buClr>
                <a:schemeClr val="folHlink"/>
              </a:buClr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1001</a:t>
            </a:r>
          </a:p>
          <a:p>
            <a:pPr algn="ctr">
              <a:buClr>
                <a:schemeClr val="folHlink"/>
              </a:buClr>
            </a:pPr>
            <a:r>
              <a:rPr lang="cs-CZ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0001</a:t>
            </a:r>
          </a:p>
          <a:p>
            <a:pPr algn="ctr">
              <a:buClr>
                <a:schemeClr val="folHlink"/>
              </a:buClr>
            </a:pPr>
            <a:r>
              <a:rPr lang="cs-CZ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</a:p>
        </p:txBody>
      </p:sp>
    </p:spTree>
    <p:extLst>
      <p:ext uri="{BB962C8B-B14F-4D97-AF65-F5344CB8AC3E}">
        <p14:creationId xmlns:p14="http://schemas.microsoft.com/office/powerpoint/2010/main" val="371761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9" grpId="0" autoUpdateAnimBg="0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Dynamický displej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240065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000" dirty="0">
                <a:latin typeface="Verdana" pitchFamily="34" charset="0"/>
              </a:rPr>
              <a:t>Zobrazuje BCD kód na sedmi segmentovém displeji v dynamickém režimu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000" dirty="0">
                <a:latin typeface="Verdana" pitchFamily="34" charset="0"/>
              </a:rPr>
              <a:t>Jednotlivé číslice se rozsvěcuji </a:t>
            </a:r>
            <a:r>
              <a:rPr lang="cs-CZ" sz="2000" b="1" dirty="0">
                <a:latin typeface="Verdana" pitchFamily="34" charset="0"/>
              </a:rPr>
              <a:t>postupně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000" dirty="0">
                <a:latin typeface="Verdana" pitchFamily="34" charset="0"/>
              </a:rPr>
              <a:t>Pokud rychlost obnovy přesáhne určitou frekvenci, pak jsou číslice okem vnímány tak, že svítí současně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000" dirty="0">
                <a:latin typeface="Verdana" pitchFamily="34" charset="0"/>
              </a:rPr>
              <a:t>Displej je zapojen se společnou </a:t>
            </a:r>
            <a:r>
              <a:rPr lang="cs-CZ" sz="2000" b="1" dirty="0">
                <a:latin typeface="Verdana" pitchFamily="34" charset="0"/>
              </a:rPr>
              <a:t>anodou</a:t>
            </a:r>
            <a:r>
              <a:rPr lang="cs-CZ" sz="2000" dirty="0">
                <a:latin typeface="Verdana" pitchFamily="34" charset="0"/>
              </a:rPr>
              <a:t> nebo </a:t>
            </a:r>
            <a:r>
              <a:rPr lang="cs-CZ" sz="2000" b="1" dirty="0">
                <a:latin typeface="Verdana" pitchFamily="34" charset="0"/>
              </a:rPr>
              <a:t>katodou</a:t>
            </a:r>
          </a:p>
        </p:txBody>
      </p:sp>
      <p:sp>
        <p:nvSpPr>
          <p:cNvPr id="1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10896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Dynamický displej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4618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540000"/>
            <a:ext cx="6840000" cy="5743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00474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Dynamický displej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4628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540001"/>
            <a:ext cx="6840000" cy="5743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31240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85804" y="351546"/>
            <a:ext cx="8229600" cy="720000"/>
          </a:xfrm>
          <a:noFill/>
        </p:spPr>
        <p:txBody>
          <a:bodyPr>
            <a:normAutofit/>
          </a:bodyPr>
          <a:lstStyle/>
          <a:p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Konec</a:t>
            </a:r>
          </a:p>
        </p:txBody>
      </p:sp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Dekodéry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812212" cy="153888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800" dirty="0">
                <a:latin typeface="Verdana" pitchFamily="34" charset="0"/>
              </a:rPr>
              <a:t>74137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Blip>
                <a:blip r:embed="rId3"/>
              </a:buBlip>
            </a:pPr>
            <a:r>
              <a:rPr lang="cs-CZ" sz="2800" dirty="0">
                <a:latin typeface="Verdana" pitchFamily="34" charset="0"/>
              </a:rPr>
              <a:t>Paritní bit vypočítaný se porovná obvodem ekvivalence s přijatým paritním bitem 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4" name="Tlačítko akce: Vlastní 1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5" name="Tlačítko akce: Vlastní 14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897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32" name="Text Box 56"/>
          <p:cNvSpPr txBox="1">
            <a:spLocks noChangeArrowheads="1"/>
          </p:cNvSpPr>
          <p:nvPr/>
        </p:nvSpPr>
        <p:spPr bwMode="auto">
          <a:xfrm>
            <a:off x="5202562" y="1053756"/>
            <a:ext cx="3617910" cy="26314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D0,D1,D2,D3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datové vstupy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A0,A1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adresové vstupy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povolovací vstup</a:t>
            </a:r>
          </a:p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Výstupy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datový výstup</a:t>
            </a:r>
          </a:p>
        </p:txBody>
      </p:sp>
      <p:sp>
        <p:nvSpPr>
          <p:cNvPr id="2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1" name="Tlačítko akce: Vlastní 3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Multiplexor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460802" name="Picture 2" descr="D:\lj\prezentace\CIT\kombinační obvody\obv_mult2a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00" y="720000"/>
            <a:ext cx="4680000" cy="504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98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9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9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9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9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94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9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6"/>
          <p:cNvSpPr txBox="1">
            <a:spLocks noChangeArrowheads="1"/>
          </p:cNvSpPr>
          <p:nvPr/>
        </p:nvSpPr>
        <p:spPr bwMode="auto">
          <a:xfrm>
            <a:off x="5202562" y="1053756"/>
            <a:ext cx="3617910" cy="26314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D0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datový vstup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A0,A1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adresové vstupy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povolovací vstup</a:t>
            </a:r>
          </a:p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cs-CZ" sz="2000" dirty="0">
                <a:latin typeface="Verdana" pitchFamily="34" charset="0"/>
              </a:rPr>
              <a:t>Výstupy</a:t>
            </a:r>
            <a:r>
              <a:rPr lang="cs-CZ" sz="2000" b="1" dirty="0">
                <a:latin typeface="Verdana" pitchFamily="34" charset="0"/>
              </a:rPr>
              <a:t> </a:t>
            </a:r>
          </a:p>
          <a:p>
            <a:pPr marL="180000" lvl="1">
              <a:spcAft>
                <a:spcPts val="600"/>
              </a:spcAft>
              <a:buClr>
                <a:schemeClr val="bg2"/>
              </a:buClr>
            </a:pPr>
            <a:r>
              <a:rPr lang="cs-CZ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Y0,Y1,Y2,Y3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– datový výstup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pl-PL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Demultiplexor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461826" name="Picture 2" descr="D:\lj\prezentace\CIT\kombinační obvody\obv_demult2a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99" y="720000"/>
            <a:ext cx="4500000" cy="52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01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1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644" name="Picture 12" descr="Obecna_znack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428604"/>
            <a:ext cx="5857916" cy="64426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Vlastní 2">
      <a:dk1>
        <a:srgbClr val="000000"/>
      </a:dk1>
      <a:lt1>
        <a:srgbClr val="FFFFFF"/>
      </a:lt1>
      <a:dk2>
        <a:srgbClr val="000000"/>
      </a:dk2>
      <a:lt2>
        <a:srgbClr val="CC3300"/>
      </a:lt2>
      <a:accent1>
        <a:srgbClr val="C000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C00000"/>
      </a:accent6>
      <a:hlink>
        <a:srgbClr val="663300"/>
      </a:hlink>
      <a:folHlink>
        <a:srgbClr val="C00000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SSE_PRA_3_JSAnew</Template>
  <TotalTime>52578</TotalTime>
  <Words>3016</Words>
  <Application>Microsoft Office PowerPoint</Application>
  <PresentationFormat>Předvádění na obrazovce (4:3)</PresentationFormat>
  <Paragraphs>1903</Paragraphs>
  <Slides>78</Slides>
  <Notes>78</Notes>
  <HiddenSlides>4</HiddenSlides>
  <MMClips>0</MMClips>
  <ScaleCrop>false</ScaleCrop>
  <HeadingPairs>
    <vt:vector size="8" baseType="variant">
      <vt:variant>
        <vt:lpstr>Použitá písma</vt:lpstr>
      </vt:variant>
      <vt:variant>
        <vt:i4>8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78</vt:i4>
      </vt:variant>
    </vt:vector>
  </HeadingPairs>
  <TitlesOfParts>
    <vt:vector size="88" baseType="lpstr">
      <vt:lpstr>Arial</vt:lpstr>
      <vt:lpstr>Arial Black</vt:lpstr>
      <vt:lpstr>Cambria Math</vt:lpstr>
      <vt:lpstr>Consolas</vt:lpstr>
      <vt:lpstr>Monotype Sorts</vt:lpstr>
      <vt:lpstr>Times New Roman</vt:lpstr>
      <vt:lpstr>Verdana</vt:lpstr>
      <vt:lpstr>Wingdings</vt:lpstr>
      <vt:lpstr>Pixel</vt:lpstr>
      <vt:lpstr>Rovnice</vt:lpstr>
      <vt:lpstr>CIT Kombinační obvody</vt:lpstr>
      <vt:lpstr>Číslicová technika</vt:lpstr>
      <vt:lpstr>Index</vt:lpstr>
      <vt:lpstr>Zdroje</vt:lpstr>
      <vt:lpstr>Návrh kombinačních obvodů</vt:lpstr>
      <vt:lpstr>Návrh kombinačních obvodů</vt:lpstr>
      <vt:lpstr>Signalizace výšky hladiny</vt:lpstr>
      <vt:lpstr>Signalizace výšky hladiny</vt:lpstr>
      <vt:lpstr>Signalizace výšky hladiny</vt:lpstr>
      <vt:lpstr>Signalizace výšky hladiny</vt:lpstr>
      <vt:lpstr>Signalizace výšky hladiny</vt:lpstr>
      <vt:lpstr>Signalizace výšky hladiny</vt:lpstr>
      <vt:lpstr>Signalizace výšky hladiny</vt:lpstr>
      <vt:lpstr>Signalizace výšky hladiny</vt:lpstr>
      <vt:lpstr>Signalizace výšky hladiny</vt:lpstr>
      <vt:lpstr>Signalizace výšky hladiny</vt:lpstr>
      <vt:lpstr>Signalizace výšky hladiny</vt:lpstr>
      <vt:lpstr>Signalizace výšky hladiny</vt:lpstr>
      <vt:lpstr>Signalizace výšky hladiny</vt:lpstr>
      <vt:lpstr>Signalizace výšky hladiny</vt:lpstr>
      <vt:lpstr>Signalizace výšky hladiny</vt:lpstr>
      <vt:lpstr>Kombinační obvody</vt:lpstr>
      <vt:lpstr>Kombinační obvod</vt:lpstr>
      <vt:lpstr>Typy kombinačních obvodů</vt:lpstr>
      <vt:lpstr>Dekodér</vt:lpstr>
      <vt:lpstr>Dekodér</vt:lpstr>
      <vt:lpstr>Dekodér</vt:lpstr>
      <vt:lpstr>Dekodér 1 ze 4</vt:lpstr>
      <vt:lpstr>Dekodér 1 ze 4</vt:lpstr>
      <vt:lpstr>Dekodér 1 ze 4</vt:lpstr>
      <vt:lpstr>Dekodér 1 ze 4</vt:lpstr>
      <vt:lpstr>Dekodér z BCD do 7-seg.displej</vt:lpstr>
      <vt:lpstr>Dekodér z BCD do 7-seg.displej</vt:lpstr>
      <vt:lpstr>Dekodér z BCD do 7-seg.displej</vt:lpstr>
      <vt:lpstr>Kodér</vt:lpstr>
      <vt:lpstr>Kodér</vt:lpstr>
      <vt:lpstr>Kodér</vt:lpstr>
      <vt:lpstr>Multiplexor</vt:lpstr>
      <vt:lpstr>Multiplexor</vt:lpstr>
      <vt:lpstr>Prezentace aplikace PowerPoint</vt:lpstr>
      <vt:lpstr>Multiplexor</vt:lpstr>
      <vt:lpstr>Demultiplexor</vt:lpstr>
      <vt:lpstr>Demultiplexor</vt:lpstr>
      <vt:lpstr>Prezentace aplikace PowerPoint</vt:lpstr>
      <vt:lpstr>Demultiplexor</vt:lpstr>
      <vt:lpstr>Prezentace aplikace PowerPoint</vt:lpstr>
      <vt:lpstr>Sčítačka</vt:lpstr>
      <vt:lpstr>Sčítačka</vt:lpstr>
      <vt:lpstr>Sčítačka</vt:lpstr>
      <vt:lpstr>Sčítačka</vt:lpstr>
      <vt:lpstr>Sčítačka</vt:lpstr>
      <vt:lpstr>Sčítačka</vt:lpstr>
      <vt:lpstr>Sčítačka</vt:lpstr>
      <vt:lpstr>Komparátor</vt:lpstr>
      <vt:lpstr>Logický komparátor</vt:lpstr>
      <vt:lpstr>Logický komparátor</vt:lpstr>
      <vt:lpstr>Logický komparátor</vt:lpstr>
      <vt:lpstr>Aritmetický komparátor</vt:lpstr>
      <vt:lpstr>Aritmetický komparátor</vt:lpstr>
      <vt:lpstr>Aritmetický komparátor</vt:lpstr>
      <vt:lpstr>BCD komparátor</vt:lpstr>
      <vt:lpstr>BCD komparátor</vt:lpstr>
      <vt:lpstr>BCD komparátor</vt:lpstr>
      <vt:lpstr>BCD komparátor</vt:lpstr>
      <vt:lpstr>BCD komparátor</vt:lpstr>
      <vt:lpstr>Generátor parity</vt:lpstr>
      <vt:lpstr>Kontrola parity</vt:lpstr>
      <vt:lpstr>Generátor parity</vt:lpstr>
      <vt:lpstr>Generátor parity</vt:lpstr>
      <vt:lpstr>BCD sčítačka</vt:lpstr>
      <vt:lpstr>Dynamický displej</vt:lpstr>
      <vt:lpstr>Dynamický displej</vt:lpstr>
      <vt:lpstr>Dynamický displej</vt:lpstr>
      <vt:lpstr>Konec</vt:lpstr>
      <vt:lpstr>Dekodéry</vt:lpstr>
      <vt:lpstr>Multiplexor</vt:lpstr>
      <vt:lpstr>Demultiplexor</vt:lpstr>
      <vt:lpstr>Prezentace aplikace PowerPoint</vt:lpstr>
    </vt:vector>
  </TitlesOfParts>
  <Company>SSE Frenštát p.R: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Kombinační obvody (5)</dc:title>
  <dc:subject>CIT</dc:subject>
  <dc:creator>Ing.Juránek Leoš</dc:creator>
  <cp:lastModifiedBy>Petr Juránek</cp:lastModifiedBy>
  <cp:revision>1022</cp:revision>
  <cp:lastPrinted>2018-04-12T09:52:06Z</cp:lastPrinted>
  <dcterms:created xsi:type="dcterms:W3CDTF">2001-09-22T14:04:06Z</dcterms:created>
  <dcterms:modified xsi:type="dcterms:W3CDTF">2024-11-28T19:52:31Z</dcterms:modified>
</cp:coreProperties>
</file>